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media/image18.jpg" ContentType="image/jpeg"/>
  <Override PartName="/ppt/notesSlides/notesSlide45.xml" ContentType="application/vnd.openxmlformats-officedocument.presentationml.notesSlide+xml"/>
  <Override PartName="/ppt/media/image19.jpg" ContentType="image/jpeg"/>
  <Override PartName="/ppt/media/image20.jpg" ContentType="image/jpeg"/>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media/image21.jpg" ContentType="image/jpeg"/>
  <Override PartName="/ppt/notesSlides/notesSlide50.xml" ContentType="application/vnd.openxmlformats-officedocument.presentationml.notesSlide+xml"/>
  <Override PartName="/ppt/media/image22.jpg" ContentType="image/jpeg"/>
  <Override PartName="/ppt/notesSlides/notesSlide51.xml" ContentType="application/vnd.openxmlformats-officedocument.presentationml.notesSlide+xml"/>
  <Override PartName="/ppt/media/image24.jpg" ContentType="image/jpeg"/>
  <Override PartName="/ppt/notesSlides/notesSlide52.xml" ContentType="application/vnd.openxmlformats-officedocument.presentationml.notesSlide+xml"/>
  <Override PartName="/ppt/media/image25.jpg" ContentType="image/jpeg"/>
  <Override PartName="/ppt/notesSlides/notesSlide53.xml" ContentType="application/vnd.openxmlformats-officedocument.presentationml.notesSlide+xml"/>
  <Override PartName="/ppt/media/image26.jpg" ContentType="image/jpeg"/>
  <Override PartName="/ppt/media/image27.jpg" ContentType="image/jpeg"/>
  <Override PartName="/ppt/notesSlides/notesSlide54.xml" ContentType="application/vnd.openxmlformats-officedocument.presentationml.notesSlide+xml"/>
  <Override PartName="/ppt/notesSlides/notesSlide55.xml" ContentType="application/vnd.openxmlformats-officedocument.presentationml.notesSlide+xml"/>
  <Override PartName="/ppt/media/image30.jpg" ContentType="image/jpeg"/>
  <Override PartName="/ppt/notesSlides/notesSlide56.xml" ContentType="application/vnd.openxmlformats-officedocument.presentationml.notesSlide+xml"/>
  <Override PartName="/ppt/media/image31.jpg" ContentType="image/jpeg"/>
  <Override PartName="/ppt/notesSlides/notesSlide57.xml" ContentType="application/vnd.openxmlformats-officedocument.presentationml.notesSlide+xml"/>
  <Override PartName="/ppt/media/image33.jpg" ContentType="image/jpeg"/>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media/image35.jpg" ContentType="image/jpeg"/>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1"/>
  </p:notesMasterIdLst>
  <p:sldIdLst>
    <p:sldId id="256" r:id="rId2"/>
    <p:sldId id="457" r:id="rId3"/>
    <p:sldId id="257" r:id="rId4"/>
    <p:sldId id="258" r:id="rId5"/>
    <p:sldId id="260" r:id="rId6"/>
    <p:sldId id="433" r:id="rId7"/>
    <p:sldId id="261" r:id="rId8"/>
    <p:sldId id="262" r:id="rId9"/>
    <p:sldId id="263" r:id="rId10"/>
    <p:sldId id="264" r:id="rId11"/>
    <p:sldId id="434" r:id="rId12"/>
    <p:sldId id="435" r:id="rId13"/>
    <p:sldId id="265" r:id="rId14"/>
    <p:sldId id="266" r:id="rId15"/>
    <p:sldId id="267" r:id="rId16"/>
    <p:sldId id="452" r:id="rId17"/>
    <p:sldId id="453" r:id="rId18"/>
    <p:sldId id="268" r:id="rId19"/>
    <p:sldId id="269" r:id="rId20"/>
    <p:sldId id="270" r:id="rId21"/>
    <p:sldId id="271" r:id="rId22"/>
    <p:sldId id="272" r:id="rId23"/>
    <p:sldId id="273" r:id="rId24"/>
    <p:sldId id="454" r:id="rId25"/>
    <p:sldId id="455" r:id="rId26"/>
    <p:sldId id="274" r:id="rId27"/>
    <p:sldId id="275" r:id="rId28"/>
    <p:sldId id="276" r:id="rId29"/>
    <p:sldId id="277" r:id="rId30"/>
    <p:sldId id="278" r:id="rId31"/>
    <p:sldId id="279" r:id="rId32"/>
    <p:sldId id="280" r:id="rId33"/>
    <p:sldId id="281" r:id="rId34"/>
    <p:sldId id="282" r:id="rId35"/>
    <p:sldId id="283" r:id="rId36"/>
    <p:sldId id="284" r:id="rId37"/>
    <p:sldId id="458" r:id="rId38"/>
    <p:sldId id="285" r:id="rId39"/>
    <p:sldId id="286" r:id="rId40"/>
    <p:sldId id="287" r:id="rId41"/>
    <p:sldId id="288" r:id="rId42"/>
    <p:sldId id="289" r:id="rId43"/>
    <p:sldId id="290" r:id="rId44"/>
    <p:sldId id="291" r:id="rId45"/>
    <p:sldId id="436" r:id="rId46"/>
    <p:sldId id="437" r:id="rId47"/>
    <p:sldId id="292" r:id="rId48"/>
    <p:sldId id="447" r:id="rId49"/>
    <p:sldId id="293" r:id="rId50"/>
    <p:sldId id="438" r:id="rId51"/>
    <p:sldId id="439" r:id="rId52"/>
    <p:sldId id="440" r:id="rId53"/>
    <p:sldId id="441" r:id="rId54"/>
    <p:sldId id="442" r:id="rId55"/>
    <p:sldId id="443" r:id="rId56"/>
    <p:sldId id="444" r:id="rId57"/>
    <p:sldId id="445" r:id="rId58"/>
    <p:sldId id="446" r:id="rId59"/>
    <p:sldId id="297" r:id="rId60"/>
    <p:sldId id="456" r:id="rId61"/>
    <p:sldId id="298" r:id="rId62"/>
    <p:sldId id="299" r:id="rId63"/>
    <p:sldId id="300" r:id="rId64"/>
    <p:sldId id="301" r:id="rId65"/>
    <p:sldId id="302" r:id="rId66"/>
    <p:sldId id="303" r:id="rId67"/>
    <p:sldId id="304" r:id="rId68"/>
    <p:sldId id="305" r:id="rId69"/>
    <p:sldId id="306" r:id="rId70"/>
    <p:sldId id="307" r:id="rId71"/>
    <p:sldId id="308" r:id="rId72"/>
    <p:sldId id="309" r:id="rId73"/>
    <p:sldId id="310" r:id="rId74"/>
    <p:sldId id="311" r:id="rId75"/>
    <p:sldId id="312" r:id="rId76"/>
    <p:sldId id="313" r:id="rId77"/>
    <p:sldId id="314" r:id="rId78"/>
    <p:sldId id="315" r:id="rId79"/>
    <p:sldId id="316" r:id="rId80"/>
    <p:sldId id="317" r:id="rId81"/>
    <p:sldId id="318" r:id="rId82"/>
    <p:sldId id="319" r:id="rId83"/>
    <p:sldId id="320" r:id="rId84"/>
    <p:sldId id="321" r:id="rId85"/>
    <p:sldId id="448" r:id="rId86"/>
    <p:sldId id="449" r:id="rId87"/>
    <p:sldId id="322" r:id="rId88"/>
    <p:sldId id="323" r:id="rId89"/>
    <p:sldId id="324" r:id="rId90"/>
    <p:sldId id="325" r:id="rId91"/>
    <p:sldId id="326" r:id="rId92"/>
    <p:sldId id="327" r:id="rId93"/>
    <p:sldId id="328" r:id="rId94"/>
    <p:sldId id="329" r:id="rId95"/>
    <p:sldId id="330" r:id="rId96"/>
    <p:sldId id="331" r:id="rId97"/>
    <p:sldId id="332" r:id="rId98"/>
    <p:sldId id="333" r:id="rId99"/>
    <p:sldId id="335" r:id="rId100"/>
    <p:sldId id="336" r:id="rId101"/>
    <p:sldId id="334" r:id="rId102"/>
    <p:sldId id="337" r:id="rId103"/>
    <p:sldId id="338" r:id="rId104"/>
    <p:sldId id="339" r:id="rId105"/>
    <p:sldId id="340" r:id="rId106"/>
    <p:sldId id="341" r:id="rId107"/>
    <p:sldId id="342" r:id="rId108"/>
    <p:sldId id="343" r:id="rId109"/>
    <p:sldId id="344" r:id="rId110"/>
    <p:sldId id="345" r:id="rId111"/>
    <p:sldId id="346" r:id="rId112"/>
    <p:sldId id="347" r:id="rId113"/>
    <p:sldId id="348" r:id="rId114"/>
    <p:sldId id="349" r:id="rId115"/>
    <p:sldId id="350" r:id="rId116"/>
    <p:sldId id="351" r:id="rId117"/>
    <p:sldId id="352" r:id="rId118"/>
    <p:sldId id="353" r:id="rId119"/>
    <p:sldId id="354" r:id="rId120"/>
    <p:sldId id="355" r:id="rId121"/>
    <p:sldId id="356" r:id="rId122"/>
    <p:sldId id="357" r:id="rId123"/>
    <p:sldId id="358" r:id="rId124"/>
    <p:sldId id="359" r:id="rId125"/>
    <p:sldId id="360" r:id="rId126"/>
    <p:sldId id="361" r:id="rId127"/>
    <p:sldId id="362" r:id="rId128"/>
    <p:sldId id="363" r:id="rId129"/>
    <p:sldId id="364" r:id="rId130"/>
    <p:sldId id="365" r:id="rId131"/>
    <p:sldId id="366" r:id="rId132"/>
    <p:sldId id="367" r:id="rId133"/>
    <p:sldId id="368" r:id="rId134"/>
    <p:sldId id="369" r:id="rId135"/>
    <p:sldId id="370" r:id="rId136"/>
    <p:sldId id="371" r:id="rId137"/>
    <p:sldId id="372" r:id="rId138"/>
    <p:sldId id="373" r:id="rId139"/>
    <p:sldId id="374" r:id="rId140"/>
    <p:sldId id="450" r:id="rId141"/>
    <p:sldId id="375" r:id="rId142"/>
    <p:sldId id="376" r:id="rId143"/>
    <p:sldId id="451" r:id="rId144"/>
    <p:sldId id="377" r:id="rId145"/>
    <p:sldId id="378" r:id="rId146"/>
    <p:sldId id="379" r:id="rId147"/>
    <p:sldId id="380" r:id="rId148"/>
    <p:sldId id="381" r:id="rId149"/>
    <p:sldId id="382" r:id="rId150"/>
    <p:sldId id="383" r:id="rId151"/>
    <p:sldId id="384" r:id="rId152"/>
    <p:sldId id="385" r:id="rId153"/>
    <p:sldId id="386" r:id="rId154"/>
    <p:sldId id="387" r:id="rId155"/>
    <p:sldId id="388" r:id="rId156"/>
    <p:sldId id="389" r:id="rId157"/>
    <p:sldId id="390" r:id="rId158"/>
    <p:sldId id="391" r:id="rId159"/>
    <p:sldId id="392" r:id="rId160"/>
    <p:sldId id="393" r:id="rId161"/>
    <p:sldId id="394" r:id="rId162"/>
    <p:sldId id="395" r:id="rId163"/>
    <p:sldId id="396" r:id="rId164"/>
    <p:sldId id="397" r:id="rId165"/>
    <p:sldId id="398" r:id="rId166"/>
    <p:sldId id="399" r:id="rId167"/>
    <p:sldId id="400" r:id="rId168"/>
    <p:sldId id="401" r:id="rId169"/>
    <p:sldId id="402" r:id="rId170"/>
    <p:sldId id="403" r:id="rId171"/>
    <p:sldId id="404" r:id="rId172"/>
    <p:sldId id="405" r:id="rId173"/>
    <p:sldId id="406" r:id="rId174"/>
    <p:sldId id="407" r:id="rId175"/>
    <p:sldId id="408" r:id="rId176"/>
    <p:sldId id="409" r:id="rId177"/>
    <p:sldId id="410" r:id="rId178"/>
    <p:sldId id="411" r:id="rId179"/>
    <p:sldId id="412" r:id="rId180"/>
    <p:sldId id="413" r:id="rId181"/>
    <p:sldId id="414" r:id="rId182"/>
    <p:sldId id="415" r:id="rId183"/>
    <p:sldId id="416" r:id="rId184"/>
    <p:sldId id="417" r:id="rId185"/>
    <p:sldId id="418" r:id="rId186"/>
    <p:sldId id="419" r:id="rId187"/>
    <p:sldId id="420" r:id="rId188"/>
    <p:sldId id="421" r:id="rId189"/>
    <p:sldId id="422" r:id="rId190"/>
    <p:sldId id="423" r:id="rId191"/>
    <p:sldId id="424" r:id="rId192"/>
    <p:sldId id="425" r:id="rId193"/>
    <p:sldId id="426" r:id="rId194"/>
    <p:sldId id="427" r:id="rId195"/>
    <p:sldId id="428" r:id="rId196"/>
    <p:sldId id="429" r:id="rId197"/>
    <p:sldId id="430" r:id="rId198"/>
    <p:sldId id="431" r:id="rId199"/>
    <p:sldId id="432" r:id="rId20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647"/>
    <p:restoredTop sz="94610"/>
  </p:normalViewPr>
  <p:slideViewPr>
    <p:cSldViewPr snapToGrid="0" snapToObjects="1">
      <p:cViewPr>
        <p:scale>
          <a:sx n="70" d="100"/>
          <a:sy n="70" d="100"/>
        </p:scale>
        <p:origin x="1160" y="1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5554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GABARIT COUVERTURE. </a:t>
            </a:r>
            <a:r>
              <a:rPr dirty="0" err="1"/>
              <a:t>Remplacer</a:t>
            </a:r>
            <a:r>
              <a:rPr dirty="0"/>
              <a:t> la </a:t>
            </a:r>
            <a:r>
              <a:rPr dirty="0" err="1"/>
              <a:t>ligne</a:t>
            </a:r>
            <a:r>
              <a:rPr dirty="0"/>
              <a:t> Client · lieu · date. </a:t>
            </a:r>
            <a:r>
              <a:rPr dirty="0" err="1"/>
              <a:t>Déposer</a:t>
            </a:r>
            <a:r>
              <a:rPr dirty="0"/>
              <a:t> la photo par-dessus la zone </a:t>
            </a:r>
            <a:r>
              <a:rPr dirty="0" err="1"/>
              <a:t>réservée</a:t>
            </a:r>
            <a:r>
              <a:rPr dirty="0"/>
              <a:t> </a:t>
            </a:r>
            <a:r>
              <a:rPr dirty="0" err="1"/>
              <a:t>puis</a:t>
            </a:r>
            <a:r>
              <a:rPr dirty="0"/>
              <a:t> </a:t>
            </a:r>
            <a:r>
              <a:rPr dirty="0" err="1"/>
              <a:t>supprimer</a:t>
            </a:r>
            <a:r>
              <a:rPr dirty="0"/>
              <a:t> le cadre : </a:t>
            </a:r>
            <a:r>
              <a:rPr dirty="0" err="1"/>
              <a:t>professionnels</a:t>
            </a:r>
            <a:r>
              <a:rPr dirty="0"/>
              <a:t> </a:t>
            </a:r>
            <a:r>
              <a:rPr dirty="0" err="1"/>
              <a:t>en</a:t>
            </a:r>
            <a:r>
              <a:rPr dirty="0"/>
              <a:t> situation de travail, EPI </a:t>
            </a:r>
            <a:r>
              <a:rPr dirty="0" err="1"/>
              <a:t>conformes</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Annoncer</a:t>
            </a:r>
            <a:r>
              <a:rPr dirty="0"/>
              <a:t> la progression : on part du cadre </a:t>
            </a:r>
            <a:r>
              <a:rPr dirty="0" err="1"/>
              <a:t>institutionnel</a:t>
            </a:r>
            <a:r>
              <a:rPr dirty="0"/>
              <a:t>, on passe au droit, </a:t>
            </a:r>
            <a:r>
              <a:rPr dirty="0" err="1"/>
              <a:t>puis</a:t>
            </a:r>
            <a:r>
              <a:rPr dirty="0"/>
              <a:t> aux </a:t>
            </a:r>
            <a:r>
              <a:rPr dirty="0" err="1"/>
              <a:t>outils</a:t>
            </a:r>
            <a:r>
              <a:rPr dirty="0"/>
              <a:t> de terrain (DUERP, </a:t>
            </a:r>
            <a:r>
              <a:rPr dirty="0" err="1"/>
              <a:t>analyse</a:t>
            </a:r>
            <a:r>
              <a:rPr dirty="0"/>
              <a:t> </a:t>
            </a:r>
            <a:r>
              <a:rPr dirty="0" err="1"/>
              <a:t>d'accident</a:t>
            </a:r>
            <a:r>
              <a:rPr dirty="0"/>
              <a:t>, inspection), et on </a:t>
            </a:r>
            <a:r>
              <a:rPr dirty="0" err="1"/>
              <a:t>termine</a:t>
            </a:r>
            <a:r>
              <a:rPr dirty="0"/>
              <a:t> par deux </a:t>
            </a:r>
            <a:r>
              <a:rPr dirty="0" err="1"/>
              <a:t>risques</a:t>
            </a:r>
            <a:r>
              <a:rPr dirty="0"/>
              <a:t> </a:t>
            </a:r>
            <a:r>
              <a:rPr dirty="0" err="1"/>
              <a:t>majeurs</a:t>
            </a:r>
            <a:r>
              <a:rPr dirty="0"/>
              <a:t>, TMS et RPS.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Beaucoup d'élus raisonnent encore en CHSCT. Corriger tout de suite : la commission n'a ni personnalité morale, ni budget, ni pouvoir d'ester en justice.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À faire dire au </a:t>
            </a:r>
            <a:r>
              <a:rPr dirty="0" err="1"/>
              <a:t>groupe</a:t>
            </a:r>
            <a:r>
              <a:rPr dirty="0"/>
              <a:t> : les commissions </a:t>
            </a:r>
            <a:r>
              <a:rPr dirty="0" err="1"/>
              <a:t>sont</a:t>
            </a:r>
            <a:r>
              <a:rPr dirty="0"/>
              <a:t> des </a:t>
            </a:r>
            <a:r>
              <a:rPr dirty="0" err="1"/>
              <a:t>émanations</a:t>
            </a:r>
            <a:r>
              <a:rPr dirty="0"/>
              <a:t> du CSE, </a:t>
            </a:r>
            <a:r>
              <a:rPr dirty="0" err="1"/>
              <a:t>elles</a:t>
            </a:r>
            <a:r>
              <a:rPr dirty="0"/>
              <a:t> </a:t>
            </a:r>
            <a:r>
              <a:rPr dirty="0" err="1"/>
              <a:t>préparent</a:t>
            </a:r>
            <a:r>
              <a:rPr dirty="0"/>
              <a:t> </a:t>
            </a:r>
            <a:r>
              <a:rPr dirty="0" err="1"/>
              <a:t>mais</a:t>
            </a:r>
            <a:r>
              <a:rPr dirty="0"/>
              <a:t> ne </a:t>
            </a:r>
            <a:r>
              <a:rPr dirty="0" err="1"/>
              <a:t>décident</a:t>
            </a:r>
            <a:r>
              <a:rPr dirty="0"/>
              <a:t> pas. Seul le CSE rend les avis et dispose de la </a:t>
            </a:r>
            <a:r>
              <a:rPr dirty="0" err="1"/>
              <a:t>personnalité</a:t>
            </a:r>
            <a:r>
              <a:rPr dirty="0"/>
              <a:t> morale.</a:t>
            </a:r>
          </a:p>
          <a:p>
            <a:r>
              <a:rPr dirty="0"/>
              <a:t>La CSSCT est la </a:t>
            </a:r>
            <a:r>
              <a:rPr dirty="0" err="1"/>
              <a:t>seule</a:t>
            </a:r>
            <a:r>
              <a:rPr dirty="0"/>
              <a:t> </a:t>
            </a:r>
            <a:r>
              <a:rPr dirty="0" err="1"/>
              <a:t>obligatoire</a:t>
            </a:r>
            <a:r>
              <a:rPr dirty="0"/>
              <a:t> (au </a:t>
            </a:r>
            <a:r>
              <a:rPr dirty="0" err="1"/>
              <a:t>moins</a:t>
            </a:r>
            <a:r>
              <a:rPr dirty="0"/>
              <a:t> 300 </a:t>
            </a:r>
            <a:r>
              <a:rPr dirty="0" err="1"/>
              <a:t>salariés</a:t>
            </a:r>
            <a:r>
              <a:rPr dirty="0"/>
              <a:t>, </a:t>
            </a:r>
            <a:r>
              <a:rPr dirty="0" err="1"/>
              <a:t>ou</a:t>
            </a:r>
            <a:r>
              <a:rPr dirty="0"/>
              <a:t> sur imposition de </a:t>
            </a:r>
            <a:r>
              <a:rPr dirty="0" err="1"/>
              <a:t>l'inspection</a:t>
            </a:r>
            <a:r>
              <a:rPr dirty="0"/>
              <a:t> du travail, </a:t>
            </a:r>
            <a:r>
              <a:rPr dirty="0" err="1"/>
              <a:t>ou</a:t>
            </a:r>
            <a:r>
              <a:rPr dirty="0"/>
              <a:t> par accord). Les cinq </a:t>
            </a:r>
            <a:r>
              <a:rPr dirty="0" err="1"/>
              <a:t>autres</a:t>
            </a:r>
            <a:r>
              <a:rPr dirty="0"/>
              <a:t> </a:t>
            </a:r>
            <a:r>
              <a:rPr dirty="0" err="1"/>
              <a:t>sont</a:t>
            </a:r>
            <a:r>
              <a:rPr dirty="0"/>
              <a:t> </a:t>
            </a:r>
            <a:r>
              <a:rPr dirty="0" err="1"/>
              <a:t>obligatoires</a:t>
            </a:r>
            <a:r>
              <a:rPr dirty="0"/>
              <a:t> à des </a:t>
            </a:r>
            <a:r>
              <a:rPr dirty="0" err="1"/>
              <a:t>seuils</a:t>
            </a:r>
            <a:r>
              <a:rPr dirty="0"/>
              <a:t> </a:t>
            </a:r>
            <a:r>
              <a:rPr dirty="0" err="1"/>
              <a:t>différents</a:t>
            </a:r>
            <a:r>
              <a:rPr dirty="0"/>
              <a:t> : commission économique à 1 000 </a:t>
            </a:r>
            <a:r>
              <a:rPr dirty="0" err="1"/>
              <a:t>salariés</a:t>
            </a:r>
            <a:r>
              <a:rPr dirty="0"/>
              <a:t>, formation / </a:t>
            </a:r>
            <a:r>
              <a:rPr dirty="0" err="1"/>
              <a:t>logement</a:t>
            </a:r>
            <a:r>
              <a:rPr dirty="0"/>
              <a:t> / égalité à 300, commission des </a:t>
            </a:r>
            <a:r>
              <a:rPr dirty="0" err="1"/>
              <a:t>marchés</a:t>
            </a:r>
            <a:r>
              <a:rPr dirty="0"/>
              <a:t> </a:t>
            </a:r>
            <a:r>
              <a:rPr dirty="0" err="1"/>
              <a:t>selon</a:t>
            </a:r>
            <a:r>
              <a:rPr dirty="0"/>
              <a:t> les </a:t>
            </a:r>
            <a:r>
              <a:rPr dirty="0" err="1"/>
              <a:t>seuils</a:t>
            </a:r>
            <a:r>
              <a:rPr dirty="0"/>
              <a:t> </a:t>
            </a:r>
            <a:r>
              <a:rPr dirty="0" err="1"/>
              <a:t>comptables</a:t>
            </a:r>
            <a:r>
              <a:rPr dirty="0"/>
              <a:t> de L. 2315-44-1.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Rappeler que ces trois champs relèvent d'un seul et même comité, avec des budgets distincts pour le fonctionnement et les activités sociales.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Insister sur la </a:t>
            </a:r>
            <a:r>
              <a:rPr dirty="0" err="1"/>
              <a:t>règle</a:t>
            </a:r>
            <a:r>
              <a:rPr dirty="0"/>
              <a:t> de </a:t>
            </a:r>
            <a:r>
              <a:rPr dirty="0" err="1"/>
              <a:t>parité</a:t>
            </a:r>
            <a:r>
              <a:rPr dirty="0"/>
              <a:t> : le </a:t>
            </a:r>
            <a:r>
              <a:rPr dirty="0" err="1"/>
              <a:t>président</a:t>
            </a:r>
            <a:r>
              <a:rPr dirty="0"/>
              <a:t> ne </a:t>
            </a:r>
            <a:r>
              <a:rPr dirty="0" err="1"/>
              <a:t>peut</a:t>
            </a:r>
            <a:r>
              <a:rPr dirty="0"/>
              <a:t> pas </a:t>
            </a:r>
            <a:r>
              <a:rPr dirty="0" err="1"/>
              <a:t>noyer</a:t>
            </a:r>
            <a:r>
              <a:rPr dirty="0"/>
              <a:t> la commission sous </a:t>
            </a:r>
            <a:r>
              <a:rPr dirty="0" err="1"/>
              <a:t>ses</a:t>
            </a:r>
            <a:r>
              <a:rPr dirty="0"/>
              <a:t> </a:t>
            </a:r>
            <a:r>
              <a:rPr dirty="0" err="1"/>
              <a:t>collaborateurs</a:t>
            </a:r>
            <a:r>
              <a:rPr dirty="0"/>
              <a:t>. </a:t>
            </a:r>
            <a:r>
              <a:rPr dirty="0" err="1"/>
              <a:t>C'est</a:t>
            </a:r>
            <a:r>
              <a:rPr dirty="0"/>
              <a:t> </a:t>
            </a:r>
            <a:r>
              <a:rPr dirty="0" err="1"/>
              <a:t>une</a:t>
            </a:r>
            <a:r>
              <a:rPr dirty="0"/>
              <a:t> </a:t>
            </a:r>
            <a:r>
              <a:rPr dirty="0" err="1"/>
              <a:t>garantie</a:t>
            </a:r>
            <a:r>
              <a:rPr dirty="0"/>
              <a:t> </a:t>
            </a:r>
            <a:r>
              <a:rPr dirty="0" err="1"/>
              <a:t>souvent</a:t>
            </a:r>
            <a:r>
              <a:rPr dirty="0"/>
              <a:t> </a:t>
            </a:r>
            <a:r>
              <a:rPr dirty="0" err="1"/>
              <a:t>ignorée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Insister sur la </a:t>
            </a:r>
            <a:r>
              <a:rPr dirty="0" err="1"/>
              <a:t>dernière</a:t>
            </a:r>
            <a:r>
              <a:rPr dirty="0"/>
              <a:t> phrase : « Le </a:t>
            </a:r>
            <a:r>
              <a:rPr dirty="0" err="1"/>
              <a:t>refus</a:t>
            </a:r>
            <a:r>
              <a:rPr dirty="0"/>
              <a:t> de </a:t>
            </a:r>
            <a:r>
              <a:rPr dirty="0" err="1"/>
              <a:t>l'employeur</a:t>
            </a:r>
            <a:r>
              <a:rPr dirty="0"/>
              <a:t> est </a:t>
            </a:r>
            <a:r>
              <a:rPr dirty="0" err="1"/>
              <a:t>motivé</a:t>
            </a:r>
            <a:r>
              <a:rPr dirty="0"/>
              <a:t> ». Un silence </a:t>
            </a:r>
            <a:r>
              <a:rPr dirty="0" err="1"/>
              <a:t>n'est</a:t>
            </a:r>
            <a:r>
              <a:rPr dirty="0"/>
              <a:t> pas un </a:t>
            </a:r>
            <a:r>
              <a:rPr dirty="0" err="1"/>
              <a:t>refus</a:t>
            </a:r>
            <a:r>
              <a:rPr dirty="0"/>
              <a:t> </a:t>
            </a:r>
            <a:r>
              <a:rPr dirty="0" err="1"/>
              <a:t>valable</a:t>
            </a:r>
            <a:r>
              <a:rPr dirty="0"/>
              <a:t>, et un </a:t>
            </a:r>
            <a:r>
              <a:rPr dirty="0" err="1"/>
              <a:t>refus</a:t>
            </a:r>
            <a:r>
              <a:rPr dirty="0"/>
              <a:t> non </a:t>
            </a:r>
            <a:r>
              <a:rPr dirty="0" err="1"/>
              <a:t>motivé</a:t>
            </a:r>
            <a:r>
              <a:rPr dirty="0"/>
              <a:t> est contestable.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Faire lire </a:t>
            </a:r>
            <a:r>
              <a:rPr dirty="0" err="1"/>
              <a:t>chaque</a:t>
            </a:r>
            <a:r>
              <a:rPr dirty="0"/>
              <a:t> mission à voix haute par un participant </a:t>
            </a:r>
            <a:r>
              <a:rPr dirty="0" err="1"/>
              <a:t>différent</a:t>
            </a:r>
            <a:r>
              <a:rPr dirty="0"/>
              <a:t>, </a:t>
            </a:r>
            <a:r>
              <a:rPr dirty="0" err="1"/>
              <a:t>puis</a:t>
            </a:r>
            <a:r>
              <a:rPr dirty="0"/>
              <a:t> demander : « </a:t>
            </a:r>
            <a:r>
              <a:rPr dirty="0" err="1"/>
              <a:t>celle-là</a:t>
            </a:r>
            <a:r>
              <a:rPr dirty="0"/>
              <a:t>, vous </a:t>
            </a:r>
            <a:r>
              <a:rPr dirty="0" err="1"/>
              <a:t>l'avez</a:t>
            </a:r>
            <a:r>
              <a:rPr dirty="0"/>
              <a:t> déjà </a:t>
            </a:r>
            <a:r>
              <a:rPr dirty="0" err="1"/>
              <a:t>exercée</a:t>
            </a:r>
            <a:r>
              <a:rPr dirty="0"/>
              <a:t> ?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a:t>
            </a:r>
            <a:r>
              <a:rPr dirty="0" err="1"/>
              <a:t>dernière</a:t>
            </a:r>
            <a:r>
              <a:rPr dirty="0"/>
              <a:t> phrase de L. 2312-27 mérite d'être </a:t>
            </a:r>
            <a:r>
              <a:rPr dirty="0" err="1"/>
              <a:t>lue</a:t>
            </a:r>
            <a:r>
              <a:rPr dirty="0"/>
              <a:t> deux </a:t>
            </a:r>
            <a:r>
              <a:rPr dirty="0" err="1"/>
              <a:t>fois</a:t>
            </a:r>
            <a:r>
              <a:rPr dirty="0"/>
              <a:t> : « le </a:t>
            </a:r>
            <a:r>
              <a:rPr dirty="0" err="1"/>
              <a:t>comité</a:t>
            </a:r>
            <a:r>
              <a:rPr dirty="0"/>
              <a:t> </a:t>
            </a:r>
            <a:r>
              <a:rPr dirty="0" err="1"/>
              <a:t>peut</a:t>
            </a:r>
            <a:r>
              <a:rPr dirty="0"/>
              <a:t> proposer un </a:t>
            </a:r>
            <a:r>
              <a:rPr dirty="0" err="1"/>
              <a:t>ordre</a:t>
            </a:r>
            <a:r>
              <a:rPr dirty="0"/>
              <a:t> de </a:t>
            </a:r>
            <a:r>
              <a:rPr dirty="0" err="1"/>
              <a:t>priorité</a:t>
            </a:r>
            <a:r>
              <a:rPr dirty="0"/>
              <a:t> et </a:t>
            </a:r>
            <a:r>
              <a:rPr dirty="0" err="1"/>
              <a:t>l'adoption</a:t>
            </a:r>
            <a:r>
              <a:rPr dirty="0"/>
              <a:t> de </a:t>
            </a:r>
            <a:r>
              <a:rPr dirty="0" err="1"/>
              <a:t>mesures</a:t>
            </a:r>
            <a:r>
              <a:rPr dirty="0"/>
              <a:t> </a:t>
            </a:r>
            <a:r>
              <a:rPr dirty="0" err="1"/>
              <a:t>supplémentaires</a:t>
            </a:r>
            <a:r>
              <a:rPr dirty="0"/>
              <a:t> ». </a:t>
            </a:r>
            <a:r>
              <a:rPr dirty="0" err="1"/>
              <a:t>C'est</a:t>
            </a:r>
            <a:r>
              <a:rPr dirty="0"/>
              <a:t> le seul </a:t>
            </a:r>
            <a:r>
              <a:rPr dirty="0" err="1"/>
              <a:t>endroit</a:t>
            </a:r>
            <a:r>
              <a:rPr dirty="0"/>
              <a:t> du code </a:t>
            </a:r>
            <a:r>
              <a:rPr dirty="0" err="1"/>
              <a:t>où</a:t>
            </a:r>
            <a:r>
              <a:rPr dirty="0"/>
              <a:t> le CSE dispose d'un </a:t>
            </a:r>
            <a:r>
              <a:rPr dirty="0" err="1"/>
              <a:t>pouvoir</a:t>
            </a:r>
            <a:r>
              <a:rPr dirty="0"/>
              <a:t> de proposition </a:t>
            </a:r>
            <a:r>
              <a:rPr dirty="0" err="1"/>
              <a:t>formalisé</a:t>
            </a:r>
            <a:r>
              <a:rPr dirty="0"/>
              <a:t> sur la </a:t>
            </a:r>
            <a:r>
              <a:rPr dirty="0" err="1"/>
              <a:t>prévention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Quatre inspections par an est un </a:t>
            </a:r>
            <a:r>
              <a:rPr dirty="0" err="1"/>
              <a:t>plancher</a:t>
            </a:r>
            <a:r>
              <a:rPr dirty="0"/>
              <a:t>, pas un plafond. Un accord </a:t>
            </a:r>
            <a:r>
              <a:rPr dirty="0" err="1"/>
              <a:t>peut</a:t>
            </a:r>
            <a:r>
              <a:rPr dirty="0"/>
              <a:t> </a:t>
            </a:r>
            <a:r>
              <a:rPr dirty="0" err="1"/>
              <a:t>prévoir</a:t>
            </a:r>
            <a:r>
              <a:rPr dirty="0"/>
              <a:t> </a:t>
            </a:r>
            <a:r>
              <a:rPr dirty="0" err="1"/>
              <a:t>davantage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Faire </a:t>
            </a:r>
            <a:r>
              <a:rPr dirty="0" err="1"/>
              <a:t>raconter</a:t>
            </a:r>
            <a:r>
              <a:rPr dirty="0"/>
              <a:t> </a:t>
            </a:r>
            <a:r>
              <a:rPr dirty="0" err="1"/>
              <a:t>une</a:t>
            </a:r>
            <a:r>
              <a:rPr dirty="0"/>
              <a:t> inspection </a:t>
            </a:r>
            <a:r>
              <a:rPr dirty="0" err="1"/>
              <a:t>récente</a:t>
            </a:r>
            <a:r>
              <a:rPr dirty="0"/>
              <a:t> par un participant. </a:t>
            </a:r>
            <a:r>
              <a:rPr dirty="0" err="1"/>
              <a:t>Repérer</a:t>
            </a:r>
            <a:r>
              <a:rPr dirty="0"/>
              <a:t> </a:t>
            </a:r>
            <a:r>
              <a:rPr dirty="0" err="1"/>
              <a:t>si</a:t>
            </a:r>
            <a:r>
              <a:rPr dirty="0"/>
              <a:t> </a:t>
            </a:r>
            <a:r>
              <a:rPr dirty="0" err="1"/>
              <a:t>elle</a:t>
            </a:r>
            <a:r>
              <a:rPr dirty="0"/>
              <a:t> a débouché sur </a:t>
            </a:r>
            <a:r>
              <a:rPr dirty="0" err="1"/>
              <a:t>une</a:t>
            </a:r>
            <a:r>
              <a:rPr dirty="0"/>
              <a:t> trace </a:t>
            </a:r>
            <a:r>
              <a:rPr dirty="0" err="1"/>
              <a:t>écrite</a:t>
            </a:r>
            <a:r>
              <a:rPr dirty="0"/>
              <a:t> : sans </a:t>
            </a:r>
            <a:r>
              <a:rPr dirty="0" err="1"/>
              <a:t>écrit</a:t>
            </a:r>
            <a:r>
              <a:rPr dirty="0"/>
              <a:t>, </a:t>
            </a:r>
            <a:r>
              <a:rPr dirty="0" err="1"/>
              <a:t>l'inspection</a:t>
            </a:r>
            <a:r>
              <a:rPr dirty="0"/>
              <a:t> </a:t>
            </a:r>
            <a:r>
              <a:rPr dirty="0" err="1"/>
              <a:t>n'existe</a:t>
            </a:r>
            <a:r>
              <a:rPr dirty="0"/>
              <a:t> pas.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Trois articles de la </a:t>
            </a:r>
            <a:r>
              <a:rPr dirty="0" err="1"/>
              <a:t>partie</a:t>
            </a:r>
            <a:r>
              <a:rPr dirty="0"/>
              <a:t> </a:t>
            </a:r>
            <a:r>
              <a:rPr dirty="0" err="1"/>
              <a:t>réglementaire</a:t>
            </a:r>
            <a:r>
              <a:rPr dirty="0"/>
              <a:t> du code du travail, livre V, </a:t>
            </a:r>
            <a:r>
              <a:rPr dirty="0" err="1"/>
              <a:t>titre</a:t>
            </a:r>
            <a:r>
              <a:rPr dirty="0"/>
              <a:t> </a:t>
            </a:r>
            <a:r>
              <a:rPr dirty="0" err="1"/>
              <a:t>Ier</a:t>
            </a:r>
            <a:r>
              <a:rPr dirty="0"/>
              <a:t> (travaux </a:t>
            </a:r>
            <a:r>
              <a:rPr dirty="0" err="1"/>
              <a:t>réalisés</a:t>
            </a:r>
            <a:r>
              <a:rPr dirty="0"/>
              <a:t> dans un </a:t>
            </a:r>
            <a:r>
              <a:rPr dirty="0" err="1"/>
              <a:t>établissement</a:t>
            </a:r>
            <a:r>
              <a:rPr dirty="0"/>
              <a:t> par </a:t>
            </a:r>
            <a:r>
              <a:rPr dirty="0" err="1"/>
              <a:t>une</a:t>
            </a:r>
            <a:r>
              <a:rPr dirty="0"/>
              <a:t> </a:t>
            </a:r>
            <a:r>
              <a:rPr dirty="0" err="1"/>
              <a:t>entreprise</a:t>
            </a:r>
            <a:r>
              <a:rPr dirty="0"/>
              <a:t> </a:t>
            </a:r>
            <a:r>
              <a:rPr dirty="0" err="1"/>
              <a:t>extérieure</a:t>
            </a:r>
            <a:r>
              <a:rPr dirty="0"/>
              <a:t>).</a:t>
            </a:r>
          </a:p>
          <a:p>
            <a:r>
              <a:rPr dirty="0"/>
              <a:t>Le champ est très large : toute </a:t>
            </a:r>
            <a:r>
              <a:rPr dirty="0" err="1"/>
              <a:t>opération</a:t>
            </a:r>
            <a:r>
              <a:rPr dirty="0"/>
              <a:t>, quelle </a:t>
            </a:r>
            <a:r>
              <a:rPr dirty="0" err="1"/>
              <a:t>que</a:t>
            </a:r>
            <a:r>
              <a:rPr dirty="0"/>
              <a:t> soit </a:t>
            </a:r>
            <a:r>
              <a:rPr dirty="0" err="1"/>
              <a:t>sa</a:t>
            </a:r>
            <a:r>
              <a:rPr dirty="0"/>
              <a:t> nature, y </a:t>
            </a:r>
            <a:r>
              <a:rPr dirty="0" err="1"/>
              <a:t>compris</a:t>
            </a:r>
            <a:r>
              <a:rPr dirty="0"/>
              <a:t> dans les </a:t>
            </a:r>
            <a:r>
              <a:rPr dirty="0" err="1"/>
              <a:t>dépendances</a:t>
            </a:r>
            <a:r>
              <a:rPr dirty="0"/>
              <a:t> et les </a:t>
            </a:r>
            <a:r>
              <a:rPr dirty="0" err="1"/>
              <a:t>chantiers</a:t>
            </a:r>
            <a:r>
              <a:rPr dirty="0"/>
              <a:t>. Une prestation de </a:t>
            </a:r>
            <a:r>
              <a:rPr dirty="0" err="1"/>
              <a:t>nettoyage</a:t>
            </a:r>
            <a:r>
              <a:rPr dirty="0"/>
              <a:t> </a:t>
            </a:r>
            <a:r>
              <a:rPr dirty="0" err="1"/>
              <a:t>ou</a:t>
            </a:r>
            <a:r>
              <a:rPr dirty="0"/>
              <a:t> de maintenance y entre.</a:t>
            </a:r>
          </a:p>
          <a:p>
            <a:r>
              <a:rPr dirty="0"/>
              <a:t>Le mot </a:t>
            </a:r>
            <a:r>
              <a:rPr dirty="0" err="1"/>
              <a:t>déterminant</a:t>
            </a:r>
            <a:r>
              <a:rPr dirty="0"/>
              <a:t> est « </a:t>
            </a:r>
            <a:r>
              <a:rPr dirty="0" err="1"/>
              <a:t>interférence</a:t>
            </a:r>
            <a:r>
              <a:rPr dirty="0"/>
              <a:t> » : </a:t>
            </a:r>
            <a:r>
              <a:rPr dirty="0" err="1"/>
              <a:t>ce</a:t>
            </a:r>
            <a:r>
              <a:rPr dirty="0"/>
              <a:t> </a:t>
            </a:r>
            <a:r>
              <a:rPr dirty="0" err="1"/>
              <a:t>que</a:t>
            </a:r>
            <a:r>
              <a:rPr dirty="0"/>
              <a:t> le plan de </a:t>
            </a:r>
            <a:r>
              <a:rPr dirty="0" err="1"/>
              <a:t>prévention</a:t>
            </a:r>
            <a:r>
              <a:rPr dirty="0"/>
              <a:t> doit </a:t>
            </a:r>
            <a:r>
              <a:rPr dirty="0" err="1"/>
              <a:t>traiter</a:t>
            </a:r>
            <a:r>
              <a:rPr dirty="0"/>
              <a:t>, </a:t>
            </a:r>
            <a:r>
              <a:rPr dirty="0" err="1"/>
              <a:t>ce</a:t>
            </a:r>
            <a:r>
              <a:rPr dirty="0"/>
              <a:t> ne </a:t>
            </a:r>
            <a:r>
              <a:rPr dirty="0" err="1"/>
              <a:t>sont</a:t>
            </a:r>
            <a:r>
              <a:rPr dirty="0"/>
              <a:t> pas les </a:t>
            </a:r>
            <a:r>
              <a:rPr dirty="0" err="1"/>
              <a:t>risques</a:t>
            </a:r>
            <a:r>
              <a:rPr dirty="0"/>
              <a:t> </a:t>
            </a:r>
            <a:r>
              <a:rPr dirty="0" err="1"/>
              <a:t>propres</a:t>
            </a:r>
            <a:r>
              <a:rPr dirty="0"/>
              <a:t> de </a:t>
            </a:r>
            <a:r>
              <a:rPr dirty="0" err="1"/>
              <a:t>chaque</a:t>
            </a:r>
            <a:r>
              <a:rPr dirty="0"/>
              <a:t> </a:t>
            </a:r>
            <a:r>
              <a:rPr dirty="0" err="1"/>
              <a:t>entreprise</a:t>
            </a:r>
            <a:r>
              <a:rPr dirty="0"/>
              <a:t>, </a:t>
            </a:r>
            <a:r>
              <a:rPr dirty="0" err="1"/>
              <a:t>mais</a:t>
            </a:r>
            <a:r>
              <a:rPr dirty="0"/>
              <a:t> </a:t>
            </a:r>
            <a:r>
              <a:rPr dirty="0" err="1"/>
              <a:t>ceux</a:t>
            </a:r>
            <a:r>
              <a:rPr dirty="0"/>
              <a:t> </a:t>
            </a:r>
            <a:r>
              <a:rPr dirty="0" err="1"/>
              <a:t>que</a:t>
            </a:r>
            <a:r>
              <a:rPr dirty="0"/>
              <a:t> la </a:t>
            </a:r>
            <a:r>
              <a:rPr dirty="0" err="1"/>
              <a:t>coactivité</a:t>
            </a:r>
            <a:r>
              <a:rPr dirty="0"/>
              <a:t> fait </a:t>
            </a:r>
            <a:r>
              <a:rPr dirty="0" err="1"/>
              <a:t>naître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Deux </a:t>
            </a:r>
            <a:r>
              <a:rPr dirty="0" err="1"/>
              <a:t>seuils</a:t>
            </a:r>
            <a:r>
              <a:rPr dirty="0"/>
              <a:t>, et un seul </a:t>
            </a:r>
            <a:r>
              <a:rPr dirty="0" err="1"/>
              <a:t>suffit</a:t>
            </a:r>
            <a:r>
              <a:rPr dirty="0"/>
              <a:t> : 400 </a:t>
            </a:r>
            <a:r>
              <a:rPr dirty="0" err="1"/>
              <a:t>heures</a:t>
            </a:r>
            <a:r>
              <a:rPr dirty="0"/>
              <a:t> sur </a:t>
            </a:r>
            <a:r>
              <a:rPr dirty="0" err="1"/>
              <a:t>douze</a:t>
            </a:r>
            <a:r>
              <a:rPr dirty="0"/>
              <a:t> </a:t>
            </a:r>
            <a:r>
              <a:rPr dirty="0" err="1"/>
              <a:t>mois</a:t>
            </a:r>
            <a:r>
              <a:rPr dirty="0"/>
              <a:t>, </a:t>
            </a:r>
            <a:r>
              <a:rPr dirty="0" err="1"/>
              <a:t>ou</a:t>
            </a:r>
            <a:r>
              <a:rPr dirty="0"/>
              <a:t> un travail figurant sur la </a:t>
            </a:r>
            <a:r>
              <a:rPr dirty="0" err="1"/>
              <a:t>liste</a:t>
            </a:r>
            <a:r>
              <a:rPr dirty="0"/>
              <a:t> des travaux </a:t>
            </a:r>
            <a:r>
              <a:rPr dirty="0" err="1"/>
              <a:t>dangereux</a:t>
            </a:r>
            <a:r>
              <a:rPr dirty="0"/>
              <a:t>, quelle </a:t>
            </a:r>
            <a:r>
              <a:rPr dirty="0" err="1"/>
              <a:t>que</a:t>
            </a:r>
            <a:r>
              <a:rPr dirty="0"/>
              <a:t> soit la durée.</a:t>
            </a:r>
          </a:p>
          <a:p>
            <a:r>
              <a:rPr dirty="0"/>
              <a:t>Les 400 </a:t>
            </a:r>
            <a:r>
              <a:rPr dirty="0" err="1"/>
              <a:t>heures</a:t>
            </a:r>
            <a:r>
              <a:rPr dirty="0"/>
              <a:t> </a:t>
            </a:r>
            <a:r>
              <a:rPr dirty="0" err="1"/>
              <a:t>s'apprécient</a:t>
            </a:r>
            <a:r>
              <a:rPr dirty="0"/>
              <a:t> </a:t>
            </a:r>
            <a:r>
              <a:rPr dirty="0" err="1"/>
              <a:t>en</a:t>
            </a:r>
            <a:r>
              <a:rPr dirty="0"/>
              <a:t> cumulant les </a:t>
            </a:r>
            <a:r>
              <a:rPr dirty="0" err="1"/>
              <a:t>heures</a:t>
            </a:r>
            <a:r>
              <a:rPr dirty="0"/>
              <a:t> de </a:t>
            </a:r>
            <a:r>
              <a:rPr dirty="0" err="1"/>
              <a:t>toutes</a:t>
            </a:r>
            <a:r>
              <a:rPr dirty="0"/>
              <a:t> les </a:t>
            </a:r>
            <a:r>
              <a:rPr dirty="0" err="1"/>
              <a:t>entreprises</a:t>
            </a:r>
            <a:r>
              <a:rPr dirty="0"/>
              <a:t> </a:t>
            </a:r>
            <a:r>
              <a:rPr dirty="0" err="1"/>
              <a:t>extérieures</a:t>
            </a:r>
            <a:r>
              <a:rPr dirty="0"/>
              <a:t> et de </a:t>
            </a:r>
            <a:r>
              <a:rPr dirty="0" err="1"/>
              <a:t>leurs</a:t>
            </a:r>
            <a:r>
              <a:rPr dirty="0"/>
              <a:t> sous-</a:t>
            </a:r>
            <a:r>
              <a:rPr dirty="0" err="1"/>
              <a:t>traitantes</a:t>
            </a:r>
            <a:r>
              <a:rPr dirty="0"/>
              <a:t>. Le </a:t>
            </a:r>
            <a:r>
              <a:rPr dirty="0" err="1"/>
              <a:t>seuil</a:t>
            </a:r>
            <a:r>
              <a:rPr dirty="0"/>
              <a:t> </a:t>
            </a:r>
            <a:r>
              <a:rPr dirty="0" err="1"/>
              <a:t>peut</a:t>
            </a:r>
            <a:r>
              <a:rPr dirty="0"/>
              <a:t> </a:t>
            </a:r>
            <a:r>
              <a:rPr dirty="0" err="1"/>
              <a:t>donc</a:t>
            </a:r>
            <a:r>
              <a:rPr dirty="0"/>
              <a:t> </a:t>
            </a:r>
            <a:r>
              <a:rPr dirty="0" err="1"/>
              <a:t>être</a:t>
            </a:r>
            <a:r>
              <a:rPr dirty="0"/>
              <a:t> </a:t>
            </a:r>
            <a:r>
              <a:rPr dirty="0" err="1"/>
              <a:t>franchi</a:t>
            </a:r>
            <a:r>
              <a:rPr dirty="0"/>
              <a:t> </a:t>
            </a:r>
            <a:r>
              <a:rPr dirty="0" err="1"/>
              <a:t>en</a:t>
            </a:r>
            <a:r>
              <a:rPr dirty="0"/>
              <a:t> </a:t>
            </a:r>
            <a:r>
              <a:rPr dirty="0" err="1"/>
              <a:t>cours</a:t>
            </a:r>
            <a:r>
              <a:rPr dirty="0"/>
              <a:t> </a:t>
            </a:r>
            <a:r>
              <a:rPr dirty="0" err="1"/>
              <a:t>d'opération</a:t>
            </a:r>
            <a:r>
              <a:rPr dirty="0"/>
              <a:t> : le plan </a:t>
            </a:r>
            <a:r>
              <a:rPr dirty="0" err="1"/>
              <a:t>devient</a:t>
            </a:r>
            <a:r>
              <a:rPr dirty="0"/>
              <a:t> </a:t>
            </a:r>
            <a:r>
              <a:rPr dirty="0" err="1"/>
              <a:t>alors</a:t>
            </a:r>
            <a:r>
              <a:rPr dirty="0"/>
              <a:t> </a:t>
            </a:r>
            <a:r>
              <a:rPr dirty="0" err="1"/>
              <a:t>obligatoire</a:t>
            </a:r>
            <a:r>
              <a:rPr dirty="0"/>
              <a:t> par </a:t>
            </a:r>
            <a:r>
              <a:rPr dirty="0" err="1"/>
              <a:t>écrit</a:t>
            </a:r>
            <a:r>
              <a:rPr dirty="0"/>
              <a:t>.</a:t>
            </a:r>
          </a:p>
          <a:p>
            <a:r>
              <a:rPr dirty="0"/>
              <a:t>Le plan est </a:t>
            </a:r>
            <a:r>
              <a:rPr dirty="0" err="1"/>
              <a:t>tenu</a:t>
            </a:r>
            <a:r>
              <a:rPr dirty="0"/>
              <a:t> à disposition du </a:t>
            </a:r>
            <a:r>
              <a:rPr dirty="0" err="1"/>
              <a:t>comité</a:t>
            </a:r>
            <a:r>
              <a:rPr dirty="0"/>
              <a:t>, et communiqué sur simple </a:t>
            </a:r>
            <a:r>
              <a:rPr dirty="0" err="1"/>
              <a:t>demande</a:t>
            </a:r>
            <a:r>
              <a:rPr dirty="0"/>
              <a:t>. </a:t>
            </a:r>
            <a:r>
              <a:rPr dirty="0" err="1"/>
              <a:t>Aucune</a:t>
            </a:r>
            <a:r>
              <a:rPr dirty="0"/>
              <a:t> condition </a:t>
            </a:r>
            <a:r>
              <a:rPr dirty="0" err="1"/>
              <a:t>n'est</a:t>
            </a:r>
            <a:r>
              <a:rPr dirty="0"/>
              <a:t> </a:t>
            </a:r>
            <a:r>
              <a:rPr dirty="0" err="1"/>
              <a:t>posée</a:t>
            </a:r>
            <a:r>
              <a:rPr dirty="0"/>
              <a:t> à </a:t>
            </a:r>
            <a:r>
              <a:rPr dirty="0" err="1"/>
              <a:t>cette</a:t>
            </a:r>
            <a:r>
              <a:rPr dirty="0"/>
              <a:t> </a:t>
            </a:r>
            <a:r>
              <a:rPr dirty="0" err="1"/>
              <a:t>demande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Trois leviers </a:t>
            </a:r>
            <a:r>
              <a:rPr dirty="0" err="1"/>
              <a:t>concrets</a:t>
            </a:r>
            <a:r>
              <a:rPr dirty="0"/>
              <a:t>, et </a:t>
            </a:r>
            <a:r>
              <a:rPr dirty="0" err="1"/>
              <a:t>ils</a:t>
            </a:r>
            <a:r>
              <a:rPr dirty="0"/>
              <a:t> </a:t>
            </a:r>
            <a:r>
              <a:rPr dirty="0" err="1"/>
              <a:t>sont</a:t>
            </a:r>
            <a:r>
              <a:rPr dirty="0"/>
              <a:t> </a:t>
            </a:r>
            <a:r>
              <a:rPr dirty="0" err="1"/>
              <a:t>rarement</a:t>
            </a:r>
            <a:r>
              <a:rPr dirty="0"/>
              <a:t> </a:t>
            </a:r>
            <a:r>
              <a:rPr dirty="0" err="1"/>
              <a:t>utilisés</a:t>
            </a:r>
            <a:r>
              <a:rPr dirty="0"/>
              <a:t>.</a:t>
            </a:r>
          </a:p>
          <a:p>
            <a:r>
              <a:rPr dirty="0"/>
              <a:t>R. 4514-3 : le </a:t>
            </a:r>
            <a:r>
              <a:rPr dirty="0" err="1"/>
              <a:t>comité</a:t>
            </a:r>
            <a:r>
              <a:rPr dirty="0"/>
              <a:t> </a:t>
            </a:r>
            <a:r>
              <a:rPr dirty="0" err="1"/>
              <a:t>décide</a:t>
            </a:r>
            <a:r>
              <a:rPr dirty="0"/>
              <a:t> seul </a:t>
            </a:r>
            <a:r>
              <a:rPr dirty="0" err="1"/>
              <a:t>s'il</a:t>
            </a:r>
            <a:r>
              <a:rPr dirty="0"/>
              <a:t> </a:t>
            </a:r>
            <a:r>
              <a:rPr dirty="0" err="1"/>
              <a:t>participe</a:t>
            </a:r>
            <a:r>
              <a:rPr dirty="0"/>
              <a:t> à </a:t>
            </a:r>
            <a:r>
              <a:rPr dirty="0" err="1"/>
              <a:t>l'inspection</a:t>
            </a:r>
            <a:r>
              <a:rPr dirty="0"/>
              <a:t> commune </a:t>
            </a:r>
            <a:r>
              <a:rPr dirty="0" err="1"/>
              <a:t>préalable</a:t>
            </a:r>
            <a:r>
              <a:rPr dirty="0"/>
              <a:t>. </a:t>
            </a:r>
            <a:r>
              <a:rPr dirty="0" err="1"/>
              <a:t>L'avis</a:t>
            </a:r>
            <a:r>
              <a:rPr dirty="0"/>
              <a:t> </a:t>
            </a:r>
            <a:r>
              <a:rPr dirty="0" err="1"/>
              <a:t>rendu</a:t>
            </a:r>
            <a:r>
              <a:rPr dirty="0"/>
              <a:t> par </a:t>
            </a:r>
            <a:r>
              <a:rPr dirty="0" err="1"/>
              <a:t>ses</a:t>
            </a:r>
            <a:r>
              <a:rPr dirty="0"/>
              <a:t> </a:t>
            </a:r>
            <a:r>
              <a:rPr dirty="0" err="1"/>
              <a:t>membres</a:t>
            </a:r>
            <a:r>
              <a:rPr dirty="0"/>
              <a:t> est </a:t>
            </a:r>
            <a:r>
              <a:rPr dirty="0" err="1"/>
              <a:t>porté</a:t>
            </a:r>
            <a:r>
              <a:rPr dirty="0"/>
              <a:t> sur le plan de </a:t>
            </a:r>
            <a:r>
              <a:rPr dirty="0" err="1"/>
              <a:t>prévention</a:t>
            </a:r>
            <a:r>
              <a:rPr dirty="0"/>
              <a:t> </a:t>
            </a:r>
            <a:r>
              <a:rPr dirty="0" err="1"/>
              <a:t>lui-même</a:t>
            </a:r>
            <a:r>
              <a:rPr dirty="0"/>
              <a:t> </a:t>
            </a:r>
            <a:r>
              <a:rPr dirty="0" err="1"/>
              <a:t>lorsque</a:t>
            </a:r>
            <a:r>
              <a:rPr dirty="0"/>
              <a:t> </a:t>
            </a:r>
            <a:r>
              <a:rPr dirty="0" err="1"/>
              <a:t>celui</a:t>
            </a:r>
            <a:r>
              <a:rPr dirty="0"/>
              <a:t>-ci est </a:t>
            </a:r>
            <a:r>
              <a:rPr dirty="0" err="1"/>
              <a:t>écrit</a:t>
            </a:r>
            <a:r>
              <a:rPr dirty="0"/>
              <a:t> : </a:t>
            </a:r>
            <a:r>
              <a:rPr dirty="0" err="1"/>
              <a:t>c'est</a:t>
            </a:r>
            <a:r>
              <a:rPr dirty="0"/>
              <a:t> </a:t>
            </a:r>
            <a:r>
              <a:rPr dirty="0" err="1"/>
              <a:t>une</a:t>
            </a:r>
            <a:r>
              <a:rPr dirty="0"/>
              <a:t> trace opposable.</a:t>
            </a:r>
          </a:p>
          <a:p>
            <a:r>
              <a:rPr dirty="0"/>
              <a:t>R. 4514-4 : deux </a:t>
            </a:r>
            <a:r>
              <a:rPr dirty="0" err="1"/>
              <a:t>représentants</a:t>
            </a:r>
            <a:r>
              <a:rPr dirty="0"/>
              <a:t> </a:t>
            </a:r>
            <a:r>
              <a:rPr dirty="0" err="1"/>
              <a:t>suffisent</a:t>
            </a:r>
            <a:r>
              <a:rPr dirty="0"/>
              <a:t> pour </a:t>
            </a:r>
            <a:r>
              <a:rPr dirty="0" err="1"/>
              <a:t>obtenir</a:t>
            </a:r>
            <a:r>
              <a:rPr dirty="0"/>
              <a:t> </a:t>
            </a:r>
            <a:r>
              <a:rPr dirty="0" err="1"/>
              <a:t>une</a:t>
            </a:r>
            <a:r>
              <a:rPr dirty="0"/>
              <a:t> inspection </a:t>
            </a:r>
            <a:r>
              <a:rPr dirty="0" err="1"/>
              <a:t>ou</a:t>
            </a:r>
            <a:r>
              <a:rPr dirty="0"/>
              <a:t> </a:t>
            </a:r>
            <a:r>
              <a:rPr dirty="0" err="1"/>
              <a:t>une</a:t>
            </a:r>
            <a:r>
              <a:rPr dirty="0"/>
              <a:t> </a:t>
            </a:r>
            <a:r>
              <a:rPr dirty="0" err="1"/>
              <a:t>réunion</a:t>
            </a:r>
            <a:r>
              <a:rPr dirty="0"/>
              <a:t> de coordination, à condition </a:t>
            </a:r>
            <a:r>
              <a:rPr dirty="0" err="1"/>
              <a:t>que</a:t>
            </a:r>
            <a:r>
              <a:rPr dirty="0"/>
              <a:t> la </a:t>
            </a:r>
            <a:r>
              <a:rPr dirty="0" err="1"/>
              <a:t>demande</a:t>
            </a:r>
            <a:r>
              <a:rPr dirty="0"/>
              <a:t> soit </a:t>
            </a:r>
            <a:r>
              <a:rPr dirty="0" err="1"/>
              <a:t>motivée</a:t>
            </a:r>
            <a:r>
              <a:rPr dirty="0"/>
              <a:t>.</a:t>
            </a:r>
          </a:p>
          <a:p>
            <a:r>
              <a:rPr dirty="0" err="1"/>
              <a:t>Réserve</a:t>
            </a:r>
            <a:r>
              <a:rPr dirty="0"/>
              <a:t> de </a:t>
            </a:r>
            <a:r>
              <a:rPr dirty="0" err="1"/>
              <a:t>rédaction</a:t>
            </a:r>
            <a:r>
              <a:rPr dirty="0"/>
              <a:t> : le 3° de R. 4514-1 </a:t>
            </a:r>
            <a:r>
              <a:rPr dirty="0" err="1"/>
              <a:t>renvoie</a:t>
            </a:r>
            <a:r>
              <a:rPr dirty="0"/>
              <a:t> encore à </a:t>
            </a:r>
            <a:r>
              <a:rPr dirty="0" err="1"/>
              <a:t>l'article</a:t>
            </a:r>
            <a:r>
              <a:rPr dirty="0"/>
              <a:t> L. 4614-6, </a:t>
            </a:r>
            <a:r>
              <a:rPr dirty="0" err="1"/>
              <a:t>abrogé</a:t>
            </a:r>
            <a:r>
              <a:rPr dirty="0"/>
              <a:t> avec le CHSCT. Le </a:t>
            </a:r>
            <a:r>
              <a:rPr dirty="0" err="1"/>
              <a:t>contenu</a:t>
            </a:r>
            <a:r>
              <a:rPr dirty="0"/>
              <a:t> figure </a:t>
            </a:r>
            <a:r>
              <a:rPr dirty="0" err="1"/>
              <a:t>aujourd'hui</a:t>
            </a:r>
            <a:r>
              <a:rPr dirty="0"/>
              <a:t> au 1° de </a:t>
            </a:r>
            <a:r>
              <a:rPr dirty="0" err="1"/>
              <a:t>l'article</a:t>
            </a:r>
            <a:r>
              <a:rPr dirty="0"/>
              <a:t> L. 2315-11 du code du travail. Le renvoi </a:t>
            </a:r>
            <a:r>
              <a:rPr dirty="0" err="1"/>
              <a:t>n'a</a:t>
            </a:r>
            <a:r>
              <a:rPr dirty="0"/>
              <a:t> jamais </a:t>
            </a:r>
            <a:r>
              <a:rPr dirty="0" err="1"/>
              <a:t>été</a:t>
            </a:r>
            <a:r>
              <a:rPr dirty="0"/>
              <a:t> </a:t>
            </a:r>
            <a:r>
              <a:rPr dirty="0" err="1"/>
              <a:t>actualisé</a:t>
            </a:r>
            <a:r>
              <a:rPr dirty="0"/>
              <a:t> par le </a:t>
            </a:r>
            <a:r>
              <a:rPr dirty="0" err="1"/>
              <a:t>pouvoir</a:t>
            </a:r>
            <a:r>
              <a:rPr dirty="0"/>
              <a:t> </a:t>
            </a:r>
            <a:r>
              <a:rPr dirty="0" err="1"/>
              <a:t>réglementaire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Faire </a:t>
            </a:r>
            <a:r>
              <a:rPr dirty="0" err="1"/>
              <a:t>travailler</a:t>
            </a:r>
            <a:r>
              <a:rPr dirty="0"/>
              <a:t> par </a:t>
            </a:r>
            <a:r>
              <a:rPr dirty="0" err="1"/>
              <a:t>entreprise</a:t>
            </a:r>
            <a:r>
              <a:rPr dirty="0"/>
              <a:t> </a:t>
            </a:r>
            <a:r>
              <a:rPr dirty="0" err="1"/>
              <a:t>ou</a:t>
            </a:r>
            <a:r>
              <a:rPr dirty="0"/>
              <a:t> par </a:t>
            </a:r>
            <a:r>
              <a:rPr dirty="0" err="1"/>
              <a:t>établissement</a:t>
            </a:r>
            <a:r>
              <a:rPr dirty="0"/>
              <a:t>. La restitution fait </a:t>
            </a:r>
            <a:r>
              <a:rPr dirty="0" err="1"/>
              <a:t>souvent</a:t>
            </a:r>
            <a:r>
              <a:rPr dirty="0"/>
              <a:t> </a:t>
            </a:r>
            <a:r>
              <a:rPr dirty="0" err="1"/>
              <a:t>apparaître</a:t>
            </a:r>
            <a:r>
              <a:rPr dirty="0"/>
              <a:t> </a:t>
            </a:r>
            <a:r>
              <a:rPr dirty="0" err="1"/>
              <a:t>que</a:t>
            </a:r>
            <a:r>
              <a:rPr dirty="0"/>
              <a:t> </a:t>
            </a:r>
            <a:r>
              <a:rPr dirty="0" err="1"/>
              <a:t>personne</a:t>
            </a:r>
            <a:r>
              <a:rPr dirty="0"/>
              <a:t> </a:t>
            </a:r>
            <a:r>
              <a:rPr dirty="0" err="1"/>
              <a:t>n'a</a:t>
            </a:r>
            <a:r>
              <a:rPr dirty="0"/>
              <a:t> </a:t>
            </a:r>
            <a:r>
              <a:rPr dirty="0" err="1"/>
              <a:t>lu</a:t>
            </a:r>
            <a:r>
              <a:rPr dirty="0"/>
              <a:t> </a:t>
            </a:r>
            <a:r>
              <a:rPr dirty="0" err="1"/>
              <a:t>l'accord</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C'est</a:t>
            </a:r>
            <a:r>
              <a:rPr dirty="0"/>
              <a:t> la confusion la plus </a:t>
            </a:r>
            <a:r>
              <a:rPr dirty="0" err="1"/>
              <a:t>fréquente</a:t>
            </a:r>
            <a:r>
              <a:rPr dirty="0"/>
              <a:t>. La faire </a:t>
            </a:r>
            <a:r>
              <a:rPr dirty="0" err="1"/>
              <a:t>verbaliser</a:t>
            </a:r>
            <a:r>
              <a:rPr dirty="0"/>
              <a:t> : « </a:t>
            </a:r>
            <a:r>
              <a:rPr dirty="0" err="1"/>
              <a:t>informé</a:t>
            </a:r>
            <a:r>
              <a:rPr dirty="0"/>
              <a:t> » ne </a:t>
            </a:r>
            <a:r>
              <a:rPr dirty="0" err="1"/>
              <a:t>veut</a:t>
            </a:r>
            <a:r>
              <a:rPr dirty="0"/>
              <a:t> pas dire « </a:t>
            </a:r>
            <a:r>
              <a:rPr dirty="0" err="1"/>
              <a:t>consulté</a:t>
            </a:r>
            <a:r>
              <a:rPr dirty="0"/>
              <a:t>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Beaucoup </a:t>
            </a:r>
            <a:r>
              <a:rPr dirty="0" err="1"/>
              <a:t>d'élus</a:t>
            </a:r>
            <a:r>
              <a:rPr dirty="0"/>
              <a:t> </a:t>
            </a:r>
            <a:r>
              <a:rPr dirty="0" err="1"/>
              <a:t>croient</a:t>
            </a:r>
            <a:r>
              <a:rPr dirty="0"/>
              <a:t> </a:t>
            </a:r>
            <a:r>
              <a:rPr dirty="0" err="1"/>
              <a:t>que</a:t>
            </a:r>
            <a:r>
              <a:rPr dirty="0"/>
              <a:t> ne pas </a:t>
            </a:r>
            <a:r>
              <a:rPr dirty="0" err="1"/>
              <a:t>répondre</a:t>
            </a:r>
            <a:r>
              <a:rPr dirty="0"/>
              <a:t> </a:t>
            </a:r>
            <a:r>
              <a:rPr dirty="0" err="1"/>
              <a:t>bloque</a:t>
            </a:r>
            <a:r>
              <a:rPr dirty="0"/>
              <a:t> le </a:t>
            </a:r>
            <a:r>
              <a:rPr dirty="0" err="1"/>
              <a:t>projet</a:t>
            </a:r>
            <a:r>
              <a:rPr dirty="0"/>
              <a:t>. </a:t>
            </a:r>
            <a:r>
              <a:rPr dirty="0" err="1"/>
              <a:t>C'est</a:t>
            </a:r>
            <a:r>
              <a:rPr dirty="0"/>
              <a:t> </a:t>
            </a:r>
            <a:r>
              <a:rPr dirty="0" err="1"/>
              <a:t>l'inverse</a:t>
            </a:r>
            <a:r>
              <a:rPr dirty="0"/>
              <a:t> : le </a:t>
            </a:r>
            <a:r>
              <a:rPr dirty="0" err="1"/>
              <a:t>délai</a:t>
            </a:r>
            <a:r>
              <a:rPr dirty="0"/>
              <a:t> </a:t>
            </a:r>
            <a:r>
              <a:rPr dirty="0" err="1"/>
              <a:t>écoulé</a:t>
            </a:r>
            <a:r>
              <a:rPr dirty="0"/>
              <a:t> </a:t>
            </a:r>
            <a:r>
              <a:rPr dirty="0" err="1"/>
              <a:t>vaut</a:t>
            </a:r>
            <a:r>
              <a:rPr dirty="0"/>
              <a:t> avis </a:t>
            </a:r>
            <a:r>
              <a:rPr dirty="0" err="1"/>
              <a:t>rendu</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Distinction </a:t>
            </a:r>
            <a:r>
              <a:rPr dirty="0" err="1"/>
              <a:t>importante</a:t>
            </a:r>
            <a:r>
              <a:rPr dirty="0"/>
              <a:t> </a:t>
            </a:r>
            <a:r>
              <a:rPr dirty="0" err="1"/>
              <a:t>depuis</a:t>
            </a:r>
            <a:r>
              <a:rPr dirty="0"/>
              <a:t> 2016 : </a:t>
            </a:r>
            <a:r>
              <a:rPr dirty="0" err="1"/>
              <a:t>l'entrave</a:t>
            </a:r>
            <a:r>
              <a:rPr dirty="0"/>
              <a:t> au </a:t>
            </a:r>
            <a:r>
              <a:rPr dirty="0" err="1"/>
              <a:t>fonctionnement</a:t>
            </a:r>
            <a:r>
              <a:rPr dirty="0"/>
              <a:t> </a:t>
            </a:r>
            <a:r>
              <a:rPr dirty="0" err="1"/>
              <a:t>n'est</a:t>
            </a:r>
            <a:r>
              <a:rPr dirty="0"/>
              <a:t> plus punie de prison, </a:t>
            </a:r>
            <a:r>
              <a:rPr dirty="0" err="1"/>
              <a:t>seulement</a:t>
            </a:r>
            <a:r>
              <a:rPr dirty="0"/>
              <a:t> </a:t>
            </a:r>
            <a:r>
              <a:rPr dirty="0" err="1"/>
              <a:t>d'amende</a:t>
            </a:r>
            <a:r>
              <a:rPr dirty="0"/>
              <a:t>. </a:t>
            </a:r>
            <a:r>
              <a:rPr dirty="0" err="1"/>
              <a:t>L'entrave</a:t>
            </a:r>
            <a:r>
              <a:rPr dirty="0"/>
              <a:t> à la constitution, </a:t>
            </a:r>
            <a:r>
              <a:rPr dirty="0" err="1"/>
              <a:t>si</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L'élément moral est ce qui sauve souvent l'employeur : une erreur de bonne foi, corrigée aussitôt, n'est pas une entrave.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 arrêts sont des repères, pas une garantie : chaque espèce s'apprécie au cas par cas. Vérifier la jurisprudence à jour avant de s'en prévaloir.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décisions de la chambre criminelle, consultées dans leur texte intégral sur Légifrance.</a:t>
            </a:r>
          </a:p>
          <a:p>
            <a:r>
              <a:t>30 mars 2021, nº 20-81.030, cassation partielle, ECLI:FR:CCASS:2021:CR00396. Décision non publiée au Bulletin.</a:t>
            </a:r>
          </a:p>
          <a:p>
            <a:r>
              <a:t>6 juin 2023, nº 22-83.037, rejet, ECLI:FR:CCASS:2023:CR00691. Décision non publiée au Bulletin. Les faits concernaient un CHSCT et l'article L. 4742-1 ; le motif relatif à l'élément intentionnel vaut pour l'ensemble du délit d'entrave.</a:t>
            </a:r>
          </a:p>
          <a:p>
            <a:r>
              <a:t>Dans cette seconde affaire, l'employeur avait mis en place une grille d'évaluation parallèle à celle des entretiens annuels, qualifiée d'évaluation occulte, sans consulter le comité.</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Chambre sociale, 13 mai 2026, pourvoi nº 25-12.560, rejet, ECLI:FR:CCASS:2026:SO00439. Décision non publiée au Bulletin. Texte intégral consulté sur Légifrance.</a:t>
            </a:r>
          </a:p>
          <a:p>
            <a:r>
              <a:t>Deux points de droit utiles au passage. L'article L. 2315-38 du code du travail est d'ordre public : la commission SSCT reçoit tout ou partie des attributions du comité en matière de santé et de sécurité, à l'exception du recours à l'expert et des attributions consultatives, qui ne peuvent jamais lui être déléguées.</a:t>
            </a:r>
          </a:p>
          <a:p>
            <a:r>
              <a:t>L'article L. 2315-28 fixe le socle supplétif : au moins une réunion par mois dans les entreprises d'au moins trois cents salariés, et une seconde réunion à la demande de la majorité des membres.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plainte simple est gratuite mais peut être classée. La constitution de partie civile suppose une consignation, mais elle déclenche l'action publique.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Insister sur la trace écrite : sans convocations, ordres du jour et procès-verbaux, aucune de ces voies n'aboutit.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utile pour tempérer les élus les plus offensifs : la protection du mandat n'est pas une immunité.</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Transition. </a:t>
            </a:r>
            <a:r>
              <a:rPr dirty="0" err="1"/>
              <a:t>Prévoir</a:t>
            </a:r>
            <a:r>
              <a:rPr dirty="0"/>
              <a:t> </a:t>
            </a:r>
            <a:r>
              <a:rPr dirty="0" err="1"/>
              <a:t>une</a:t>
            </a:r>
            <a:r>
              <a:rPr dirty="0"/>
              <a:t> photo de situation </a:t>
            </a:r>
            <a:r>
              <a:rPr dirty="0" err="1"/>
              <a:t>exposante</a:t>
            </a:r>
            <a:r>
              <a:rPr dirty="0"/>
              <a:t> </a:t>
            </a:r>
            <a:r>
              <a:rPr dirty="0" err="1"/>
              <a:t>conforme</a:t>
            </a:r>
            <a:r>
              <a:rPr dirty="0"/>
              <a:t> : </a:t>
            </a:r>
            <a:r>
              <a:rPr dirty="0" err="1"/>
              <a:t>opérateur</a:t>
            </a:r>
            <a:r>
              <a:rPr dirty="0"/>
              <a:t> </a:t>
            </a:r>
            <a:r>
              <a:rPr dirty="0" err="1"/>
              <a:t>en</a:t>
            </a:r>
            <a:r>
              <a:rPr dirty="0"/>
              <a:t> protection auditive, port de charge </a:t>
            </a:r>
            <a:r>
              <a:rPr dirty="0" err="1"/>
              <a:t>assisté</a:t>
            </a:r>
            <a:r>
              <a:rPr dirty="0"/>
              <a:t>, poste </a:t>
            </a:r>
            <a:r>
              <a:rPr dirty="0" err="1"/>
              <a:t>aménagé</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Rappeler </a:t>
            </a:r>
            <a:r>
              <a:rPr dirty="0" err="1"/>
              <a:t>que</a:t>
            </a:r>
            <a:r>
              <a:rPr dirty="0"/>
              <a:t> quatre </a:t>
            </a:r>
            <a:r>
              <a:rPr dirty="0" err="1"/>
              <a:t>facteurs</a:t>
            </a:r>
            <a:r>
              <a:rPr dirty="0"/>
              <a:t> </a:t>
            </a:r>
            <a:r>
              <a:rPr dirty="0" err="1"/>
              <a:t>sont</a:t>
            </a:r>
            <a:r>
              <a:rPr dirty="0"/>
              <a:t> </a:t>
            </a:r>
            <a:r>
              <a:rPr dirty="0" err="1"/>
              <a:t>sortis</a:t>
            </a:r>
            <a:r>
              <a:rPr dirty="0"/>
              <a:t> du compte </a:t>
            </a:r>
            <a:r>
              <a:rPr dirty="0" err="1"/>
              <a:t>professionnel</a:t>
            </a:r>
            <a:r>
              <a:rPr dirty="0"/>
              <a:t> de </a:t>
            </a:r>
            <a:r>
              <a:rPr dirty="0" err="1"/>
              <a:t>prévention</a:t>
            </a:r>
            <a:r>
              <a:rPr dirty="0"/>
              <a:t> </a:t>
            </a:r>
            <a:r>
              <a:rPr dirty="0" err="1"/>
              <a:t>en</a:t>
            </a:r>
            <a:r>
              <a:rPr dirty="0"/>
              <a:t> 2017 (manutentions, postures, vibrations, agents </a:t>
            </a:r>
            <a:r>
              <a:rPr dirty="0" err="1"/>
              <a:t>chimiques</a:t>
            </a:r>
            <a:r>
              <a:rPr dirty="0"/>
              <a:t>) : </a:t>
            </a:r>
            <a:r>
              <a:rPr dirty="0" err="1"/>
              <a:t>ils</a:t>
            </a:r>
            <a:r>
              <a:rPr dirty="0"/>
              <a:t> </a:t>
            </a:r>
            <a:r>
              <a:rPr dirty="0" err="1"/>
              <a:t>restent</a:t>
            </a:r>
            <a:r>
              <a:rPr dirty="0"/>
              <a:t> des </a:t>
            </a:r>
            <a:r>
              <a:rPr dirty="0" err="1"/>
              <a:t>facteurs</a:t>
            </a:r>
            <a:r>
              <a:rPr dirty="0"/>
              <a:t> de </a:t>
            </a:r>
            <a:r>
              <a:rPr dirty="0" err="1"/>
              <a:t>risque</a:t>
            </a:r>
            <a:r>
              <a:rPr dirty="0"/>
              <a:t> à </a:t>
            </a:r>
            <a:r>
              <a:rPr dirty="0" err="1"/>
              <a:t>évaluer</a:t>
            </a:r>
            <a:r>
              <a:rPr dirty="0"/>
              <a:t>, </a:t>
            </a:r>
            <a:r>
              <a:rPr dirty="0" err="1"/>
              <a:t>mais</a:t>
            </a:r>
            <a:r>
              <a:rPr dirty="0"/>
              <a:t> </a:t>
            </a:r>
            <a:r>
              <a:rPr dirty="0" err="1"/>
              <a:t>n'ouvrent</a:t>
            </a:r>
            <a:r>
              <a:rPr dirty="0"/>
              <a:t> plus de points.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Ces</a:t>
            </a:r>
            <a:r>
              <a:rPr dirty="0"/>
              <a:t> </a:t>
            </a:r>
            <a:r>
              <a:rPr dirty="0" err="1"/>
              <a:t>seuils</a:t>
            </a:r>
            <a:r>
              <a:rPr dirty="0"/>
              <a:t> </a:t>
            </a:r>
            <a:r>
              <a:rPr dirty="0" err="1"/>
              <a:t>sont</a:t>
            </a:r>
            <a:r>
              <a:rPr dirty="0"/>
              <a:t> des maxima </a:t>
            </a:r>
            <a:r>
              <a:rPr dirty="0" err="1"/>
              <a:t>légaux</a:t>
            </a:r>
            <a:r>
              <a:rPr dirty="0"/>
              <a:t>, pas des </a:t>
            </a:r>
            <a:r>
              <a:rPr dirty="0" err="1"/>
              <a:t>objectifs</a:t>
            </a:r>
            <a:r>
              <a:rPr dirty="0"/>
              <a:t>. La </a:t>
            </a:r>
            <a:r>
              <a:rPr dirty="0" err="1"/>
              <a:t>norme</a:t>
            </a:r>
            <a:r>
              <a:rPr dirty="0"/>
              <a:t> AFNOR </a:t>
            </a:r>
            <a:r>
              <a:rPr dirty="0" err="1"/>
              <a:t>recommande</a:t>
            </a:r>
            <a:r>
              <a:rPr dirty="0"/>
              <a:t> 15 kg pour </a:t>
            </a:r>
            <a:r>
              <a:rPr dirty="0" err="1"/>
              <a:t>une</a:t>
            </a:r>
            <a:r>
              <a:rPr dirty="0"/>
              <a:t> manutention </a:t>
            </a:r>
            <a:r>
              <a:rPr dirty="0" err="1"/>
              <a:t>répétée</a:t>
            </a:r>
            <a:r>
              <a:rPr dirty="0"/>
              <a:t> : </a:t>
            </a:r>
            <a:r>
              <a:rPr dirty="0" err="1"/>
              <a:t>c'est</a:t>
            </a:r>
            <a:r>
              <a:rPr dirty="0"/>
              <a:t> </a:t>
            </a:r>
            <a:r>
              <a:rPr dirty="0" err="1"/>
              <a:t>elle</a:t>
            </a:r>
            <a:r>
              <a:rPr dirty="0"/>
              <a:t> </a:t>
            </a:r>
            <a:r>
              <a:rPr dirty="0" err="1"/>
              <a:t>qu'il</a:t>
            </a:r>
            <a:r>
              <a:rPr dirty="0"/>
              <a:t> faut </a:t>
            </a:r>
            <a:r>
              <a:rPr dirty="0" err="1"/>
              <a:t>viser</a:t>
            </a:r>
            <a:r>
              <a:rPr dirty="0"/>
              <a:t> </a:t>
            </a:r>
            <a:r>
              <a:rPr dirty="0" err="1"/>
              <a:t>en</a:t>
            </a:r>
            <a:r>
              <a:rPr dirty="0"/>
              <a:t> </a:t>
            </a:r>
            <a:r>
              <a:rPr dirty="0" err="1"/>
              <a:t>prévention</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Faire identifier par les </a:t>
            </a:r>
            <a:r>
              <a:rPr dirty="0" err="1"/>
              <a:t>élus</a:t>
            </a:r>
            <a:r>
              <a:rPr dirty="0"/>
              <a:t> les </a:t>
            </a:r>
            <a:r>
              <a:rPr dirty="0" err="1"/>
              <a:t>postes</a:t>
            </a:r>
            <a:r>
              <a:rPr dirty="0"/>
              <a:t> </a:t>
            </a:r>
            <a:r>
              <a:rPr dirty="0" err="1"/>
              <a:t>concernés</a:t>
            </a:r>
            <a:r>
              <a:rPr dirty="0"/>
              <a:t> dans </a:t>
            </a:r>
            <a:r>
              <a:rPr dirty="0" err="1"/>
              <a:t>leur</a:t>
            </a:r>
            <a:r>
              <a:rPr dirty="0"/>
              <a:t> </a:t>
            </a:r>
            <a:r>
              <a:rPr dirty="0" err="1"/>
              <a:t>entreprise</a:t>
            </a:r>
            <a:r>
              <a:rPr dirty="0"/>
              <a:t>. </a:t>
            </a:r>
            <a:r>
              <a:rPr dirty="0" err="1"/>
              <a:t>C'est</a:t>
            </a:r>
            <a:r>
              <a:rPr dirty="0"/>
              <a:t> le point de </a:t>
            </a:r>
            <a:r>
              <a:rPr dirty="0" err="1"/>
              <a:t>départ</a:t>
            </a:r>
            <a:r>
              <a:rPr dirty="0"/>
              <a:t> de </a:t>
            </a:r>
            <a:r>
              <a:rPr dirty="0" err="1"/>
              <a:t>l'évaluation</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 </a:t>
            </a:r>
            <a:r>
              <a:rPr dirty="0" err="1"/>
              <a:t>dépassement</a:t>
            </a:r>
            <a:r>
              <a:rPr dirty="0"/>
              <a:t> de la </a:t>
            </a:r>
            <a:r>
              <a:rPr dirty="0" err="1"/>
              <a:t>valeur</a:t>
            </a:r>
            <a:r>
              <a:rPr dirty="0"/>
              <a:t> d'action </a:t>
            </a:r>
            <a:r>
              <a:rPr dirty="0" err="1"/>
              <a:t>déclenche</a:t>
            </a:r>
            <a:r>
              <a:rPr dirty="0"/>
              <a:t> </a:t>
            </a:r>
            <a:r>
              <a:rPr dirty="0" err="1"/>
              <a:t>l'obligation</a:t>
            </a:r>
            <a:r>
              <a:rPr dirty="0"/>
              <a:t> </a:t>
            </a:r>
            <a:r>
              <a:rPr dirty="0" err="1"/>
              <a:t>d'agir</a:t>
            </a:r>
            <a:r>
              <a:rPr dirty="0"/>
              <a:t> ; le </a:t>
            </a:r>
            <a:r>
              <a:rPr dirty="0" err="1"/>
              <a:t>dépassement</a:t>
            </a:r>
            <a:r>
              <a:rPr dirty="0"/>
              <a:t> de la </a:t>
            </a:r>
            <a:r>
              <a:rPr dirty="0" err="1"/>
              <a:t>valeur</a:t>
            </a:r>
            <a:r>
              <a:rPr dirty="0"/>
              <a:t> </a:t>
            </a:r>
            <a:r>
              <a:rPr dirty="0" err="1"/>
              <a:t>limite</a:t>
            </a:r>
            <a:r>
              <a:rPr dirty="0"/>
              <a:t> est </a:t>
            </a:r>
            <a:r>
              <a:rPr dirty="0" err="1"/>
              <a:t>une</a:t>
            </a:r>
            <a:r>
              <a:rPr dirty="0"/>
              <a:t> infraction.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Bien faire entendre le « et » : les deux conditions </a:t>
            </a:r>
            <a:r>
              <a:rPr dirty="0" err="1"/>
              <a:t>sont</a:t>
            </a:r>
            <a:r>
              <a:rPr dirty="0"/>
              <a:t> </a:t>
            </a:r>
            <a:r>
              <a:rPr dirty="0" err="1"/>
              <a:t>cumulatives</a:t>
            </a:r>
            <a:r>
              <a:rPr dirty="0"/>
              <a:t>. </a:t>
            </a:r>
            <a:r>
              <a:rPr dirty="0" err="1"/>
              <a:t>C'est</a:t>
            </a:r>
            <a:r>
              <a:rPr dirty="0"/>
              <a:t> </a:t>
            </a:r>
            <a:r>
              <a:rPr dirty="0" err="1"/>
              <a:t>ce</a:t>
            </a:r>
            <a:r>
              <a:rPr dirty="0"/>
              <a:t> qui </a:t>
            </a:r>
            <a:r>
              <a:rPr dirty="0" err="1"/>
              <a:t>explique</a:t>
            </a:r>
            <a:r>
              <a:rPr dirty="0"/>
              <a:t> </a:t>
            </a:r>
            <a:r>
              <a:rPr dirty="0" err="1"/>
              <a:t>que</a:t>
            </a:r>
            <a:r>
              <a:rPr dirty="0"/>
              <a:t> peu de </a:t>
            </a:r>
            <a:r>
              <a:rPr dirty="0" err="1"/>
              <a:t>salariés</a:t>
            </a:r>
            <a:r>
              <a:rPr dirty="0"/>
              <a:t> </a:t>
            </a:r>
            <a:r>
              <a:rPr dirty="0" err="1"/>
              <a:t>soient</a:t>
            </a:r>
            <a:r>
              <a:rPr dirty="0"/>
              <a:t> </a:t>
            </a:r>
            <a:r>
              <a:rPr dirty="0" err="1"/>
              <a:t>déclarés</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Proposer aux </a:t>
            </a:r>
            <a:r>
              <a:rPr dirty="0" err="1"/>
              <a:t>élus</a:t>
            </a:r>
            <a:r>
              <a:rPr dirty="0"/>
              <a:t> de faire </a:t>
            </a:r>
            <a:r>
              <a:rPr dirty="0" err="1"/>
              <a:t>compter</a:t>
            </a:r>
            <a:r>
              <a:rPr dirty="0"/>
              <a:t> les actions techniques sur un poste : </a:t>
            </a:r>
            <a:r>
              <a:rPr dirty="0" err="1"/>
              <a:t>l'écart</a:t>
            </a:r>
            <a:r>
              <a:rPr dirty="0"/>
              <a:t> avec la </a:t>
            </a:r>
            <a:r>
              <a:rPr dirty="0" err="1"/>
              <a:t>déclaration</a:t>
            </a:r>
            <a:r>
              <a:rPr dirty="0"/>
              <a:t> de </a:t>
            </a:r>
            <a:r>
              <a:rPr dirty="0" err="1"/>
              <a:t>l'employeur</a:t>
            </a:r>
            <a:r>
              <a:rPr dirty="0"/>
              <a:t> est </a:t>
            </a:r>
            <a:r>
              <a:rPr dirty="0" err="1"/>
              <a:t>souvent</a:t>
            </a:r>
            <a:r>
              <a:rPr dirty="0"/>
              <a:t> </a:t>
            </a:r>
            <a:r>
              <a:rPr dirty="0" err="1"/>
              <a:t>parlant</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Sources, </a:t>
            </a:r>
            <a:r>
              <a:rPr dirty="0" err="1"/>
              <a:t>toutes</a:t>
            </a:r>
            <a:r>
              <a:rPr dirty="0"/>
              <a:t> </a:t>
            </a:r>
            <a:r>
              <a:rPr dirty="0" err="1"/>
              <a:t>vérifiées</a:t>
            </a:r>
            <a:r>
              <a:rPr dirty="0"/>
              <a:t> sur </a:t>
            </a:r>
            <a:r>
              <a:rPr dirty="0" err="1"/>
              <a:t>Légifrance</a:t>
            </a:r>
            <a:r>
              <a:rPr dirty="0"/>
              <a:t>.</a:t>
            </a:r>
          </a:p>
          <a:p>
            <a:r>
              <a:rPr dirty="0"/>
              <a:t>Les six </a:t>
            </a:r>
            <a:r>
              <a:rPr dirty="0" err="1"/>
              <a:t>facteurs</a:t>
            </a:r>
            <a:r>
              <a:rPr dirty="0"/>
              <a:t> </a:t>
            </a:r>
            <a:r>
              <a:rPr dirty="0" err="1"/>
              <a:t>déclarés</a:t>
            </a:r>
            <a:r>
              <a:rPr dirty="0"/>
              <a:t> au compte </a:t>
            </a:r>
            <a:r>
              <a:rPr dirty="0" err="1"/>
              <a:t>sont</a:t>
            </a:r>
            <a:r>
              <a:rPr dirty="0"/>
              <a:t> </a:t>
            </a:r>
            <a:r>
              <a:rPr dirty="0" err="1"/>
              <a:t>ceux</a:t>
            </a:r>
            <a:r>
              <a:rPr dirty="0"/>
              <a:t> des b, c et d du 2° et du 3° de </a:t>
            </a:r>
            <a:r>
              <a:rPr dirty="0" err="1"/>
              <a:t>l'article</a:t>
            </a:r>
            <a:r>
              <a:rPr dirty="0"/>
              <a:t> L. 4161-1 (code du travail), </a:t>
            </a:r>
            <a:r>
              <a:rPr dirty="0" err="1"/>
              <a:t>désignés</a:t>
            </a:r>
            <a:r>
              <a:rPr dirty="0"/>
              <a:t> par le I de </a:t>
            </a:r>
            <a:r>
              <a:rPr dirty="0" err="1"/>
              <a:t>l'article</a:t>
            </a:r>
            <a:r>
              <a:rPr dirty="0"/>
              <a:t> L. 4163-1 (code du travail).</a:t>
            </a:r>
          </a:p>
          <a:p>
            <a:r>
              <a:rPr dirty="0"/>
              <a:t>Les </a:t>
            </a:r>
            <a:r>
              <a:rPr dirty="0" err="1"/>
              <a:t>seuils</a:t>
            </a:r>
            <a:r>
              <a:rPr dirty="0"/>
              <a:t> </a:t>
            </a:r>
            <a:r>
              <a:rPr dirty="0" err="1"/>
              <a:t>figurent</a:t>
            </a:r>
            <a:r>
              <a:rPr dirty="0"/>
              <a:t> à </a:t>
            </a:r>
            <a:r>
              <a:rPr dirty="0" err="1"/>
              <a:t>l'article</a:t>
            </a:r>
            <a:r>
              <a:rPr dirty="0"/>
              <a:t> D. 4163-2 (code du travail), dans </a:t>
            </a:r>
            <a:r>
              <a:rPr dirty="0" err="1"/>
              <a:t>sa</a:t>
            </a:r>
            <a:r>
              <a:rPr dirty="0"/>
              <a:t> version </a:t>
            </a:r>
            <a:r>
              <a:rPr dirty="0" err="1"/>
              <a:t>en</a:t>
            </a:r>
            <a:r>
              <a:rPr dirty="0"/>
              <a:t> </a:t>
            </a:r>
            <a:r>
              <a:rPr dirty="0" err="1"/>
              <a:t>vigueur</a:t>
            </a:r>
            <a:r>
              <a:rPr dirty="0"/>
              <a:t> </a:t>
            </a:r>
            <a:r>
              <a:rPr dirty="0" err="1"/>
              <a:t>depuis</a:t>
            </a:r>
            <a:r>
              <a:rPr dirty="0"/>
              <a:t> le 1er </a:t>
            </a:r>
            <a:r>
              <a:rPr dirty="0" err="1"/>
              <a:t>septembre</a:t>
            </a:r>
            <a:r>
              <a:rPr dirty="0"/>
              <a:t> 2023, issue du </a:t>
            </a:r>
            <a:r>
              <a:rPr dirty="0" err="1"/>
              <a:t>décret</a:t>
            </a:r>
            <a:r>
              <a:rPr dirty="0"/>
              <a:t> nº 2023-760 du 10 </a:t>
            </a:r>
            <a:r>
              <a:rPr dirty="0" err="1"/>
              <a:t>août</a:t>
            </a:r>
            <a:r>
              <a:rPr dirty="0"/>
              <a:t> 2023. Deux </a:t>
            </a:r>
            <a:r>
              <a:rPr dirty="0" err="1"/>
              <a:t>seuils</a:t>
            </a:r>
            <a:r>
              <a:rPr dirty="0"/>
              <a:t> </a:t>
            </a:r>
            <a:r>
              <a:rPr dirty="0" err="1"/>
              <a:t>ont</a:t>
            </a:r>
            <a:r>
              <a:rPr dirty="0"/>
              <a:t> </a:t>
            </a:r>
            <a:r>
              <a:rPr dirty="0" err="1"/>
              <a:t>été</a:t>
            </a:r>
            <a:r>
              <a:rPr dirty="0"/>
              <a:t> </a:t>
            </a:r>
            <a:r>
              <a:rPr dirty="0" err="1"/>
              <a:t>abaissés</a:t>
            </a:r>
            <a:r>
              <a:rPr dirty="0"/>
              <a:t> à </a:t>
            </a:r>
            <a:r>
              <a:rPr dirty="0" err="1"/>
              <a:t>cette</a:t>
            </a:r>
            <a:r>
              <a:rPr dirty="0"/>
              <a:t> date : le travail de nuit est passé de 120 à 100 </a:t>
            </a:r>
            <a:r>
              <a:rPr dirty="0" err="1"/>
              <a:t>nuits</a:t>
            </a:r>
            <a:r>
              <a:rPr dirty="0"/>
              <a:t> par an, et le travail </a:t>
            </a:r>
            <a:r>
              <a:rPr dirty="0" err="1"/>
              <a:t>en</a:t>
            </a:r>
            <a:r>
              <a:rPr dirty="0"/>
              <a:t> équipes </a:t>
            </a:r>
            <a:r>
              <a:rPr dirty="0" err="1"/>
              <a:t>successives</a:t>
            </a:r>
            <a:r>
              <a:rPr dirty="0"/>
              <a:t> </a:t>
            </a:r>
            <a:r>
              <a:rPr dirty="0" err="1"/>
              <a:t>alternantes</a:t>
            </a:r>
            <a:r>
              <a:rPr dirty="0"/>
              <a:t> de 50 à 30 </a:t>
            </a:r>
            <a:r>
              <a:rPr dirty="0" err="1"/>
              <a:t>nuits</a:t>
            </a:r>
            <a:r>
              <a:rPr dirty="0"/>
              <a:t> par an.</a:t>
            </a:r>
          </a:p>
          <a:p>
            <a:r>
              <a:rPr dirty="0"/>
              <a:t>Le </a:t>
            </a:r>
            <a:r>
              <a:rPr dirty="0" err="1"/>
              <a:t>barème</a:t>
            </a:r>
            <a:r>
              <a:rPr dirty="0"/>
              <a:t> de points est </a:t>
            </a:r>
            <a:r>
              <a:rPr dirty="0" err="1"/>
              <a:t>celui</a:t>
            </a:r>
            <a:r>
              <a:rPr dirty="0"/>
              <a:t> de </a:t>
            </a:r>
            <a:r>
              <a:rPr dirty="0" err="1"/>
              <a:t>l'article</a:t>
            </a:r>
            <a:r>
              <a:rPr dirty="0"/>
              <a:t> R. 4163-9 (code du travail), version </a:t>
            </a:r>
            <a:r>
              <a:rPr dirty="0" err="1"/>
              <a:t>en</a:t>
            </a:r>
            <a:r>
              <a:rPr dirty="0"/>
              <a:t> </a:t>
            </a:r>
            <a:r>
              <a:rPr dirty="0" err="1"/>
              <a:t>vigueur</a:t>
            </a:r>
            <a:r>
              <a:rPr dirty="0"/>
              <a:t> </a:t>
            </a:r>
            <a:r>
              <a:rPr dirty="0" err="1"/>
              <a:t>depuis</a:t>
            </a:r>
            <a:r>
              <a:rPr dirty="0"/>
              <a:t> le 1er </a:t>
            </a:r>
            <a:r>
              <a:rPr dirty="0" err="1"/>
              <a:t>septembre</a:t>
            </a:r>
            <a:r>
              <a:rPr dirty="0"/>
              <a:t> 2023 : quatre points par an </a:t>
            </a:r>
            <a:r>
              <a:rPr dirty="0" err="1"/>
              <a:t>multipliés</a:t>
            </a:r>
            <a:r>
              <a:rPr dirty="0"/>
              <a:t> par le </a:t>
            </a:r>
            <a:r>
              <a:rPr dirty="0" err="1"/>
              <a:t>nombre</a:t>
            </a:r>
            <a:r>
              <a:rPr dirty="0"/>
              <a:t> de </a:t>
            </a:r>
            <a:r>
              <a:rPr dirty="0" err="1"/>
              <a:t>facteurs</a:t>
            </a:r>
            <a:r>
              <a:rPr dirty="0"/>
              <a:t>. Six </a:t>
            </a:r>
            <a:r>
              <a:rPr dirty="0" err="1"/>
              <a:t>facteurs</a:t>
            </a:r>
            <a:r>
              <a:rPr dirty="0"/>
              <a:t> au maximum, </a:t>
            </a:r>
            <a:r>
              <a:rPr dirty="0" err="1"/>
              <a:t>donc</a:t>
            </a:r>
            <a:r>
              <a:rPr dirty="0"/>
              <a:t> 24 points par an.</a:t>
            </a:r>
          </a:p>
          <a:p>
            <a:r>
              <a:rPr dirty="0"/>
              <a:t>Pour un </a:t>
            </a:r>
            <a:r>
              <a:rPr dirty="0" err="1"/>
              <a:t>contrat</a:t>
            </a:r>
            <a:r>
              <a:rPr dirty="0"/>
              <a:t> infra-</a:t>
            </a:r>
            <a:r>
              <a:rPr dirty="0" err="1"/>
              <a:t>annuel</a:t>
            </a:r>
            <a:r>
              <a:rPr dirty="0"/>
              <a:t> </a:t>
            </a:r>
            <a:r>
              <a:rPr dirty="0" err="1"/>
              <a:t>d'au</a:t>
            </a:r>
            <a:r>
              <a:rPr dirty="0"/>
              <a:t> </a:t>
            </a:r>
            <a:r>
              <a:rPr dirty="0" err="1"/>
              <a:t>moins</a:t>
            </a:r>
            <a:r>
              <a:rPr dirty="0"/>
              <a:t> un </a:t>
            </a:r>
            <a:r>
              <a:rPr dirty="0" err="1"/>
              <a:t>mois</a:t>
            </a:r>
            <a:r>
              <a:rPr dirty="0"/>
              <a:t>, </a:t>
            </a:r>
            <a:r>
              <a:rPr dirty="0" err="1"/>
              <a:t>chaque</a:t>
            </a:r>
            <a:r>
              <a:rPr dirty="0"/>
              <a:t> </a:t>
            </a:r>
            <a:r>
              <a:rPr dirty="0" err="1"/>
              <a:t>période</a:t>
            </a:r>
            <a:r>
              <a:rPr dirty="0"/>
              <a:t> </a:t>
            </a:r>
            <a:r>
              <a:rPr dirty="0" err="1"/>
              <a:t>d'exposition</a:t>
            </a:r>
            <a:r>
              <a:rPr dirty="0"/>
              <a:t> de trois </a:t>
            </a:r>
            <a:r>
              <a:rPr dirty="0" err="1"/>
              <a:t>mois</a:t>
            </a:r>
            <a:r>
              <a:rPr dirty="0"/>
              <a:t> </a:t>
            </a:r>
            <a:r>
              <a:rPr dirty="0" err="1"/>
              <a:t>donne</a:t>
            </a:r>
            <a:r>
              <a:rPr dirty="0"/>
              <a:t> un point par </a:t>
            </a:r>
            <a:r>
              <a:rPr dirty="0" err="1"/>
              <a:t>facteur</a:t>
            </a:r>
            <a:r>
              <a:rPr dirty="0"/>
              <a:t>.</a:t>
            </a:r>
          </a:p>
          <a:p>
            <a:r>
              <a:rPr dirty="0" err="1"/>
              <a:t>L'article</a:t>
            </a:r>
            <a:r>
              <a:rPr dirty="0"/>
              <a:t> R. 4163-10 (code du travail) double les points </a:t>
            </a:r>
            <a:r>
              <a:rPr dirty="0" err="1"/>
              <a:t>inscrits</a:t>
            </a:r>
            <a:r>
              <a:rPr dirty="0"/>
              <a:t> pour les </a:t>
            </a:r>
            <a:r>
              <a:rPr dirty="0" err="1"/>
              <a:t>assurés</a:t>
            </a:r>
            <a:r>
              <a:rPr dirty="0"/>
              <a:t> </a:t>
            </a:r>
            <a:r>
              <a:rPr dirty="0" err="1"/>
              <a:t>nés</a:t>
            </a:r>
            <a:r>
              <a:rPr dirty="0"/>
              <a:t> avant le 1er </a:t>
            </a:r>
            <a:r>
              <a:rPr dirty="0" err="1"/>
              <a:t>juillet</a:t>
            </a:r>
            <a:r>
              <a:rPr dirty="0"/>
              <a:t> 1956.</a:t>
            </a:r>
          </a:p>
          <a:p>
            <a:r>
              <a:rPr dirty="0"/>
              <a:t>Le plafond de 100 points sur la </a:t>
            </a:r>
            <a:r>
              <a:rPr dirty="0" err="1"/>
              <a:t>carrière</a:t>
            </a:r>
            <a:r>
              <a:rPr dirty="0"/>
              <a:t> a </a:t>
            </a:r>
            <a:r>
              <a:rPr dirty="0" err="1"/>
              <a:t>disparu</a:t>
            </a:r>
            <a:r>
              <a:rPr dirty="0"/>
              <a:t> : </a:t>
            </a:r>
            <a:r>
              <a:rPr dirty="0" err="1"/>
              <a:t>l'article</a:t>
            </a:r>
            <a:r>
              <a:rPr dirty="0"/>
              <a:t> L. 4163-5 (code du travail), dans </a:t>
            </a:r>
            <a:r>
              <a:rPr dirty="0" err="1"/>
              <a:t>sa</a:t>
            </a:r>
            <a:r>
              <a:rPr dirty="0"/>
              <a:t> version </a:t>
            </a:r>
            <a:r>
              <a:rPr dirty="0" err="1"/>
              <a:t>en</a:t>
            </a:r>
            <a:r>
              <a:rPr dirty="0"/>
              <a:t> </a:t>
            </a:r>
            <a:r>
              <a:rPr dirty="0" err="1"/>
              <a:t>vigueur</a:t>
            </a:r>
            <a:r>
              <a:rPr dirty="0"/>
              <a:t> </a:t>
            </a:r>
            <a:r>
              <a:rPr dirty="0" err="1"/>
              <a:t>depuis</a:t>
            </a:r>
            <a:r>
              <a:rPr dirty="0"/>
              <a:t> le 16 </a:t>
            </a:r>
            <a:r>
              <a:rPr dirty="0" err="1"/>
              <a:t>avril</a:t>
            </a:r>
            <a:r>
              <a:rPr dirty="0"/>
              <a:t> 2023, ne le </a:t>
            </a:r>
            <a:r>
              <a:rPr dirty="0" err="1"/>
              <a:t>mentionne</a:t>
            </a:r>
            <a:r>
              <a:rPr dirty="0"/>
              <a:t> plus.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L'étape</a:t>
            </a:r>
            <a:r>
              <a:rPr dirty="0"/>
              <a:t> 2 est </a:t>
            </a:r>
            <a:r>
              <a:rPr dirty="0" err="1"/>
              <a:t>celle</a:t>
            </a:r>
            <a:r>
              <a:rPr dirty="0"/>
              <a:t> </a:t>
            </a:r>
            <a:r>
              <a:rPr dirty="0" err="1"/>
              <a:t>où</a:t>
            </a:r>
            <a:r>
              <a:rPr dirty="0"/>
              <a:t> tout se </a:t>
            </a:r>
            <a:r>
              <a:rPr dirty="0" err="1"/>
              <a:t>joue</a:t>
            </a:r>
            <a:r>
              <a:rPr dirty="0"/>
              <a:t> et </a:t>
            </a:r>
            <a:r>
              <a:rPr dirty="0" err="1"/>
              <a:t>celle</a:t>
            </a:r>
            <a:r>
              <a:rPr dirty="0"/>
              <a:t> </a:t>
            </a:r>
            <a:r>
              <a:rPr dirty="0" err="1"/>
              <a:t>que</a:t>
            </a:r>
            <a:r>
              <a:rPr dirty="0"/>
              <a:t> le CSE </a:t>
            </a:r>
            <a:r>
              <a:rPr dirty="0" err="1"/>
              <a:t>peut</a:t>
            </a:r>
            <a:r>
              <a:rPr dirty="0"/>
              <a:t> </a:t>
            </a:r>
            <a:r>
              <a:rPr dirty="0" err="1"/>
              <a:t>contrôler</a:t>
            </a:r>
            <a:r>
              <a:rPr dirty="0"/>
              <a:t> : demander le </a:t>
            </a:r>
            <a:r>
              <a:rPr dirty="0" err="1"/>
              <a:t>nombre</a:t>
            </a:r>
            <a:r>
              <a:rPr dirty="0"/>
              <a:t> de </a:t>
            </a:r>
            <a:r>
              <a:rPr dirty="0" err="1"/>
              <a:t>salariés</a:t>
            </a:r>
            <a:r>
              <a:rPr dirty="0"/>
              <a:t> </a:t>
            </a:r>
            <a:r>
              <a:rPr dirty="0" err="1"/>
              <a:t>déclarés</a:t>
            </a:r>
            <a:r>
              <a:rPr dirty="0"/>
              <a:t>, par </a:t>
            </a:r>
            <a:r>
              <a:rPr dirty="0" err="1"/>
              <a:t>facteur</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Vérifier</a:t>
            </a:r>
            <a:r>
              <a:rPr dirty="0"/>
              <a:t> avec les </a:t>
            </a:r>
            <a:r>
              <a:rPr dirty="0" err="1"/>
              <a:t>élus</a:t>
            </a:r>
            <a:r>
              <a:rPr dirty="0"/>
              <a:t> </a:t>
            </a:r>
            <a:r>
              <a:rPr dirty="0" err="1"/>
              <a:t>si</a:t>
            </a:r>
            <a:r>
              <a:rPr dirty="0"/>
              <a:t> les </a:t>
            </a:r>
            <a:r>
              <a:rPr dirty="0" err="1"/>
              <a:t>salariés</a:t>
            </a:r>
            <a:r>
              <a:rPr dirty="0"/>
              <a:t> </a:t>
            </a:r>
            <a:r>
              <a:rPr dirty="0" err="1"/>
              <a:t>connaissent</a:t>
            </a:r>
            <a:r>
              <a:rPr dirty="0"/>
              <a:t> </a:t>
            </a:r>
            <a:r>
              <a:rPr dirty="0" err="1"/>
              <a:t>leur</a:t>
            </a:r>
            <a:r>
              <a:rPr dirty="0"/>
              <a:t> compte. Le </a:t>
            </a:r>
            <a:r>
              <a:rPr dirty="0" err="1"/>
              <a:t>taux</a:t>
            </a:r>
            <a:r>
              <a:rPr dirty="0"/>
              <a:t> de </a:t>
            </a:r>
            <a:r>
              <a:rPr dirty="0" err="1"/>
              <a:t>recours</a:t>
            </a:r>
            <a:r>
              <a:rPr dirty="0"/>
              <a:t> </a:t>
            </a:r>
            <a:r>
              <a:rPr dirty="0" err="1"/>
              <a:t>reste</a:t>
            </a:r>
            <a:r>
              <a:rPr dirty="0"/>
              <a:t> </a:t>
            </a:r>
            <a:r>
              <a:rPr dirty="0" err="1"/>
              <a:t>faible</a:t>
            </a:r>
            <a:r>
              <a:rPr dirty="0"/>
              <a:t>, </a:t>
            </a:r>
            <a:r>
              <a:rPr dirty="0" err="1"/>
              <a:t>souvent</a:t>
            </a:r>
            <a:r>
              <a:rPr dirty="0"/>
              <a:t> par </a:t>
            </a:r>
            <a:r>
              <a:rPr dirty="0" err="1"/>
              <a:t>méconnaissance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 premier usage est le plus </a:t>
            </a:r>
            <a:r>
              <a:rPr dirty="0" err="1"/>
              <a:t>vertueux</a:t>
            </a:r>
            <a:r>
              <a:rPr dirty="0"/>
              <a:t> </a:t>
            </a:r>
            <a:r>
              <a:rPr dirty="0" err="1"/>
              <a:t>en</a:t>
            </a:r>
            <a:r>
              <a:rPr dirty="0"/>
              <a:t> </a:t>
            </a:r>
            <a:r>
              <a:rPr dirty="0" err="1"/>
              <a:t>prévention</a:t>
            </a:r>
            <a:r>
              <a:rPr dirty="0"/>
              <a:t> : </a:t>
            </a:r>
            <a:r>
              <a:rPr dirty="0" err="1"/>
              <a:t>sortir</a:t>
            </a:r>
            <a:r>
              <a:rPr dirty="0"/>
              <a:t> de </a:t>
            </a:r>
            <a:r>
              <a:rPr dirty="0" err="1"/>
              <a:t>l'exposition</a:t>
            </a:r>
            <a:r>
              <a:rPr dirty="0"/>
              <a:t> </a:t>
            </a:r>
            <a:r>
              <a:rPr dirty="0" err="1"/>
              <a:t>plutôt</a:t>
            </a:r>
            <a:r>
              <a:rPr dirty="0"/>
              <a:t> </a:t>
            </a:r>
            <a:r>
              <a:rPr dirty="0" err="1"/>
              <a:t>que</a:t>
            </a:r>
            <a:r>
              <a:rPr dirty="0"/>
              <a:t> la </a:t>
            </a:r>
            <a:r>
              <a:rPr dirty="0" err="1"/>
              <a:t>compenser</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Vérifier</a:t>
            </a:r>
            <a:r>
              <a:rPr dirty="0"/>
              <a:t> avant </a:t>
            </a:r>
            <a:r>
              <a:rPr dirty="0" err="1"/>
              <a:t>chaque</a:t>
            </a:r>
            <a:r>
              <a:rPr dirty="0"/>
              <a:t> session les </a:t>
            </a:r>
            <a:r>
              <a:rPr dirty="0" err="1"/>
              <a:t>modalités</a:t>
            </a:r>
            <a:r>
              <a:rPr dirty="0"/>
              <a:t> </a:t>
            </a:r>
            <a:r>
              <a:rPr dirty="0" err="1"/>
              <a:t>en</a:t>
            </a:r>
            <a:r>
              <a:rPr dirty="0"/>
              <a:t> </a:t>
            </a:r>
            <a:r>
              <a:rPr dirty="0" err="1"/>
              <a:t>vigueur</a:t>
            </a:r>
            <a:r>
              <a:rPr dirty="0"/>
              <a:t> du fonds : le </a:t>
            </a:r>
            <a:r>
              <a:rPr dirty="0" err="1"/>
              <a:t>dispositif</a:t>
            </a:r>
            <a:r>
              <a:rPr dirty="0"/>
              <a:t> et </a:t>
            </a:r>
            <a:r>
              <a:rPr dirty="0" err="1"/>
              <a:t>ses</a:t>
            </a:r>
            <a:r>
              <a:rPr dirty="0"/>
              <a:t> branches </a:t>
            </a:r>
            <a:r>
              <a:rPr dirty="0" err="1"/>
              <a:t>prioritaires</a:t>
            </a:r>
            <a:r>
              <a:rPr dirty="0"/>
              <a:t> </a:t>
            </a:r>
            <a:r>
              <a:rPr dirty="0" err="1"/>
              <a:t>évoluent</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Question </a:t>
            </a:r>
            <a:r>
              <a:rPr dirty="0" err="1"/>
              <a:t>fréquente</a:t>
            </a:r>
            <a:r>
              <a:rPr dirty="0"/>
              <a:t> </a:t>
            </a:r>
            <a:r>
              <a:rPr dirty="0" err="1"/>
              <a:t>en</a:t>
            </a:r>
            <a:r>
              <a:rPr dirty="0"/>
              <a:t> salle : « </a:t>
            </a:r>
            <a:r>
              <a:rPr dirty="0" err="1"/>
              <a:t>l'assurance</a:t>
            </a:r>
            <a:r>
              <a:rPr dirty="0"/>
              <a:t> </a:t>
            </a:r>
            <a:r>
              <a:rPr dirty="0" err="1"/>
              <a:t>paie</a:t>
            </a:r>
            <a:r>
              <a:rPr dirty="0"/>
              <a:t> ? ». </a:t>
            </a:r>
            <a:r>
              <a:rPr dirty="0" err="1"/>
              <a:t>Réponse</a:t>
            </a:r>
            <a:r>
              <a:rPr dirty="0"/>
              <a:t> : pour le civil </a:t>
            </a:r>
            <a:r>
              <a:rPr dirty="0" err="1"/>
              <a:t>oui</a:t>
            </a:r>
            <a:r>
              <a:rPr dirty="0"/>
              <a:t>, pour le </a:t>
            </a:r>
            <a:r>
              <a:rPr dirty="0" err="1"/>
              <a:t>pénal</a:t>
            </a:r>
            <a:r>
              <a:rPr dirty="0"/>
              <a:t> jamais.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La </a:t>
            </a:r>
            <a:r>
              <a:rPr dirty="0" err="1"/>
              <a:t>planche</a:t>
            </a:r>
            <a:r>
              <a:rPr dirty="0"/>
              <a:t> de </a:t>
            </a:r>
            <a:r>
              <a:rPr dirty="0" err="1"/>
              <a:t>vocabulaire</a:t>
            </a:r>
            <a:r>
              <a:rPr dirty="0"/>
              <a:t>. Les deux planches qui </a:t>
            </a:r>
            <a:r>
              <a:rPr dirty="0" err="1"/>
              <a:t>suivent</a:t>
            </a:r>
            <a:r>
              <a:rPr dirty="0"/>
              <a:t> </a:t>
            </a:r>
            <a:r>
              <a:rPr dirty="0" err="1"/>
              <a:t>montrent</a:t>
            </a:r>
            <a:r>
              <a:rPr dirty="0"/>
              <a:t> le </a:t>
            </a:r>
            <a:r>
              <a:rPr dirty="0" err="1"/>
              <a:t>basculement</a:t>
            </a:r>
            <a:r>
              <a:rPr dirty="0"/>
              <a:t> de </a:t>
            </a:r>
            <a:r>
              <a:rPr dirty="0" err="1"/>
              <a:t>l'une</a:t>
            </a:r>
            <a:r>
              <a:rPr dirty="0"/>
              <a:t> à </a:t>
            </a:r>
            <a:r>
              <a:rPr dirty="0" err="1"/>
              <a:t>l'autre</a:t>
            </a:r>
            <a:r>
              <a:rPr dirty="0"/>
              <a:t>, photos à </a:t>
            </a:r>
            <a:r>
              <a:rPr dirty="0" err="1"/>
              <a:t>l'appui</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Arrêts </a:t>
            </a:r>
            <a:r>
              <a:rPr dirty="0" err="1"/>
              <a:t>dits</a:t>
            </a:r>
            <a:r>
              <a:rPr dirty="0"/>
              <a:t> « </a:t>
            </a:r>
            <a:r>
              <a:rPr dirty="0" err="1"/>
              <a:t>amiante</a:t>
            </a:r>
            <a:r>
              <a:rPr dirty="0"/>
              <a:t> » de la chambre </a:t>
            </a:r>
            <a:r>
              <a:rPr dirty="0" err="1"/>
              <a:t>sociale</a:t>
            </a:r>
            <a:r>
              <a:rPr dirty="0"/>
              <a:t>, 28 </a:t>
            </a:r>
            <a:r>
              <a:rPr dirty="0" err="1"/>
              <a:t>février</a:t>
            </a:r>
            <a:r>
              <a:rPr dirty="0"/>
              <a:t> 2002.</a:t>
            </a:r>
          </a:p>
          <a:p>
            <a:r>
              <a:rPr dirty="0"/>
              <a:t>À faire dire au </a:t>
            </a:r>
            <a:r>
              <a:rPr dirty="0" err="1"/>
              <a:t>groupe</a:t>
            </a:r>
            <a:r>
              <a:rPr dirty="0"/>
              <a:t> : </a:t>
            </a:r>
            <a:r>
              <a:rPr dirty="0" err="1"/>
              <a:t>pourquoi</a:t>
            </a:r>
            <a:r>
              <a:rPr dirty="0"/>
              <a:t> </a:t>
            </a:r>
            <a:r>
              <a:rPr dirty="0" err="1"/>
              <a:t>l'amiante</a:t>
            </a:r>
            <a:r>
              <a:rPr dirty="0"/>
              <a:t> ? Parce </a:t>
            </a:r>
            <a:r>
              <a:rPr dirty="0" err="1"/>
              <a:t>que</a:t>
            </a:r>
            <a:r>
              <a:rPr dirty="0"/>
              <a:t> </a:t>
            </a:r>
            <a:r>
              <a:rPr dirty="0" err="1"/>
              <a:t>l'employeur</a:t>
            </a:r>
            <a:r>
              <a:rPr dirty="0"/>
              <a:t> </a:t>
            </a:r>
            <a:r>
              <a:rPr dirty="0" err="1"/>
              <a:t>savait</a:t>
            </a:r>
            <a:r>
              <a:rPr dirty="0"/>
              <a:t> </a:t>
            </a:r>
            <a:r>
              <a:rPr dirty="0" err="1"/>
              <a:t>depuis</a:t>
            </a:r>
            <a:r>
              <a:rPr dirty="0"/>
              <a:t> les </a:t>
            </a:r>
            <a:r>
              <a:rPr dirty="0" err="1"/>
              <a:t>années</a:t>
            </a:r>
            <a:r>
              <a:rPr dirty="0"/>
              <a:t> 1950 et </a:t>
            </a:r>
            <a:r>
              <a:rPr dirty="0" err="1"/>
              <a:t>n'a</a:t>
            </a:r>
            <a:r>
              <a:rPr dirty="0"/>
              <a:t> rien fait. </a:t>
            </a:r>
            <a:r>
              <a:rPr dirty="0" err="1"/>
              <a:t>C'est</a:t>
            </a:r>
            <a:r>
              <a:rPr dirty="0"/>
              <a:t> la conscience du danger qui </a:t>
            </a:r>
            <a:r>
              <a:rPr dirty="0" err="1"/>
              <a:t>fonde</a:t>
            </a:r>
            <a:r>
              <a:rPr dirty="0"/>
              <a:t> la faute.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Cass. soc., 25 </a:t>
            </a:r>
            <a:r>
              <a:rPr dirty="0" err="1"/>
              <a:t>novembre</a:t>
            </a:r>
            <a:r>
              <a:rPr dirty="0"/>
              <a:t> 2015, nº 14-24.444, </a:t>
            </a:r>
            <a:r>
              <a:rPr dirty="0" err="1"/>
              <a:t>arrêt</a:t>
            </a:r>
            <a:r>
              <a:rPr dirty="0"/>
              <a:t> « Air France ».</a:t>
            </a:r>
          </a:p>
          <a:p>
            <a:r>
              <a:rPr dirty="0"/>
              <a:t>La </a:t>
            </a:r>
            <a:r>
              <a:rPr dirty="0" err="1"/>
              <a:t>seconde</a:t>
            </a:r>
            <a:r>
              <a:rPr dirty="0"/>
              <a:t> </a:t>
            </a:r>
            <a:r>
              <a:rPr dirty="0" err="1"/>
              <a:t>n'est</a:t>
            </a:r>
            <a:r>
              <a:rPr dirty="0"/>
              <a:t> pas </a:t>
            </a:r>
            <a:r>
              <a:rPr dirty="0" err="1"/>
              <a:t>là</a:t>
            </a:r>
            <a:r>
              <a:rPr dirty="0"/>
              <a:t> pour le décor, </a:t>
            </a:r>
            <a:r>
              <a:rPr dirty="0" err="1"/>
              <a:t>c'est</a:t>
            </a:r>
            <a:r>
              <a:rPr dirty="0"/>
              <a:t> le fait </a:t>
            </a:r>
            <a:r>
              <a:rPr dirty="0" err="1"/>
              <a:t>générateur</a:t>
            </a:r>
            <a:r>
              <a:rPr dirty="0"/>
              <a:t> du </a:t>
            </a:r>
            <a:r>
              <a:rPr dirty="0" err="1"/>
              <a:t>litige</a:t>
            </a:r>
            <a:r>
              <a:rPr dirty="0"/>
              <a:t>, </a:t>
            </a:r>
            <a:r>
              <a:rPr dirty="0" err="1"/>
              <a:t>l'expliquer</a:t>
            </a:r>
            <a:r>
              <a:rPr dirty="0"/>
              <a:t>, </a:t>
            </a:r>
            <a:r>
              <a:rPr dirty="0" err="1"/>
              <a:t>sinon</a:t>
            </a:r>
            <a:r>
              <a:rPr dirty="0"/>
              <a:t> le </a:t>
            </a:r>
            <a:r>
              <a:rPr dirty="0" err="1"/>
              <a:t>groupe</a:t>
            </a:r>
            <a:r>
              <a:rPr dirty="0"/>
              <a:t> ne </a:t>
            </a:r>
            <a:r>
              <a:rPr dirty="0" err="1"/>
              <a:t>comprend</a:t>
            </a:r>
            <a:r>
              <a:rPr dirty="0"/>
              <a:t> pas le rapprochement.</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L'article</a:t>
            </a:r>
            <a:r>
              <a:rPr dirty="0"/>
              <a:t> </a:t>
            </a:r>
            <a:r>
              <a:rPr dirty="0" err="1"/>
              <a:t>fondateur</a:t>
            </a:r>
            <a:r>
              <a:rPr dirty="0"/>
              <a:t> de toute la formation. Le faire lire à voix haute par un participant : les </a:t>
            </a:r>
            <a:r>
              <a:rPr dirty="0" err="1"/>
              <a:t>élus</a:t>
            </a:r>
            <a:r>
              <a:rPr dirty="0"/>
              <a:t> le </a:t>
            </a:r>
            <a:r>
              <a:rPr dirty="0" err="1"/>
              <a:t>citent</a:t>
            </a:r>
            <a:r>
              <a:rPr dirty="0"/>
              <a:t> </a:t>
            </a:r>
            <a:r>
              <a:rPr dirty="0" err="1"/>
              <a:t>souvent</a:t>
            </a:r>
            <a:r>
              <a:rPr dirty="0"/>
              <a:t> sans </a:t>
            </a:r>
            <a:r>
              <a:rPr dirty="0" err="1"/>
              <a:t>l'avoir</a:t>
            </a:r>
            <a:r>
              <a:rPr dirty="0"/>
              <a:t> </a:t>
            </a:r>
            <a:r>
              <a:rPr dirty="0" err="1"/>
              <a:t>lu</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 PERS 155 (Commissions </a:t>
            </a:r>
            <a:r>
              <a:rPr dirty="0" err="1"/>
              <a:t>nationales</a:t>
            </a:r>
            <a:r>
              <a:rPr dirty="0"/>
              <a:t> </a:t>
            </a:r>
            <a:r>
              <a:rPr dirty="0" err="1"/>
              <a:t>invalidité</a:t>
            </a:r>
            <a:r>
              <a:rPr dirty="0"/>
              <a:t> et accidents du travail), </a:t>
            </a:r>
            <a:r>
              <a:rPr dirty="0" err="1"/>
              <a:t>publiée</a:t>
            </a:r>
            <a:r>
              <a:rPr dirty="0"/>
              <a:t> par le SGE des IEG, </a:t>
            </a:r>
            <a:r>
              <a:rPr dirty="0" err="1"/>
              <a:t>consultée</a:t>
            </a:r>
            <a:r>
              <a:rPr dirty="0"/>
              <a:t> le 13/09/2026. Elle-</a:t>
            </a:r>
            <a:r>
              <a:rPr dirty="0" err="1"/>
              <a:t>même</a:t>
            </a:r>
            <a:r>
              <a:rPr dirty="0"/>
              <a:t> </a:t>
            </a:r>
            <a:r>
              <a:rPr dirty="0" err="1"/>
              <a:t>fondée</a:t>
            </a:r>
            <a:r>
              <a:rPr dirty="0"/>
              <a:t> sur </a:t>
            </a:r>
            <a:r>
              <a:rPr dirty="0" err="1"/>
              <a:t>l'article</a:t>
            </a:r>
            <a:r>
              <a:rPr dirty="0"/>
              <a:t> 22 § 2 du </a:t>
            </a:r>
            <a:r>
              <a:rPr dirty="0" err="1"/>
              <a:t>statut</a:t>
            </a:r>
            <a:r>
              <a:rPr dirty="0"/>
              <a:t> national (</a:t>
            </a:r>
            <a:r>
              <a:rPr dirty="0" err="1"/>
              <a:t>décret</a:t>
            </a:r>
            <a:r>
              <a:rPr dirty="0"/>
              <a:t> nº 46-1541 du 22 </a:t>
            </a:r>
            <a:r>
              <a:rPr dirty="0" err="1"/>
              <a:t>juin</a:t>
            </a:r>
            <a:r>
              <a:rPr dirty="0"/>
              <a:t> 1946), </a:t>
            </a:r>
            <a:r>
              <a:rPr dirty="0" err="1"/>
              <a:t>l'annexe</a:t>
            </a:r>
            <a:r>
              <a:rPr dirty="0"/>
              <a:t> 3 article 4 1°, les articles 11 et 12 du </a:t>
            </a:r>
            <a:r>
              <a:rPr dirty="0" err="1"/>
              <a:t>règlement</a:t>
            </a:r>
            <a:r>
              <a:rPr dirty="0"/>
              <a:t> </a:t>
            </a:r>
            <a:r>
              <a:rPr dirty="0" err="1"/>
              <a:t>spécial</a:t>
            </a:r>
            <a:r>
              <a:rPr dirty="0"/>
              <a:t> de </a:t>
            </a:r>
            <a:r>
              <a:rPr dirty="0" err="1"/>
              <a:t>contrôle</a:t>
            </a:r>
            <a:r>
              <a:rPr dirty="0"/>
              <a:t> et le </a:t>
            </a:r>
            <a:r>
              <a:rPr dirty="0" err="1"/>
              <a:t>décret</a:t>
            </a:r>
            <a:r>
              <a:rPr dirty="0"/>
              <a:t> du 15 </a:t>
            </a:r>
            <a:r>
              <a:rPr dirty="0" err="1"/>
              <a:t>octobre</a:t>
            </a:r>
            <a:r>
              <a:rPr dirty="0"/>
              <a:t> 1947.</a:t>
            </a:r>
          </a:p>
          <a:p>
            <a:r>
              <a:rPr dirty="0"/>
              <a:t>À </a:t>
            </a:r>
            <a:r>
              <a:rPr dirty="0" err="1"/>
              <a:t>distinguer</a:t>
            </a:r>
            <a:r>
              <a:rPr dirty="0"/>
              <a:t> : la commission </a:t>
            </a:r>
            <a:r>
              <a:rPr dirty="0" err="1"/>
              <a:t>paritaire</a:t>
            </a:r>
            <a:r>
              <a:rPr dirty="0"/>
              <a:t> de </a:t>
            </a:r>
            <a:r>
              <a:rPr dirty="0" err="1"/>
              <a:t>branche</a:t>
            </a:r>
            <a:r>
              <a:rPr dirty="0"/>
              <a:t> qui rend un avis sur la faute inexcusable (8 </a:t>
            </a:r>
            <a:r>
              <a:rPr dirty="0" err="1"/>
              <a:t>membres</a:t>
            </a:r>
            <a:r>
              <a:rPr dirty="0"/>
              <a:t>, 4 </a:t>
            </a:r>
            <a:r>
              <a:rPr dirty="0" err="1"/>
              <a:t>employeurs</a:t>
            </a:r>
            <a:r>
              <a:rPr dirty="0"/>
              <a:t> et 4 </a:t>
            </a:r>
            <a:r>
              <a:rPr dirty="0" err="1"/>
              <a:t>syndicats</a:t>
            </a:r>
            <a:r>
              <a:rPr dirty="0"/>
              <a:t>, source CNIEG) </a:t>
            </a:r>
            <a:r>
              <a:rPr dirty="0" err="1"/>
              <a:t>n'est</a:t>
            </a:r>
            <a:r>
              <a:rPr dirty="0"/>
              <a:t> pas la </a:t>
            </a:r>
            <a:r>
              <a:rPr dirty="0" err="1"/>
              <a:t>même</a:t>
            </a:r>
            <a:r>
              <a:rPr dirty="0"/>
              <a:t> instance.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 message central : les EPI </a:t>
            </a:r>
            <a:r>
              <a:rPr dirty="0" err="1"/>
              <a:t>sont</a:t>
            </a:r>
            <a:r>
              <a:rPr dirty="0"/>
              <a:t> le dernier </a:t>
            </a:r>
            <a:r>
              <a:rPr dirty="0" err="1"/>
              <a:t>recours</a:t>
            </a:r>
            <a:r>
              <a:rPr dirty="0"/>
              <a:t>, pas la première </a:t>
            </a:r>
            <a:r>
              <a:rPr dirty="0" err="1"/>
              <a:t>réponse</a:t>
            </a:r>
            <a:r>
              <a:rPr dirty="0"/>
              <a:t>. </a:t>
            </a:r>
            <a:r>
              <a:rPr dirty="0" err="1"/>
              <a:t>C'est</a:t>
            </a:r>
            <a:r>
              <a:rPr dirty="0"/>
              <a:t> </a:t>
            </a:r>
            <a:r>
              <a:rPr dirty="0" err="1"/>
              <a:t>l'erreur</a:t>
            </a:r>
            <a:r>
              <a:rPr dirty="0"/>
              <a:t> la plus </a:t>
            </a:r>
            <a:r>
              <a:rPr dirty="0" err="1"/>
              <a:t>répandue</a:t>
            </a:r>
            <a:r>
              <a:rPr dirty="0"/>
              <a:t> dans les </a:t>
            </a:r>
            <a:r>
              <a:rPr dirty="0" err="1"/>
              <a:t>entreprises</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Rappeler </a:t>
            </a:r>
            <a:r>
              <a:rPr dirty="0" err="1"/>
              <a:t>que</a:t>
            </a:r>
            <a:r>
              <a:rPr dirty="0"/>
              <a:t> les </a:t>
            </a:r>
            <a:r>
              <a:rPr dirty="0" err="1"/>
              <a:t>neuf</a:t>
            </a:r>
            <a:r>
              <a:rPr dirty="0"/>
              <a:t> principes </a:t>
            </a:r>
            <a:r>
              <a:rPr dirty="0" err="1"/>
              <a:t>sont</a:t>
            </a:r>
            <a:r>
              <a:rPr dirty="0"/>
              <a:t> un </a:t>
            </a:r>
            <a:r>
              <a:rPr dirty="0" err="1"/>
              <a:t>ordre</a:t>
            </a:r>
            <a:r>
              <a:rPr dirty="0"/>
              <a:t> de </a:t>
            </a:r>
            <a:r>
              <a:rPr dirty="0" err="1"/>
              <a:t>priorité</a:t>
            </a:r>
            <a:r>
              <a:rPr dirty="0"/>
              <a:t>, pas un menu : on ne descend d'un </a:t>
            </a:r>
            <a:r>
              <a:rPr dirty="0" err="1"/>
              <a:t>cran</a:t>
            </a:r>
            <a:r>
              <a:rPr dirty="0"/>
              <a:t> </a:t>
            </a:r>
            <a:r>
              <a:rPr dirty="0" err="1"/>
              <a:t>que</a:t>
            </a:r>
            <a:r>
              <a:rPr dirty="0"/>
              <a:t> </a:t>
            </a:r>
            <a:r>
              <a:rPr dirty="0" err="1"/>
              <a:t>si</a:t>
            </a:r>
            <a:r>
              <a:rPr dirty="0"/>
              <a:t> le </a:t>
            </a:r>
            <a:r>
              <a:rPr dirty="0" err="1"/>
              <a:t>cran</a:t>
            </a:r>
            <a:r>
              <a:rPr dirty="0"/>
              <a:t> </a:t>
            </a:r>
            <a:r>
              <a:rPr dirty="0" err="1"/>
              <a:t>précédent</a:t>
            </a:r>
            <a:r>
              <a:rPr dirty="0"/>
              <a:t> est impossible, et </a:t>
            </a:r>
            <a:r>
              <a:rPr dirty="0" err="1"/>
              <a:t>cette</a:t>
            </a:r>
            <a:r>
              <a:rPr dirty="0"/>
              <a:t> </a:t>
            </a:r>
            <a:r>
              <a:rPr dirty="0" err="1"/>
              <a:t>impossibilité</a:t>
            </a:r>
            <a:r>
              <a:rPr dirty="0"/>
              <a:t> doit </a:t>
            </a:r>
            <a:r>
              <a:rPr dirty="0" err="1"/>
              <a:t>être</a:t>
            </a:r>
            <a:r>
              <a:rPr dirty="0"/>
              <a:t> </a:t>
            </a:r>
            <a:r>
              <a:rPr dirty="0" err="1"/>
              <a:t>démontrée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Rappeler </a:t>
            </a:r>
            <a:r>
              <a:rPr dirty="0" err="1"/>
              <a:t>que</a:t>
            </a:r>
            <a:r>
              <a:rPr dirty="0"/>
              <a:t> les </a:t>
            </a:r>
            <a:r>
              <a:rPr dirty="0" err="1"/>
              <a:t>neuf</a:t>
            </a:r>
            <a:r>
              <a:rPr dirty="0"/>
              <a:t> principes </a:t>
            </a:r>
            <a:r>
              <a:rPr dirty="0" err="1"/>
              <a:t>sont</a:t>
            </a:r>
            <a:r>
              <a:rPr dirty="0"/>
              <a:t> un </a:t>
            </a:r>
            <a:r>
              <a:rPr dirty="0" err="1"/>
              <a:t>ordre</a:t>
            </a:r>
            <a:r>
              <a:rPr dirty="0"/>
              <a:t> de </a:t>
            </a:r>
            <a:r>
              <a:rPr dirty="0" err="1"/>
              <a:t>priorité</a:t>
            </a:r>
            <a:r>
              <a:rPr dirty="0"/>
              <a:t>, pas un menu : on ne descend d'un </a:t>
            </a:r>
            <a:r>
              <a:rPr dirty="0" err="1"/>
              <a:t>cran</a:t>
            </a:r>
            <a:r>
              <a:rPr dirty="0"/>
              <a:t> </a:t>
            </a:r>
            <a:r>
              <a:rPr dirty="0" err="1"/>
              <a:t>que</a:t>
            </a:r>
            <a:r>
              <a:rPr dirty="0"/>
              <a:t> </a:t>
            </a:r>
            <a:r>
              <a:rPr dirty="0" err="1"/>
              <a:t>si</a:t>
            </a:r>
            <a:r>
              <a:rPr dirty="0"/>
              <a:t> le </a:t>
            </a:r>
            <a:r>
              <a:rPr dirty="0" err="1"/>
              <a:t>cran</a:t>
            </a:r>
            <a:r>
              <a:rPr dirty="0"/>
              <a:t> </a:t>
            </a:r>
            <a:r>
              <a:rPr dirty="0" err="1"/>
              <a:t>précédent</a:t>
            </a:r>
            <a:r>
              <a:rPr dirty="0"/>
              <a:t> est impossible, et </a:t>
            </a:r>
            <a:r>
              <a:rPr dirty="0" err="1"/>
              <a:t>cette</a:t>
            </a:r>
            <a:r>
              <a:rPr dirty="0"/>
              <a:t> </a:t>
            </a:r>
            <a:r>
              <a:rPr dirty="0" err="1"/>
              <a:t>impossibilité</a:t>
            </a:r>
            <a:r>
              <a:rPr dirty="0"/>
              <a:t> doit </a:t>
            </a:r>
            <a:r>
              <a:rPr dirty="0" err="1"/>
              <a:t>être</a:t>
            </a:r>
            <a:r>
              <a:rPr dirty="0"/>
              <a:t> </a:t>
            </a:r>
            <a:r>
              <a:rPr dirty="0" err="1"/>
              <a:t>démontrée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Rappeler </a:t>
            </a:r>
            <a:r>
              <a:rPr dirty="0" err="1"/>
              <a:t>que</a:t>
            </a:r>
            <a:r>
              <a:rPr dirty="0"/>
              <a:t> les </a:t>
            </a:r>
            <a:r>
              <a:rPr dirty="0" err="1"/>
              <a:t>neuf</a:t>
            </a:r>
            <a:r>
              <a:rPr dirty="0"/>
              <a:t> principes </a:t>
            </a:r>
            <a:r>
              <a:rPr dirty="0" err="1"/>
              <a:t>sont</a:t>
            </a:r>
            <a:r>
              <a:rPr dirty="0"/>
              <a:t> un </a:t>
            </a:r>
            <a:r>
              <a:rPr dirty="0" err="1"/>
              <a:t>ordre</a:t>
            </a:r>
            <a:r>
              <a:rPr dirty="0"/>
              <a:t> de </a:t>
            </a:r>
            <a:r>
              <a:rPr dirty="0" err="1"/>
              <a:t>priorité</a:t>
            </a:r>
            <a:r>
              <a:rPr dirty="0"/>
              <a:t>, pas un menu : on ne descend d'un </a:t>
            </a:r>
            <a:r>
              <a:rPr dirty="0" err="1"/>
              <a:t>cran</a:t>
            </a:r>
            <a:r>
              <a:rPr dirty="0"/>
              <a:t> </a:t>
            </a:r>
            <a:r>
              <a:rPr dirty="0" err="1"/>
              <a:t>que</a:t>
            </a:r>
            <a:r>
              <a:rPr dirty="0"/>
              <a:t> </a:t>
            </a:r>
            <a:r>
              <a:rPr dirty="0" err="1"/>
              <a:t>si</a:t>
            </a:r>
            <a:r>
              <a:rPr dirty="0"/>
              <a:t> le </a:t>
            </a:r>
            <a:r>
              <a:rPr dirty="0" err="1"/>
              <a:t>cran</a:t>
            </a:r>
            <a:r>
              <a:rPr dirty="0"/>
              <a:t> </a:t>
            </a:r>
            <a:r>
              <a:rPr dirty="0" err="1"/>
              <a:t>précédent</a:t>
            </a:r>
            <a:r>
              <a:rPr dirty="0"/>
              <a:t> est impossible, et </a:t>
            </a:r>
            <a:r>
              <a:rPr dirty="0" err="1"/>
              <a:t>cette</a:t>
            </a:r>
            <a:r>
              <a:rPr dirty="0"/>
              <a:t> </a:t>
            </a:r>
            <a:r>
              <a:rPr dirty="0" err="1"/>
              <a:t>impossibilité</a:t>
            </a:r>
            <a:r>
              <a:rPr dirty="0"/>
              <a:t> doit </a:t>
            </a:r>
            <a:r>
              <a:rPr dirty="0" err="1"/>
              <a:t>être</a:t>
            </a:r>
            <a:r>
              <a:rPr dirty="0"/>
              <a:t> </a:t>
            </a:r>
            <a:r>
              <a:rPr dirty="0" err="1"/>
              <a:t>démontrée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Rappeler </a:t>
            </a:r>
            <a:r>
              <a:rPr dirty="0" err="1"/>
              <a:t>que</a:t>
            </a:r>
            <a:r>
              <a:rPr dirty="0"/>
              <a:t> les </a:t>
            </a:r>
            <a:r>
              <a:rPr dirty="0" err="1"/>
              <a:t>neuf</a:t>
            </a:r>
            <a:r>
              <a:rPr dirty="0"/>
              <a:t> principes </a:t>
            </a:r>
            <a:r>
              <a:rPr dirty="0" err="1"/>
              <a:t>sont</a:t>
            </a:r>
            <a:r>
              <a:rPr dirty="0"/>
              <a:t> un </a:t>
            </a:r>
            <a:r>
              <a:rPr dirty="0" err="1"/>
              <a:t>ordre</a:t>
            </a:r>
            <a:r>
              <a:rPr dirty="0"/>
              <a:t> de </a:t>
            </a:r>
            <a:r>
              <a:rPr dirty="0" err="1"/>
              <a:t>priorité</a:t>
            </a:r>
            <a:r>
              <a:rPr dirty="0"/>
              <a:t>, pas un menu : on ne descend d'un </a:t>
            </a:r>
            <a:r>
              <a:rPr dirty="0" err="1"/>
              <a:t>cran</a:t>
            </a:r>
            <a:r>
              <a:rPr dirty="0"/>
              <a:t> </a:t>
            </a:r>
            <a:r>
              <a:rPr dirty="0" err="1"/>
              <a:t>que</a:t>
            </a:r>
            <a:r>
              <a:rPr dirty="0"/>
              <a:t> </a:t>
            </a:r>
            <a:r>
              <a:rPr dirty="0" err="1"/>
              <a:t>si</a:t>
            </a:r>
            <a:r>
              <a:rPr dirty="0"/>
              <a:t> le </a:t>
            </a:r>
            <a:r>
              <a:rPr dirty="0" err="1"/>
              <a:t>cran</a:t>
            </a:r>
            <a:r>
              <a:rPr dirty="0"/>
              <a:t> </a:t>
            </a:r>
            <a:r>
              <a:rPr dirty="0" err="1"/>
              <a:t>précédent</a:t>
            </a:r>
            <a:r>
              <a:rPr dirty="0"/>
              <a:t> est impossible, et </a:t>
            </a:r>
            <a:r>
              <a:rPr dirty="0" err="1"/>
              <a:t>cette</a:t>
            </a:r>
            <a:r>
              <a:rPr dirty="0"/>
              <a:t> </a:t>
            </a:r>
            <a:r>
              <a:rPr dirty="0" err="1"/>
              <a:t>impossibilité</a:t>
            </a:r>
            <a:r>
              <a:rPr dirty="0"/>
              <a:t> doit </a:t>
            </a:r>
            <a:r>
              <a:rPr dirty="0" err="1"/>
              <a:t>être</a:t>
            </a:r>
            <a:r>
              <a:rPr dirty="0"/>
              <a:t> </a:t>
            </a:r>
            <a:r>
              <a:rPr dirty="0" err="1"/>
              <a:t>démontrée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Rappeler </a:t>
            </a:r>
            <a:r>
              <a:rPr dirty="0" err="1"/>
              <a:t>que</a:t>
            </a:r>
            <a:r>
              <a:rPr dirty="0"/>
              <a:t> les </a:t>
            </a:r>
            <a:r>
              <a:rPr dirty="0" err="1"/>
              <a:t>neuf</a:t>
            </a:r>
            <a:r>
              <a:rPr dirty="0"/>
              <a:t> principes </a:t>
            </a:r>
            <a:r>
              <a:rPr dirty="0" err="1"/>
              <a:t>sont</a:t>
            </a:r>
            <a:r>
              <a:rPr dirty="0"/>
              <a:t> un </a:t>
            </a:r>
            <a:r>
              <a:rPr dirty="0" err="1"/>
              <a:t>ordre</a:t>
            </a:r>
            <a:r>
              <a:rPr dirty="0"/>
              <a:t> de </a:t>
            </a:r>
            <a:r>
              <a:rPr dirty="0" err="1"/>
              <a:t>priorité</a:t>
            </a:r>
            <a:r>
              <a:rPr dirty="0"/>
              <a:t>, pas un menu : on ne descend d'un </a:t>
            </a:r>
            <a:r>
              <a:rPr dirty="0" err="1"/>
              <a:t>cran</a:t>
            </a:r>
            <a:r>
              <a:rPr dirty="0"/>
              <a:t> </a:t>
            </a:r>
            <a:r>
              <a:rPr dirty="0" err="1"/>
              <a:t>que</a:t>
            </a:r>
            <a:r>
              <a:rPr dirty="0"/>
              <a:t> </a:t>
            </a:r>
            <a:r>
              <a:rPr dirty="0" err="1"/>
              <a:t>si</a:t>
            </a:r>
            <a:r>
              <a:rPr dirty="0"/>
              <a:t> le </a:t>
            </a:r>
            <a:r>
              <a:rPr dirty="0" err="1"/>
              <a:t>cran</a:t>
            </a:r>
            <a:r>
              <a:rPr dirty="0"/>
              <a:t> </a:t>
            </a:r>
            <a:r>
              <a:rPr dirty="0" err="1"/>
              <a:t>précédent</a:t>
            </a:r>
            <a:r>
              <a:rPr dirty="0"/>
              <a:t> est impossible, et </a:t>
            </a:r>
            <a:r>
              <a:rPr dirty="0" err="1"/>
              <a:t>cette</a:t>
            </a:r>
            <a:r>
              <a:rPr dirty="0"/>
              <a:t> </a:t>
            </a:r>
            <a:r>
              <a:rPr dirty="0" err="1"/>
              <a:t>impossibilité</a:t>
            </a:r>
            <a:r>
              <a:rPr dirty="0"/>
              <a:t> doit </a:t>
            </a:r>
            <a:r>
              <a:rPr dirty="0" err="1"/>
              <a:t>être</a:t>
            </a:r>
            <a:r>
              <a:rPr dirty="0"/>
              <a:t> </a:t>
            </a:r>
            <a:r>
              <a:rPr dirty="0" err="1"/>
              <a:t>démontrée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Rappeler </a:t>
            </a:r>
            <a:r>
              <a:rPr dirty="0" err="1"/>
              <a:t>que</a:t>
            </a:r>
            <a:r>
              <a:rPr dirty="0"/>
              <a:t> les </a:t>
            </a:r>
            <a:r>
              <a:rPr dirty="0" err="1"/>
              <a:t>neuf</a:t>
            </a:r>
            <a:r>
              <a:rPr dirty="0"/>
              <a:t> principes </a:t>
            </a:r>
            <a:r>
              <a:rPr dirty="0" err="1"/>
              <a:t>sont</a:t>
            </a:r>
            <a:r>
              <a:rPr dirty="0"/>
              <a:t> un </a:t>
            </a:r>
            <a:r>
              <a:rPr dirty="0" err="1"/>
              <a:t>ordre</a:t>
            </a:r>
            <a:r>
              <a:rPr dirty="0"/>
              <a:t> de </a:t>
            </a:r>
            <a:r>
              <a:rPr dirty="0" err="1"/>
              <a:t>priorité</a:t>
            </a:r>
            <a:r>
              <a:rPr dirty="0"/>
              <a:t>, pas un menu : on ne descend d'un </a:t>
            </a:r>
            <a:r>
              <a:rPr dirty="0" err="1"/>
              <a:t>cran</a:t>
            </a:r>
            <a:r>
              <a:rPr dirty="0"/>
              <a:t> </a:t>
            </a:r>
            <a:r>
              <a:rPr dirty="0" err="1"/>
              <a:t>que</a:t>
            </a:r>
            <a:r>
              <a:rPr dirty="0"/>
              <a:t> </a:t>
            </a:r>
            <a:r>
              <a:rPr dirty="0" err="1"/>
              <a:t>si</a:t>
            </a:r>
            <a:r>
              <a:rPr dirty="0"/>
              <a:t> le </a:t>
            </a:r>
            <a:r>
              <a:rPr dirty="0" err="1"/>
              <a:t>cran</a:t>
            </a:r>
            <a:r>
              <a:rPr dirty="0"/>
              <a:t> </a:t>
            </a:r>
            <a:r>
              <a:rPr dirty="0" err="1"/>
              <a:t>précédent</a:t>
            </a:r>
            <a:r>
              <a:rPr dirty="0"/>
              <a:t> est impossible, et </a:t>
            </a:r>
            <a:r>
              <a:rPr dirty="0" err="1"/>
              <a:t>cette</a:t>
            </a:r>
            <a:r>
              <a:rPr dirty="0"/>
              <a:t> </a:t>
            </a:r>
            <a:r>
              <a:rPr dirty="0" err="1"/>
              <a:t>impossibilité</a:t>
            </a:r>
            <a:r>
              <a:rPr dirty="0"/>
              <a:t> doit </a:t>
            </a:r>
            <a:r>
              <a:rPr dirty="0" err="1"/>
              <a:t>être</a:t>
            </a:r>
            <a:r>
              <a:rPr dirty="0"/>
              <a:t> </a:t>
            </a:r>
            <a:r>
              <a:rPr dirty="0" err="1"/>
              <a:t>démontrée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Rappeler </a:t>
            </a:r>
            <a:r>
              <a:rPr dirty="0" err="1"/>
              <a:t>que</a:t>
            </a:r>
            <a:r>
              <a:rPr dirty="0"/>
              <a:t> les </a:t>
            </a:r>
            <a:r>
              <a:rPr dirty="0" err="1"/>
              <a:t>neuf</a:t>
            </a:r>
            <a:r>
              <a:rPr dirty="0"/>
              <a:t> principes </a:t>
            </a:r>
            <a:r>
              <a:rPr dirty="0" err="1"/>
              <a:t>sont</a:t>
            </a:r>
            <a:r>
              <a:rPr dirty="0"/>
              <a:t> un </a:t>
            </a:r>
            <a:r>
              <a:rPr dirty="0" err="1"/>
              <a:t>ordre</a:t>
            </a:r>
            <a:r>
              <a:rPr dirty="0"/>
              <a:t> de </a:t>
            </a:r>
            <a:r>
              <a:rPr dirty="0" err="1"/>
              <a:t>priorité</a:t>
            </a:r>
            <a:r>
              <a:rPr dirty="0"/>
              <a:t>, pas un menu : on ne descend d'un </a:t>
            </a:r>
            <a:r>
              <a:rPr dirty="0" err="1"/>
              <a:t>cran</a:t>
            </a:r>
            <a:r>
              <a:rPr dirty="0"/>
              <a:t> </a:t>
            </a:r>
            <a:r>
              <a:rPr dirty="0" err="1"/>
              <a:t>que</a:t>
            </a:r>
            <a:r>
              <a:rPr dirty="0"/>
              <a:t> </a:t>
            </a:r>
            <a:r>
              <a:rPr dirty="0" err="1"/>
              <a:t>si</a:t>
            </a:r>
            <a:r>
              <a:rPr dirty="0"/>
              <a:t> le </a:t>
            </a:r>
            <a:r>
              <a:rPr dirty="0" err="1"/>
              <a:t>cran</a:t>
            </a:r>
            <a:r>
              <a:rPr dirty="0"/>
              <a:t> </a:t>
            </a:r>
            <a:r>
              <a:rPr dirty="0" err="1"/>
              <a:t>précédent</a:t>
            </a:r>
            <a:r>
              <a:rPr dirty="0"/>
              <a:t> est impossible, et </a:t>
            </a:r>
            <a:r>
              <a:rPr dirty="0" err="1"/>
              <a:t>cette</a:t>
            </a:r>
            <a:r>
              <a:rPr dirty="0"/>
              <a:t> </a:t>
            </a:r>
            <a:r>
              <a:rPr dirty="0" err="1"/>
              <a:t>impossibilité</a:t>
            </a:r>
            <a:r>
              <a:rPr dirty="0"/>
              <a:t> doit </a:t>
            </a:r>
            <a:r>
              <a:rPr dirty="0" err="1"/>
              <a:t>être</a:t>
            </a:r>
            <a:r>
              <a:rPr dirty="0"/>
              <a:t> </a:t>
            </a:r>
            <a:r>
              <a:rPr dirty="0" err="1"/>
              <a:t>démontrée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Rappeler </a:t>
            </a:r>
            <a:r>
              <a:rPr dirty="0" err="1"/>
              <a:t>que</a:t>
            </a:r>
            <a:r>
              <a:rPr dirty="0"/>
              <a:t> les </a:t>
            </a:r>
            <a:r>
              <a:rPr dirty="0" err="1"/>
              <a:t>neuf</a:t>
            </a:r>
            <a:r>
              <a:rPr dirty="0"/>
              <a:t> principes </a:t>
            </a:r>
            <a:r>
              <a:rPr dirty="0" err="1"/>
              <a:t>sont</a:t>
            </a:r>
            <a:r>
              <a:rPr dirty="0"/>
              <a:t> un </a:t>
            </a:r>
            <a:r>
              <a:rPr dirty="0" err="1"/>
              <a:t>ordre</a:t>
            </a:r>
            <a:r>
              <a:rPr dirty="0"/>
              <a:t> de </a:t>
            </a:r>
            <a:r>
              <a:rPr dirty="0" err="1"/>
              <a:t>priorité</a:t>
            </a:r>
            <a:r>
              <a:rPr dirty="0"/>
              <a:t>, pas un menu : on ne descend d'un </a:t>
            </a:r>
            <a:r>
              <a:rPr dirty="0" err="1"/>
              <a:t>cran</a:t>
            </a:r>
            <a:r>
              <a:rPr dirty="0"/>
              <a:t> </a:t>
            </a:r>
            <a:r>
              <a:rPr dirty="0" err="1"/>
              <a:t>que</a:t>
            </a:r>
            <a:r>
              <a:rPr dirty="0"/>
              <a:t> </a:t>
            </a:r>
            <a:r>
              <a:rPr dirty="0" err="1"/>
              <a:t>si</a:t>
            </a:r>
            <a:r>
              <a:rPr dirty="0"/>
              <a:t> le </a:t>
            </a:r>
            <a:r>
              <a:rPr dirty="0" err="1"/>
              <a:t>cran</a:t>
            </a:r>
            <a:r>
              <a:rPr dirty="0"/>
              <a:t> </a:t>
            </a:r>
            <a:r>
              <a:rPr dirty="0" err="1"/>
              <a:t>précédent</a:t>
            </a:r>
            <a:r>
              <a:rPr dirty="0"/>
              <a:t> est impossible, et </a:t>
            </a:r>
            <a:r>
              <a:rPr dirty="0" err="1"/>
              <a:t>cette</a:t>
            </a:r>
            <a:r>
              <a:rPr dirty="0"/>
              <a:t> </a:t>
            </a:r>
            <a:r>
              <a:rPr dirty="0" err="1"/>
              <a:t>impossibilité</a:t>
            </a:r>
            <a:r>
              <a:rPr dirty="0"/>
              <a:t> doit </a:t>
            </a:r>
            <a:r>
              <a:rPr dirty="0" err="1"/>
              <a:t>être</a:t>
            </a:r>
            <a:r>
              <a:rPr dirty="0"/>
              <a:t> </a:t>
            </a:r>
            <a:r>
              <a:rPr dirty="0" err="1"/>
              <a:t>démontrée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Rappeler </a:t>
            </a:r>
            <a:r>
              <a:rPr dirty="0" err="1"/>
              <a:t>que</a:t>
            </a:r>
            <a:r>
              <a:rPr dirty="0"/>
              <a:t> les </a:t>
            </a:r>
            <a:r>
              <a:rPr dirty="0" err="1"/>
              <a:t>neuf</a:t>
            </a:r>
            <a:r>
              <a:rPr dirty="0"/>
              <a:t> principes </a:t>
            </a:r>
            <a:r>
              <a:rPr dirty="0" err="1"/>
              <a:t>sont</a:t>
            </a:r>
            <a:r>
              <a:rPr dirty="0"/>
              <a:t> un </a:t>
            </a:r>
            <a:r>
              <a:rPr dirty="0" err="1"/>
              <a:t>ordre</a:t>
            </a:r>
            <a:r>
              <a:rPr dirty="0"/>
              <a:t> de </a:t>
            </a:r>
            <a:r>
              <a:rPr dirty="0" err="1"/>
              <a:t>priorité</a:t>
            </a:r>
            <a:r>
              <a:rPr dirty="0"/>
              <a:t>, pas un menu : on ne descend d'un </a:t>
            </a:r>
            <a:r>
              <a:rPr dirty="0" err="1"/>
              <a:t>cran</a:t>
            </a:r>
            <a:r>
              <a:rPr dirty="0"/>
              <a:t> </a:t>
            </a:r>
            <a:r>
              <a:rPr dirty="0" err="1"/>
              <a:t>que</a:t>
            </a:r>
            <a:r>
              <a:rPr dirty="0"/>
              <a:t> </a:t>
            </a:r>
            <a:r>
              <a:rPr dirty="0" err="1"/>
              <a:t>si</a:t>
            </a:r>
            <a:r>
              <a:rPr dirty="0"/>
              <a:t> le </a:t>
            </a:r>
            <a:r>
              <a:rPr dirty="0" err="1"/>
              <a:t>cran</a:t>
            </a:r>
            <a:r>
              <a:rPr dirty="0"/>
              <a:t> </a:t>
            </a:r>
            <a:r>
              <a:rPr dirty="0" err="1"/>
              <a:t>précédent</a:t>
            </a:r>
            <a:r>
              <a:rPr dirty="0"/>
              <a:t> est impossible, et </a:t>
            </a:r>
            <a:r>
              <a:rPr dirty="0" err="1"/>
              <a:t>cette</a:t>
            </a:r>
            <a:r>
              <a:rPr dirty="0"/>
              <a:t> </a:t>
            </a:r>
            <a:r>
              <a:rPr dirty="0" err="1"/>
              <a:t>impossibilité</a:t>
            </a:r>
            <a:r>
              <a:rPr dirty="0"/>
              <a:t> doit </a:t>
            </a:r>
            <a:r>
              <a:rPr dirty="0" err="1"/>
              <a:t>être</a:t>
            </a:r>
            <a:r>
              <a:rPr dirty="0"/>
              <a:t> </a:t>
            </a:r>
            <a:r>
              <a:rPr dirty="0" err="1"/>
              <a:t>démontrée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Article L. 4121-1 du code du travail, version </a:t>
            </a:r>
            <a:r>
              <a:rPr dirty="0" err="1"/>
              <a:t>en</a:t>
            </a:r>
            <a:r>
              <a:rPr dirty="0"/>
              <a:t> </a:t>
            </a:r>
            <a:r>
              <a:rPr dirty="0" err="1"/>
              <a:t>vigueur</a:t>
            </a:r>
            <a:r>
              <a:rPr dirty="0"/>
              <a:t> </a:t>
            </a:r>
            <a:r>
              <a:rPr dirty="0" err="1"/>
              <a:t>depuis</a:t>
            </a:r>
            <a:r>
              <a:rPr dirty="0"/>
              <a:t> le 1er </a:t>
            </a:r>
            <a:r>
              <a:rPr dirty="0" err="1"/>
              <a:t>octobre</a:t>
            </a:r>
            <a:r>
              <a:rPr dirty="0"/>
              <a:t> 2017.</a:t>
            </a:r>
          </a:p>
          <a:p>
            <a:r>
              <a:rPr dirty="0"/>
              <a:t>Le 1° </a:t>
            </a:r>
            <a:r>
              <a:rPr dirty="0" err="1"/>
              <a:t>renvoie</a:t>
            </a:r>
            <a:r>
              <a:rPr dirty="0"/>
              <a:t> à </a:t>
            </a:r>
            <a:r>
              <a:rPr dirty="0" err="1"/>
              <a:t>l'article</a:t>
            </a:r>
            <a:r>
              <a:rPr dirty="0"/>
              <a:t> L. 4161-1, </a:t>
            </a:r>
            <a:r>
              <a:rPr dirty="0" err="1"/>
              <a:t>c'est</a:t>
            </a:r>
            <a:r>
              <a:rPr dirty="0"/>
              <a:t>-à-dire aux </a:t>
            </a:r>
            <a:r>
              <a:rPr dirty="0" err="1"/>
              <a:t>facteurs</a:t>
            </a:r>
            <a:r>
              <a:rPr dirty="0"/>
              <a:t> de </a:t>
            </a:r>
            <a:r>
              <a:rPr dirty="0" err="1"/>
              <a:t>risques</a:t>
            </a:r>
            <a:r>
              <a:rPr dirty="0"/>
              <a:t> </a:t>
            </a:r>
            <a:r>
              <a:rPr dirty="0" err="1"/>
              <a:t>professionnels</a:t>
            </a:r>
            <a:r>
              <a:rPr dirty="0"/>
              <a:t> </a:t>
            </a:r>
            <a:r>
              <a:rPr dirty="0" err="1"/>
              <a:t>dits</a:t>
            </a:r>
            <a:r>
              <a:rPr dirty="0"/>
              <a:t> de </a:t>
            </a:r>
            <a:r>
              <a:rPr dirty="0" err="1"/>
              <a:t>pénibilité</a:t>
            </a:r>
            <a:r>
              <a:rPr dirty="0"/>
              <a:t> : la </a:t>
            </a:r>
            <a:r>
              <a:rPr dirty="0" err="1"/>
              <a:t>prévention</a:t>
            </a:r>
            <a:r>
              <a:rPr dirty="0"/>
              <a:t> de </a:t>
            </a:r>
            <a:r>
              <a:rPr dirty="0" err="1"/>
              <a:t>ces</a:t>
            </a:r>
            <a:r>
              <a:rPr dirty="0"/>
              <a:t> </a:t>
            </a:r>
            <a:r>
              <a:rPr dirty="0" err="1"/>
              <a:t>facteurs</a:t>
            </a:r>
            <a:r>
              <a:rPr dirty="0"/>
              <a:t> fait </a:t>
            </a:r>
            <a:r>
              <a:rPr dirty="0" err="1"/>
              <a:t>partie</a:t>
            </a:r>
            <a:r>
              <a:rPr dirty="0"/>
              <a:t> des </a:t>
            </a:r>
            <a:r>
              <a:rPr dirty="0" err="1"/>
              <a:t>mesures</a:t>
            </a:r>
            <a:r>
              <a:rPr dirty="0"/>
              <a:t> </a:t>
            </a:r>
            <a:r>
              <a:rPr dirty="0" err="1"/>
              <a:t>nécessaires</a:t>
            </a:r>
            <a:r>
              <a:rPr dirty="0"/>
              <a:t>, </a:t>
            </a:r>
            <a:r>
              <a:rPr dirty="0" err="1"/>
              <a:t>elle</a:t>
            </a:r>
            <a:r>
              <a:rPr dirty="0"/>
              <a:t> </a:t>
            </a:r>
            <a:r>
              <a:rPr dirty="0" err="1"/>
              <a:t>n'est</a:t>
            </a:r>
            <a:r>
              <a:rPr dirty="0"/>
              <a:t> pas un régime à part.</a:t>
            </a:r>
          </a:p>
          <a:p>
            <a:r>
              <a:rPr dirty="0"/>
              <a:t>Le dernier </a:t>
            </a:r>
            <a:r>
              <a:rPr dirty="0" err="1"/>
              <a:t>alinéa</a:t>
            </a:r>
            <a:r>
              <a:rPr dirty="0"/>
              <a:t> est le plus </a:t>
            </a:r>
            <a:r>
              <a:rPr dirty="0" err="1"/>
              <a:t>souvent</a:t>
            </a:r>
            <a:r>
              <a:rPr dirty="0"/>
              <a:t> </a:t>
            </a:r>
            <a:r>
              <a:rPr dirty="0" err="1"/>
              <a:t>oublié</a:t>
            </a:r>
            <a:r>
              <a:rPr dirty="0"/>
              <a:t> : </a:t>
            </a:r>
            <a:r>
              <a:rPr dirty="0" err="1"/>
              <a:t>l'obligation</a:t>
            </a:r>
            <a:r>
              <a:rPr dirty="0"/>
              <a:t> </a:t>
            </a:r>
            <a:r>
              <a:rPr dirty="0" err="1"/>
              <a:t>n'est</a:t>
            </a:r>
            <a:r>
              <a:rPr dirty="0"/>
              <a:t> pas </a:t>
            </a:r>
            <a:r>
              <a:rPr dirty="0" err="1"/>
              <a:t>figée</a:t>
            </a:r>
            <a:r>
              <a:rPr dirty="0"/>
              <a:t>, </a:t>
            </a:r>
            <a:r>
              <a:rPr dirty="0" err="1"/>
              <a:t>elle</a:t>
            </a:r>
            <a:r>
              <a:rPr dirty="0"/>
              <a:t> suit le changement des </a:t>
            </a:r>
            <a:r>
              <a:rPr dirty="0" err="1"/>
              <a:t>circonstances</a:t>
            </a:r>
            <a:r>
              <a:rPr dirty="0"/>
              <a:t> et doit </a:t>
            </a:r>
            <a:r>
              <a:rPr dirty="0" err="1"/>
              <a:t>tendre</a:t>
            </a:r>
            <a:r>
              <a:rPr dirty="0"/>
              <a:t> à </a:t>
            </a:r>
            <a:r>
              <a:rPr dirty="0" err="1"/>
              <a:t>l'amélioration</a:t>
            </a:r>
            <a:r>
              <a:rPr dirty="0"/>
              <a:t> des situations </a:t>
            </a:r>
            <a:r>
              <a:rPr dirty="0" err="1"/>
              <a:t>existantes</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Article L. 4121-3 du code du travail, version </a:t>
            </a:r>
            <a:r>
              <a:rPr dirty="0" err="1"/>
              <a:t>en</a:t>
            </a:r>
            <a:r>
              <a:rPr dirty="0"/>
              <a:t> </a:t>
            </a:r>
            <a:r>
              <a:rPr dirty="0" err="1"/>
              <a:t>vigueur</a:t>
            </a:r>
            <a:r>
              <a:rPr dirty="0"/>
              <a:t> </a:t>
            </a:r>
            <a:r>
              <a:rPr dirty="0" err="1"/>
              <a:t>depuis</a:t>
            </a:r>
            <a:r>
              <a:rPr dirty="0"/>
              <a:t> le 31 mars 2022, issue de la </a:t>
            </a:r>
            <a:r>
              <a:rPr dirty="0" err="1"/>
              <a:t>loi</a:t>
            </a:r>
            <a:r>
              <a:rPr dirty="0"/>
              <a:t> du 2 </a:t>
            </a:r>
            <a:r>
              <a:rPr dirty="0" err="1"/>
              <a:t>août</a:t>
            </a:r>
            <a:r>
              <a:rPr dirty="0"/>
              <a:t> 2021 pour </a:t>
            </a:r>
            <a:r>
              <a:rPr dirty="0" err="1"/>
              <a:t>renforcer</a:t>
            </a:r>
            <a:r>
              <a:rPr dirty="0"/>
              <a:t> la </a:t>
            </a:r>
            <a:r>
              <a:rPr dirty="0" err="1"/>
              <a:t>prévention</a:t>
            </a:r>
            <a:r>
              <a:rPr dirty="0"/>
              <a:t> </a:t>
            </a:r>
            <a:r>
              <a:rPr dirty="0" err="1"/>
              <a:t>en</a:t>
            </a:r>
            <a:r>
              <a:rPr dirty="0"/>
              <a:t> santé au travail.</a:t>
            </a:r>
          </a:p>
          <a:p>
            <a:r>
              <a:rPr dirty="0"/>
              <a:t>Deux apports de </a:t>
            </a:r>
            <a:r>
              <a:rPr dirty="0" err="1"/>
              <a:t>cette</a:t>
            </a:r>
            <a:r>
              <a:rPr dirty="0"/>
              <a:t> version. La </a:t>
            </a:r>
            <a:r>
              <a:rPr dirty="0" err="1"/>
              <a:t>prise</a:t>
            </a:r>
            <a:r>
              <a:rPr dirty="0"/>
              <a:t> </a:t>
            </a:r>
            <a:r>
              <a:rPr dirty="0" err="1"/>
              <a:t>en</a:t>
            </a:r>
            <a:r>
              <a:rPr dirty="0"/>
              <a:t> compte de </a:t>
            </a:r>
            <a:r>
              <a:rPr dirty="0" err="1"/>
              <a:t>l'impact</a:t>
            </a:r>
            <a:r>
              <a:rPr dirty="0"/>
              <a:t> </a:t>
            </a:r>
            <a:r>
              <a:rPr dirty="0" err="1"/>
              <a:t>différencié</a:t>
            </a:r>
            <a:r>
              <a:rPr dirty="0"/>
              <a:t> de </a:t>
            </a:r>
            <a:r>
              <a:rPr dirty="0" err="1"/>
              <a:t>l'exposition</a:t>
            </a:r>
            <a:r>
              <a:rPr dirty="0"/>
              <a:t> au </a:t>
            </a:r>
            <a:r>
              <a:rPr dirty="0" err="1"/>
              <a:t>risque</a:t>
            </a:r>
            <a:r>
              <a:rPr dirty="0"/>
              <a:t> </a:t>
            </a:r>
            <a:r>
              <a:rPr dirty="0" err="1"/>
              <a:t>en</a:t>
            </a:r>
            <a:r>
              <a:rPr dirty="0"/>
              <a:t> </a:t>
            </a:r>
            <a:r>
              <a:rPr dirty="0" err="1"/>
              <a:t>fonction</a:t>
            </a:r>
            <a:r>
              <a:rPr dirty="0"/>
              <a:t> du </a:t>
            </a:r>
            <a:r>
              <a:rPr dirty="0" err="1"/>
              <a:t>sexe</a:t>
            </a:r>
            <a:r>
              <a:rPr dirty="0"/>
              <a:t>. Et surtout la consultation </a:t>
            </a:r>
            <a:r>
              <a:rPr dirty="0" err="1"/>
              <a:t>expresse</a:t>
            </a:r>
            <a:r>
              <a:rPr dirty="0"/>
              <a:t> du </a:t>
            </a:r>
            <a:r>
              <a:rPr dirty="0" err="1"/>
              <a:t>comité</a:t>
            </a:r>
            <a:r>
              <a:rPr dirty="0"/>
              <a:t> sur le document unique et sur </a:t>
            </a:r>
            <a:r>
              <a:rPr dirty="0" err="1"/>
              <a:t>ses</a:t>
            </a:r>
            <a:r>
              <a:rPr dirty="0"/>
              <a:t> mises à jour, qui </a:t>
            </a:r>
            <a:r>
              <a:rPr dirty="0" err="1"/>
              <a:t>n'existait</a:t>
            </a:r>
            <a:r>
              <a:rPr dirty="0"/>
              <a:t> pas </a:t>
            </a:r>
            <a:r>
              <a:rPr dirty="0" err="1"/>
              <a:t>auparavant</a:t>
            </a:r>
            <a:r>
              <a:rPr dirty="0"/>
              <a:t> sous </a:t>
            </a:r>
            <a:r>
              <a:rPr dirty="0" err="1"/>
              <a:t>cette</a:t>
            </a:r>
            <a:r>
              <a:rPr dirty="0"/>
              <a:t> </a:t>
            </a:r>
            <a:r>
              <a:rPr dirty="0" err="1"/>
              <a:t>forme</a:t>
            </a:r>
            <a:r>
              <a:rPr dirty="0"/>
              <a:t>.</a:t>
            </a:r>
          </a:p>
          <a:p>
            <a:r>
              <a:rPr dirty="0" err="1"/>
              <a:t>L'article</a:t>
            </a:r>
            <a:r>
              <a:rPr dirty="0"/>
              <a:t> L. 4644-1 </a:t>
            </a:r>
            <a:r>
              <a:rPr dirty="0" err="1"/>
              <a:t>visé</a:t>
            </a:r>
            <a:r>
              <a:rPr dirty="0"/>
              <a:t> au 2° est </a:t>
            </a:r>
            <a:r>
              <a:rPr dirty="0" err="1"/>
              <a:t>celui</a:t>
            </a:r>
            <a:r>
              <a:rPr dirty="0"/>
              <a:t> du </a:t>
            </a:r>
            <a:r>
              <a:rPr dirty="0" err="1"/>
              <a:t>salarié</a:t>
            </a:r>
            <a:r>
              <a:rPr dirty="0"/>
              <a:t> </a:t>
            </a:r>
            <a:r>
              <a:rPr dirty="0" err="1"/>
              <a:t>compétent</a:t>
            </a:r>
            <a:r>
              <a:rPr dirty="0"/>
              <a:t> </a:t>
            </a:r>
            <a:r>
              <a:rPr dirty="0" err="1"/>
              <a:t>désigné</a:t>
            </a:r>
            <a:r>
              <a:rPr dirty="0"/>
              <a:t> par </a:t>
            </a:r>
            <a:r>
              <a:rPr dirty="0" err="1"/>
              <a:t>l'employeur</a:t>
            </a:r>
            <a:r>
              <a:rPr dirty="0"/>
              <a:t> pour </a:t>
            </a:r>
            <a:r>
              <a:rPr dirty="0" err="1"/>
              <a:t>s'occuper</a:t>
            </a:r>
            <a:r>
              <a:rPr dirty="0"/>
              <a:t> des </a:t>
            </a:r>
            <a:r>
              <a:rPr dirty="0" err="1"/>
              <a:t>activités</a:t>
            </a:r>
            <a:r>
              <a:rPr dirty="0"/>
              <a:t> de protection et de </a:t>
            </a:r>
            <a:r>
              <a:rPr dirty="0" err="1"/>
              <a:t>prévention</a:t>
            </a:r>
            <a:r>
              <a:rPr dirty="0"/>
              <a:t>.</a:t>
            </a:r>
          </a:p>
          <a:p>
            <a:r>
              <a:rPr dirty="0"/>
              <a:t>Ce </a:t>
            </a:r>
            <a:r>
              <a:rPr dirty="0" err="1"/>
              <a:t>que</a:t>
            </a:r>
            <a:r>
              <a:rPr dirty="0"/>
              <a:t> le 1° </a:t>
            </a:r>
            <a:r>
              <a:rPr dirty="0" err="1"/>
              <a:t>donne</a:t>
            </a:r>
            <a:r>
              <a:rPr dirty="0"/>
              <a:t> au </a:t>
            </a:r>
            <a:r>
              <a:rPr dirty="0" err="1"/>
              <a:t>comité</a:t>
            </a:r>
            <a:r>
              <a:rPr dirty="0"/>
              <a:t> : </a:t>
            </a:r>
            <a:r>
              <a:rPr dirty="0" err="1"/>
              <a:t>une</a:t>
            </a:r>
            <a:r>
              <a:rPr dirty="0"/>
              <a:t> contribution à </a:t>
            </a:r>
            <a:r>
              <a:rPr dirty="0" err="1"/>
              <a:t>l'évaluation</a:t>
            </a:r>
            <a:r>
              <a:rPr dirty="0"/>
              <a:t>, et </a:t>
            </a:r>
            <a:r>
              <a:rPr dirty="0" err="1"/>
              <a:t>une</a:t>
            </a:r>
            <a:r>
              <a:rPr dirty="0"/>
              <a:t> consultation sur le document unique </a:t>
            </a:r>
            <a:r>
              <a:rPr dirty="0" err="1"/>
              <a:t>comme</a:t>
            </a:r>
            <a:r>
              <a:rPr dirty="0"/>
              <a:t> sur </a:t>
            </a:r>
            <a:r>
              <a:rPr dirty="0" err="1"/>
              <a:t>chacune</a:t>
            </a:r>
            <a:r>
              <a:rPr dirty="0"/>
              <a:t> de </a:t>
            </a:r>
            <a:r>
              <a:rPr dirty="0" err="1"/>
              <a:t>ses</a:t>
            </a:r>
            <a:r>
              <a:rPr dirty="0"/>
              <a:t> mises à jour.</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 </a:t>
            </a:r>
            <a:r>
              <a:rPr dirty="0" err="1"/>
              <a:t>mécanisme</a:t>
            </a:r>
            <a:r>
              <a:rPr dirty="0"/>
              <a:t> </a:t>
            </a:r>
            <a:r>
              <a:rPr dirty="0" err="1"/>
              <a:t>d'apparition</a:t>
            </a:r>
            <a:r>
              <a:rPr dirty="0"/>
              <a:t> du </a:t>
            </a:r>
            <a:r>
              <a:rPr dirty="0" err="1"/>
              <a:t>dommage</a:t>
            </a:r>
            <a:r>
              <a:rPr dirty="0"/>
              <a:t> (MAD) </a:t>
            </a:r>
            <a:r>
              <a:rPr dirty="0" err="1"/>
              <a:t>enchaîne</a:t>
            </a:r>
            <a:r>
              <a:rPr dirty="0"/>
              <a:t> </a:t>
            </a:r>
            <a:r>
              <a:rPr dirty="0" err="1"/>
              <a:t>ces</a:t>
            </a:r>
            <a:r>
              <a:rPr dirty="0"/>
              <a:t> cinq </a:t>
            </a:r>
            <a:r>
              <a:rPr dirty="0" err="1"/>
              <a:t>éléments</a:t>
            </a:r>
            <a:r>
              <a:rPr dirty="0"/>
              <a:t>. </a:t>
            </a:r>
            <a:r>
              <a:rPr dirty="0" err="1"/>
              <a:t>C'est</a:t>
            </a:r>
            <a:r>
              <a:rPr dirty="0"/>
              <a:t> </a:t>
            </a:r>
            <a:r>
              <a:rPr dirty="0" err="1"/>
              <a:t>l'outil</a:t>
            </a:r>
            <a:r>
              <a:rPr dirty="0"/>
              <a:t> de la </a:t>
            </a:r>
            <a:r>
              <a:rPr dirty="0" err="1"/>
              <a:t>partie</a:t>
            </a:r>
            <a:r>
              <a:rPr dirty="0"/>
              <a:t> </a:t>
            </a:r>
            <a:r>
              <a:rPr dirty="0" err="1"/>
              <a:t>suivante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Faire le lien avec les 9 PGP : </a:t>
            </a:r>
            <a:r>
              <a:rPr dirty="0" err="1"/>
              <a:t>supprimer</a:t>
            </a:r>
            <a:r>
              <a:rPr dirty="0"/>
              <a:t> le danger = </a:t>
            </a:r>
            <a:r>
              <a:rPr dirty="0" err="1"/>
              <a:t>principe</a:t>
            </a:r>
            <a:r>
              <a:rPr dirty="0"/>
              <a:t> 1 ; </a:t>
            </a:r>
            <a:r>
              <a:rPr dirty="0" err="1"/>
              <a:t>empêcher</a:t>
            </a:r>
            <a:r>
              <a:rPr dirty="0"/>
              <a:t> </a:t>
            </a:r>
            <a:r>
              <a:rPr dirty="0" err="1"/>
              <a:t>l'exposition</a:t>
            </a:r>
            <a:r>
              <a:rPr dirty="0"/>
              <a:t> = protection collective ; </a:t>
            </a:r>
            <a:r>
              <a:rPr dirty="0" err="1"/>
              <a:t>agir</a:t>
            </a:r>
            <a:r>
              <a:rPr dirty="0"/>
              <a:t> sur le </a:t>
            </a:r>
            <a:r>
              <a:rPr dirty="0" err="1"/>
              <a:t>dommage</a:t>
            </a:r>
            <a:r>
              <a:rPr dirty="0"/>
              <a:t> = les EPI et les secours.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Prévoir</a:t>
            </a:r>
            <a:r>
              <a:rPr dirty="0"/>
              <a:t> deux photos de situation, </a:t>
            </a:r>
            <a:r>
              <a:rPr dirty="0" err="1"/>
              <a:t>une</a:t>
            </a:r>
            <a:r>
              <a:rPr dirty="0"/>
              <a:t> </a:t>
            </a:r>
            <a:r>
              <a:rPr dirty="0" err="1"/>
              <a:t>en</a:t>
            </a:r>
            <a:r>
              <a:rPr dirty="0"/>
              <a:t> atelier et </a:t>
            </a:r>
            <a:r>
              <a:rPr dirty="0" err="1"/>
              <a:t>une</a:t>
            </a:r>
            <a:r>
              <a:rPr dirty="0"/>
              <a:t> sur </a:t>
            </a:r>
            <a:r>
              <a:rPr dirty="0" err="1"/>
              <a:t>chantier</a:t>
            </a:r>
            <a:r>
              <a:rPr dirty="0"/>
              <a:t>. </a:t>
            </a:r>
            <a:r>
              <a:rPr dirty="0" err="1"/>
              <a:t>Choisir</a:t>
            </a:r>
            <a:r>
              <a:rPr dirty="0"/>
              <a:t> des images qui </a:t>
            </a:r>
            <a:r>
              <a:rPr dirty="0" err="1"/>
              <a:t>montrent</a:t>
            </a:r>
            <a:r>
              <a:rPr dirty="0"/>
              <a:t> </a:t>
            </a:r>
            <a:r>
              <a:rPr dirty="0" err="1"/>
              <a:t>une</a:t>
            </a:r>
            <a:r>
              <a:rPr dirty="0"/>
              <a:t> situation </a:t>
            </a:r>
            <a:r>
              <a:rPr dirty="0" err="1"/>
              <a:t>réellement</a:t>
            </a:r>
            <a:r>
              <a:rPr dirty="0"/>
              <a:t> </a:t>
            </a:r>
            <a:r>
              <a:rPr dirty="0" err="1"/>
              <a:t>dangereuse</a:t>
            </a:r>
            <a:r>
              <a:rPr dirty="0"/>
              <a:t> : </a:t>
            </a:r>
            <a:r>
              <a:rPr dirty="0" err="1"/>
              <a:t>c'est</a:t>
            </a:r>
            <a:r>
              <a:rPr dirty="0"/>
              <a:t> </a:t>
            </a:r>
            <a:r>
              <a:rPr dirty="0" err="1"/>
              <a:t>l'exception</a:t>
            </a:r>
            <a:r>
              <a:rPr dirty="0"/>
              <a:t> à la </a:t>
            </a:r>
            <a:r>
              <a:rPr dirty="0" err="1"/>
              <a:t>règle</a:t>
            </a:r>
            <a:r>
              <a:rPr dirty="0"/>
              <a:t> de </a:t>
            </a:r>
            <a:r>
              <a:rPr dirty="0" err="1"/>
              <a:t>charte</a:t>
            </a:r>
            <a:r>
              <a:rPr dirty="0"/>
              <a:t> sur les images, et </a:t>
            </a:r>
            <a:r>
              <a:rPr dirty="0" err="1"/>
              <a:t>elle</a:t>
            </a:r>
            <a:r>
              <a:rPr dirty="0"/>
              <a:t> doit </a:t>
            </a:r>
            <a:r>
              <a:rPr dirty="0" err="1"/>
              <a:t>être</a:t>
            </a:r>
            <a:r>
              <a:rPr dirty="0"/>
              <a:t> </a:t>
            </a:r>
            <a:r>
              <a:rPr dirty="0" err="1"/>
              <a:t>annoncée</a:t>
            </a:r>
            <a:r>
              <a:rPr dirty="0"/>
              <a:t> au </a:t>
            </a:r>
            <a:r>
              <a:rPr dirty="0" err="1"/>
              <a:t>groupe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Livraison en centre-ville, colis empilés qui masquent la vue, tranchée ouverte sur le cheminement piéton, platelage relevé et balisage qui ne ferme pas le passage.</a:t>
            </a:r>
          </a:p>
          <a:p>
            <a:r>
              <a:t>C'est son objet pédagogique.</a:t>
            </a:r>
          </a:p>
          <a:p>
            <a:r>
              <a:t>Laisser le groupe trouver seule, ne pas donner le dommage : c'est l'exercice. Faire nommer le danger, la situation dangereuse et l'événement déclencheur dans cet ordre, au tableau.</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Tronçonnage</a:t>
            </a:r>
            <a:r>
              <a:rPr dirty="0"/>
              <a:t> </a:t>
            </a:r>
            <a:r>
              <a:rPr dirty="0" err="1"/>
              <a:t>en</a:t>
            </a:r>
            <a:r>
              <a:rPr dirty="0"/>
              <a:t> atelier : la </a:t>
            </a:r>
            <a:r>
              <a:rPr dirty="0" err="1"/>
              <a:t>gerbe</a:t>
            </a:r>
            <a:r>
              <a:rPr dirty="0"/>
              <a:t> </a:t>
            </a:r>
            <a:r>
              <a:rPr dirty="0" err="1"/>
              <a:t>d'étincelles</a:t>
            </a:r>
            <a:r>
              <a:rPr dirty="0"/>
              <a:t> est </a:t>
            </a:r>
            <a:r>
              <a:rPr dirty="0" err="1"/>
              <a:t>dirigée</a:t>
            </a:r>
            <a:r>
              <a:rPr dirty="0"/>
              <a:t> vers un chariot </a:t>
            </a:r>
            <a:r>
              <a:rPr dirty="0" err="1"/>
              <a:t>porte-bouteilles</a:t>
            </a:r>
            <a:r>
              <a:rPr dirty="0"/>
              <a:t> </a:t>
            </a:r>
            <a:r>
              <a:rPr dirty="0" err="1"/>
              <a:t>d'oxygène</a:t>
            </a:r>
            <a:r>
              <a:rPr dirty="0"/>
              <a:t> et </a:t>
            </a:r>
            <a:r>
              <a:rPr dirty="0" err="1"/>
              <a:t>d'acétylène</a:t>
            </a:r>
            <a:r>
              <a:rPr dirty="0"/>
              <a:t>, à </a:t>
            </a:r>
            <a:r>
              <a:rPr dirty="0" err="1"/>
              <a:t>moins</a:t>
            </a:r>
            <a:r>
              <a:rPr dirty="0"/>
              <a:t> de deux </a:t>
            </a:r>
            <a:r>
              <a:rPr dirty="0" err="1"/>
              <a:t>mètres</a:t>
            </a:r>
            <a:r>
              <a:rPr dirty="0"/>
              <a:t>. Ni </a:t>
            </a:r>
            <a:r>
              <a:rPr dirty="0" err="1"/>
              <a:t>écran</a:t>
            </a:r>
            <a:r>
              <a:rPr dirty="0"/>
              <a:t> facial, </a:t>
            </a:r>
            <a:r>
              <a:rPr dirty="0" err="1"/>
              <a:t>ni</a:t>
            </a:r>
            <a:r>
              <a:rPr dirty="0"/>
              <a:t> </a:t>
            </a:r>
            <a:r>
              <a:rPr dirty="0" err="1"/>
              <a:t>gants</a:t>
            </a:r>
            <a:r>
              <a:rPr dirty="0"/>
              <a:t>, </a:t>
            </a:r>
            <a:r>
              <a:rPr dirty="0" err="1"/>
              <a:t>ni</a:t>
            </a:r>
            <a:r>
              <a:rPr dirty="0"/>
              <a:t> protection auditive.</a:t>
            </a:r>
          </a:p>
          <a:p>
            <a:r>
              <a:rPr dirty="0" err="1"/>
              <a:t>C'est</a:t>
            </a:r>
            <a:r>
              <a:rPr dirty="0"/>
              <a:t> son </a:t>
            </a:r>
            <a:r>
              <a:rPr dirty="0" err="1"/>
              <a:t>objet</a:t>
            </a:r>
            <a:r>
              <a:rPr dirty="0"/>
              <a:t> </a:t>
            </a:r>
            <a:r>
              <a:rPr dirty="0" err="1"/>
              <a:t>pédagogique</a:t>
            </a:r>
            <a:r>
              <a:rPr dirty="0"/>
              <a:t>.</a:t>
            </a:r>
          </a:p>
          <a:p>
            <a:r>
              <a:rPr dirty="0"/>
              <a:t>Laisser le </a:t>
            </a:r>
            <a:r>
              <a:rPr dirty="0" err="1"/>
              <a:t>groupe</a:t>
            </a:r>
            <a:r>
              <a:rPr dirty="0"/>
              <a:t> </a:t>
            </a:r>
            <a:r>
              <a:rPr dirty="0" err="1"/>
              <a:t>trouver</a:t>
            </a:r>
            <a:r>
              <a:rPr dirty="0"/>
              <a:t> </a:t>
            </a:r>
            <a:r>
              <a:rPr dirty="0" err="1"/>
              <a:t>seule</a:t>
            </a:r>
            <a:r>
              <a:rPr dirty="0"/>
              <a:t>, ne pas donner le </a:t>
            </a:r>
            <a:r>
              <a:rPr dirty="0" err="1"/>
              <a:t>dommage</a:t>
            </a:r>
            <a:r>
              <a:rPr dirty="0"/>
              <a:t> : </a:t>
            </a:r>
            <a:r>
              <a:rPr dirty="0" err="1"/>
              <a:t>c'est</a:t>
            </a:r>
            <a:r>
              <a:rPr dirty="0"/>
              <a:t> </a:t>
            </a:r>
            <a:r>
              <a:rPr dirty="0" err="1"/>
              <a:t>l'exercice</a:t>
            </a:r>
            <a:r>
              <a:rPr dirty="0"/>
              <a:t>. Faire </a:t>
            </a:r>
            <a:r>
              <a:rPr dirty="0" err="1"/>
              <a:t>nommer</a:t>
            </a:r>
            <a:r>
              <a:rPr dirty="0"/>
              <a:t> le danger, la situation </a:t>
            </a:r>
            <a:r>
              <a:rPr dirty="0" err="1"/>
              <a:t>dangereuse</a:t>
            </a:r>
            <a:r>
              <a:rPr dirty="0"/>
              <a:t> et </a:t>
            </a:r>
            <a:r>
              <a:rPr dirty="0" err="1"/>
              <a:t>l'événement</a:t>
            </a:r>
            <a:r>
              <a:rPr dirty="0"/>
              <a:t> </a:t>
            </a:r>
            <a:r>
              <a:rPr dirty="0" err="1"/>
              <a:t>déclencheur</a:t>
            </a:r>
            <a:r>
              <a:rPr dirty="0"/>
              <a:t> dans </a:t>
            </a:r>
            <a:r>
              <a:rPr dirty="0" err="1"/>
              <a:t>cet</a:t>
            </a:r>
            <a:r>
              <a:rPr dirty="0"/>
              <a:t> </a:t>
            </a:r>
            <a:r>
              <a:rPr dirty="0" err="1"/>
              <a:t>ordre</a:t>
            </a:r>
            <a:r>
              <a:rPr dirty="0"/>
              <a:t>, au tableau.</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La </a:t>
            </a:r>
            <a:r>
              <a:rPr dirty="0" err="1"/>
              <a:t>présomption</a:t>
            </a:r>
            <a:r>
              <a:rPr dirty="0"/>
              <a:t> est </a:t>
            </a:r>
            <a:r>
              <a:rPr dirty="0" err="1"/>
              <a:t>une</a:t>
            </a:r>
            <a:r>
              <a:rPr dirty="0"/>
              <a:t> arme pour le </a:t>
            </a:r>
            <a:r>
              <a:rPr dirty="0" err="1"/>
              <a:t>salarié</a:t>
            </a:r>
            <a:r>
              <a:rPr dirty="0"/>
              <a:t> : </a:t>
            </a:r>
            <a:r>
              <a:rPr dirty="0" err="1"/>
              <a:t>c'est</a:t>
            </a:r>
            <a:r>
              <a:rPr dirty="0"/>
              <a:t> à </a:t>
            </a:r>
            <a:r>
              <a:rPr dirty="0" err="1"/>
              <a:t>l'employeur</a:t>
            </a:r>
            <a:r>
              <a:rPr dirty="0"/>
              <a:t> </a:t>
            </a:r>
            <a:r>
              <a:rPr dirty="0" err="1"/>
              <a:t>ou</a:t>
            </a:r>
            <a:r>
              <a:rPr dirty="0"/>
              <a:t> à la </a:t>
            </a:r>
            <a:r>
              <a:rPr dirty="0" err="1"/>
              <a:t>caisse</a:t>
            </a:r>
            <a:r>
              <a:rPr dirty="0"/>
              <a:t> de </a:t>
            </a:r>
            <a:r>
              <a:rPr dirty="0" err="1"/>
              <a:t>démontrer</a:t>
            </a:r>
            <a:r>
              <a:rPr dirty="0"/>
              <a:t> le contraire, pas au </a:t>
            </a:r>
            <a:r>
              <a:rPr dirty="0" err="1"/>
              <a:t>salarié</a:t>
            </a:r>
            <a:r>
              <a:rPr dirty="0"/>
              <a:t> de </a:t>
            </a:r>
            <a:r>
              <a:rPr dirty="0" err="1"/>
              <a:t>prouver</a:t>
            </a:r>
            <a:r>
              <a:rPr dirty="0"/>
              <a:t> le lien.</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Annoncer</a:t>
            </a:r>
            <a:r>
              <a:rPr dirty="0"/>
              <a:t> les quatre, </a:t>
            </a:r>
            <a:r>
              <a:rPr dirty="0" err="1"/>
              <a:t>puis</a:t>
            </a:r>
            <a:r>
              <a:rPr dirty="0"/>
              <a:t> les </a:t>
            </a:r>
            <a:r>
              <a:rPr dirty="0" err="1"/>
              <a:t>traiter</a:t>
            </a:r>
            <a:r>
              <a:rPr dirty="0"/>
              <a:t> un par un. La distinction entre les </a:t>
            </a:r>
            <a:r>
              <a:rPr dirty="0" err="1"/>
              <a:t>niveaux</a:t>
            </a:r>
            <a:r>
              <a:rPr dirty="0"/>
              <a:t> 1 et 2 est </a:t>
            </a:r>
            <a:r>
              <a:rPr dirty="0" err="1"/>
              <a:t>celle</a:t>
            </a:r>
            <a:r>
              <a:rPr dirty="0"/>
              <a:t> qui se </a:t>
            </a:r>
            <a:r>
              <a:rPr dirty="0" err="1"/>
              <a:t>joue</a:t>
            </a:r>
            <a:r>
              <a:rPr dirty="0"/>
              <a:t> le plus </a:t>
            </a:r>
            <a:r>
              <a:rPr dirty="0" err="1"/>
              <a:t>souvent</a:t>
            </a:r>
            <a:r>
              <a:rPr dirty="0"/>
              <a:t> au </a:t>
            </a:r>
            <a:r>
              <a:rPr dirty="0" err="1"/>
              <a:t>détriment</a:t>
            </a:r>
            <a:r>
              <a:rPr dirty="0"/>
              <a:t> du </a:t>
            </a:r>
            <a:r>
              <a:rPr dirty="0" err="1"/>
              <a:t>salarié</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À </a:t>
            </a:r>
            <a:r>
              <a:rPr dirty="0" err="1"/>
              <a:t>retenir</a:t>
            </a:r>
            <a:r>
              <a:rPr dirty="0"/>
              <a:t> à faire noter : demander la </a:t>
            </a:r>
            <a:r>
              <a:rPr dirty="0" err="1"/>
              <a:t>copie</a:t>
            </a:r>
            <a:r>
              <a:rPr dirty="0"/>
              <a:t> de la </a:t>
            </a:r>
            <a:r>
              <a:rPr dirty="0" err="1"/>
              <a:t>déclaration</a:t>
            </a:r>
            <a:r>
              <a:rPr dirty="0"/>
              <a:t> </a:t>
            </a:r>
            <a:r>
              <a:rPr dirty="0" err="1"/>
              <a:t>d'accident</a:t>
            </a:r>
            <a:r>
              <a:rPr dirty="0"/>
              <a:t> du travail et </a:t>
            </a:r>
            <a:r>
              <a:rPr dirty="0" err="1"/>
              <a:t>vérifier</a:t>
            </a:r>
            <a:r>
              <a:rPr dirty="0"/>
              <a:t> les </a:t>
            </a:r>
            <a:r>
              <a:rPr dirty="0" err="1"/>
              <a:t>réserves</a:t>
            </a:r>
            <a:r>
              <a:rPr dirty="0"/>
              <a:t> </a:t>
            </a:r>
            <a:r>
              <a:rPr dirty="0" err="1"/>
              <a:t>émises</a:t>
            </a:r>
            <a:r>
              <a:rPr dirty="0"/>
              <a:t> par </a:t>
            </a:r>
            <a:r>
              <a:rPr dirty="0" err="1"/>
              <a:t>l'employeur</a:t>
            </a:r>
            <a:r>
              <a:rPr dirty="0"/>
              <a:t>, </a:t>
            </a:r>
            <a:r>
              <a:rPr dirty="0" err="1"/>
              <a:t>elles</a:t>
            </a:r>
            <a:r>
              <a:rPr dirty="0"/>
              <a:t> </a:t>
            </a:r>
            <a:r>
              <a:rPr dirty="0" err="1"/>
              <a:t>conditionnent</a:t>
            </a:r>
            <a:r>
              <a:rPr dirty="0"/>
              <a:t> </a:t>
            </a:r>
            <a:r>
              <a:rPr dirty="0" err="1"/>
              <a:t>l'instruction</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 </a:t>
            </a:r>
            <a:r>
              <a:rPr dirty="0" err="1"/>
              <a:t>taux</a:t>
            </a:r>
            <a:r>
              <a:rPr dirty="0"/>
              <a:t> de </a:t>
            </a:r>
            <a:r>
              <a:rPr dirty="0" err="1"/>
              <a:t>fréquence</a:t>
            </a:r>
            <a:r>
              <a:rPr dirty="0"/>
              <a:t> interne est </a:t>
            </a:r>
            <a:r>
              <a:rPr dirty="0" err="1"/>
              <a:t>l'une</a:t>
            </a:r>
            <a:r>
              <a:rPr dirty="0"/>
              <a:t> des propositions les plus </a:t>
            </a:r>
            <a:r>
              <a:rPr dirty="0" err="1"/>
              <a:t>utiles</a:t>
            </a:r>
            <a:r>
              <a:rPr dirty="0"/>
              <a:t> </a:t>
            </a:r>
            <a:r>
              <a:rPr dirty="0" err="1"/>
              <a:t>qu'un</a:t>
            </a:r>
            <a:r>
              <a:rPr dirty="0"/>
              <a:t> CSE </a:t>
            </a:r>
            <a:r>
              <a:rPr dirty="0" err="1"/>
              <a:t>puisse</a:t>
            </a:r>
            <a:r>
              <a:rPr dirty="0"/>
              <a:t> porter. La faire noter par les participants.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Beaucoup </a:t>
            </a:r>
            <a:r>
              <a:rPr dirty="0" err="1"/>
              <a:t>d'entreprises</a:t>
            </a:r>
            <a:r>
              <a:rPr dirty="0"/>
              <a:t> </a:t>
            </a:r>
            <a:r>
              <a:rPr dirty="0" err="1"/>
              <a:t>tiennent</a:t>
            </a:r>
            <a:r>
              <a:rPr dirty="0"/>
              <a:t> un « cahier </a:t>
            </a:r>
            <a:r>
              <a:rPr dirty="0" err="1"/>
              <a:t>d'infirmerie</a:t>
            </a:r>
            <a:r>
              <a:rPr dirty="0"/>
              <a:t> » sans </a:t>
            </a:r>
            <a:r>
              <a:rPr dirty="0" err="1"/>
              <a:t>autorisation</a:t>
            </a:r>
            <a:r>
              <a:rPr dirty="0"/>
              <a:t> </a:t>
            </a:r>
            <a:r>
              <a:rPr dirty="0" err="1"/>
              <a:t>ni</a:t>
            </a:r>
            <a:r>
              <a:rPr dirty="0"/>
              <a:t> information du CSE : </a:t>
            </a:r>
            <a:r>
              <a:rPr dirty="0" err="1"/>
              <a:t>ce</a:t>
            </a:r>
            <a:r>
              <a:rPr dirty="0"/>
              <a:t> </a:t>
            </a:r>
            <a:r>
              <a:rPr dirty="0" err="1"/>
              <a:t>n'est</a:t>
            </a:r>
            <a:r>
              <a:rPr dirty="0"/>
              <a:t> pas un </a:t>
            </a:r>
            <a:r>
              <a:rPr dirty="0" err="1"/>
              <a:t>registre</a:t>
            </a:r>
            <a:r>
              <a:rPr dirty="0"/>
              <a:t> des accidents </a:t>
            </a:r>
            <a:r>
              <a:rPr dirty="0" err="1"/>
              <a:t>bénins</a:t>
            </a:r>
            <a:r>
              <a:rPr dirty="0"/>
              <a:t>, et </a:t>
            </a:r>
            <a:r>
              <a:rPr dirty="0" err="1"/>
              <a:t>cela</a:t>
            </a:r>
            <a:r>
              <a:rPr dirty="0"/>
              <a:t> </a:t>
            </a:r>
            <a:r>
              <a:rPr dirty="0" err="1"/>
              <a:t>peut</a:t>
            </a:r>
            <a:r>
              <a:rPr dirty="0"/>
              <a:t> </a:t>
            </a:r>
            <a:r>
              <a:rPr dirty="0" err="1"/>
              <a:t>priver</a:t>
            </a:r>
            <a:r>
              <a:rPr dirty="0"/>
              <a:t> un </a:t>
            </a:r>
            <a:r>
              <a:rPr dirty="0" err="1"/>
              <a:t>salarié</a:t>
            </a:r>
            <a:r>
              <a:rPr dirty="0"/>
              <a:t> de </a:t>
            </a:r>
            <a:r>
              <a:rPr dirty="0" err="1"/>
              <a:t>ses</a:t>
            </a:r>
            <a:r>
              <a:rPr dirty="0"/>
              <a:t> droits.</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Renvoyer</a:t>
            </a:r>
            <a:r>
              <a:rPr dirty="0"/>
              <a:t> à la fiche service-</a:t>
            </a:r>
            <a:r>
              <a:rPr dirty="0" err="1"/>
              <a:t>public.fr</a:t>
            </a:r>
            <a:r>
              <a:rPr dirty="0"/>
              <a:t> sur </a:t>
            </a:r>
            <a:r>
              <a:rPr dirty="0" err="1"/>
              <a:t>l'accident</a:t>
            </a:r>
            <a:r>
              <a:rPr dirty="0"/>
              <a:t> de </a:t>
            </a:r>
            <a:r>
              <a:rPr dirty="0" err="1"/>
              <a:t>trajet</a:t>
            </a:r>
            <a:r>
              <a:rPr dirty="0"/>
              <a:t>. Si </a:t>
            </a:r>
            <a:r>
              <a:rPr dirty="0" err="1"/>
              <a:t>l'entreprise</a:t>
            </a:r>
            <a:r>
              <a:rPr dirty="0"/>
              <a:t> a des </a:t>
            </a:r>
            <a:r>
              <a:rPr dirty="0" err="1"/>
              <a:t>salariés</a:t>
            </a:r>
            <a:r>
              <a:rPr dirty="0"/>
              <a:t> </a:t>
            </a:r>
            <a:r>
              <a:rPr dirty="0" err="1"/>
              <a:t>itinérants</a:t>
            </a:r>
            <a:r>
              <a:rPr dirty="0"/>
              <a:t>, </a:t>
            </a:r>
            <a:r>
              <a:rPr dirty="0" err="1"/>
              <a:t>c'est</a:t>
            </a:r>
            <a:r>
              <a:rPr dirty="0"/>
              <a:t> le moment de proposer </a:t>
            </a:r>
            <a:r>
              <a:rPr dirty="0" err="1"/>
              <a:t>une</a:t>
            </a:r>
            <a:r>
              <a:rPr dirty="0"/>
              <a:t> action sur le </a:t>
            </a:r>
            <a:r>
              <a:rPr dirty="0" err="1"/>
              <a:t>risque</a:t>
            </a:r>
            <a:r>
              <a:rPr dirty="0"/>
              <a:t> </a:t>
            </a:r>
            <a:r>
              <a:rPr dirty="0" err="1"/>
              <a:t>routier</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Un TF qui </a:t>
            </a:r>
            <a:r>
              <a:rPr dirty="0" err="1"/>
              <a:t>baisse</a:t>
            </a:r>
            <a:r>
              <a:rPr dirty="0"/>
              <a:t> pendant </a:t>
            </a:r>
            <a:r>
              <a:rPr dirty="0" err="1"/>
              <a:t>que</a:t>
            </a:r>
            <a:r>
              <a:rPr dirty="0"/>
              <a:t> le TG monte </a:t>
            </a:r>
            <a:r>
              <a:rPr dirty="0" err="1"/>
              <a:t>signale</a:t>
            </a:r>
            <a:r>
              <a:rPr dirty="0"/>
              <a:t> </a:t>
            </a:r>
            <a:r>
              <a:rPr dirty="0" err="1"/>
              <a:t>que</a:t>
            </a:r>
            <a:r>
              <a:rPr dirty="0"/>
              <a:t> les accidents </a:t>
            </a:r>
            <a:r>
              <a:rPr dirty="0" err="1"/>
              <a:t>sont</a:t>
            </a:r>
            <a:r>
              <a:rPr dirty="0"/>
              <a:t> </a:t>
            </a:r>
            <a:r>
              <a:rPr dirty="0" err="1"/>
              <a:t>moins</a:t>
            </a:r>
            <a:r>
              <a:rPr dirty="0"/>
              <a:t> </a:t>
            </a:r>
            <a:r>
              <a:rPr dirty="0" err="1"/>
              <a:t>nombreux</a:t>
            </a:r>
            <a:r>
              <a:rPr dirty="0"/>
              <a:t> </a:t>
            </a:r>
            <a:r>
              <a:rPr dirty="0" err="1"/>
              <a:t>mais</a:t>
            </a:r>
            <a:r>
              <a:rPr dirty="0"/>
              <a:t> plus graves. </a:t>
            </a:r>
            <a:r>
              <a:rPr dirty="0" err="1"/>
              <a:t>C'est</a:t>
            </a:r>
            <a:r>
              <a:rPr dirty="0"/>
              <a:t> le genre de lecture </a:t>
            </a:r>
            <a:r>
              <a:rPr dirty="0" err="1"/>
              <a:t>qu'un</a:t>
            </a:r>
            <a:r>
              <a:rPr dirty="0"/>
              <a:t> </a:t>
            </a:r>
            <a:r>
              <a:rPr dirty="0" err="1"/>
              <a:t>élu</a:t>
            </a:r>
            <a:r>
              <a:rPr dirty="0"/>
              <a:t> </a:t>
            </a:r>
            <a:r>
              <a:rPr dirty="0" err="1"/>
              <a:t>formé</a:t>
            </a:r>
            <a:r>
              <a:rPr dirty="0"/>
              <a:t> </a:t>
            </a:r>
            <a:r>
              <a:rPr dirty="0" err="1"/>
              <a:t>apporte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Vérifier</a:t>
            </a:r>
            <a:r>
              <a:rPr dirty="0"/>
              <a:t> avant </a:t>
            </a:r>
            <a:r>
              <a:rPr dirty="0" err="1"/>
              <a:t>chaque</a:t>
            </a:r>
            <a:r>
              <a:rPr dirty="0"/>
              <a:t> session le </a:t>
            </a:r>
            <a:r>
              <a:rPr dirty="0" err="1"/>
              <a:t>nombre</a:t>
            </a:r>
            <a:r>
              <a:rPr dirty="0"/>
              <a:t> de tableaux </a:t>
            </a:r>
            <a:r>
              <a:rPr dirty="0" err="1"/>
              <a:t>en</a:t>
            </a:r>
            <a:r>
              <a:rPr dirty="0"/>
              <a:t> </a:t>
            </a:r>
            <a:r>
              <a:rPr dirty="0" err="1"/>
              <a:t>vigueur</a:t>
            </a:r>
            <a:r>
              <a:rPr dirty="0"/>
              <a:t> : il </a:t>
            </a:r>
            <a:r>
              <a:rPr dirty="0" err="1"/>
              <a:t>évolue</a:t>
            </a:r>
            <a:r>
              <a:rPr dirty="0"/>
              <a:t>. Article </a:t>
            </a:r>
            <a:r>
              <a:rPr dirty="0" err="1"/>
              <a:t>en</a:t>
            </a:r>
            <a:r>
              <a:rPr dirty="0"/>
              <a:t> abrogation </a:t>
            </a:r>
            <a:r>
              <a:rPr dirty="0" err="1"/>
              <a:t>différée</a:t>
            </a:r>
            <a:r>
              <a:rPr dirty="0"/>
              <a:t> au 30 </a:t>
            </a:r>
            <a:r>
              <a:rPr dirty="0" err="1"/>
              <a:t>septembre</a:t>
            </a:r>
            <a:r>
              <a:rPr dirty="0"/>
              <a:t> 2026, à </a:t>
            </a:r>
            <a:r>
              <a:rPr dirty="0" err="1"/>
              <a:t>réactualiser</a:t>
            </a:r>
            <a:r>
              <a:rPr dirty="0"/>
              <a:t>.</a:t>
            </a:r>
          </a:p>
          <a:p>
            <a:r>
              <a:rPr dirty="0"/>
              <a:t>⚠ Abrogation </a:t>
            </a:r>
            <a:r>
              <a:rPr dirty="0" err="1"/>
              <a:t>différée</a:t>
            </a:r>
            <a:r>
              <a:rPr dirty="0"/>
              <a:t> au 30 </a:t>
            </a:r>
            <a:r>
              <a:rPr dirty="0" err="1"/>
              <a:t>septembre</a:t>
            </a:r>
            <a:r>
              <a:rPr dirty="0"/>
              <a:t> 2026 : à </a:t>
            </a:r>
            <a:r>
              <a:rPr dirty="0" err="1"/>
              <a:t>réactualiser</a:t>
            </a:r>
            <a:r>
              <a:rPr dirty="0"/>
              <a:t> avant toute rediffusion </a:t>
            </a:r>
            <a:r>
              <a:rPr dirty="0" err="1"/>
              <a:t>postérieure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Faire </a:t>
            </a:r>
            <a:r>
              <a:rPr dirty="0" err="1"/>
              <a:t>remarquer</a:t>
            </a:r>
            <a:r>
              <a:rPr dirty="0"/>
              <a:t> la </a:t>
            </a:r>
            <a:r>
              <a:rPr dirty="0" err="1"/>
              <a:t>précision</a:t>
            </a:r>
            <a:r>
              <a:rPr dirty="0"/>
              <a:t> des angles et des </a:t>
            </a:r>
            <a:r>
              <a:rPr dirty="0" err="1"/>
              <a:t>durées</a:t>
            </a:r>
            <a:r>
              <a:rPr dirty="0"/>
              <a:t>. </a:t>
            </a:r>
            <a:r>
              <a:rPr dirty="0" err="1"/>
              <a:t>C'est</a:t>
            </a:r>
            <a:r>
              <a:rPr dirty="0"/>
              <a:t> </a:t>
            </a:r>
            <a:r>
              <a:rPr dirty="0" err="1"/>
              <a:t>ce</a:t>
            </a:r>
            <a:r>
              <a:rPr dirty="0"/>
              <a:t> </a:t>
            </a:r>
            <a:r>
              <a:rPr dirty="0" err="1"/>
              <a:t>niveau</a:t>
            </a:r>
            <a:r>
              <a:rPr dirty="0"/>
              <a:t> de </a:t>
            </a:r>
            <a:r>
              <a:rPr dirty="0" err="1"/>
              <a:t>détail</a:t>
            </a:r>
            <a:r>
              <a:rPr dirty="0"/>
              <a:t> </a:t>
            </a:r>
            <a:r>
              <a:rPr dirty="0" err="1"/>
              <a:t>que</a:t>
            </a:r>
            <a:r>
              <a:rPr dirty="0"/>
              <a:t> </a:t>
            </a:r>
            <a:r>
              <a:rPr dirty="0" err="1"/>
              <a:t>l'analyse</a:t>
            </a:r>
            <a:r>
              <a:rPr dirty="0"/>
              <a:t> de poste doit </a:t>
            </a:r>
            <a:r>
              <a:rPr dirty="0" err="1"/>
              <a:t>atteindre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Sujet</a:t>
            </a:r>
            <a:r>
              <a:rPr dirty="0"/>
              <a:t> sensible </a:t>
            </a:r>
            <a:r>
              <a:rPr dirty="0" err="1"/>
              <a:t>en</a:t>
            </a:r>
            <a:r>
              <a:rPr dirty="0"/>
              <a:t> salle : ne pas </a:t>
            </a:r>
            <a:r>
              <a:rPr dirty="0" err="1"/>
              <a:t>laisser</a:t>
            </a:r>
            <a:r>
              <a:rPr dirty="0"/>
              <a:t> </a:t>
            </a:r>
            <a:r>
              <a:rPr dirty="0" err="1"/>
              <a:t>croire</a:t>
            </a:r>
            <a:r>
              <a:rPr dirty="0"/>
              <a:t> </a:t>
            </a:r>
            <a:r>
              <a:rPr dirty="0" err="1"/>
              <a:t>qu'un</a:t>
            </a:r>
            <a:r>
              <a:rPr dirty="0"/>
              <a:t> burn-out sera </a:t>
            </a:r>
            <a:r>
              <a:rPr dirty="0" err="1"/>
              <a:t>facilement</a:t>
            </a:r>
            <a:r>
              <a:rPr dirty="0"/>
              <a:t> </a:t>
            </a:r>
            <a:r>
              <a:rPr dirty="0" err="1"/>
              <a:t>reconnu</a:t>
            </a:r>
            <a:r>
              <a:rPr dirty="0"/>
              <a:t>. Dire le </a:t>
            </a:r>
            <a:r>
              <a:rPr dirty="0" err="1"/>
              <a:t>verrou</a:t>
            </a:r>
            <a:r>
              <a:rPr dirty="0"/>
              <a:t> des 25 % et </a:t>
            </a:r>
            <a:r>
              <a:rPr dirty="0" err="1"/>
              <a:t>l'expliquer</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a:t>
            </a:r>
            <a:r>
              <a:rPr dirty="0" err="1"/>
              <a:t>Aurait</a:t>
            </a:r>
            <a:r>
              <a:rPr dirty="0"/>
              <a:t> </a:t>
            </a:r>
            <a:r>
              <a:rPr dirty="0" err="1"/>
              <a:t>dû</a:t>
            </a:r>
            <a:r>
              <a:rPr dirty="0"/>
              <a:t> </a:t>
            </a:r>
            <a:r>
              <a:rPr dirty="0" err="1"/>
              <a:t>avoir</a:t>
            </a:r>
            <a:r>
              <a:rPr dirty="0"/>
              <a:t> conscience » est </a:t>
            </a:r>
            <a:r>
              <a:rPr dirty="0" err="1"/>
              <a:t>décisif</a:t>
            </a:r>
            <a:r>
              <a:rPr dirty="0"/>
              <a:t> : </a:t>
            </a:r>
            <a:r>
              <a:rPr dirty="0" err="1"/>
              <a:t>l'ignorance</a:t>
            </a:r>
            <a:r>
              <a:rPr dirty="0"/>
              <a:t> </a:t>
            </a:r>
            <a:r>
              <a:rPr dirty="0" err="1"/>
              <a:t>n'excuse</a:t>
            </a:r>
            <a:r>
              <a:rPr dirty="0"/>
              <a:t> pas </a:t>
            </a:r>
            <a:r>
              <a:rPr dirty="0" err="1"/>
              <a:t>si</a:t>
            </a:r>
            <a:r>
              <a:rPr dirty="0"/>
              <a:t> le danger </a:t>
            </a:r>
            <a:r>
              <a:rPr dirty="0" err="1"/>
              <a:t>était</a:t>
            </a:r>
            <a:r>
              <a:rPr dirty="0"/>
              <a:t> </a:t>
            </a:r>
            <a:r>
              <a:rPr dirty="0" err="1"/>
              <a:t>documenté</a:t>
            </a:r>
            <a:r>
              <a:rPr dirty="0"/>
              <a:t>, </a:t>
            </a:r>
            <a:r>
              <a:rPr dirty="0" err="1"/>
              <a:t>d'où</a:t>
            </a:r>
            <a:r>
              <a:rPr dirty="0"/>
              <a:t> </a:t>
            </a:r>
            <a:r>
              <a:rPr dirty="0" err="1"/>
              <a:t>l'importance</a:t>
            </a:r>
            <a:r>
              <a:rPr dirty="0"/>
              <a:t> du DUERP </a:t>
            </a:r>
            <a:r>
              <a:rPr dirty="0" err="1"/>
              <a:t>comme</a:t>
            </a:r>
            <a:r>
              <a:rPr dirty="0"/>
              <a:t> </a:t>
            </a:r>
            <a:r>
              <a:rPr dirty="0" err="1"/>
              <a:t>preuve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délai de deux ans est le piège principal. Le rappeler systématiquement à un élu qui accompagne un salarié.</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deuxième cas est le plus opérationnel : chaque signalement écrit du CSE devient une présomption de faute inexcusable. Le dire aux élus change leur pratique.</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Argument utile face à un salarié qui hésite à engager la procédure par crainte des délais.</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3 960 € ÷ 12 = 330 €. Les trois articles cités sont en abrogation différée au 1ᵉʳ novembre 2026, réforme de l'indemnisation AT/MP : vérifier avant chaque session.</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voter à main levée avant de révéler. La réponse B est celle qui recueille le plus de voix, c'est l'intérêt de la question.</a:t>
            </a:r>
          </a:p>
          <a:p>
            <a:r>
              <a:t>Réponse : A : la présomption joue dès lors que l'accident survient dans les locaux de l'entreprise, même pendant un temps de pause. C'est à celui qui la conteste d'apporter la preuve contraire.</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Beaucoup d'élus pensent que le médecin du travail « travaille pour la direction ». Rappeler son indépendance et son obligation de conseil envers les représentants du personnel.</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moyens d'action comparés. La majoration de cotisation de la Carsat est la seule sanction financière directe : + 25 % minimum après injonction non suivie, portée à + 50 % après six mois et + 200 % au bout d'un an.</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Réserve de date : les plafonds sont annoncés jusqu'en 2027, rien n'est publié pour l'après-2027. Une clause de revoyure était prévue au plus tard en juin 2026 : revérifier avant toute session de 2027.</a:t>
            </a:r>
          </a:p>
          <a:p>
            <a:r>
              <a:t>Au-delà de 23 000 € de subventions cumulées sur douze mois glissants, une convention avec la Carsat est nécessaire, avec un formalisme plus lourd.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Montrer en session la page d'accueil de l'INRS et la recherche par risque. C'est l'outil que les élus utiliseront le plus.</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Prévoir une connexion et deux ou trois postes. Si l'accès Internet est incertain, télécharger à l'avance les brochures ED 6161, ED 924 et ED 6384.</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lever la main : « qui a déjà consulté le DUERP de son entreprise ? ». Le résultat lance bien la partie.</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Application effective au 31 mars 2022. Les quarante ans changent la nature du document : il devient une pièce de traçabilité individuelle, opposable des décennies plus tard.</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L'unité de travail est souvent trop large : un DUERP à trois unités pour 200 salariés ne peut pas refléter le réel. C'est un point de contestation légitime.</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troisième cas est le plus opérationnel pour un élu : chaque signalement écrit déclenche une obligation de mise à jour.</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Insister : la cotation ne sert pas à classer pour classer, mais à décider par quoi commencer. Un DUERP sans plan d'action priorisé est incomplet.</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C'est le point méthodologique le plus important de la séquence : si on mélange le brut et le résiduel dès la première colonne, toute la comparaison d'une année sur l'autre s'effondre.</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Une échelle linéaire (1 à 5) écrase les écarts. Le doublement est ce qui fait remonter les vrais sujets en tête de hiérarchisation.</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Erreur classique en CSSCT : coter le scénario catastrophe systématiquement. La cotation perd alors tout pouvoir de hiérarchisation.</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Écrire la formule au tableau : niveau de risque = (fréquence × gravité) ÷ (type × efficacité). C'est ce calcul que les élus doivent savoir refaire.</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masque blanc cache les cinq dernières colonnes. Il est fixe sur cette planche : on ne révèle rien ici.</a:t>
            </a:r>
          </a:p>
          <a:p>
            <a:r>
              <a:t>Faire constater : fréquence 16, gravité 8, criticité 128 pour la souris comme pour le siège. Le tableau ne départage pas.</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 jamais montrer le second sans avoir montré celui-ci.</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Deux échelles seulement. Le type de moyens se lit sur le papier ; l'efficacité se constate sur le terrain, c'est précisément ce que l'inspection CSSCT permet de vérifier.</a:t>
            </a:r>
          </a:p>
          <a:p>
            <a:r>
              <a:t>Niveau de protection = type de moyens × efficacité. Risque résiduel = criticité ÷ niveau de protection.</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Déroulé : poser la question, laisser répondre, cliquer, puis faire lire les deux résiduels. 128 pour les deux au départ, 32 contre 21,3 à l'arrivée : le résiduel désigne tout seul le poste sur lequel porter l'effort.</a:t>
            </a:r>
          </a:p>
          <a:p>
            <a:r>
              <a:t>Et le calcul se vérifie à voix haute : 128 ÷ (2 × 2) = 32, 128 ÷ (3 × 2) = 21,3, 64 ÷ (3 × 3) = 7,1.</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Insister sur le mot « désigne » : la cotation ne décide pas à la place du CSE, mais elle rend la discussion factuelle.</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C'est le message central de toute la partie DUERP. Le faire reformuler par un participant avant de passer à l'exercice.</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Utiliser le DUERP de l'entreprise accueillante quand c'est possible : l'exercice devient une préparation de séance. À défaut, prévoir un DUERP anonymisé.</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Le PAPRIPACT est le prolongement obligatoire du DUERP, et le document le plus souvent absent.</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à poser en session : « quand le PAPRIPACT a-t-il été présenté pour la dernière fois ? ». L'absence de réponse est déjà une réponse.</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Aller voir les salariés AVANT la réunion, revenir avec des demandes concrètes et chiffrées, et les faire inscrire.</a:t>
            </a:r>
          </a:p>
          <a:p>
            <a:r>
              <a:t>Trois leviers à rappeler à l'oral : les mesures non réalisées doivent être motivées en annexe du rapport annuel ; le procès-verbal de cette réunion est joint à toute demande de marché public, de subvention ou d'avantage fiscal (L. 2312-27) ; le comité peut proposer un ordre de priorité.</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dernier alinéa est l'outil le plus sous-employé : il oblige l'employeur à s'expliquer par écrit sur ce qu'il n'a pas fait. Le demander systématiquement en session.</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le lien avec les inspections vues en partie 2 : elles sont le carburant de tout le cycle.</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Demander à l'employeur les quatre indicateurs sur trois ans ET la comparaison sectorielle. Une entreprise « dans la moyenne » d'un secteur très accidentogène n'est pas une entreprise sûre.</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 pas noyer le groupe sous les acronymes. L'objectif est qu'ils sachent en manier une (l'arbre des causes) et qu'ils sachent que les autres existent.</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Insister sur la dimension collective : un arbre construit seul par un préventeur n'a pas la moitié de la valeur d'un arbre construit en session.</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sigle ITAMAMI se retient mal : écrire les quatre M au tableau (Main-d'œuvre, Méthode, Matériel, Milieu) si le groupe préfère.</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L'étape 1 doit se faire dans les 48 heures. Au-delà, les témoignages se sont alignés sur la version officielle.</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Lire le récit à voix haute, puis passer à la planche suivante pour le débriefer. Ne pas commenter avant.</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remarquer que les cinq jugements désignent tous le salarié. C'est le biais systématique de tout récit d'accident non retravaillé.</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chercher les mesures à partir de la dernière ligne uniquement. Les élus verront la différence avec « rappeler le port du harnais ».</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jugements à repérer : « étourdi », « ne regarde jamais », « comme d'habitude pressé », « réputé négligent », « ça a toujours été mal organisé », « arrive aux gens distraits ». Les faits, eux, suffisent : charge de 25 kg portée devant, vue masquée, plaque au sol, sol boueux, aucune zone de circulation matérialisée.</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Faits structurants : pas de poste de travail à l'extérieur, pièce non bridée, chaleur rendant les gants inconfortables, urgence de l'opération. Les mesures découlent de l'absence d'établi et de moyen de bridage, pas du port des gants.</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Faits structurants : créneau horaire le plus chaud de la journée, vêtements inadaptés à la chaleur, machine vétuste, absence de protection contre les projections. La question à poser : pourquoi le chantier était-il programmé de 13 h 30 à 16 h en juillet ?</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Cas particulièrement riche : il croise organisation du travail, risque routier et santé mentale. Le fait décisif est l'écart entre la règle interne et ce que l'organisation rend possible.</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Cas utile pour montrer qu'un récit de victime, même sincère, est toujours incomplet : il faut retourner sur les lieux.</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l'exercice au tableau avec un cas de le groupe. C'est le moment le plus formateur de la journée.</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C'est le point technique de la méthode. Le dessiner au tableau avec trois schémas simples.</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Répartir les cas entre les groupes pour que la restitution soit variée. Prévoir des paperboards : l'arbre se construit à la main.</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 dernier point est </a:t>
            </a:r>
            <a:r>
              <a:rPr dirty="0" err="1"/>
              <a:t>régulièrement</a:t>
            </a:r>
            <a:r>
              <a:rPr dirty="0"/>
              <a:t> </a:t>
            </a:r>
            <a:r>
              <a:rPr dirty="0" err="1"/>
              <a:t>contesté</a:t>
            </a:r>
            <a:r>
              <a:rPr dirty="0"/>
              <a:t> par les </a:t>
            </a:r>
            <a:r>
              <a:rPr dirty="0" err="1"/>
              <a:t>employeurs</a:t>
            </a:r>
            <a:r>
              <a:rPr dirty="0"/>
              <a:t>. Il est </a:t>
            </a:r>
            <a:r>
              <a:rPr dirty="0" err="1"/>
              <a:t>pourtant</a:t>
            </a:r>
            <a:r>
              <a:rPr dirty="0"/>
              <a:t> </a:t>
            </a:r>
            <a:r>
              <a:rPr dirty="0" err="1"/>
              <a:t>clair</a:t>
            </a:r>
            <a:r>
              <a:rPr dirty="0"/>
              <a:t> : </a:t>
            </a:r>
            <a:r>
              <a:rPr dirty="0" err="1"/>
              <a:t>l'inspection</a:t>
            </a:r>
            <a:r>
              <a:rPr dirty="0"/>
              <a:t> est </a:t>
            </a:r>
            <a:r>
              <a:rPr dirty="0" err="1"/>
              <a:t>une</a:t>
            </a:r>
            <a:r>
              <a:rPr dirty="0"/>
              <a:t> mission </a:t>
            </a:r>
            <a:r>
              <a:rPr dirty="0" err="1"/>
              <a:t>légale</a:t>
            </a:r>
            <a:r>
              <a:rPr dirty="0"/>
              <a:t> du </a:t>
            </a:r>
            <a:r>
              <a:rPr dirty="0" err="1"/>
              <a:t>comité</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La grille est </a:t>
            </a:r>
            <a:r>
              <a:rPr dirty="0" err="1"/>
              <a:t>ce</a:t>
            </a:r>
            <a:r>
              <a:rPr dirty="0"/>
              <a:t> qui distingue </a:t>
            </a:r>
            <a:r>
              <a:rPr dirty="0" err="1"/>
              <a:t>une</a:t>
            </a:r>
            <a:r>
              <a:rPr dirty="0"/>
              <a:t> inspection </a:t>
            </a:r>
            <a:r>
              <a:rPr dirty="0" err="1"/>
              <a:t>d'une</a:t>
            </a:r>
            <a:r>
              <a:rPr dirty="0"/>
              <a:t> promenade. Insister : </a:t>
            </a:r>
            <a:r>
              <a:rPr dirty="0" err="1"/>
              <a:t>elle</a:t>
            </a:r>
            <a:r>
              <a:rPr dirty="0"/>
              <a:t> se </a:t>
            </a:r>
            <a:r>
              <a:rPr dirty="0" err="1"/>
              <a:t>prépare</a:t>
            </a:r>
            <a:r>
              <a:rPr dirty="0"/>
              <a:t> </a:t>
            </a:r>
            <a:r>
              <a:rPr dirty="0" err="1"/>
              <a:t>en</a:t>
            </a:r>
            <a:r>
              <a:rPr dirty="0"/>
              <a:t> </a:t>
            </a:r>
            <a:r>
              <a:rPr dirty="0" err="1"/>
              <a:t>réunion</a:t>
            </a:r>
            <a:r>
              <a:rPr dirty="0"/>
              <a:t> </a:t>
            </a:r>
            <a:r>
              <a:rPr dirty="0" err="1"/>
              <a:t>préparatoire</a:t>
            </a:r>
            <a:r>
              <a:rPr dirty="0"/>
              <a:t>, pas dans le couloir.</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Beaucoup </a:t>
            </a:r>
            <a:r>
              <a:rPr dirty="0" err="1"/>
              <a:t>d'inspections</a:t>
            </a:r>
            <a:r>
              <a:rPr dirty="0"/>
              <a:t> </a:t>
            </a:r>
            <a:r>
              <a:rPr dirty="0" err="1"/>
              <a:t>meurent</a:t>
            </a:r>
            <a:r>
              <a:rPr dirty="0"/>
              <a:t> faute de compte </a:t>
            </a:r>
            <a:r>
              <a:rPr dirty="0" err="1"/>
              <a:t>rendu</a:t>
            </a:r>
            <a:r>
              <a:rPr dirty="0"/>
              <a:t>. Proposer un </a:t>
            </a:r>
            <a:r>
              <a:rPr dirty="0" err="1"/>
              <a:t>modèle</a:t>
            </a:r>
            <a:r>
              <a:rPr dirty="0"/>
              <a:t> type </a:t>
            </a:r>
            <a:r>
              <a:rPr dirty="0" err="1"/>
              <a:t>en</a:t>
            </a:r>
            <a:r>
              <a:rPr dirty="0"/>
              <a:t> fin de session.</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 dernier conseil est le plus </a:t>
            </a:r>
            <a:r>
              <a:rPr dirty="0" err="1"/>
              <a:t>contesté</a:t>
            </a:r>
            <a:r>
              <a:rPr dirty="0"/>
              <a:t> sur le terrain : </a:t>
            </a:r>
            <a:r>
              <a:rPr dirty="0" err="1"/>
              <a:t>locaux</a:t>
            </a:r>
            <a:r>
              <a:rPr dirty="0"/>
              <a:t> techniques, sous-</a:t>
            </a:r>
            <a:r>
              <a:rPr dirty="0" err="1"/>
              <a:t>traitants</a:t>
            </a:r>
            <a:r>
              <a:rPr dirty="0"/>
              <a:t>, zones </a:t>
            </a:r>
            <a:r>
              <a:rPr dirty="0" err="1"/>
              <a:t>en</a:t>
            </a:r>
            <a:r>
              <a:rPr dirty="0"/>
              <a:t> travaux. Rappeler </a:t>
            </a:r>
            <a:r>
              <a:rPr dirty="0" err="1"/>
              <a:t>que</a:t>
            </a:r>
            <a:r>
              <a:rPr dirty="0"/>
              <a:t> le </a:t>
            </a:r>
            <a:r>
              <a:rPr dirty="0" err="1"/>
              <a:t>périmètre</a:t>
            </a:r>
            <a:r>
              <a:rPr dirty="0"/>
              <a:t> est </a:t>
            </a:r>
            <a:r>
              <a:rPr dirty="0" err="1"/>
              <a:t>celui</a:t>
            </a:r>
            <a:r>
              <a:rPr dirty="0"/>
              <a:t> de </a:t>
            </a:r>
            <a:r>
              <a:rPr dirty="0" err="1"/>
              <a:t>l'entreprise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Corriger</a:t>
            </a:r>
            <a:r>
              <a:rPr dirty="0"/>
              <a:t> les questions ouvertes : « les sols </a:t>
            </a:r>
            <a:r>
              <a:rPr dirty="0" err="1"/>
              <a:t>sont-ils</a:t>
            </a:r>
            <a:r>
              <a:rPr dirty="0"/>
              <a:t> </a:t>
            </a:r>
            <a:r>
              <a:rPr dirty="0" err="1"/>
              <a:t>en</a:t>
            </a:r>
            <a:r>
              <a:rPr dirty="0"/>
              <a:t> bon état ? » ne se </a:t>
            </a:r>
            <a:r>
              <a:rPr dirty="0" err="1"/>
              <a:t>vérifie</a:t>
            </a:r>
            <a:r>
              <a:rPr dirty="0"/>
              <a:t> pas. « </a:t>
            </a:r>
            <a:r>
              <a:rPr dirty="0" err="1"/>
              <a:t>Existe</a:t>
            </a:r>
            <a:r>
              <a:rPr dirty="0"/>
              <a:t>-t-il des </a:t>
            </a:r>
            <a:r>
              <a:rPr dirty="0" err="1"/>
              <a:t>dénivellations</a:t>
            </a:r>
            <a:r>
              <a:rPr dirty="0"/>
              <a:t> non </a:t>
            </a:r>
            <a:r>
              <a:rPr dirty="0" err="1"/>
              <a:t>signalées</a:t>
            </a:r>
            <a:r>
              <a:rPr dirty="0"/>
              <a:t> dans les zones de circulation ? » se </a:t>
            </a:r>
            <a:r>
              <a:rPr dirty="0" err="1"/>
              <a:t>vérifie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Zone réservée à la grille d'inspection projetée. Prévoir aussi une version imprimée, remise en fin de séquence.</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retenir la ligne 2 avant tout : c'est celle qui protège le salarié en danger et l'élu qui la déclenche.</a:t>
            </a:r>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planche est faite pour être lue à voix haute. Trois mots à souligner au passage : « immédiatement », « sans délai », et « si le salarié averti par écrit ne s'y oppose pas », l'élu peut saisir le conseil de prud'hommes à la place du salarié, mais jamais contre lui.</a:t>
            </a:r>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Exemples utiles : vidéosurveillance braquée sur un poste, géolocalisation permanente, fouille systématique des sacs. Chacun s'apprécie au test de proportionnalité.</a:t>
            </a:r>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Recommander un mail au président de la CSSCT avec copie à soi-même : simple, daté, incontestable.</a:t>
            </a:r>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confusion entre droit d'alerte et droit de retrait est la plus fréquente en salle. Faire relever le « motif raisonnable de penser » : le salarié n'a pas à prouver le danger, il doit avoir une raison de le croire.</a:t>
            </a:r>
          </a:p>
        </p:txBody>
      </p:sp>
      <p:sp>
        <p:nvSpPr>
          <p:cNvPr id="4" name="Slide Number Placeholder 3"/>
          <p:cNvSpPr>
            <a:spLocks noGrp="1"/>
          </p:cNvSpPr>
          <p:nvPr>
            <p:ph type="sldNum" sz="quarter" idx="5"/>
          </p:nvPr>
        </p:nvSpPr>
        <p:spPr/>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Trois mentions obligatoires. Une alerte incomplète est contestable, faire recopier les trois éléments par les élus dans leur carnet.</a:t>
            </a:r>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Vingt-quatre heures : c'est le délai le plus court de tout le code du travail en matière de CSE. Le faire répéter.</a:t>
            </a:r>
          </a:p>
          <a:p>
            <a:r>
              <a:t>Noter que c'est l'EMPLOYEUR qui saisit l'inspecteur du travail, pas l'élu. S'il ne le fait pas, c'est une entrave.</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seule correction à faire à l'oral : le schéma porte « mise en demeure par la Direccte ». Les Direccte ont été remplacées par les DREETS au 1er avril 2021. Le reste du circuit est inchangé.</a:t>
            </a:r>
          </a:p>
          <a:p>
            <a:r>
              <a:t>Dérouler les quatre issues possibles : mesures prises et fin de procédure ; accord en CSE et fin de procédure ; inspecteur qui ne retient pas le danger et fin de procédure ; inspecteur qui retient le danger, et alors mise en demeure ou référé.</a:t>
            </a:r>
          </a:p>
        </p:txBody>
      </p:sp>
      <p:sp>
        <p:nvSpPr>
          <p:cNvPr id="4" name="Slide Number Placeholder 3"/>
          <p:cNvSpPr>
            <a:spLocks noGrp="1"/>
          </p:cNvSpPr>
          <p:nvPr>
            <p:ph type="sldNum" sz="quarter" idx="5"/>
          </p:nvPr>
        </p:nvSpPr>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première phrase est importante : elle articule l'alerte du CSE avec le statut de lanceur d'alerte. Les deux voies sont ouvertes, elles ne s'excluent pas.</a:t>
            </a:r>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Deux expressions à faire entendre : « inscrite de droit à l'ordre du jour » pour l'alerte économique, « de plein droit » pour l'alerte sociale. Dans les deux cas, l'employeur n'a pas le choix de l'inscription.</a:t>
            </a:r>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préciser au groupe les trois mentions obligatoires de l'alerte. C'est la vérification d'acquis de la séquence.</a:t>
            </a:r>
          </a:p>
          <a:p>
            <a:r>
              <a:t>Réponse : A : le risque est grave (amputation possible) et imminent (l'exposition est en cours). L'alerte se consigne au registre, avec le poste concerné, la nature du danger et le nom des travailleurs exposés.</a:t>
            </a:r>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Insister sur l'installation lente : quand le salarié se plaint, l'atteinte est déjà constituée. D'où l'importance des signaux faibles.</a:t>
            </a:r>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Demander au groupe qui a déjà entendu un de ces signes sans le relier aux TMS. Le taux de reconnaissance est élevé.</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Vérifier les chiffres à jour sur le site de l'Assurance maladie risques professionnels avant chaque session : la répartition évolue lentement mais elle évolue.</a:t>
            </a:r>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C'est le message central de la séquence. Il fait le lien avec la partie RPS et justifie qu'on ne traite pas les TMS uniquement par l'ergonomie du poste.</a:t>
            </a:r>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mot « réversible » est important : c'est l'argument à opposer à l'employeur qui veut attendre. Après, ça coûte beaucoup plus cher, à tout le monde.</a:t>
            </a:r>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L'exosquelette est à la mode : rappeler qu'il déplace parfois la contrainte plutôt qu'il ne la supprime, et qu'il s'évalue avant achat.</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 échauffements » sont souvent la seule mesure mise en place. Ce n'est pas inutile, mais c'est le neuvième principe, pas le premier.</a:t>
            </a:r>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L'argumentaire est le vrai livrable : il doit tenir en trois minutes et s'appuyer sur un principe général de prévention nommé.</a:t>
            </a:r>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Séquence sensible : annoncer le cadre, rappeler que personne n'est tenu de témoigner de son vécu personnel.</a:t>
            </a:r>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Pour objet ou pour effet » est le point que les employeurs contestent le plus. Un management maladroit et répété peut caractériser le harcèlement sans intention de nuire.</a:t>
            </a:r>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harcèlement de meute est le point le plus utile pour les élus : il vise les situations collectives où « personne n'a rien fait de grave » pris isolément.</a:t>
            </a:r>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remarquer que quatre de ces formes relèvent de l'organisation du travail, pas du comportement individuel. C'est là que le CSE a prise.</a:t>
            </a:r>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mauvaise foi est difficile à prouver et rarement retenue. Le dire clairement rassure les élus qui hésitent à relayer un signalement.</a:t>
            </a:r>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Rappeler la charge de la preuve aménagée : le salarié établit des faits laissant supposer le harcèlement, c'est ensuite à l'employeur de prouver que ses décisions sont justifiées.</a:t>
            </a:r>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Ressources à projeter : modèle de courrier de signalement sur code.travail.gouv.fr, simulateur de dépôt de plainte et fiche procédure sur service-public.fr.</a:t>
            </a:r>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Projeter au préalable un cas filmé ou lu. Veiller à ce que la restitution distingue le traitement du cas individuel et la prévention collective, c'est la confusion la plus fréquente.</a:t>
            </a:r>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première définition institutionnelle française date de la commande passée par Xavier Bertrand, alors ministre du Travail. Le rapport Gollac de 2011 en est le résultat et reste la référence.</a:t>
            </a:r>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lien RPS → TMS du ministère est précieux : il justifie de traiter les deux ensemble, comme on l'a fait dans la partie précédente.</a:t>
            </a:r>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L'expertise INSERM de 2011 avait été commandée par le Régime social des indépendants. Elle couvre indépendants et salariés.</a:t>
            </a:r>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coter chaque facteur par le groupe sur leur propre entreprise, de 1 à 5. Le profil obtenu sert de fil rouge pour la suite.</a:t>
            </a:r>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 qualité empêchée » parle immédiatement aux soignants, aux techniciens et aux artisans. C'est souvent le moment où le groupe bascule.</a:t>
            </a:r>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message : on peut agir à toutes les phases, mais seule la première est réversible sans séquelle. C'est ce qui rend les signaux faibles utiles.</a:t>
            </a:r>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deux modèles se complètent : Karasek décrit la situation de travail, Siegrist le rapport d'échange. Les deux sont validés par de nombreuses cohortes.</a:t>
            </a:r>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C'est le point le plus solide scientifiquement du module. Il permet de sortir du registre du ressenti en réunion.</a:t>
            </a:r>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détail du pic de cortisol marque les esprits et donne aux élus un repère concret pour entendre un signal faible.</a:t>
            </a:r>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L'intérêt de l'exercice est de faire remonter la chaîne : chaque conséquence doit pouvoir être reliée à une contrainte de travail nommée, jamais à un trait de caractère.</a:t>
            </a:r>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Prévoir une photo neutre de situation de travail avec contact public : accueil, guichet, intervention à domicile.</a:t>
            </a:r>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risque de passage à l'acte violent peut se retourner contre soi ou contre les autres. Le dire explicitement.</a:t>
            </a:r>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important pour les élus qui siègent face à un encadrement débordé : demander qui arbitre, et selon quels critères.</a:t>
            </a:r>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Exemple parlant : une publicité promettant une intervention en 24 h, sans que les effectifs le permettent. L'opérateur au guichet encaisse l'écart.</a:t>
            </a:r>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le lien avec la partie inspection : ces cinq points sont directement transposables en grille.</a:t>
            </a:r>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Rappeler le verrou des 25 % d'IPP pour la reconnaissance hors tableau, vu en partie 3. Ne pas laisser d'illusion sur la reconnaissance.</a:t>
            </a:r>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Rappeler fermement la limite du rôle : l'élu n'est ni médecin ni psychologue. Sa valeur ajoutée est collective.</a:t>
            </a:r>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vers la partie la plus opérationnelle du module.</a:t>
            </a:r>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situer le groupe : par quelle porte leur entreprise entre-t-elle habituellement ? La réponse dit beaucoup de la maturité du dialogue social.</a:t>
            </a:r>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cinq étapes structurent toute la fin du module. Les afficher au paperboard pour la journée.</a:t>
            </a:r>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point sur la parole protégée est décisif : sans lui, personne ne dira comment le travail se fait réellement.</a:t>
            </a:r>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 pas de tribunal » est ce qui permet à l'encadrement de proximité de participer sans se sentir mis en accusation.</a:t>
            </a:r>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première erreur est la plus coûteuse : un cabinet extérieur produit un rapport, pas un changement. Le rapport n'engage personne s'il n'est pas repris en interne.</a:t>
            </a:r>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Télécharger la brochure ED 6403 avant la session et la distribuer. C'est l'outil que les élus utiliseront le plus après la formation.</a:t>
            </a:r>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Insister sur « le refus doit être motivé » : c'est ce qui transforme une demande en obligation d'explication.</a:t>
            </a:r>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Commencer par les difficultés puis passer aux ressources permet de ne pas terminer l'entretien sur du négatif. L'ordre compte.</a:t>
            </a:r>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L'inscription au PAPRIPACT est le point à ne pas lâcher : c'est ce qui rend le plan opposable l'année suivante.</a:t>
            </a:r>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 huit éléments recoupent les exigences légales du PAPRIPACT vues en partie 5. Le faire remarquer : ce n'est pas une exigence de plus, c'est la même.</a:t>
            </a:r>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C'est le conseil le plus concret du module : faire inscrire le suivi RPS comme point permanent de l'ordre du jour.</a:t>
            </a:r>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effets sur la performance sont l'argument à porter devant une direction : la prévention des RPS n'est pas un coût, c'est une réduction de coûts.</a:t>
            </a:r>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C'est le message de synthèse du module. Une entreprise qui n'a que du tertiaire n'a pas commencé à prévenir.</a:t>
            </a:r>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Boucler la formation sur l'article par lequel elle a commencé. Les élus doivent repartir en sachant que les RPS ne relèvent pas d'un texte spécial, mais du droit commun de la prévention.</a:t>
            </a:r>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Boucler avec la partie 5 : c'est exactement la même mécanique de cotation que pour les risques physiques.</a:t>
            </a:r>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livrable doit tenir sur une page et être directement utilisable au retour. C'est ce que les participants emportent.</a:t>
            </a:r>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Vérifier le numéro de téléphone avant chaque diffusion : le 06 68 03 63 28 est le numéro public depuis août 2026.</a:t>
            </a:r>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35609536"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35609774"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35634273"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35640694"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18528889"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6.png"/><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20.jpg"/><Relationship Id="rId4" Type="http://schemas.openxmlformats.org/officeDocument/2006/relationships/image" Target="../media/image19.jpg"/></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35640828"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33019913"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21.jp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22.jp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24.jpg"/><Relationship Id="rId4" Type="http://schemas.openxmlformats.org/officeDocument/2006/relationships/image" Target="../media/image23.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25.jp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27.jpg"/><Relationship Id="rId4" Type="http://schemas.openxmlformats.org/officeDocument/2006/relationships/image" Target="../media/image26.jp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30.jpg"/><Relationship Id="rId4" Type="http://schemas.openxmlformats.org/officeDocument/2006/relationships/image" Target="../media/image29.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31.jp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33.jpg"/><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15.png"/><Relationship Id="rId4" Type="http://schemas.openxmlformats.org/officeDocument/2006/relationships/image" Target="../media/image14.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36393217"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8.jpg"/></Relationships>
</file>

<file path=ppt/slides/_rels/slide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06743112" TargetMode="External"/></Relationships>
</file>

<file path=ppt/slides/_rels/slide77.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7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6.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6.png"/></Relationships>
</file>

<file path=ppt/slides/_rels/slide8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9.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8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0.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8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43893919" TargetMode="Externa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6.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0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7.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10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43893927" TargetMode="External"/></Relationships>
</file>

<file path=ppt/slides/_rels/slide1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1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2.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8.png"/><Relationship Id="rId4" Type="http://schemas.openxmlformats.org/officeDocument/2006/relationships/image" Target="../media/image41.png"/></Relationships>
</file>

<file path=ppt/slides/_rels/slide11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8.png"/><Relationship Id="rId4" Type="http://schemas.openxmlformats.org/officeDocument/2006/relationships/image" Target="../media/image6.png"/></Relationships>
</file>

<file path=ppt/slides/_rels/slide1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8.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12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www.legifrance.gouv.fr/codes/article_lc/LEGIARTI000036411550" TargetMode="External"/><Relationship Id="rId4" Type="http://schemas.openxmlformats.org/officeDocument/2006/relationships/hyperlink" Target="https://www.legifrance.gouv.fr/codes/article_lc/LEGIARTI000035609774" TargetMode="External"/></Relationships>
</file>

<file path=ppt/slides/_rels/slide1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13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2.jpg"/></Relationships>
</file>

<file path=ppt/slides/_rels/slide1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4.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13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5.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13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13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35653297" TargetMode="External"/></Relationships>
</file>

<file path=ppt/slides/_rels/slide1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2.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1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14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36.png"/></Relationships>
</file>

<file path=ppt/slides/_rels/slide149.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14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8.png"/><Relationship Id="rId4" Type="http://schemas.openxmlformats.org/officeDocument/2006/relationships/image" Target="../media/image15.png"/></Relationships>
</file>

<file path=ppt/slides/_rels/slide152.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15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41.png"/></Relationships>
</file>

<file path=ppt/slides/_rels/slide1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48.png"/></Relationships>
</file>

<file path=ppt/slides/_rels/slide1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6.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15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06900818" TargetMode="External"/></Relationships>
</file>

<file path=ppt/slides/_rels/slide1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15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9.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62.jpg"/></Relationships>
</file>

<file path=ppt/slides/_rels/slide1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0.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16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4.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16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4.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legifrance.gouv.fr/codes/article_lc/LEGIARTI000035640828" TargetMode="External"/></Relationships>
</file>

<file path=ppt/slides/_rels/slide1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16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48.png"/></Relationships>
</file>

<file path=ppt/slides/_rels/slide16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5.png"/></Relationships>
</file>

<file path=ppt/slides/_rels/slide1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0.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66.jpg"/></Relationships>
</file>

<file path=ppt/slides/_rels/slide1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5.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17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5.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17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7.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17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15.png"/></Relationships>
</file>

<file path=ppt/slides/_rels/slide181.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18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2.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notesSlide" Target="../notesSlides/notesSlide18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3.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1.png"/><Relationship Id="rId2" Type="http://schemas.openxmlformats.org/officeDocument/2006/relationships/notesSlide" Target="../notesSlides/notesSlide182.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png"/><Relationship Id="rId4" Type="http://schemas.openxmlformats.org/officeDocument/2006/relationships/image" Target="../media/image14.png"/></Relationships>
</file>

<file path=ppt/slides/_rels/slide1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3.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4.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5.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8.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18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8.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9.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0.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19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2.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6.png"/><Relationship Id="rId4" Type="http://schemas.openxmlformats.org/officeDocument/2006/relationships/image" Target="../media/image15.png"/></Relationships>
</file>

<file path=ppt/slides/_rels/slide1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8.png"/><Relationship Id="rId4" Type="http://schemas.openxmlformats.org/officeDocument/2006/relationships/image" Target="../media/image36.png"/></Relationships>
</file>

<file path=ppt/slides/_rels/slide19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www.legifrance.gouv.fr/codes/article_lc/LEGIARTI000033019913" TargetMode="External"/><Relationship Id="rId4" Type="http://schemas.openxmlformats.org/officeDocument/2006/relationships/hyperlink" Target="https://www.legifrance.gouv.fr/codes/article_lc/LEGIARTI000035640828" TargetMode="External"/></Relationships>
</file>

<file path=ppt/slides/_rels/slide197.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19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9.xml.rels><?xml version="1.0" encoding="UTF-8" standalone="yes"?>
<Relationships xmlns="http://schemas.openxmlformats.org/package/2006/relationships"><Relationship Id="rId3" Type="http://schemas.openxmlformats.org/officeDocument/2006/relationships/hyperlink" Target="https://destprev.github.io/Formation-CSE-SSCT/index.html" TargetMode="External"/><Relationship Id="rId2" Type="http://schemas.openxmlformats.org/officeDocument/2006/relationships/notesSlide" Target="../notesSlides/notesSlide19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360000">
            <a:off x="-4846320" y="-3200400"/>
            <a:ext cx="11338560" cy="8412480"/>
          </a:xfrm>
          <a:prstGeom prst="ellipse">
            <a:avLst/>
          </a:prstGeom>
          <a:solidFill>
            <a:srgbClr val="075767"/>
          </a:solidFill>
          <a:ln/>
        </p:spPr>
        <p:txBody>
          <a:bodyPr/>
          <a:lstStyle/>
          <a:p>
            <a:endParaRPr/>
          </a:p>
        </p:txBody>
      </p:sp>
      <p:sp>
        <p:nvSpPr>
          <p:cNvPr id="3" name="Shape 1"/>
          <p:cNvSpPr/>
          <p:nvPr/>
        </p:nvSpPr>
        <p:spPr>
          <a:xfrm>
            <a:off x="5755640" y="-320040"/>
            <a:ext cx="2926080" cy="2926080"/>
          </a:xfrm>
          <a:prstGeom prst="ellipse">
            <a:avLst/>
          </a:prstGeom>
          <a:solidFill>
            <a:srgbClr val="F58B60"/>
          </a:solidFill>
          <a:ln/>
        </p:spPr>
        <p:txBody>
          <a:bodyPr/>
          <a:lstStyle/>
          <a:p>
            <a:endParaRPr/>
          </a:p>
        </p:txBody>
      </p:sp>
      <p:sp>
        <p:nvSpPr>
          <p:cNvPr id="4" name="Shape 2"/>
          <p:cNvSpPr/>
          <p:nvPr/>
        </p:nvSpPr>
        <p:spPr>
          <a:xfrm>
            <a:off x="5138928" y="1298448"/>
            <a:ext cx="237744" cy="237744"/>
          </a:xfrm>
          <a:prstGeom prst="ellipse">
            <a:avLst/>
          </a:prstGeom>
          <a:solidFill>
            <a:srgbClr val="F06C23"/>
          </a:solidFill>
          <a:ln/>
        </p:spPr>
        <p:txBody>
          <a:bodyPr/>
          <a:lstStyle/>
          <a:p>
            <a:endParaRPr/>
          </a:p>
        </p:txBody>
      </p:sp>
      <p:sp>
        <p:nvSpPr>
          <p:cNvPr id="6" name="Text 3"/>
          <p:cNvSpPr txBox="1"/>
          <p:nvPr/>
        </p:nvSpPr>
        <p:spPr>
          <a:xfrm>
            <a:off x="868680" y="868680"/>
            <a:ext cx="4297680" cy="274320"/>
          </a:xfrm>
          <a:prstGeom prst="rect">
            <a:avLst/>
          </a:prstGeom>
          <a:noFill/>
          <a:ln/>
        </p:spPr>
        <p:txBody>
          <a:bodyPr wrap="square" lIns="0" tIns="0" rIns="0" bIns="0" rtlCol="0" anchor="ctr"/>
          <a:lstStyle/>
          <a:p>
            <a:pPr marL="0" indent="0">
              <a:buNone/>
            </a:pPr>
            <a:r>
              <a:rPr lang="en-US" sz="1200" b="1" kern="0" spc="120" dirty="0">
                <a:solidFill>
                  <a:srgbClr val="D7E8EB"/>
                </a:solidFill>
                <a:latin typeface="Lato" pitchFamily="34" charset="0"/>
                <a:ea typeface="Lato" pitchFamily="34" charset="-122"/>
                <a:cs typeface="Lato" pitchFamily="34" charset="-120"/>
              </a:rPr>
              <a:t>Formation  ·   membres du CSE</a:t>
            </a:r>
            <a:endParaRPr lang="en-US" sz="1200" dirty="0"/>
          </a:p>
        </p:txBody>
      </p:sp>
      <p:sp>
        <p:nvSpPr>
          <p:cNvPr id="7" name="Text 4"/>
          <p:cNvSpPr txBox="1"/>
          <p:nvPr/>
        </p:nvSpPr>
        <p:spPr>
          <a:xfrm>
            <a:off x="868680" y="1325880"/>
            <a:ext cx="4480560" cy="1737360"/>
          </a:xfrm>
          <a:prstGeom prst="rect">
            <a:avLst/>
          </a:prstGeom>
          <a:noFill/>
          <a:ln/>
        </p:spPr>
        <p:txBody>
          <a:bodyPr wrap="square" lIns="0" tIns="0" rIns="0" bIns="0" rtlCol="0" anchor="t"/>
          <a:lstStyle/>
          <a:p>
            <a:pPr marL="0" indent="0">
              <a:lnSpc>
                <a:spcPct val="95000"/>
              </a:lnSpc>
              <a:buNone/>
            </a:pPr>
            <a:r>
              <a:rPr lang="en-US" sz="3800" b="1" kern="0" spc="-100" dirty="0">
                <a:solidFill>
                  <a:srgbClr val="FFFFFF"/>
                </a:solidFill>
                <a:latin typeface="Lato" pitchFamily="34" charset="0"/>
                <a:ea typeface="Lato" pitchFamily="34" charset="-122"/>
                <a:cs typeface="Lato" pitchFamily="34" charset="-120"/>
              </a:rPr>
              <a:t>Santé, sécurité</a:t>
            </a:r>
            <a:endParaRPr lang="en-US" sz="3800" dirty="0"/>
          </a:p>
          <a:p>
            <a:pPr marL="0" indent="0">
              <a:lnSpc>
                <a:spcPct val="95000"/>
              </a:lnSpc>
              <a:buNone/>
            </a:pPr>
            <a:r>
              <a:rPr lang="en-US" sz="3800" b="1" kern="0" spc="-100" dirty="0">
                <a:solidFill>
                  <a:srgbClr val="FFFFFF"/>
                </a:solidFill>
                <a:latin typeface="Lato" pitchFamily="34" charset="0"/>
                <a:ea typeface="Lato" pitchFamily="34" charset="-122"/>
                <a:cs typeface="Lato" pitchFamily="34" charset="-120"/>
              </a:rPr>
              <a:t>et conditions</a:t>
            </a:r>
            <a:endParaRPr lang="en-US" sz="3800" dirty="0"/>
          </a:p>
          <a:p>
            <a:pPr marL="0" indent="0">
              <a:lnSpc>
                <a:spcPct val="95000"/>
              </a:lnSpc>
              <a:buNone/>
            </a:pPr>
            <a:r>
              <a:rPr lang="en-US" sz="3800" b="1" kern="0" spc="-100" dirty="0">
                <a:solidFill>
                  <a:srgbClr val="FFFFFF"/>
                </a:solidFill>
                <a:latin typeface="Lato" pitchFamily="34" charset="0"/>
                <a:ea typeface="Lato" pitchFamily="34" charset="-122"/>
                <a:cs typeface="Lato" pitchFamily="34" charset="-120"/>
              </a:rPr>
              <a:t>de travail</a:t>
            </a:r>
            <a:endParaRPr lang="en-US" sz="3800" dirty="0"/>
          </a:p>
        </p:txBody>
      </p:sp>
      <p:sp>
        <p:nvSpPr>
          <p:cNvPr id="8" name="Text 5"/>
          <p:cNvSpPr txBox="1"/>
          <p:nvPr/>
        </p:nvSpPr>
        <p:spPr>
          <a:xfrm>
            <a:off x="868680" y="3154680"/>
            <a:ext cx="4480560" cy="548640"/>
          </a:xfrm>
          <a:prstGeom prst="rect">
            <a:avLst/>
          </a:prstGeom>
          <a:noFill/>
          <a:ln/>
        </p:spPr>
        <p:txBody>
          <a:bodyPr wrap="square" lIns="0" tIns="0" rIns="0" bIns="0" rtlCol="0" anchor="t"/>
          <a:lstStyle/>
          <a:p>
            <a:pPr marL="0" indent="0">
              <a:buNone/>
            </a:pPr>
            <a:r>
              <a:rPr lang="en-US" sz="1600" dirty="0">
                <a:solidFill>
                  <a:srgbClr val="C1D5D9"/>
                </a:solidFill>
                <a:latin typeface="Lato" pitchFamily="34" charset="0"/>
                <a:ea typeface="Lato" pitchFamily="34" charset="-122"/>
                <a:cs typeface="Lato" pitchFamily="34" charset="-120"/>
              </a:rPr>
              <a:t>Formation des élus du CSE  ·  5 jours</a:t>
            </a:r>
            <a:endParaRPr lang="en-US" sz="1600" dirty="0"/>
          </a:p>
        </p:txBody>
      </p:sp>
      <p:pic>
        <p:nvPicPr>
          <p:cNvPr id="10" name="Image 1" descr="/home/claude/tmo/build/logo.png"/>
          <p:cNvPicPr>
            <a:picLocks noChangeAspect="1"/>
          </p:cNvPicPr>
          <p:nvPr/>
        </p:nvPicPr>
        <p:blipFill>
          <a:blip r:embed="rId3"/>
          <a:stretch>
            <a:fillRect/>
          </a:stretch>
        </p:blipFill>
        <p:spPr>
          <a:xfrm>
            <a:off x="7538720" y="5781639"/>
            <a:ext cx="960120" cy="960120"/>
          </a:xfrm>
          <a:prstGeom prst="rect">
            <a:avLst/>
          </a:prstGeom>
        </p:spPr>
      </p:pic>
      <p:sp>
        <p:nvSpPr>
          <p:cNvPr id="11" name="Text 7"/>
          <p:cNvSpPr txBox="1"/>
          <p:nvPr/>
        </p:nvSpPr>
        <p:spPr>
          <a:xfrm>
            <a:off x="8681720" y="5900511"/>
            <a:ext cx="4297680" cy="868680"/>
          </a:xfrm>
          <a:prstGeom prst="rect">
            <a:avLst/>
          </a:prstGeom>
          <a:noFill/>
          <a:ln/>
        </p:spPr>
        <p:txBody>
          <a:bodyPr wrap="square" lIns="0" tIns="0" rIns="0" bIns="0" rtlCol="0" anchor="t"/>
          <a:lstStyle/>
          <a:p>
            <a:pPr marL="0" indent="0">
              <a:lnSpc>
                <a:spcPct val="110000"/>
              </a:lnSpc>
              <a:buNone/>
            </a:pPr>
            <a:r>
              <a:rPr lang="en-US" sz="1300" b="1" dirty="0">
                <a:solidFill>
                  <a:srgbClr val="075767"/>
                </a:solidFill>
                <a:latin typeface="Lato" pitchFamily="34" charset="0"/>
                <a:ea typeface="Lato" pitchFamily="34" charset="-122"/>
                <a:cs typeface="Lato" pitchFamily="34" charset="-120"/>
              </a:rPr>
              <a:t>DESTINATION PRÉVENTION
</a:t>
            </a:r>
            <a:r>
              <a:rPr lang="en-US" sz="1000" dirty="0">
                <a:solidFill>
                  <a:srgbClr val="595959"/>
                </a:solidFill>
                <a:latin typeface="Lato" pitchFamily="34" charset="0"/>
                <a:ea typeface="Lato" pitchFamily="34" charset="-122"/>
                <a:cs typeface="Lato" pitchFamily="34" charset="-120"/>
              </a:rPr>
              <a:t>Organisme de formation enregistré sous le n° 84 38 08320 38</a:t>
            </a:r>
            <a:endParaRPr lang="en-US" sz="1300" dirty="0"/>
          </a:p>
          <a:p>
            <a:pPr marL="0" indent="0">
              <a:lnSpc>
                <a:spcPct val="110000"/>
              </a:lnSpc>
              <a:buNone/>
            </a:pPr>
            <a:r>
              <a:rPr lang="en-US" sz="1000" dirty="0">
                <a:solidFill>
                  <a:srgbClr val="595959"/>
                </a:solidFill>
                <a:latin typeface="Lato" pitchFamily="34" charset="0"/>
                <a:ea typeface="Lato" pitchFamily="34" charset="-122"/>
                <a:cs typeface="Lato" pitchFamily="34" charset="-120"/>
              </a:rPr>
              <a:t>auprès du préfet de région Auvergne-Rhône-Alpes</a:t>
            </a:r>
            <a:endParaRPr lang="en-US" sz="130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8B1EF2E6-E7A0-E94D-FC3E-3F02DBDC07C1}"/>
              </a:ext>
            </a:extLst>
          </p:cNvPr>
          <p:cNvPicPr>
            <a:picLocks noChangeAspect="1"/>
          </p:cNvPicPr>
          <p:nvPr/>
        </p:nvPicPr>
        <p:blipFill>
          <a:blip r:embed="rId2"/>
          <a:stretch>
            <a:fillRect/>
          </a:stretch>
        </p:blipFill>
        <p:spPr>
          <a:xfrm>
            <a:off x="2048435" y="703728"/>
            <a:ext cx="8884024" cy="11845365"/>
          </a:xfrm>
          <a:prstGeom prst="rect">
            <a:avLst/>
          </a:prstGeom>
        </p:spPr>
      </p:pic>
    </p:spTree>
    <p:extLst>
      <p:ext uri="{BB962C8B-B14F-4D97-AF65-F5344CB8AC3E}">
        <p14:creationId xmlns:p14="http://schemas.microsoft.com/office/powerpoint/2010/main" val="3599663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Sommaire</a:t>
            </a:r>
            <a:endParaRPr lang="en-US" sz="3000" dirty="0"/>
          </a:p>
        </p:txBody>
      </p:sp>
      <p:sp>
        <p:nvSpPr>
          <p:cNvPr id="9" name="Text 7"/>
          <p:cNvSpPr txBox="1"/>
          <p:nvPr/>
        </p:nvSpPr>
        <p:spPr>
          <a:xfrm>
            <a:off x="731520" y="1920240"/>
            <a:ext cx="822960" cy="502920"/>
          </a:xfrm>
          <a:prstGeom prst="rect">
            <a:avLst/>
          </a:prstGeom>
          <a:noFill/>
          <a:ln/>
        </p:spPr>
        <p:txBody>
          <a:bodyPr wrap="square" lIns="0" tIns="0" rIns="0" bIns="0" rtlCol="0" anchor="ctr"/>
          <a:lstStyle/>
          <a:p>
            <a:pPr marL="0" indent="0">
              <a:buNone/>
            </a:pPr>
            <a:r>
              <a:rPr lang="en-US" sz="2600" b="1" dirty="0">
                <a:solidFill>
                  <a:srgbClr val="45818D"/>
                </a:solidFill>
                <a:latin typeface="Lato" pitchFamily="34" charset="0"/>
                <a:ea typeface="Lato" pitchFamily="34" charset="-122"/>
                <a:cs typeface="Lato" pitchFamily="34" charset="-120"/>
              </a:rPr>
              <a:t>01</a:t>
            </a:r>
            <a:endParaRPr lang="en-US" sz="2600" dirty="0"/>
          </a:p>
        </p:txBody>
      </p:sp>
      <p:sp>
        <p:nvSpPr>
          <p:cNvPr id="10" name="Text 8"/>
          <p:cNvSpPr txBox="1"/>
          <p:nvPr/>
        </p:nvSpPr>
        <p:spPr>
          <a:xfrm>
            <a:off x="1600200" y="1920240"/>
            <a:ext cx="4480560" cy="502920"/>
          </a:xfrm>
          <a:prstGeom prst="rect">
            <a:avLst/>
          </a:prstGeom>
          <a:noFill/>
          <a:ln/>
        </p:spPr>
        <p:txBody>
          <a:bodyPr wrap="square" lIns="0" tIns="0" rIns="0" bIns="0" rtlCol="0" anchor="ctr"/>
          <a:lstStyle/>
          <a:p>
            <a:pPr marL="0" indent="0">
              <a:buNone/>
            </a:pPr>
            <a:r>
              <a:rPr lang="en-US" sz="1500" dirty="0">
                <a:solidFill>
                  <a:srgbClr val="595959"/>
                </a:solidFill>
                <a:latin typeface="Lato" pitchFamily="34" charset="0"/>
                <a:ea typeface="Lato" pitchFamily="34" charset="-122"/>
                <a:cs typeface="Lato" pitchFamily="34" charset="-120"/>
              </a:rPr>
              <a:t>Introduction</a:t>
            </a:r>
            <a:endParaRPr lang="en-US" sz="1500" dirty="0"/>
          </a:p>
        </p:txBody>
      </p:sp>
      <p:sp>
        <p:nvSpPr>
          <p:cNvPr id="11" name="Text 9"/>
          <p:cNvSpPr txBox="1"/>
          <p:nvPr/>
        </p:nvSpPr>
        <p:spPr>
          <a:xfrm>
            <a:off x="731520" y="2706624"/>
            <a:ext cx="822960" cy="502920"/>
          </a:xfrm>
          <a:prstGeom prst="rect">
            <a:avLst/>
          </a:prstGeom>
          <a:noFill/>
          <a:ln/>
        </p:spPr>
        <p:txBody>
          <a:bodyPr wrap="square" lIns="0" tIns="0" rIns="0" bIns="0" rtlCol="0" anchor="ctr"/>
          <a:lstStyle/>
          <a:p>
            <a:pPr marL="0" indent="0">
              <a:buNone/>
            </a:pPr>
            <a:r>
              <a:rPr lang="en-US" sz="2600" b="1" dirty="0">
                <a:solidFill>
                  <a:srgbClr val="45818D"/>
                </a:solidFill>
                <a:latin typeface="Lato" pitchFamily="34" charset="0"/>
                <a:ea typeface="Lato" pitchFamily="34" charset="-122"/>
                <a:cs typeface="Lato" pitchFamily="34" charset="-120"/>
              </a:rPr>
              <a:t>02</a:t>
            </a:r>
            <a:endParaRPr lang="en-US" sz="2600" dirty="0"/>
          </a:p>
        </p:txBody>
      </p:sp>
      <p:sp>
        <p:nvSpPr>
          <p:cNvPr id="12" name="Text 10"/>
          <p:cNvSpPr txBox="1"/>
          <p:nvPr/>
        </p:nvSpPr>
        <p:spPr>
          <a:xfrm>
            <a:off x="1600200" y="2706624"/>
            <a:ext cx="4480560" cy="502920"/>
          </a:xfrm>
          <a:prstGeom prst="rect">
            <a:avLst/>
          </a:prstGeom>
          <a:noFill/>
          <a:ln/>
        </p:spPr>
        <p:txBody>
          <a:bodyPr wrap="square" lIns="0" tIns="0" rIns="0" bIns="0" rtlCol="0" anchor="ctr"/>
          <a:lstStyle/>
          <a:p>
            <a:pPr marL="0" indent="0">
              <a:buNone/>
            </a:pPr>
            <a:r>
              <a:rPr lang="en-US" sz="1500" dirty="0">
                <a:solidFill>
                  <a:srgbClr val="595959"/>
                </a:solidFill>
                <a:latin typeface="Lato" pitchFamily="34" charset="0"/>
                <a:ea typeface="Lato" pitchFamily="34" charset="-122"/>
                <a:cs typeface="Lato" pitchFamily="34" charset="-120"/>
              </a:rPr>
              <a:t>Du CSE à la CSSCT</a:t>
            </a:r>
            <a:endParaRPr lang="en-US" sz="1500" dirty="0"/>
          </a:p>
        </p:txBody>
      </p:sp>
      <p:sp>
        <p:nvSpPr>
          <p:cNvPr id="13" name="Text 11"/>
          <p:cNvSpPr txBox="1"/>
          <p:nvPr/>
        </p:nvSpPr>
        <p:spPr>
          <a:xfrm>
            <a:off x="731520" y="3493008"/>
            <a:ext cx="822960" cy="502920"/>
          </a:xfrm>
          <a:prstGeom prst="rect">
            <a:avLst/>
          </a:prstGeom>
          <a:noFill/>
          <a:ln/>
        </p:spPr>
        <p:txBody>
          <a:bodyPr wrap="square" lIns="0" tIns="0" rIns="0" bIns="0" rtlCol="0" anchor="ctr"/>
          <a:lstStyle/>
          <a:p>
            <a:pPr marL="0" indent="0">
              <a:buNone/>
            </a:pPr>
            <a:r>
              <a:rPr lang="en-US" sz="2600" b="1" dirty="0">
                <a:solidFill>
                  <a:srgbClr val="45818D"/>
                </a:solidFill>
                <a:latin typeface="Lato" pitchFamily="34" charset="0"/>
                <a:ea typeface="Lato" pitchFamily="34" charset="-122"/>
                <a:cs typeface="Lato" pitchFamily="34" charset="-120"/>
              </a:rPr>
              <a:t>03</a:t>
            </a:r>
            <a:endParaRPr lang="en-US" sz="2600" dirty="0"/>
          </a:p>
        </p:txBody>
      </p:sp>
      <p:sp>
        <p:nvSpPr>
          <p:cNvPr id="14" name="Text 12"/>
          <p:cNvSpPr txBox="1"/>
          <p:nvPr/>
        </p:nvSpPr>
        <p:spPr>
          <a:xfrm>
            <a:off x="1600200" y="3493008"/>
            <a:ext cx="4480560" cy="502920"/>
          </a:xfrm>
          <a:prstGeom prst="rect">
            <a:avLst/>
          </a:prstGeom>
          <a:noFill/>
          <a:ln/>
        </p:spPr>
        <p:txBody>
          <a:bodyPr wrap="square" lIns="0" tIns="0" rIns="0" bIns="0" rtlCol="0" anchor="ctr"/>
          <a:lstStyle/>
          <a:p>
            <a:pPr marL="0" indent="0">
              <a:buNone/>
            </a:pPr>
            <a:r>
              <a:rPr lang="en-US" sz="1500" dirty="0">
                <a:solidFill>
                  <a:srgbClr val="595959"/>
                </a:solidFill>
                <a:latin typeface="Lato" pitchFamily="34" charset="0"/>
                <a:ea typeface="Lato" pitchFamily="34" charset="-122"/>
                <a:cs typeface="Lato" pitchFamily="34" charset="-120"/>
              </a:rPr>
              <a:t>La réglementation SSCT</a:t>
            </a:r>
            <a:endParaRPr lang="en-US" sz="1500" dirty="0"/>
          </a:p>
        </p:txBody>
      </p:sp>
      <p:sp>
        <p:nvSpPr>
          <p:cNvPr id="15" name="Text 13"/>
          <p:cNvSpPr txBox="1"/>
          <p:nvPr/>
        </p:nvSpPr>
        <p:spPr>
          <a:xfrm>
            <a:off x="731520" y="4279392"/>
            <a:ext cx="822960" cy="502920"/>
          </a:xfrm>
          <a:prstGeom prst="rect">
            <a:avLst/>
          </a:prstGeom>
          <a:noFill/>
          <a:ln/>
        </p:spPr>
        <p:txBody>
          <a:bodyPr wrap="square" lIns="0" tIns="0" rIns="0" bIns="0" rtlCol="0" anchor="ctr"/>
          <a:lstStyle/>
          <a:p>
            <a:pPr marL="0" indent="0">
              <a:buNone/>
            </a:pPr>
            <a:r>
              <a:rPr lang="en-US" sz="2600" b="1" dirty="0">
                <a:solidFill>
                  <a:srgbClr val="45818D"/>
                </a:solidFill>
                <a:latin typeface="Lato" pitchFamily="34" charset="0"/>
                <a:ea typeface="Lato" pitchFamily="34" charset="-122"/>
                <a:cs typeface="Lato" pitchFamily="34" charset="-120"/>
              </a:rPr>
              <a:t>04</a:t>
            </a:r>
            <a:endParaRPr lang="en-US" sz="2600" dirty="0"/>
          </a:p>
        </p:txBody>
      </p:sp>
      <p:sp>
        <p:nvSpPr>
          <p:cNvPr id="16" name="Text 14"/>
          <p:cNvSpPr txBox="1"/>
          <p:nvPr/>
        </p:nvSpPr>
        <p:spPr>
          <a:xfrm>
            <a:off x="1600200" y="4279392"/>
            <a:ext cx="4480560" cy="502920"/>
          </a:xfrm>
          <a:prstGeom prst="rect">
            <a:avLst/>
          </a:prstGeom>
          <a:noFill/>
          <a:ln/>
        </p:spPr>
        <p:txBody>
          <a:bodyPr wrap="square" lIns="0" tIns="0" rIns="0" bIns="0" rtlCol="0" anchor="ctr"/>
          <a:lstStyle/>
          <a:p>
            <a:pPr marL="0" indent="0">
              <a:buNone/>
            </a:pPr>
            <a:r>
              <a:rPr lang="en-US" sz="1500" dirty="0">
                <a:solidFill>
                  <a:srgbClr val="595959"/>
                </a:solidFill>
                <a:latin typeface="Lato" pitchFamily="34" charset="0"/>
                <a:ea typeface="Lato" pitchFamily="34" charset="-122"/>
                <a:cs typeface="Lato" pitchFamily="34" charset="-120"/>
              </a:rPr>
              <a:t>Les acteurs de la prévention</a:t>
            </a:r>
            <a:endParaRPr lang="en-US" sz="1500" dirty="0"/>
          </a:p>
        </p:txBody>
      </p:sp>
      <p:sp>
        <p:nvSpPr>
          <p:cNvPr id="17" name="Text 15"/>
          <p:cNvSpPr txBox="1"/>
          <p:nvPr/>
        </p:nvSpPr>
        <p:spPr>
          <a:xfrm>
            <a:off x="731520" y="5065776"/>
            <a:ext cx="822960" cy="502920"/>
          </a:xfrm>
          <a:prstGeom prst="rect">
            <a:avLst/>
          </a:prstGeom>
          <a:noFill/>
          <a:ln/>
        </p:spPr>
        <p:txBody>
          <a:bodyPr wrap="square" lIns="0" tIns="0" rIns="0" bIns="0" rtlCol="0" anchor="ctr"/>
          <a:lstStyle/>
          <a:p>
            <a:pPr marL="0" indent="0">
              <a:buNone/>
            </a:pPr>
            <a:r>
              <a:rPr lang="en-US" sz="2600" b="1" dirty="0">
                <a:solidFill>
                  <a:srgbClr val="45818D"/>
                </a:solidFill>
                <a:latin typeface="Lato" pitchFamily="34" charset="0"/>
                <a:ea typeface="Lato" pitchFamily="34" charset="-122"/>
                <a:cs typeface="Lato" pitchFamily="34" charset="-120"/>
              </a:rPr>
              <a:t>05</a:t>
            </a:r>
            <a:endParaRPr lang="en-US" sz="2600" dirty="0"/>
          </a:p>
        </p:txBody>
      </p:sp>
      <p:sp>
        <p:nvSpPr>
          <p:cNvPr id="18" name="Text 16"/>
          <p:cNvSpPr txBox="1"/>
          <p:nvPr/>
        </p:nvSpPr>
        <p:spPr>
          <a:xfrm>
            <a:off x="1600200" y="5065776"/>
            <a:ext cx="4480560" cy="502920"/>
          </a:xfrm>
          <a:prstGeom prst="rect">
            <a:avLst/>
          </a:prstGeom>
          <a:noFill/>
          <a:ln/>
        </p:spPr>
        <p:txBody>
          <a:bodyPr wrap="square" lIns="0" tIns="0" rIns="0" bIns="0" rtlCol="0" anchor="ctr"/>
          <a:lstStyle/>
          <a:p>
            <a:pPr marL="0" indent="0">
              <a:buNone/>
            </a:pPr>
            <a:r>
              <a:rPr lang="en-US" sz="1500" dirty="0">
                <a:solidFill>
                  <a:srgbClr val="595959"/>
                </a:solidFill>
                <a:latin typeface="Lato" pitchFamily="34" charset="0"/>
                <a:ea typeface="Lato" pitchFamily="34" charset="-122"/>
                <a:cs typeface="Lato" pitchFamily="34" charset="-120"/>
              </a:rPr>
              <a:t>Le document unique (DUERP)</a:t>
            </a:r>
            <a:endParaRPr lang="en-US" sz="1500" dirty="0"/>
          </a:p>
        </p:txBody>
      </p:sp>
      <p:sp>
        <p:nvSpPr>
          <p:cNvPr id="19" name="Text 17"/>
          <p:cNvSpPr txBox="1"/>
          <p:nvPr/>
        </p:nvSpPr>
        <p:spPr>
          <a:xfrm>
            <a:off x="6309360" y="1920240"/>
            <a:ext cx="822960" cy="502920"/>
          </a:xfrm>
          <a:prstGeom prst="rect">
            <a:avLst/>
          </a:prstGeom>
          <a:noFill/>
          <a:ln/>
        </p:spPr>
        <p:txBody>
          <a:bodyPr wrap="square" lIns="0" tIns="0" rIns="0" bIns="0" rtlCol="0" anchor="ctr"/>
          <a:lstStyle/>
          <a:p>
            <a:pPr marL="0" indent="0">
              <a:buNone/>
            </a:pPr>
            <a:r>
              <a:rPr lang="en-US" sz="2600" b="1" dirty="0">
                <a:solidFill>
                  <a:srgbClr val="45818D"/>
                </a:solidFill>
                <a:latin typeface="Lato" pitchFamily="34" charset="0"/>
                <a:ea typeface="Lato" pitchFamily="34" charset="-122"/>
                <a:cs typeface="Lato" pitchFamily="34" charset="-120"/>
              </a:rPr>
              <a:t>06</a:t>
            </a:r>
            <a:endParaRPr lang="en-US" sz="2600" dirty="0"/>
          </a:p>
        </p:txBody>
      </p:sp>
      <p:sp>
        <p:nvSpPr>
          <p:cNvPr id="20" name="Text 18"/>
          <p:cNvSpPr txBox="1"/>
          <p:nvPr/>
        </p:nvSpPr>
        <p:spPr>
          <a:xfrm>
            <a:off x="7178040" y="1920240"/>
            <a:ext cx="4480560" cy="502920"/>
          </a:xfrm>
          <a:prstGeom prst="rect">
            <a:avLst/>
          </a:prstGeom>
          <a:noFill/>
          <a:ln/>
        </p:spPr>
        <p:txBody>
          <a:bodyPr wrap="square" lIns="0" tIns="0" rIns="0" bIns="0" rtlCol="0" anchor="ctr"/>
          <a:lstStyle/>
          <a:p>
            <a:pPr marL="0" indent="0">
              <a:buNone/>
            </a:pPr>
            <a:r>
              <a:rPr lang="en-US" sz="1500" dirty="0">
                <a:solidFill>
                  <a:srgbClr val="595959"/>
                </a:solidFill>
                <a:latin typeface="Lato" pitchFamily="34" charset="0"/>
                <a:ea typeface="Lato" pitchFamily="34" charset="-122"/>
                <a:cs typeface="Lato" pitchFamily="34" charset="-120"/>
              </a:rPr>
              <a:t>L'analyse des accidents du travail</a:t>
            </a:r>
            <a:endParaRPr lang="en-US" sz="1500" dirty="0"/>
          </a:p>
        </p:txBody>
      </p:sp>
      <p:sp>
        <p:nvSpPr>
          <p:cNvPr id="21" name="Text 19"/>
          <p:cNvSpPr txBox="1"/>
          <p:nvPr/>
        </p:nvSpPr>
        <p:spPr>
          <a:xfrm>
            <a:off x="6309360" y="2706624"/>
            <a:ext cx="822960" cy="502920"/>
          </a:xfrm>
          <a:prstGeom prst="rect">
            <a:avLst/>
          </a:prstGeom>
          <a:noFill/>
          <a:ln/>
        </p:spPr>
        <p:txBody>
          <a:bodyPr wrap="square" lIns="0" tIns="0" rIns="0" bIns="0" rtlCol="0" anchor="ctr"/>
          <a:lstStyle/>
          <a:p>
            <a:pPr marL="0" indent="0">
              <a:buNone/>
            </a:pPr>
            <a:r>
              <a:rPr lang="en-US" sz="2600" b="1" dirty="0">
                <a:solidFill>
                  <a:srgbClr val="45818D"/>
                </a:solidFill>
                <a:latin typeface="Lato" pitchFamily="34" charset="0"/>
                <a:ea typeface="Lato" pitchFamily="34" charset="-122"/>
                <a:cs typeface="Lato" pitchFamily="34" charset="-120"/>
              </a:rPr>
              <a:t>07</a:t>
            </a:r>
            <a:endParaRPr lang="en-US" sz="2600" dirty="0"/>
          </a:p>
        </p:txBody>
      </p:sp>
      <p:sp>
        <p:nvSpPr>
          <p:cNvPr id="22" name="Text 20"/>
          <p:cNvSpPr txBox="1"/>
          <p:nvPr/>
        </p:nvSpPr>
        <p:spPr>
          <a:xfrm>
            <a:off x="7178040" y="2706624"/>
            <a:ext cx="4480560" cy="502920"/>
          </a:xfrm>
          <a:prstGeom prst="rect">
            <a:avLst/>
          </a:prstGeom>
          <a:noFill/>
          <a:ln/>
        </p:spPr>
        <p:txBody>
          <a:bodyPr wrap="square" lIns="0" tIns="0" rIns="0" bIns="0" rtlCol="0" anchor="ctr"/>
          <a:lstStyle/>
          <a:p>
            <a:pPr marL="0" indent="0">
              <a:buNone/>
            </a:pPr>
            <a:r>
              <a:rPr lang="en-US" sz="1500" dirty="0">
                <a:solidFill>
                  <a:srgbClr val="595959"/>
                </a:solidFill>
                <a:latin typeface="Lato" pitchFamily="34" charset="0"/>
                <a:ea typeface="Lato" pitchFamily="34" charset="-122"/>
                <a:cs typeface="Lato" pitchFamily="34" charset="-120"/>
              </a:rPr>
              <a:t>L'inspection CSSCT</a:t>
            </a:r>
            <a:endParaRPr lang="en-US" sz="1500" dirty="0"/>
          </a:p>
        </p:txBody>
      </p:sp>
      <p:sp>
        <p:nvSpPr>
          <p:cNvPr id="23" name="Text 21"/>
          <p:cNvSpPr txBox="1"/>
          <p:nvPr/>
        </p:nvSpPr>
        <p:spPr>
          <a:xfrm>
            <a:off x="6309360" y="3493008"/>
            <a:ext cx="822960" cy="502920"/>
          </a:xfrm>
          <a:prstGeom prst="rect">
            <a:avLst/>
          </a:prstGeom>
          <a:noFill/>
          <a:ln/>
        </p:spPr>
        <p:txBody>
          <a:bodyPr wrap="square" lIns="0" tIns="0" rIns="0" bIns="0" rtlCol="0" anchor="ctr"/>
          <a:lstStyle/>
          <a:p>
            <a:pPr marL="0" indent="0">
              <a:buNone/>
            </a:pPr>
            <a:r>
              <a:rPr lang="en-US" sz="2600" b="1" dirty="0">
                <a:solidFill>
                  <a:srgbClr val="45818D"/>
                </a:solidFill>
                <a:latin typeface="Lato" pitchFamily="34" charset="0"/>
                <a:ea typeface="Lato" pitchFamily="34" charset="-122"/>
                <a:cs typeface="Lato" pitchFamily="34" charset="-120"/>
              </a:rPr>
              <a:t>08</a:t>
            </a:r>
            <a:endParaRPr lang="en-US" sz="2600" dirty="0"/>
          </a:p>
        </p:txBody>
      </p:sp>
      <p:sp>
        <p:nvSpPr>
          <p:cNvPr id="24" name="Text 22"/>
          <p:cNvSpPr txBox="1"/>
          <p:nvPr/>
        </p:nvSpPr>
        <p:spPr>
          <a:xfrm>
            <a:off x="7178040" y="3493008"/>
            <a:ext cx="4480560" cy="502920"/>
          </a:xfrm>
          <a:prstGeom prst="rect">
            <a:avLst/>
          </a:prstGeom>
          <a:noFill/>
          <a:ln/>
        </p:spPr>
        <p:txBody>
          <a:bodyPr wrap="square" lIns="0" tIns="0" rIns="0" bIns="0" rtlCol="0" anchor="ctr"/>
          <a:lstStyle/>
          <a:p>
            <a:pPr marL="0" indent="0">
              <a:buNone/>
            </a:pPr>
            <a:r>
              <a:rPr lang="en-US" sz="1500" dirty="0">
                <a:solidFill>
                  <a:srgbClr val="595959"/>
                </a:solidFill>
                <a:latin typeface="Lato" pitchFamily="34" charset="0"/>
                <a:ea typeface="Lato" pitchFamily="34" charset="-122"/>
                <a:cs typeface="Lato" pitchFamily="34" charset="-120"/>
              </a:rPr>
              <a:t>Les droits d'alerte</a:t>
            </a:r>
            <a:endParaRPr lang="en-US" sz="1500" dirty="0"/>
          </a:p>
        </p:txBody>
      </p:sp>
      <p:sp>
        <p:nvSpPr>
          <p:cNvPr id="25" name="Text 23"/>
          <p:cNvSpPr txBox="1"/>
          <p:nvPr/>
        </p:nvSpPr>
        <p:spPr>
          <a:xfrm>
            <a:off x="6309360" y="4279392"/>
            <a:ext cx="822960" cy="502920"/>
          </a:xfrm>
          <a:prstGeom prst="rect">
            <a:avLst/>
          </a:prstGeom>
          <a:noFill/>
          <a:ln/>
        </p:spPr>
        <p:txBody>
          <a:bodyPr wrap="square" lIns="0" tIns="0" rIns="0" bIns="0" rtlCol="0" anchor="ctr"/>
          <a:lstStyle/>
          <a:p>
            <a:pPr marL="0" indent="0">
              <a:buNone/>
            </a:pPr>
            <a:r>
              <a:rPr lang="en-US" sz="2600" b="1" dirty="0">
                <a:solidFill>
                  <a:srgbClr val="45818D"/>
                </a:solidFill>
                <a:latin typeface="Lato" pitchFamily="34" charset="0"/>
                <a:ea typeface="Lato" pitchFamily="34" charset="-122"/>
                <a:cs typeface="Lato" pitchFamily="34" charset="-120"/>
              </a:rPr>
              <a:t>09</a:t>
            </a:r>
            <a:endParaRPr lang="en-US" sz="2600" dirty="0"/>
          </a:p>
        </p:txBody>
      </p:sp>
      <p:sp>
        <p:nvSpPr>
          <p:cNvPr id="26" name="Text 24"/>
          <p:cNvSpPr txBox="1"/>
          <p:nvPr/>
        </p:nvSpPr>
        <p:spPr>
          <a:xfrm>
            <a:off x="7178040" y="4279392"/>
            <a:ext cx="4480560" cy="502920"/>
          </a:xfrm>
          <a:prstGeom prst="rect">
            <a:avLst/>
          </a:prstGeom>
          <a:noFill/>
          <a:ln/>
        </p:spPr>
        <p:txBody>
          <a:bodyPr wrap="square" lIns="0" tIns="0" rIns="0" bIns="0" rtlCol="0" anchor="ctr"/>
          <a:lstStyle/>
          <a:p>
            <a:pPr marL="0" indent="0">
              <a:buNone/>
            </a:pPr>
            <a:r>
              <a:rPr lang="en-US" sz="1500" dirty="0">
                <a:solidFill>
                  <a:srgbClr val="595959"/>
                </a:solidFill>
                <a:latin typeface="Lato" pitchFamily="34" charset="0"/>
                <a:ea typeface="Lato" pitchFamily="34" charset="-122"/>
                <a:cs typeface="Lato" pitchFamily="34" charset="-120"/>
              </a:rPr>
              <a:t>Les troubles musculo-squelettiques</a:t>
            </a:r>
            <a:endParaRPr lang="en-US" sz="1500" dirty="0"/>
          </a:p>
        </p:txBody>
      </p:sp>
      <p:sp>
        <p:nvSpPr>
          <p:cNvPr id="27" name="Text 25"/>
          <p:cNvSpPr txBox="1"/>
          <p:nvPr/>
        </p:nvSpPr>
        <p:spPr>
          <a:xfrm>
            <a:off x="6309360" y="5065776"/>
            <a:ext cx="822960" cy="502920"/>
          </a:xfrm>
          <a:prstGeom prst="rect">
            <a:avLst/>
          </a:prstGeom>
          <a:noFill/>
          <a:ln/>
        </p:spPr>
        <p:txBody>
          <a:bodyPr wrap="square" lIns="0" tIns="0" rIns="0" bIns="0" rtlCol="0" anchor="ctr"/>
          <a:lstStyle/>
          <a:p>
            <a:pPr marL="0" indent="0">
              <a:buNone/>
            </a:pPr>
            <a:r>
              <a:rPr lang="en-US" sz="2600" b="1" dirty="0">
                <a:solidFill>
                  <a:srgbClr val="45818D"/>
                </a:solidFill>
                <a:latin typeface="Lato" pitchFamily="34" charset="0"/>
                <a:ea typeface="Lato" pitchFamily="34" charset="-122"/>
                <a:cs typeface="Lato" pitchFamily="34" charset="-120"/>
              </a:rPr>
              <a:t>10</a:t>
            </a:r>
            <a:endParaRPr lang="en-US" sz="2600" dirty="0"/>
          </a:p>
        </p:txBody>
      </p:sp>
      <p:sp>
        <p:nvSpPr>
          <p:cNvPr id="28" name="Text 26"/>
          <p:cNvSpPr txBox="1"/>
          <p:nvPr/>
        </p:nvSpPr>
        <p:spPr>
          <a:xfrm>
            <a:off x="7178040" y="5065776"/>
            <a:ext cx="4480560" cy="502920"/>
          </a:xfrm>
          <a:prstGeom prst="rect">
            <a:avLst/>
          </a:prstGeom>
          <a:noFill/>
          <a:ln/>
        </p:spPr>
        <p:txBody>
          <a:bodyPr wrap="square" lIns="0" tIns="0" rIns="0" bIns="0" rtlCol="0" anchor="ctr"/>
          <a:lstStyle/>
          <a:p>
            <a:pPr marL="0" indent="0">
              <a:buNone/>
            </a:pPr>
            <a:r>
              <a:rPr lang="en-US" sz="1500" dirty="0">
                <a:solidFill>
                  <a:srgbClr val="595959"/>
                </a:solidFill>
                <a:latin typeface="Lato" pitchFamily="34" charset="0"/>
                <a:ea typeface="Lato" pitchFamily="34" charset="-122"/>
                <a:cs typeface="Lato" pitchFamily="34" charset="-120"/>
              </a:rPr>
              <a:t>Les risques psychosociaux</a:t>
            </a:r>
            <a:endParaRPr lang="en-US" sz="1500" dirty="0"/>
          </a:p>
        </p:txBody>
      </p:sp>
      <p:pic>
        <p:nvPicPr>
          <p:cNvPr id="29"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30" name="Text 27"/>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31" name="Text 28"/>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5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5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5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5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45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45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5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450"/>
                                        <p:tgtEl>
                                          <p:spTgt spid="1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45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5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50"/>
                                        <p:tgtEl>
                                          <p:spTgt spid="26"/>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fade">
                                      <p:cBhvr>
                                        <p:cTn id="87" dur="450"/>
                                        <p:tgtEl>
                                          <p:spTgt spid="17"/>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8"/>
                                        </p:tgtEl>
                                        <p:attrNameLst>
                                          <p:attrName>style.visibility</p:attrName>
                                        </p:attrNameLst>
                                      </p:cBhvr>
                                      <p:to>
                                        <p:strVal val="visible"/>
                                      </p:to>
                                    </p:set>
                                    <p:animEffect transition="in" filter="fade">
                                      <p:cBhvr>
                                        <p:cTn id="92" dur="450"/>
                                        <p:tgtEl>
                                          <p:spTgt spid="18"/>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7"/>
                                        </p:tgtEl>
                                        <p:attrNameLst>
                                          <p:attrName>style.visibility</p:attrName>
                                        </p:attrNameLst>
                                      </p:cBhvr>
                                      <p:to>
                                        <p:strVal val="visible"/>
                                      </p:to>
                                    </p:set>
                                    <p:animEffect transition="in" filter="fade">
                                      <p:cBhvr>
                                        <p:cTn id="97" dur="450"/>
                                        <p:tgtEl>
                                          <p:spTgt spid="27"/>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75767"/>
        </a:solidFill>
        <a:effectLst/>
      </p:bgPr>
    </p:bg>
    <p:spTree>
      <p:nvGrpSpPr>
        <p:cNvPr id="1" name=""/>
        <p:cNvGrpSpPr/>
        <p:nvPr/>
      </p:nvGrpSpPr>
      <p:grpSpPr>
        <a:xfrm>
          <a:off x="0" y="0"/>
          <a:ext cx="0" cy="0"/>
          <a:chOff x="0" y="0"/>
          <a:chExt cx="0" cy="0"/>
        </a:xfrm>
      </p:grpSpPr>
      <p:sp>
        <p:nvSpPr>
          <p:cNvPr id="2" name="Shape 0"/>
          <p:cNvSpPr/>
          <p:nvPr/>
        </p:nvSpPr>
        <p:spPr>
          <a:xfrm rot="420000">
            <a:off x="5760720" y="-3749040"/>
            <a:ext cx="10972800" cy="8229600"/>
          </a:xfrm>
          <a:prstGeom prst="ellipse">
            <a:avLst/>
          </a:prstGeom>
          <a:solidFill>
            <a:srgbClr val="0A6C78"/>
          </a:solidFill>
          <a:ln/>
        </p:spPr>
        <p:txBody>
          <a:bodyPr/>
          <a:lstStyle/>
          <a:p>
            <a:endParaRPr/>
          </a:p>
        </p:txBody>
      </p:sp>
      <p:sp>
        <p:nvSpPr>
          <p:cNvPr id="3" name="Shape 1"/>
          <p:cNvSpPr/>
          <p:nvPr/>
        </p:nvSpPr>
        <p:spPr>
          <a:xfrm>
            <a:off x="868680" y="5257800"/>
            <a:ext cx="274320" cy="274320"/>
          </a:xfrm>
          <a:prstGeom prst="ellipse">
            <a:avLst/>
          </a:prstGeom>
          <a:solidFill>
            <a:srgbClr val="F06C23"/>
          </a:solidFill>
          <a:ln/>
        </p:spPr>
        <p:txBody>
          <a:bodyPr/>
          <a:lstStyle/>
          <a:p>
            <a:endParaRPr/>
          </a:p>
        </p:txBody>
      </p:sp>
      <p:sp>
        <p:nvSpPr>
          <p:cNvPr id="4" name="Shape 2"/>
          <p:cNvSpPr/>
          <p:nvPr/>
        </p:nvSpPr>
        <p:spPr>
          <a:xfrm>
            <a:off x="1353312" y="5413248"/>
            <a:ext cx="146304" cy="146304"/>
          </a:xfrm>
          <a:prstGeom prst="ellipse">
            <a:avLst/>
          </a:prstGeom>
          <a:solidFill>
            <a:srgbClr val="C1D5D9"/>
          </a:solidFill>
          <a:ln/>
        </p:spPr>
        <p:txBody>
          <a:bodyPr/>
          <a:lstStyle/>
          <a:p>
            <a:endParaRPr/>
          </a:p>
        </p:txBody>
      </p:sp>
      <p:sp>
        <p:nvSpPr>
          <p:cNvPr id="5" name="Shape 3"/>
          <p:cNvSpPr/>
          <p:nvPr/>
        </p:nvSpPr>
        <p:spPr>
          <a:xfrm>
            <a:off x="1645920" y="5120640"/>
            <a:ext cx="100584" cy="100584"/>
          </a:xfrm>
          <a:prstGeom prst="ellipse">
            <a:avLst/>
          </a:prstGeom>
          <a:solidFill>
            <a:srgbClr val="C1D5D9"/>
          </a:solidFill>
          <a:ln/>
        </p:spPr>
        <p:txBody>
          <a:bodyPr/>
          <a:lstStyle/>
          <a:p>
            <a:endParaRPr/>
          </a:p>
        </p:txBody>
      </p:sp>
      <p:sp>
        <p:nvSpPr>
          <p:cNvPr id="6" name="Text 4"/>
          <p:cNvSpPr txBox="1"/>
          <p:nvPr/>
        </p:nvSpPr>
        <p:spPr>
          <a:xfrm>
            <a:off x="822960" y="1325880"/>
            <a:ext cx="2377440" cy="1691640"/>
          </a:xfrm>
          <a:prstGeom prst="rect">
            <a:avLst/>
          </a:prstGeom>
          <a:noFill/>
          <a:ln/>
        </p:spPr>
        <p:txBody>
          <a:bodyPr wrap="square" lIns="0" tIns="0" rIns="0" bIns="0" rtlCol="0" anchor="t"/>
          <a:lstStyle/>
          <a:p>
            <a:pPr marL="0" indent="0">
              <a:buNone/>
            </a:pPr>
            <a:r>
              <a:rPr lang="en-US" sz="9600" b="1" kern="0" spc="-300" dirty="0">
                <a:solidFill>
                  <a:srgbClr val="F58B60"/>
                </a:solidFill>
                <a:latin typeface="Lato" pitchFamily="34" charset="0"/>
                <a:ea typeface="Lato" pitchFamily="34" charset="-122"/>
                <a:cs typeface="Lato" pitchFamily="34" charset="-120"/>
              </a:rPr>
              <a:t>01</a:t>
            </a:r>
            <a:endParaRPr lang="en-US" sz="9600" dirty="0"/>
          </a:p>
        </p:txBody>
      </p:sp>
      <p:sp>
        <p:nvSpPr>
          <p:cNvPr id="7" name="Text 5"/>
          <p:cNvSpPr txBox="1"/>
          <p:nvPr/>
        </p:nvSpPr>
        <p:spPr>
          <a:xfrm>
            <a:off x="868680" y="3017520"/>
            <a:ext cx="5303520" cy="1005840"/>
          </a:xfrm>
          <a:prstGeom prst="rect">
            <a:avLst/>
          </a:prstGeom>
          <a:noFill/>
          <a:ln/>
        </p:spPr>
        <p:txBody>
          <a:bodyPr wrap="square" lIns="0" tIns="0" rIns="0" bIns="0" rtlCol="0" anchor="t"/>
          <a:lstStyle/>
          <a:p>
            <a:pPr marL="0" indent="0">
              <a:buNone/>
            </a:pPr>
            <a:r>
              <a:rPr lang="en-US" sz="3400" b="1" kern="0" spc="-150" dirty="0">
                <a:solidFill>
                  <a:srgbClr val="FFFFFF"/>
                </a:solidFill>
                <a:latin typeface="Lato" pitchFamily="34" charset="0"/>
                <a:ea typeface="Lato" pitchFamily="34" charset="-122"/>
                <a:cs typeface="Lato" pitchFamily="34" charset="-120"/>
              </a:rPr>
              <a:t>Introduction</a:t>
            </a:r>
            <a:endParaRPr lang="en-US" sz="3400" dirty="0"/>
          </a:p>
        </p:txBody>
      </p:sp>
      <p:sp>
        <p:nvSpPr>
          <p:cNvPr id="8" name="Text 6"/>
          <p:cNvSpPr txBox="1"/>
          <p:nvPr/>
        </p:nvSpPr>
        <p:spPr>
          <a:xfrm>
            <a:off x="868680" y="4023360"/>
            <a:ext cx="5029200" cy="914400"/>
          </a:xfrm>
          <a:prstGeom prst="rect">
            <a:avLst/>
          </a:prstGeom>
          <a:noFill/>
          <a:ln/>
        </p:spPr>
        <p:txBody>
          <a:bodyPr wrap="square" lIns="0" tIns="0" rIns="0" bIns="0" rtlCol="0" anchor="t"/>
          <a:lstStyle/>
          <a:p>
            <a:pPr marL="0" indent="0">
              <a:lnSpc>
                <a:spcPct val="115000"/>
              </a:lnSpc>
              <a:buNone/>
            </a:pPr>
            <a:r>
              <a:rPr lang="en-US" sz="1500" dirty="0">
                <a:solidFill>
                  <a:srgbClr val="C1D5D9"/>
                </a:solidFill>
                <a:latin typeface="Lato" pitchFamily="34" charset="0"/>
                <a:ea typeface="Lato" pitchFamily="34" charset="-122"/>
                <a:cs typeface="Lato" pitchFamily="34" charset="-120"/>
              </a:rPr>
              <a:t>Pourquoi cette formation est-elle ouverte à l'ensemble des membres du CSE ?</a:t>
            </a:r>
            <a:endParaRPr lang="en-US" sz="1500" dirty="0"/>
          </a:p>
        </p:txBody>
      </p:sp>
      <p:sp>
        <p:nvSpPr>
          <p:cNvPr id="12" name="Rounded Rectangle 11"/>
          <p:cNvSpPr/>
          <p:nvPr/>
        </p:nvSpPr>
        <p:spPr>
          <a:xfrm>
            <a:off x="6711696" y="1316736"/>
            <a:ext cx="4892040" cy="448056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mage 0" descr="/home/claude/tmo/build/photos/p02.jpg"/>
          <p:cNvPicPr>
            <a:picLocks noChangeAspect="1"/>
          </p:cNvPicPr>
          <p:nvPr/>
        </p:nvPicPr>
        <p:blipFill>
          <a:blip r:embed="rId3"/>
          <a:srcRect/>
          <a:stretch/>
        </p:blipFill>
        <p:spPr>
          <a:xfrm>
            <a:off x="6583680" y="1188720"/>
            <a:ext cx="4892040" cy="4480560"/>
          </a:xfrm>
          <a:prstGeom prst="roundRect">
            <a:avLst>
              <a:gd name="adj" fmla="val 2200"/>
            </a:avLst>
          </a:prstGeom>
          <a:effectLst>
            <a:outerShdw blurRad="190500" dist="38100" dir="5400000" rotWithShape="0">
              <a:srgbClr val="075767">
                <a:alpha val="22000"/>
              </a:srgbClr>
            </a:outerShdw>
            <a:softEdge rad="32004"/>
          </a:effectLst>
        </p:spPr>
      </p:pic>
      <p:sp>
        <p:nvSpPr>
          <p:cNvPr id="10" name="Shape 7"/>
          <p:cNvSpPr/>
          <p:nvPr/>
        </p:nvSpPr>
        <p:spPr>
          <a:xfrm>
            <a:off x="10929823" y="6071616"/>
            <a:ext cx="603504" cy="603504"/>
          </a:xfrm>
          <a:prstGeom prst="ellipse">
            <a:avLst/>
          </a:prstGeom>
          <a:solidFill>
            <a:srgbClr val="FFFFFF"/>
          </a:solidFill>
          <a:ln/>
        </p:spPr>
        <p:txBody>
          <a:bodyPr/>
          <a:lstStyle/>
          <a:p>
            <a:endParaRPr/>
          </a:p>
        </p:txBody>
      </p:sp>
      <p:pic>
        <p:nvPicPr>
          <p:cNvPr id="11" name="Image 1" descr="/home/claude/tmo/build/logo.png"/>
          <p:cNvPicPr>
            <a:picLocks noChangeAspect="1"/>
          </p:cNvPicPr>
          <p:nvPr/>
        </p:nvPicPr>
        <p:blipFill>
          <a:blip r:embed="rId4"/>
          <a:stretch>
            <a:fillRect/>
          </a:stretch>
        </p:blipFill>
        <p:spPr>
          <a:xfrm>
            <a:off x="10957255" y="6099048"/>
            <a:ext cx="548640" cy="548640"/>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Des IRP au CSE : ce que la fusion a changé</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Introduction</a:t>
            </a:r>
            <a:endParaRPr lang="en-US" sz="1400" dirty="0"/>
          </a:p>
        </p:txBody>
      </p:sp>
      <p:sp>
        <p:nvSpPr>
          <p:cNvPr id="10" name="Shape 8"/>
          <p:cNvSpPr/>
          <p:nvPr/>
        </p:nvSpPr>
        <p:spPr>
          <a:xfrm>
            <a:off x="2057400" y="2743200"/>
            <a:ext cx="8076895" cy="0"/>
          </a:xfrm>
          <a:prstGeom prst="line">
            <a:avLst/>
          </a:prstGeom>
          <a:noFill/>
          <a:ln w="25400">
            <a:solidFill>
              <a:srgbClr val="C1D5D9"/>
            </a:solidFill>
            <a:prstDash val="solid"/>
          </a:ln>
        </p:spPr>
        <p:txBody>
          <a:bodyPr/>
          <a:lstStyle/>
          <a:p>
            <a:endParaRPr/>
          </a:p>
        </p:txBody>
      </p:sp>
      <p:grpSp>
        <p:nvGrpSpPr>
          <p:cNvPr id="9003" name="Bloc 1"/>
          <p:cNvGrpSpPr/>
          <p:nvPr/>
        </p:nvGrpSpPr>
        <p:grpSpPr>
          <a:xfrm>
            <a:off x="1691640" y="2377440"/>
            <a:ext cx="731520" cy="731520"/>
            <a:chOff x="1691640" y="2377440"/>
            <a:chExt cx="731520" cy="731520"/>
          </a:xfrm>
        </p:grpSpPr>
        <p:sp>
          <p:nvSpPr>
            <p:cNvPr id="11" name="Shape 9"/>
            <p:cNvSpPr/>
            <p:nvPr/>
          </p:nvSpPr>
          <p:spPr>
            <a:xfrm>
              <a:off x="1691640" y="2377440"/>
              <a:ext cx="731520" cy="731520"/>
            </a:xfrm>
            <a:prstGeom prst="ellipse">
              <a:avLst/>
            </a:prstGeom>
            <a:solidFill>
              <a:srgbClr val="075767"/>
            </a:solidFill>
            <a:ln w="38100">
              <a:solidFill>
                <a:srgbClr val="FFFFFF"/>
              </a:solidFill>
              <a:prstDash val="solid"/>
            </a:ln>
          </p:spPr>
          <p:txBody>
            <a:bodyPr/>
            <a:lstStyle/>
            <a:p>
              <a:endParaRPr/>
            </a:p>
          </p:txBody>
        </p:sp>
        <p:sp>
          <p:nvSpPr>
            <p:cNvPr id="12" name="Text 10"/>
            <p:cNvSpPr txBox="1"/>
            <p:nvPr/>
          </p:nvSpPr>
          <p:spPr>
            <a:xfrm>
              <a:off x="1691640"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1</a:t>
              </a:r>
              <a:endParaRPr lang="en-US" sz="1900" dirty="0"/>
            </a:p>
          </p:txBody>
        </p:sp>
      </p:grpSp>
      <p:sp>
        <p:nvSpPr>
          <p:cNvPr id="13" name="Text 11"/>
          <p:cNvSpPr txBox="1"/>
          <p:nvPr/>
        </p:nvSpPr>
        <p:spPr>
          <a:xfrm>
            <a:off x="777240"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Avant 2017</a:t>
            </a:r>
            <a:endParaRPr lang="en-US" sz="1550" dirty="0"/>
          </a:p>
        </p:txBody>
      </p:sp>
      <p:sp>
        <p:nvSpPr>
          <p:cNvPr id="14" name="Text 12"/>
          <p:cNvSpPr txBox="1"/>
          <p:nvPr/>
        </p:nvSpPr>
        <p:spPr>
          <a:xfrm>
            <a:off x="777240"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Trois instances distinctes : délégués du personnel, comité d'entreprise, CHSCT</a:t>
            </a:r>
            <a:endParaRPr lang="en-US" sz="1150" dirty="0"/>
          </a:p>
        </p:txBody>
      </p:sp>
      <p:grpSp>
        <p:nvGrpSpPr>
          <p:cNvPr id="9004" name="Bloc 2"/>
          <p:cNvGrpSpPr/>
          <p:nvPr/>
        </p:nvGrpSpPr>
        <p:grpSpPr>
          <a:xfrm>
            <a:off x="5730088" y="2377440"/>
            <a:ext cx="731520" cy="731520"/>
            <a:chOff x="5730088" y="2377440"/>
            <a:chExt cx="731520" cy="731520"/>
          </a:xfrm>
        </p:grpSpPr>
        <p:sp>
          <p:nvSpPr>
            <p:cNvPr id="15" name="Shape 13"/>
            <p:cNvSpPr/>
            <p:nvPr/>
          </p:nvSpPr>
          <p:spPr>
            <a:xfrm>
              <a:off x="5730088" y="2377440"/>
              <a:ext cx="731520" cy="731520"/>
            </a:xfrm>
            <a:prstGeom prst="ellipse">
              <a:avLst/>
            </a:prstGeom>
            <a:solidFill>
              <a:srgbClr val="075767"/>
            </a:solidFill>
            <a:ln w="38100">
              <a:solidFill>
                <a:srgbClr val="FFFFFF"/>
              </a:solidFill>
              <a:prstDash val="solid"/>
            </a:ln>
          </p:spPr>
          <p:txBody>
            <a:bodyPr/>
            <a:lstStyle/>
            <a:p>
              <a:endParaRPr/>
            </a:p>
          </p:txBody>
        </p:sp>
        <p:sp>
          <p:nvSpPr>
            <p:cNvPr id="16" name="Text 14"/>
            <p:cNvSpPr txBox="1"/>
            <p:nvPr/>
          </p:nvSpPr>
          <p:spPr>
            <a:xfrm>
              <a:off x="5730088"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2</a:t>
              </a:r>
              <a:endParaRPr lang="en-US" sz="1900" dirty="0"/>
            </a:p>
          </p:txBody>
        </p:sp>
      </p:grpSp>
      <p:sp>
        <p:nvSpPr>
          <p:cNvPr id="17" name="Text 15"/>
          <p:cNvSpPr txBox="1"/>
          <p:nvPr/>
        </p:nvSpPr>
        <p:spPr>
          <a:xfrm>
            <a:off x="4815688"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Ordonnances 2017</a:t>
            </a:r>
            <a:endParaRPr lang="en-US" sz="1550" dirty="0"/>
          </a:p>
        </p:txBody>
      </p:sp>
      <p:sp>
        <p:nvSpPr>
          <p:cNvPr id="18" name="Text 16"/>
          <p:cNvSpPr txBox="1"/>
          <p:nvPr/>
        </p:nvSpPr>
        <p:spPr>
          <a:xfrm>
            <a:off x="4815688"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Fusion des trois instances en un comité unique, le CSE</a:t>
            </a:r>
            <a:endParaRPr lang="en-US" sz="1150" dirty="0"/>
          </a:p>
        </p:txBody>
      </p:sp>
      <p:grpSp>
        <p:nvGrpSpPr>
          <p:cNvPr id="9005" name="Bloc 3"/>
          <p:cNvGrpSpPr/>
          <p:nvPr/>
        </p:nvGrpSpPr>
        <p:grpSpPr>
          <a:xfrm>
            <a:off x="9768535" y="2377440"/>
            <a:ext cx="731520" cy="731520"/>
            <a:chOff x="9768535" y="2377440"/>
            <a:chExt cx="731520" cy="731520"/>
          </a:xfrm>
        </p:grpSpPr>
        <p:sp>
          <p:nvSpPr>
            <p:cNvPr id="19" name="Shape 17"/>
            <p:cNvSpPr/>
            <p:nvPr/>
          </p:nvSpPr>
          <p:spPr>
            <a:xfrm>
              <a:off x="9768535" y="2377440"/>
              <a:ext cx="731520" cy="731520"/>
            </a:xfrm>
            <a:prstGeom prst="ellipse">
              <a:avLst/>
            </a:prstGeom>
            <a:solidFill>
              <a:srgbClr val="F06C23"/>
            </a:solidFill>
            <a:ln w="38100">
              <a:solidFill>
                <a:srgbClr val="FFFFFF"/>
              </a:solidFill>
              <a:prstDash val="solid"/>
            </a:ln>
          </p:spPr>
          <p:txBody>
            <a:bodyPr/>
            <a:lstStyle/>
            <a:p>
              <a:endParaRPr/>
            </a:p>
          </p:txBody>
        </p:sp>
        <p:sp>
          <p:nvSpPr>
            <p:cNvPr id="20" name="Text 18"/>
            <p:cNvSpPr txBox="1"/>
            <p:nvPr/>
          </p:nvSpPr>
          <p:spPr>
            <a:xfrm>
              <a:off x="9768535"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3</a:t>
              </a:r>
              <a:endParaRPr lang="en-US" sz="1900" dirty="0"/>
            </a:p>
          </p:txBody>
        </p:sp>
      </p:grpSp>
      <p:sp>
        <p:nvSpPr>
          <p:cNvPr id="21" name="Text 19"/>
          <p:cNvSpPr txBox="1"/>
          <p:nvPr/>
        </p:nvSpPr>
        <p:spPr>
          <a:xfrm>
            <a:off x="8854135"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Aujourd'hui</a:t>
            </a:r>
            <a:endParaRPr lang="en-US" sz="1550" dirty="0"/>
          </a:p>
        </p:txBody>
      </p:sp>
      <p:sp>
        <p:nvSpPr>
          <p:cNvPr id="22" name="Text 20"/>
          <p:cNvSpPr txBox="1"/>
          <p:nvPr/>
        </p:nvSpPr>
        <p:spPr>
          <a:xfrm>
            <a:off x="8854135"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Un seul comité, des attributions élargies, une commission SSCT quand le seuil est atteint</a:t>
            </a:r>
            <a:endParaRPr lang="en-US" sz="1150" dirty="0"/>
          </a:p>
        </p:txBody>
      </p:sp>
      <p:grpSp>
        <p:nvGrpSpPr>
          <p:cNvPr id="9006" name="Bloc 11"/>
          <p:cNvGrpSpPr/>
          <p:nvPr/>
        </p:nvGrpSpPr>
        <p:grpSpPr>
          <a:xfrm>
            <a:off x="731520" y="5029200"/>
            <a:ext cx="10728655" cy="841248"/>
            <a:chOff x="731520" y="5029200"/>
            <a:chExt cx="10728655" cy="841248"/>
          </a:xfrm>
        </p:grpSpPr>
        <p:sp>
          <p:nvSpPr>
            <p:cNvPr id="23" name="Shape 21"/>
            <p:cNvSpPr/>
            <p:nvPr/>
          </p:nvSpPr>
          <p:spPr>
            <a:xfrm>
              <a:off x="731520" y="5029200"/>
              <a:ext cx="10728655" cy="841248"/>
            </a:xfrm>
            <a:prstGeom prst="roundRect">
              <a:avLst>
                <a:gd name="adj" fmla="val 6522"/>
              </a:avLst>
            </a:prstGeom>
            <a:solidFill>
              <a:srgbClr val="D7E8EB"/>
            </a:solidFill>
            <a:ln/>
          </p:spPr>
          <p:txBody>
            <a:bodyPr/>
            <a:lstStyle/>
            <a:p>
              <a:endParaRPr/>
            </a:p>
          </p:txBody>
        </p:sp>
        <p:sp>
          <p:nvSpPr>
            <p:cNvPr id="24" name="Text 22"/>
            <p:cNvSpPr txBox="1"/>
            <p:nvPr/>
          </p:nvSpPr>
          <p:spPr>
            <a:xfrm>
              <a:off x="1024128" y="50292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Point de vigilance   </a:t>
              </a:r>
              <a:r>
                <a:rPr lang="en-US" sz="1300" dirty="0">
                  <a:solidFill>
                    <a:srgbClr val="075767"/>
                  </a:solidFill>
                  <a:latin typeface="Lato" pitchFamily="34" charset="0"/>
                  <a:ea typeface="Lato" pitchFamily="34" charset="-122"/>
                  <a:cs typeface="Lato" pitchFamily="34" charset="-120"/>
                </a:rPr>
                <a:t>le CHSCT avait la personnalité morale et pouvait agir en justice seul. Le CSE l'a conservée, mais la CSSCT, elle, ne l'a pas.</a:t>
              </a:r>
              <a:endParaRPr lang="en-US" sz="1250" dirty="0"/>
            </a:p>
          </p:txBody>
        </p:sp>
      </p:grpSp>
      <p:pic>
        <p:nvPicPr>
          <p:cNvPr id="25"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26" name="Text 2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7" name="Shape 24"/>
          <p:cNvSpPr/>
          <p:nvPr/>
        </p:nvSpPr>
        <p:spPr>
          <a:xfrm>
            <a:off x="10591495" y="6181344"/>
            <a:ext cx="438912" cy="438912"/>
          </a:xfrm>
          <a:prstGeom prst="ellipse">
            <a:avLst/>
          </a:prstGeom>
          <a:solidFill>
            <a:srgbClr val="F06C23"/>
          </a:solidFill>
          <a:ln/>
        </p:spPr>
        <p:txBody>
          <a:bodyPr/>
          <a:lstStyle/>
          <a:p>
            <a:endParaRPr/>
          </a:p>
        </p:txBody>
      </p:sp>
      <p:sp>
        <p:nvSpPr>
          <p:cNvPr id="28" name="Text 2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01</a:t>
            </a:r>
            <a:endParaRPr lang="en-US" sz="1100" dirty="0"/>
          </a:p>
        </p:txBody>
      </p:sp>
      <p:sp>
        <p:nvSpPr>
          <p:cNvPr id="29" name="Text 2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03"/>
                                        </p:tgtEl>
                                        <p:attrNameLst>
                                          <p:attrName>style.visibility</p:attrName>
                                        </p:attrNameLst>
                                      </p:cBhvr>
                                      <p:to>
                                        <p:strVal val="visible"/>
                                      </p:to>
                                    </p:set>
                                    <p:animEffect transition="in" filter="fade">
                                      <p:cBhvr>
                                        <p:cTn id="7" dur="450"/>
                                        <p:tgtEl>
                                          <p:spTgt spid="9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04"/>
                                        </p:tgtEl>
                                        <p:attrNameLst>
                                          <p:attrName>style.visibility</p:attrName>
                                        </p:attrNameLst>
                                      </p:cBhvr>
                                      <p:to>
                                        <p:strVal val="visible"/>
                                      </p:to>
                                    </p:set>
                                    <p:animEffect transition="in" filter="fade">
                                      <p:cBhvr>
                                        <p:cTn id="12" dur="450"/>
                                        <p:tgtEl>
                                          <p:spTgt spid="9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05"/>
                                        </p:tgtEl>
                                        <p:attrNameLst>
                                          <p:attrName>style.visibility</p:attrName>
                                        </p:attrNameLst>
                                      </p:cBhvr>
                                      <p:to>
                                        <p:strVal val="visible"/>
                                      </p:to>
                                    </p:set>
                                    <p:animEffect transition="in" filter="fade">
                                      <p:cBhvr>
                                        <p:cTn id="17" dur="450"/>
                                        <p:tgtEl>
                                          <p:spTgt spid="900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5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5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5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9006"/>
                                        </p:tgtEl>
                                        <p:attrNameLst>
                                          <p:attrName>style.visibility</p:attrName>
                                        </p:attrNameLst>
                                      </p:cBhvr>
                                      <p:to>
                                        <p:strVal val="visible"/>
                                      </p:to>
                                    </p:set>
                                    <p:animEffect transition="in" filter="fade">
                                      <p:cBhvr>
                                        <p:cTn id="57" dur="450"/>
                                        <p:tgtEl>
                                          <p:spTgt spid="9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900" b="1" kern="0" spc="-150" dirty="0">
                <a:solidFill>
                  <a:srgbClr val="075767"/>
                </a:solidFill>
                <a:latin typeface="Lato" pitchFamily="34" charset="0"/>
                <a:ea typeface="Lato" pitchFamily="34" charset="-122"/>
                <a:cs typeface="Lato" pitchFamily="34" charset="-120"/>
              </a:rPr>
              <a:t>L'articulation du CSE et de ses commissions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Introduction</a:t>
            </a:r>
            <a:endParaRPr lang="en-US" sz="1400" dirty="0"/>
          </a:p>
        </p:txBody>
      </p:sp>
      <p:pic>
        <p:nvPicPr>
          <p:cNvPr id="25" name="Image 3"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26" name="Text 2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7" name="Shape 21"/>
          <p:cNvSpPr/>
          <p:nvPr/>
        </p:nvSpPr>
        <p:spPr>
          <a:xfrm>
            <a:off x="10591495" y="6181344"/>
            <a:ext cx="438912" cy="438912"/>
          </a:xfrm>
          <a:prstGeom prst="ellipse">
            <a:avLst/>
          </a:prstGeom>
          <a:solidFill>
            <a:srgbClr val="F06C23"/>
          </a:solidFill>
          <a:ln/>
        </p:spPr>
        <p:txBody>
          <a:bodyPr/>
          <a:lstStyle/>
          <a:p>
            <a:endParaRPr/>
          </a:p>
        </p:txBody>
      </p:sp>
      <p:sp>
        <p:nvSpPr>
          <p:cNvPr id="28" name="Text 2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01</a:t>
            </a:r>
            <a:endParaRPr lang="en-US" sz="1100" dirty="0"/>
          </a:p>
        </p:txBody>
      </p:sp>
      <p:sp>
        <p:nvSpPr>
          <p:cNvPr id="29" name="Text 2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7</a:t>
            </a:r>
            <a:endParaRPr lang="en-US" sz="1000" dirty="0"/>
          </a:p>
        </p:txBody>
      </p:sp>
      <p:sp>
        <p:nvSpPr>
          <p:cNvPr id="30" name="Oval 29"/>
          <p:cNvSpPr/>
          <p:nvPr/>
        </p:nvSpPr>
        <p:spPr>
          <a:xfrm>
            <a:off x="4206240" y="1874519"/>
            <a:ext cx="3776472" cy="1325880"/>
          </a:xfrm>
          <a:prstGeom prst="ellipse">
            <a:avLst/>
          </a:prstGeom>
          <a:solidFill>
            <a:srgbClr val="07576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Lato"/>
              </a:rPr>
              <a:t>Comité social
et économique</a:t>
            </a:r>
          </a:p>
        </p:txBody>
      </p:sp>
      <p:sp>
        <p:nvSpPr>
          <p:cNvPr id="31" name="Rectangle 30"/>
          <p:cNvSpPr/>
          <p:nvPr/>
        </p:nvSpPr>
        <p:spPr>
          <a:xfrm>
            <a:off x="1563624" y="3200400"/>
            <a:ext cx="27432" cy="530352"/>
          </a:xfrm>
          <a:prstGeom prst="rect">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31520" y="3730752"/>
            <a:ext cx="1691640" cy="1691640"/>
          </a:xfrm>
          <a:prstGeom prst="ellipse">
            <a:avLst/>
          </a:prstGeom>
          <a:solidFill>
            <a:srgbClr val="07576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FFFFFF"/>
                </a:solidFill>
                <a:latin typeface="Lato"/>
              </a:rPr>
              <a:t>CSSCT</a:t>
            </a:r>
          </a:p>
        </p:txBody>
      </p:sp>
      <p:sp>
        <p:nvSpPr>
          <p:cNvPr id="33" name="TextBox 32"/>
          <p:cNvSpPr txBox="1"/>
          <p:nvPr/>
        </p:nvSpPr>
        <p:spPr>
          <a:xfrm>
            <a:off x="731520" y="5486400"/>
            <a:ext cx="1691640" cy="256032"/>
          </a:xfrm>
          <a:prstGeom prst="rect">
            <a:avLst/>
          </a:prstGeom>
          <a:noFill/>
        </p:spPr>
        <p:txBody>
          <a:bodyPr wrap="square" lIns="0" tIns="0" rIns="0" bIns="0" anchor="t">
            <a:spAutoFit/>
          </a:bodyPr>
          <a:lstStyle/>
          <a:p>
            <a:pPr algn="ctr"/>
            <a:r>
              <a:rPr sz="900" b="0">
                <a:solidFill>
                  <a:srgbClr val="45818D"/>
                </a:solidFill>
                <a:latin typeface="Lato"/>
              </a:rPr>
              <a:t>L. 2315-36</a:t>
            </a:r>
          </a:p>
        </p:txBody>
      </p:sp>
      <p:sp>
        <p:nvSpPr>
          <p:cNvPr id="34" name="Rectangle 33"/>
          <p:cNvSpPr/>
          <p:nvPr/>
        </p:nvSpPr>
        <p:spPr>
          <a:xfrm>
            <a:off x="3374136" y="3200400"/>
            <a:ext cx="27432" cy="530352"/>
          </a:xfrm>
          <a:prstGeom prst="rect">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542032" y="3730752"/>
            <a:ext cx="1691640" cy="1691640"/>
          </a:xfrm>
          <a:prstGeom prst="ellipse">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FFFFFF"/>
                </a:solidFill>
                <a:latin typeface="Lato"/>
              </a:rPr>
              <a:t>Formation</a:t>
            </a:r>
          </a:p>
        </p:txBody>
      </p:sp>
      <p:sp>
        <p:nvSpPr>
          <p:cNvPr id="36" name="TextBox 35"/>
          <p:cNvSpPr txBox="1"/>
          <p:nvPr/>
        </p:nvSpPr>
        <p:spPr>
          <a:xfrm>
            <a:off x="2542032" y="5486400"/>
            <a:ext cx="1691640" cy="256032"/>
          </a:xfrm>
          <a:prstGeom prst="rect">
            <a:avLst/>
          </a:prstGeom>
          <a:noFill/>
        </p:spPr>
        <p:txBody>
          <a:bodyPr wrap="square" lIns="0" tIns="0" rIns="0" bIns="0" anchor="t">
            <a:spAutoFit/>
          </a:bodyPr>
          <a:lstStyle/>
          <a:p>
            <a:pPr algn="ctr"/>
            <a:r>
              <a:rPr sz="900" b="0">
                <a:solidFill>
                  <a:srgbClr val="45818D"/>
                </a:solidFill>
                <a:latin typeface="Lato"/>
              </a:rPr>
              <a:t>L. 2315-49</a:t>
            </a:r>
          </a:p>
        </p:txBody>
      </p:sp>
      <p:sp>
        <p:nvSpPr>
          <p:cNvPr id="37" name="Rectangle 36"/>
          <p:cNvSpPr/>
          <p:nvPr/>
        </p:nvSpPr>
        <p:spPr>
          <a:xfrm>
            <a:off x="5184648" y="3200400"/>
            <a:ext cx="27432" cy="530352"/>
          </a:xfrm>
          <a:prstGeom prst="rect">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352544" y="3730752"/>
            <a:ext cx="1691640" cy="1691640"/>
          </a:xfrm>
          <a:prstGeom prst="ellipse">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FFFFFF"/>
                </a:solidFill>
                <a:latin typeface="Lato"/>
              </a:rPr>
              <a:t>Information
et aide
au logement</a:t>
            </a:r>
          </a:p>
        </p:txBody>
      </p:sp>
      <p:sp>
        <p:nvSpPr>
          <p:cNvPr id="39" name="TextBox 38"/>
          <p:cNvSpPr txBox="1"/>
          <p:nvPr/>
        </p:nvSpPr>
        <p:spPr>
          <a:xfrm>
            <a:off x="4352544" y="5486400"/>
            <a:ext cx="1691640" cy="256032"/>
          </a:xfrm>
          <a:prstGeom prst="rect">
            <a:avLst/>
          </a:prstGeom>
          <a:noFill/>
        </p:spPr>
        <p:txBody>
          <a:bodyPr wrap="square" lIns="0" tIns="0" rIns="0" bIns="0" anchor="t">
            <a:spAutoFit/>
          </a:bodyPr>
          <a:lstStyle/>
          <a:p>
            <a:pPr algn="ctr"/>
            <a:r>
              <a:rPr sz="900" b="0">
                <a:solidFill>
                  <a:srgbClr val="45818D"/>
                </a:solidFill>
                <a:latin typeface="Lato"/>
              </a:rPr>
              <a:t>L. 2315-50</a:t>
            </a:r>
          </a:p>
        </p:txBody>
      </p:sp>
      <p:sp>
        <p:nvSpPr>
          <p:cNvPr id="40" name="Rectangle 39"/>
          <p:cNvSpPr/>
          <p:nvPr/>
        </p:nvSpPr>
        <p:spPr>
          <a:xfrm>
            <a:off x="6995159" y="3200400"/>
            <a:ext cx="27432" cy="530352"/>
          </a:xfrm>
          <a:prstGeom prst="rect">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6163055" y="3730752"/>
            <a:ext cx="1691640" cy="1691640"/>
          </a:xfrm>
          <a:prstGeom prst="ellipse">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FFFFFF"/>
                </a:solidFill>
                <a:latin typeface="Lato"/>
              </a:rPr>
              <a:t>Égalité
professionnelle</a:t>
            </a:r>
          </a:p>
        </p:txBody>
      </p:sp>
      <p:sp>
        <p:nvSpPr>
          <p:cNvPr id="42" name="TextBox 41"/>
          <p:cNvSpPr txBox="1"/>
          <p:nvPr/>
        </p:nvSpPr>
        <p:spPr>
          <a:xfrm>
            <a:off x="6163055" y="5486400"/>
            <a:ext cx="1691640" cy="256032"/>
          </a:xfrm>
          <a:prstGeom prst="rect">
            <a:avLst/>
          </a:prstGeom>
          <a:noFill/>
        </p:spPr>
        <p:txBody>
          <a:bodyPr wrap="square" lIns="0" tIns="0" rIns="0" bIns="0" anchor="t">
            <a:spAutoFit/>
          </a:bodyPr>
          <a:lstStyle/>
          <a:p>
            <a:pPr algn="ctr"/>
            <a:r>
              <a:rPr sz="900" b="0">
                <a:solidFill>
                  <a:srgbClr val="45818D"/>
                </a:solidFill>
                <a:latin typeface="Lato"/>
              </a:rPr>
              <a:t>L. 2315-56</a:t>
            </a:r>
          </a:p>
        </p:txBody>
      </p:sp>
      <p:sp>
        <p:nvSpPr>
          <p:cNvPr id="43" name="Rectangle 42"/>
          <p:cNvSpPr/>
          <p:nvPr/>
        </p:nvSpPr>
        <p:spPr>
          <a:xfrm>
            <a:off x="8805672" y="3200400"/>
            <a:ext cx="27432" cy="530352"/>
          </a:xfrm>
          <a:prstGeom prst="rect">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973568" y="3730752"/>
            <a:ext cx="1691640" cy="1691640"/>
          </a:xfrm>
          <a:prstGeom prst="ellipse">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FFFFFF"/>
                </a:solidFill>
                <a:latin typeface="Lato"/>
              </a:rPr>
              <a:t>Économique</a:t>
            </a:r>
          </a:p>
        </p:txBody>
      </p:sp>
      <p:sp>
        <p:nvSpPr>
          <p:cNvPr id="45" name="TextBox 44"/>
          <p:cNvSpPr txBox="1"/>
          <p:nvPr/>
        </p:nvSpPr>
        <p:spPr>
          <a:xfrm>
            <a:off x="7973568" y="5486400"/>
            <a:ext cx="1691640" cy="256032"/>
          </a:xfrm>
          <a:prstGeom prst="rect">
            <a:avLst/>
          </a:prstGeom>
          <a:noFill/>
        </p:spPr>
        <p:txBody>
          <a:bodyPr wrap="square" lIns="0" tIns="0" rIns="0" bIns="0" anchor="t">
            <a:spAutoFit/>
          </a:bodyPr>
          <a:lstStyle/>
          <a:p>
            <a:pPr algn="ctr"/>
            <a:r>
              <a:rPr sz="900" b="0">
                <a:solidFill>
                  <a:srgbClr val="45818D"/>
                </a:solidFill>
                <a:latin typeface="Lato"/>
              </a:rPr>
              <a:t>L. 2315-46</a:t>
            </a:r>
          </a:p>
        </p:txBody>
      </p:sp>
      <p:sp>
        <p:nvSpPr>
          <p:cNvPr id="46" name="Rectangle 45"/>
          <p:cNvSpPr/>
          <p:nvPr/>
        </p:nvSpPr>
        <p:spPr>
          <a:xfrm>
            <a:off x="10616184" y="3200400"/>
            <a:ext cx="27432" cy="530352"/>
          </a:xfrm>
          <a:prstGeom prst="rect">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784080" y="3730752"/>
            <a:ext cx="1691640" cy="1691640"/>
          </a:xfrm>
          <a:prstGeom prst="ellipse">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FFFFFF"/>
                </a:solidFill>
                <a:latin typeface="Lato"/>
              </a:rPr>
              <a:t>Des marchés</a:t>
            </a:r>
          </a:p>
        </p:txBody>
      </p:sp>
      <p:sp>
        <p:nvSpPr>
          <p:cNvPr id="48" name="TextBox 47"/>
          <p:cNvSpPr txBox="1"/>
          <p:nvPr/>
        </p:nvSpPr>
        <p:spPr>
          <a:xfrm>
            <a:off x="9784080" y="5486400"/>
            <a:ext cx="1691640" cy="256032"/>
          </a:xfrm>
          <a:prstGeom prst="rect">
            <a:avLst/>
          </a:prstGeom>
          <a:noFill/>
        </p:spPr>
        <p:txBody>
          <a:bodyPr wrap="square" lIns="0" tIns="0" rIns="0" bIns="0" anchor="t">
            <a:spAutoFit/>
          </a:bodyPr>
          <a:lstStyle/>
          <a:p>
            <a:pPr algn="ctr"/>
            <a:r>
              <a:rPr sz="900" b="0">
                <a:solidFill>
                  <a:srgbClr val="45818D"/>
                </a:solidFill>
                <a:latin typeface="Lato"/>
              </a:rPr>
              <a:t>L. 2315-44-1</a:t>
            </a:r>
          </a:p>
        </p:txBody>
      </p:sp>
      <p:sp>
        <p:nvSpPr>
          <p:cNvPr id="49" name="Rectangle 48"/>
          <p:cNvSpPr/>
          <p:nvPr/>
        </p:nvSpPr>
        <p:spPr>
          <a:xfrm>
            <a:off x="795528" y="3182112"/>
            <a:ext cx="10588752" cy="27432"/>
          </a:xfrm>
          <a:prstGeom prst="rect">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5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fade">
                                      <p:cBhvr>
                                        <p:cTn id="12" dur="45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5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45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5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45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450"/>
                                        <p:tgtEl>
                                          <p:spTgt spid="4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450"/>
                                        <p:tgtEl>
                                          <p:spTgt spid="4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45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50"/>
                                        <p:tgtEl>
                                          <p:spTgt spid="3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5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450"/>
                                        <p:tgtEl>
                                          <p:spTgt spid="4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fade">
                                      <p:cBhvr>
                                        <p:cTn id="67" dur="450"/>
                                        <p:tgtEl>
                                          <p:spTgt spid="4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450"/>
                                        <p:tgtEl>
                                          <p:spTgt spid="4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450"/>
                                        <p:tgtEl>
                                          <p:spTgt spid="3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450"/>
                                        <p:tgtEl>
                                          <p:spTgt spid="36"/>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9"/>
                                        </p:tgtEl>
                                        <p:attrNameLst>
                                          <p:attrName>style.visibility</p:attrName>
                                        </p:attrNameLst>
                                      </p:cBhvr>
                                      <p:to>
                                        <p:strVal val="visible"/>
                                      </p:to>
                                    </p:set>
                                    <p:animEffect transition="in" filter="fade">
                                      <p:cBhvr>
                                        <p:cTn id="87" dur="450"/>
                                        <p:tgtEl>
                                          <p:spTgt spid="3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50"/>
                                        <p:tgtEl>
                                          <p:spTgt spid="42"/>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45"/>
                                        </p:tgtEl>
                                        <p:attrNameLst>
                                          <p:attrName>style.visibility</p:attrName>
                                        </p:attrNameLst>
                                      </p:cBhvr>
                                      <p:to>
                                        <p:strVal val="visible"/>
                                      </p:to>
                                    </p:set>
                                    <p:animEffect transition="in" filter="fade">
                                      <p:cBhvr>
                                        <p:cTn id="97" dur="450"/>
                                        <p:tgtEl>
                                          <p:spTgt spid="45"/>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48"/>
                                        </p:tgtEl>
                                        <p:attrNameLst>
                                          <p:attrName>style.visibility</p:attrName>
                                        </p:attrNameLst>
                                      </p:cBhvr>
                                      <p:to>
                                        <p:strVal val="visible"/>
                                      </p:to>
                                    </p:set>
                                    <p:animEffect transition="in" filter="fade">
                                      <p:cBhvr>
                                        <p:cTn id="102" dur="4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champs d'attribution du CSE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Introduction</a:t>
            </a:r>
            <a:endParaRPr lang="en-US" sz="1400" dirty="0"/>
          </a:p>
        </p:txBody>
      </p:sp>
      <p:grpSp>
        <p:nvGrpSpPr>
          <p:cNvPr id="9007" name="Bloc 1"/>
          <p:cNvGrpSpPr/>
          <p:nvPr/>
        </p:nvGrpSpPr>
        <p:grpSpPr>
          <a:xfrm>
            <a:off x="731520" y="1965960"/>
            <a:ext cx="3332378" cy="3108960"/>
            <a:chOff x="731520" y="1965960"/>
            <a:chExt cx="3332378" cy="3108960"/>
          </a:xfrm>
        </p:grpSpPr>
        <p:sp>
          <p:nvSpPr>
            <p:cNvPr id="10" name="Shape 8"/>
            <p:cNvSpPr/>
            <p:nvPr/>
          </p:nvSpPr>
          <p:spPr>
            <a:xfrm>
              <a:off x="731520" y="1965960"/>
              <a:ext cx="3332378" cy="3108960"/>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graphiqu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Économique</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Marche générale de l'entreprise, orientations stratégiques, situation financière, politique sociale.</a:t>
              </a:r>
              <a:endParaRPr lang="en-US" sz="1250" dirty="0"/>
            </a:p>
          </p:txBody>
        </p:sp>
      </p:grpSp>
      <p:grpSp>
        <p:nvGrpSpPr>
          <p:cNvPr id="9008"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bouclier-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Santé et sécurité</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Analyse des risques, inspections, enquêtes, DUERP, alertes, le champ de la CSSCT.</a:t>
              </a:r>
              <a:endParaRPr lang="en-US" sz="1250" dirty="0"/>
            </a:p>
          </p:txBody>
        </p:sp>
      </p:grpSp>
      <p:grpSp>
        <p:nvGrpSpPr>
          <p:cNvPr id="9009" name="Bloc 3"/>
          <p:cNvGrpSpPr/>
          <p:nvPr/>
        </p:nvGrpSpPr>
        <p:grpSpPr>
          <a:xfrm>
            <a:off x="8127797" y="1965960"/>
            <a:ext cx="3332378" cy="3108960"/>
            <a:chOff x="8127797" y="1965960"/>
            <a:chExt cx="3332378" cy="3108960"/>
          </a:xfrm>
        </p:grpSpPr>
        <p:sp>
          <p:nvSpPr>
            <p:cNvPr id="20" name="Shape 16"/>
            <p:cNvSpPr/>
            <p:nvPr/>
          </p:nvSpPr>
          <p:spPr>
            <a:xfrm>
              <a:off x="8127797" y="1965960"/>
              <a:ext cx="3332378" cy="3108960"/>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equipe-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Activités sociales</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Œuvres sociales et culturelles, égalité professionnelle, information et aide au logement.</a:t>
              </a:r>
              <a:endParaRPr lang="en-US" sz="1250" dirty="0"/>
            </a:p>
          </p:txBody>
        </p:sp>
      </p:grpSp>
      <p:pic>
        <p:nvPicPr>
          <p:cNvPr id="25"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6" name="Text 2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7" name="Shape 21"/>
          <p:cNvSpPr/>
          <p:nvPr/>
        </p:nvSpPr>
        <p:spPr>
          <a:xfrm>
            <a:off x="10591495" y="6181344"/>
            <a:ext cx="438912" cy="438912"/>
          </a:xfrm>
          <a:prstGeom prst="ellipse">
            <a:avLst/>
          </a:prstGeom>
          <a:solidFill>
            <a:srgbClr val="F06C23"/>
          </a:solidFill>
          <a:ln/>
        </p:spPr>
        <p:txBody>
          <a:bodyPr/>
          <a:lstStyle/>
          <a:p>
            <a:endParaRPr/>
          </a:p>
        </p:txBody>
      </p:sp>
      <p:sp>
        <p:nvSpPr>
          <p:cNvPr id="28" name="Text 2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01</a:t>
            </a:r>
            <a:endParaRPr lang="en-US" sz="1100" dirty="0"/>
          </a:p>
        </p:txBody>
      </p:sp>
      <p:sp>
        <p:nvSpPr>
          <p:cNvPr id="29" name="Text 2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07"/>
                                        </p:tgtEl>
                                        <p:attrNameLst>
                                          <p:attrName>style.visibility</p:attrName>
                                        </p:attrNameLst>
                                      </p:cBhvr>
                                      <p:to>
                                        <p:strVal val="visible"/>
                                      </p:to>
                                    </p:set>
                                    <p:animEffect transition="in" filter="fade">
                                      <p:cBhvr>
                                        <p:cTn id="7" dur="450"/>
                                        <p:tgtEl>
                                          <p:spTgt spid="90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08"/>
                                        </p:tgtEl>
                                        <p:attrNameLst>
                                          <p:attrName>style.visibility</p:attrName>
                                        </p:attrNameLst>
                                      </p:cBhvr>
                                      <p:to>
                                        <p:strVal val="visible"/>
                                      </p:to>
                                    </p:set>
                                    <p:animEffect transition="in" filter="fade">
                                      <p:cBhvr>
                                        <p:cTn id="12" dur="450"/>
                                        <p:tgtEl>
                                          <p:spTgt spid="900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09"/>
                                        </p:tgtEl>
                                        <p:attrNameLst>
                                          <p:attrName>style.visibility</p:attrName>
                                        </p:attrNameLst>
                                      </p:cBhvr>
                                      <p:to>
                                        <p:strVal val="visible"/>
                                      </p:to>
                                    </p:set>
                                    <p:animEffect transition="in" filter="fade">
                                      <p:cBhvr>
                                        <p:cTn id="17" dur="450"/>
                                        <p:tgtEl>
                                          <p:spTgt spid="9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75767"/>
        </a:solidFill>
        <a:effectLst/>
      </p:bgPr>
    </p:bg>
    <p:spTree>
      <p:nvGrpSpPr>
        <p:cNvPr id="1" name=""/>
        <p:cNvGrpSpPr/>
        <p:nvPr/>
      </p:nvGrpSpPr>
      <p:grpSpPr>
        <a:xfrm>
          <a:off x="0" y="0"/>
          <a:ext cx="0" cy="0"/>
          <a:chOff x="0" y="0"/>
          <a:chExt cx="0" cy="0"/>
        </a:xfrm>
      </p:grpSpPr>
      <p:sp>
        <p:nvSpPr>
          <p:cNvPr id="2" name="Shape 0"/>
          <p:cNvSpPr/>
          <p:nvPr/>
        </p:nvSpPr>
        <p:spPr>
          <a:xfrm rot="420000">
            <a:off x="5760720" y="-3749040"/>
            <a:ext cx="10972800" cy="8229600"/>
          </a:xfrm>
          <a:prstGeom prst="ellipse">
            <a:avLst/>
          </a:prstGeom>
          <a:solidFill>
            <a:srgbClr val="0A6C78"/>
          </a:solidFill>
          <a:ln/>
        </p:spPr>
        <p:txBody>
          <a:bodyPr/>
          <a:lstStyle/>
          <a:p>
            <a:endParaRPr/>
          </a:p>
        </p:txBody>
      </p:sp>
      <p:sp>
        <p:nvSpPr>
          <p:cNvPr id="3" name="Shape 1"/>
          <p:cNvSpPr/>
          <p:nvPr/>
        </p:nvSpPr>
        <p:spPr>
          <a:xfrm>
            <a:off x="868680" y="5788152"/>
            <a:ext cx="274320" cy="274320"/>
          </a:xfrm>
          <a:prstGeom prst="ellipse">
            <a:avLst/>
          </a:prstGeom>
          <a:solidFill>
            <a:srgbClr val="F06C23"/>
          </a:solidFill>
          <a:ln/>
        </p:spPr>
        <p:txBody>
          <a:bodyPr/>
          <a:lstStyle/>
          <a:p>
            <a:endParaRPr/>
          </a:p>
        </p:txBody>
      </p:sp>
      <p:sp>
        <p:nvSpPr>
          <p:cNvPr id="4" name="Shape 2"/>
          <p:cNvSpPr/>
          <p:nvPr/>
        </p:nvSpPr>
        <p:spPr>
          <a:xfrm>
            <a:off x="1353312" y="5943600"/>
            <a:ext cx="146304" cy="146304"/>
          </a:xfrm>
          <a:prstGeom prst="ellipse">
            <a:avLst/>
          </a:prstGeom>
          <a:solidFill>
            <a:srgbClr val="C1D5D9"/>
          </a:solidFill>
          <a:ln/>
        </p:spPr>
        <p:txBody>
          <a:bodyPr/>
          <a:lstStyle/>
          <a:p>
            <a:endParaRPr/>
          </a:p>
        </p:txBody>
      </p:sp>
      <p:sp>
        <p:nvSpPr>
          <p:cNvPr id="5" name="Shape 3"/>
          <p:cNvSpPr/>
          <p:nvPr/>
        </p:nvSpPr>
        <p:spPr>
          <a:xfrm>
            <a:off x="1645920" y="5650992"/>
            <a:ext cx="100584" cy="100584"/>
          </a:xfrm>
          <a:prstGeom prst="ellipse">
            <a:avLst/>
          </a:prstGeom>
          <a:solidFill>
            <a:srgbClr val="C1D5D9"/>
          </a:solidFill>
          <a:ln/>
        </p:spPr>
        <p:txBody>
          <a:bodyPr/>
          <a:lstStyle/>
          <a:p>
            <a:endParaRPr/>
          </a:p>
        </p:txBody>
      </p:sp>
      <p:sp>
        <p:nvSpPr>
          <p:cNvPr id="6" name="Text 4"/>
          <p:cNvSpPr txBox="1"/>
          <p:nvPr/>
        </p:nvSpPr>
        <p:spPr>
          <a:xfrm>
            <a:off x="822960" y="1325880"/>
            <a:ext cx="2377440" cy="1691640"/>
          </a:xfrm>
          <a:prstGeom prst="rect">
            <a:avLst/>
          </a:prstGeom>
          <a:noFill/>
          <a:ln/>
        </p:spPr>
        <p:txBody>
          <a:bodyPr wrap="square" lIns="0" tIns="0" rIns="0" bIns="0" rtlCol="0" anchor="t"/>
          <a:lstStyle/>
          <a:p>
            <a:pPr marL="0" indent="0">
              <a:buNone/>
            </a:pPr>
            <a:r>
              <a:rPr lang="en-US" sz="9600" b="1" kern="0" spc="-300" dirty="0">
                <a:solidFill>
                  <a:srgbClr val="F58B60"/>
                </a:solidFill>
                <a:latin typeface="Lato" pitchFamily="34" charset="0"/>
                <a:ea typeface="Lato" pitchFamily="34" charset="-122"/>
                <a:cs typeface="Lato" pitchFamily="34" charset="-120"/>
              </a:rPr>
              <a:t>02</a:t>
            </a:r>
            <a:endParaRPr lang="en-US" sz="9600" dirty="0"/>
          </a:p>
        </p:txBody>
      </p:sp>
      <p:sp>
        <p:nvSpPr>
          <p:cNvPr id="7" name="Text 5"/>
          <p:cNvSpPr txBox="1"/>
          <p:nvPr/>
        </p:nvSpPr>
        <p:spPr>
          <a:xfrm>
            <a:off x="868680" y="3017520"/>
            <a:ext cx="5303520" cy="1536192"/>
          </a:xfrm>
          <a:prstGeom prst="rect">
            <a:avLst/>
          </a:prstGeom>
          <a:noFill/>
          <a:ln/>
        </p:spPr>
        <p:txBody>
          <a:bodyPr wrap="square" lIns="0" tIns="0" rIns="0" bIns="0" rtlCol="0" anchor="t"/>
          <a:lstStyle/>
          <a:p>
            <a:pPr marL="0" indent="0">
              <a:buNone/>
            </a:pPr>
            <a:r>
              <a:rPr lang="en-US" sz="3400" b="1" kern="0" spc="-150" dirty="0">
                <a:solidFill>
                  <a:srgbClr val="FFFFFF"/>
                </a:solidFill>
                <a:latin typeface="Lato" pitchFamily="34" charset="0"/>
                <a:ea typeface="Lato" pitchFamily="34" charset="-122"/>
                <a:cs typeface="Lato" pitchFamily="34" charset="-120"/>
              </a:rPr>
              <a:t>Du CSE</a:t>
            </a:r>
            <a:endParaRPr lang="en-US" sz="3400" dirty="0"/>
          </a:p>
          <a:p>
            <a:pPr marL="0" indent="0">
              <a:buNone/>
            </a:pPr>
            <a:r>
              <a:rPr lang="en-US" sz="3400" b="1" kern="0" spc="-150" dirty="0">
                <a:solidFill>
                  <a:srgbClr val="FFFFFF"/>
                </a:solidFill>
                <a:latin typeface="Lato" pitchFamily="34" charset="0"/>
                <a:ea typeface="Lato" pitchFamily="34" charset="-122"/>
                <a:cs typeface="Lato" pitchFamily="34" charset="-120"/>
              </a:rPr>
              <a:t>à la CSSCT</a:t>
            </a:r>
            <a:endParaRPr lang="en-US" sz="3400" dirty="0"/>
          </a:p>
        </p:txBody>
      </p:sp>
      <p:sp>
        <p:nvSpPr>
          <p:cNvPr id="8" name="Text 6"/>
          <p:cNvSpPr txBox="1"/>
          <p:nvPr/>
        </p:nvSpPr>
        <p:spPr>
          <a:xfrm>
            <a:off x="868680" y="4023360"/>
            <a:ext cx="5029200" cy="914400"/>
          </a:xfrm>
          <a:prstGeom prst="rect">
            <a:avLst/>
          </a:prstGeom>
          <a:noFill/>
          <a:ln/>
        </p:spPr>
        <p:txBody>
          <a:bodyPr wrap="square" lIns="0" tIns="0" rIns="0" bIns="0" rtlCol="0" anchor="t"/>
          <a:lstStyle/>
          <a:p>
            <a:pPr marL="0" indent="0">
              <a:lnSpc>
                <a:spcPct val="115000"/>
              </a:lnSpc>
              <a:buNone/>
            </a:pPr>
            <a:endParaRPr lang="en-US" sz="1500" dirty="0"/>
          </a:p>
        </p:txBody>
      </p:sp>
      <p:sp>
        <p:nvSpPr>
          <p:cNvPr id="12" name="Rounded Rectangle 11"/>
          <p:cNvSpPr/>
          <p:nvPr/>
        </p:nvSpPr>
        <p:spPr>
          <a:xfrm>
            <a:off x="6711696" y="1316736"/>
            <a:ext cx="4892040" cy="448056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mage 0" descr="/home/claude/tmo/build/photos/p04.jpg"/>
          <p:cNvPicPr>
            <a:picLocks noChangeAspect="1"/>
          </p:cNvPicPr>
          <p:nvPr/>
        </p:nvPicPr>
        <p:blipFill>
          <a:blip r:embed="rId3"/>
          <a:srcRect/>
          <a:stretch/>
        </p:blipFill>
        <p:spPr>
          <a:xfrm>
            <a:off x="6583680" y="1188720"/>
            <a:ext cx="4892040" cy="4480560"/>
          </a:xfrm>
          <a:prstGeom prst="roundRect">
            <a:avLst>
              <a:gd name="adj" fmla="val 2200"/>
            </a:avLst>
          </a:prstGeom>
          <a:effectLst>
            <a:outerShdw blurRad="190500" dist="38100" dir="5400000" rotWithShape="0">
              <a:srgbClr val="075767">
                <a:alpha val="22000"/>
              </a:srgbClr>
            </a:outerShdw>
            <a:softEdge rad="32004"/>
          </a:effectLst>
        </p:spPr>
      </p:pic>
      <p:sp>
        <p:nvSpPr>
          <p:cNvPr id="10" name="Shape 7"/>
          <p:cNvSpPr/>
          <p:nvPr/>
        </p:nvSpPr>
        <p:spPr>
          <a:xfrm>
            <a:off x="10929823" y="6071616"/>
            <a:ext cx="603504" cy="603504"/>
          </a:xfrm>
          <a:prstGeom prst="ellipse">
            <a:avLst/>
          </a:prstGeom>
          <a:solidFill>
            <a:srgbClr val="FFFFFF"/>
          </a:solidFill>
          <a:ln/>
        </p:spPr>
        <p:txBody>
          <a:bodyPr/>
          <a:lstStyle/>
          <a:p>
            <a:endParaRPr/>
          </a:p>
        </p:txBody>
      </p:sp>
      <p:pic>
        <p:nvPicPr>
          <p:cNvPr id="11" name="Image 1" descr="/home/claude/tmo/build/logo.png"/>
          <p:cNvPicPr>
            <a:picLocks noChangeAspect="1"/>
          </p:cNvPicPr>
          <p:nvPr/>
        </p:nvPicPr>
        <p:blipFill>
          <a:blip r:embed="rId4"/>
          <a:stretch>
            <a:fillRect/>
          </a:stretch>
        </p:blipFill>
        <p:spPr>
          <a:xfrm>
            <a:off x="10957255" y="6099048"/>
            <a:ext cx="548640" cy="548640"/>
          </a:xfrm>
          <a:prstGeom prst="rect">
            <a:avLst/>
          </a:prstGeom>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 composition de la CSSCT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1828800"/>
            <a:ext cx="10728655" cy="397764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L'employeur, qui en est le président, ou son représentant</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Il peut se faire assister de collaborateurs de l'entreprise choisis en dehors du CSE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Ensemble, ils ne peuvent être plus nombreux que les représentants du personnel</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Trois représentants du personnel au minimum</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Désignés par le CSE à la majorité des membres présents, dont au moins un du 2ᵉ collège</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Avec voix consultative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 médecin du travail et le responsable interne de la sécurité et des conditions de travail</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Invités de droit aux réunions</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L'agent de contrôle de l'inspection du travail et les agents de prévention des organismes de sécurité sociale</a:t>
            </a:r>
            <a:endParaRPr lang="en-US" sz="1300" dirty="0"/>
          </a:p>
        </p:txBody>
      </p:sp>
      <p:pic>
        <p:nvPicPr>
          <p:cNvPr id="11"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2"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3" name="Shape 10"/>
          <p:cNvSpPr/>
          <p:nvPr/>
        </p:nvSpPr>
        <p:spPr>
          <a:xfrm>
            <a:off x="10591495" y="6181344"/>
            <a:ext cx="438912" cy="438912"/>
          </a:xfrm>
          <a:prstGeom prst="ellipse">
            <a:avLst/>
          </a:prstGeom>
          <a:solidFill>
            <a:srgbClr val="F06C23"/>
          </a:solidFill>
          <a:ln/>
        </p:spPr>
        <p:txBody>
          <a:bodyPr/>
          <a:lstStyle/>
          <a:p>
            <a:endParaRPr/>
          </a:p>
        </p:txBody>
      </p:sp>
      <p:sp>
        <p:nvSpPr>
          <p:cNvPr id="14"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5"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attributions SSCT du CSE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grpSp>
        <p:nvGrpSpPr>
          <p:cNvPr id="9010" name="Bloc 1"/>
          <p:cNvGrpSpPr/>
          <p:nvPr/>
        </p:nvGrpSpPr>
        <p:grpSpPr>
          <a:xfrm>
            <a:off x="731520" y="1920240"/>
            <a:ext cx="10728655" cy="4059936"/>
            <a:chOff x="731520" y="1920240"/>
            <a:chExt cx="10728655" cy="4059936"/>
          </a:xfrm>
        </p:grpSpPr>
        <p:sp>
          <p:nvSpPr>
            <p:cNvPr id="10" name="Shape 8"/>
            <p:cNvSpPr/>
            <p:nvPr/>
          </p:nvSpPr>
          <p:spPr>
            <a:xfrm>
              <a:off x="731520" y="1920240"/>
              <a:ext cx="10728655" cy="4059936"/>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2312-9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Dans le champ de la santé, de la sécurité et des conditions de travail, le comité social et économique :</a:t>
              </a:r>
            </a:p>
            <a:p>
              <a:pPr marL="203200" indent="-203200">
                <a:lnSpc>
                  <a:spcPct val="110000"/>
                </a:lnSpc>
                <a:spcAft>
                  <a:spcPts val="700"/>
                </a:spcAft>
                <a:buSzPct val="100000"/>
                <a:buChar char="•"/>
              </a:pPr>
              <a:r>
                <a:rPr lang="en-US" sz="1600" dirty="0">
                  <a:solidFill>
                    <a:srgbClr val="595959"/>
                  </a:solidFill>
                  <a:latin typeface="Lato" pitchFamily="34" charset="0"/>
                  <a:ea typeface="Lato" pitchFamily="34" charset="-122"/>
                  <a:cs typeface="Lato" pitchFamily="34" charset="-120"/>
                </a:rPr>
                <a:t>1° </a:t>
              </a:r>
              <a:r>
                <a:rPr lang="en-US" sz="1600" dirty="0" err="1">
                  <a:solidFill>
                    <a:srgbClr val="595959"/>
                  </a:solidFill>
                  <a:latin typeface="Lato" pitchFamily="34" charset="0"/>
                  <a:ea typeface="Lato" pitchFamily="34" charset="-122"/>
                  <a:cs typeface="Lato" pitchFamily="34" charset="-120"/>
                </a:rPr>
                <a:t>Procède</a:t>
              </a:r>
              <a:r>
                <a:rPr lang="en-US" sz="1600" dirty="0">
                  <a:solidFill>
                    <a:srgbClr val="595959"/>
                  </a:solidFill>
                  <a:latin typeface="Lato" pitchFamily="34" charset="0"/>
                  <a:ea typeface="Lato" pitchFamily="34" charset="-122"/>
                  <a:cs typeface="Lato" pitchFamily="34" charset="-120"/>
                </a:rPr>
                <a:t> à </a:t>
              </a:r>
              <a:r>
                <a:rPr lang="en-US" sz="1600" dirty="0" err="1">
                  <a:solidFill>
                    <a:srgbClr val="595959"/>
                  </a:solidFill>
                  <a:latin typeface="Lato" pitchFamily="34" charset="0"/>
                  <a:ea typeface="Lato" pitchFamily="34" charset="-122"/>
                  <a:cs typeface="Lato" pitchFamily="34" charset="-120"/>
                </a:rPr>
                <a:t>l'analyse</a:t>
              </a:r>
              <a:r>
                <a:rPr lang="en-US" sz="1600" dirty="0">
                  <a:solidFill>
                    <a:srgbClr val="595959"/>
                  </a:solidFill>
                  <a:latin typeface="Lato" pitchFamily="34" charset="0"/>
                  <a:ea typeface="Lato" pitchFamily="34" charset="-122"/>
                  <a:cs typeface="Lato" pitchFamily="34" charset="-120"/>
                </a:rPr>
                <a:t> des </a:t>
              </a:r>
              <a:r>
                <a:rPr lang="en-US" sz="1600" dirty="0" err="1">
                  <a:solidFill>
                    <a:srgbClr val="595959"/>
                  </a:solidFill>
                  <a:latin typeface="Lato" pitchFamily="34" charset="0"/>
                  <a:ea typeface="Lato" pitchFamily="34" charset="-122"/>
                  <a:cs typeface="Lato" pitchFamily="34" charset="-120"/>
                </a:rPr>
                <a:t>risques</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professionnels</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auxquels</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peuvent</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être</a:t>
              </a:r>
              <a:r>
                <a:rPr lang="en-US" sz="1600" dirty="0">
                  <a:solidFill>
                    <a:srgbClr val="595959"/>
                  </a:solidFill>
                  <a:latin typeface="Lato" pitchFamily="34" charset="0"/>
                  <a:ea typeface="Lato" pitchFamily="34" charset="-122"/>
                  <a:cs typeface="Lato" pitchFamily="34" charset="-120"/>
                </a:rPr>
                <a:t> exposés les </a:t>
              </a:r>
              <a:r>
                <a:rPr lang="en-US" sz="1600" dirty="0" err="1">
                  <a:solidFill>
                    <a:srgbClr val="595959"/>
                  </a:solidFill>
                  <a:latin typeface="Lato" pitchFamily="34" charset="0"/>
                  <a:ea typeface="Lato" pitchFamily="34" charset="-122"/>
                  <a:cs typeface="Lato" pitchFamily="34" charset="-120"/>
                </a:rPr>
                <a:t>travailleurs</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notamment</a:t>
              </a:r>
              <a:r>
                <a:rPr lang="en-US" sz="1600" dirty="0">
                  <a:solidFill>
                    <a:srgbClr val="595959"/>
                  </a:solidFill>
                  <a:latin typeface="Lato" pitchFamily="34" charset="0"/>
                  <a:ea typeface="Lato" pitchFamily="34" charset="-122"/>
                  <a:cs typeface="Lato" pitchFamily="34" charset="-120"/>
                </a:rPr>
                <a:t> les femmes enceintes, </a:t>
              </a:r>
              <a:r>
                <a:rPr lang="en-US" sz="1600" dirty="0" err="1">
                  <a:solidFill>
                    <a:srgbClr val="595959"/>
                  </a:solidFill>
                  <a:latin typeface="Lato" pitchFamily="34" charset="0"/>
                  <a:ea typeface="Lato" pitchFamily="34" charset="-122"/>
                  <a:cs typeface="Lato" pitchFamily="34" charset="-120"/>
                </a:rPr>
                <a:t>ainsi</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que</a:t>
              </a:r>
              <a:r>
                <a:rPr lang="en-US" sz="1600" dirty="0">
                  <a:solidFill>
                    <a:srgbClr val="595959"/>
                  </a:solidFill>
                  <a:latin typeface="Lato" pitchFamily="34" charset="0"/>
                  <a:ea typeface="Lato" pitchFamily="34" charset="-122"/>
                  <a:cs typeface="Lato" pitchFamily="34" charset="-120"/>
                </a:rPr>
                <a:t> des </a:t>
              </a:r>
              <a:r>
                <a:rPr lang="en-US" sz="1600" dirty="0" err="1">
                  <a:solidFill>
                    <a:srgbClr val="595959"/>
                  </a:solidFill>
                  <a:latin typeface="Lato" pitchFamily="34" charset="0"/>
                  <a:ea typeface="Lato" pitchFamily="34" charset="-122"/>
                  <a:cs typeface="Lato" pitchFamily="34" charset="-120"/>
                </a:rPr>
                <a:t>effets</a:t>
              </a:r>
              <a:r>
                <a:rPr lang="en-US" sz="1600" dirty="0">
                  <a:solidFill>
                    <a:srgbClr val="595959"/>
                  </a:solidFill>
                  <a:latin typeface="Lato" pitchFamily="34" charset="0"/>
                  <a:ea typeface="Lato" pitchFamily="34" charset="-122"/>
                  <a:cs typeface="Lato" pitchFamily="34" charset="-120"/>
                </a:rPr>
                <a:t> de </a:t>
              </a:r>
              <a:r>
                <a:rPr lang="en-US" sz="1600" dirty="0" err="1">
                  <a:solidFill>
                    <a:srgbClr val="595959"/>
                  </a:solidFill>
                  <a:latin typeface="Lato" pitchFamily="34" charset="0"/>
                  <a:ea typeface="Lato" pitchFamily="34" charset="-122"/>
                  <a:cs typeface="Lato" pitchFamily="34" charset="-120"/>
                </a:rPr>
                <a:t>l'exposition</a:t>
              </a:r>
              <a:r>
                <a:rPr lang="en-US" sz="1600" dirty="0">
                  <a:solidFill>
                    <a:srgbClr val="595959"/>
                  </a:solidFill>
                  <a:latin typeface="Lato" pitchFamily="34" charset="0"/>
                  <a:ea typeface="Lato" pitchFamily="34" charset="-122"/>
                  <a:cs typeface="Lato" pitchFamily="34" charset="-120"/>
                </a:rPr>
                <a:t> aux </a:t>
              </a:r>
              <a:r>
                <a:rPr lang="en-US" sz="1600" dirty="0" err="1">
                  <a:solidFill>
                    <a:srgbClr val="595959"/>
                  </a:solidFill>
                  <a:latin typeface="Lato" pitchFamily="34" charset="0"/>
                  <a:ea typeface="Lato" pitchFamily="34" charset="-122"/>
                  <a:cs typeface="Lato" pitchFamily="34" charset="-120"/>
                </a:rPr>
                <a:t>facteurs</a:t>
              </a:r>
              <a:r>
                <a:rPr lang="en-US" sz="1600" dirty="0">
                  <a:solidFill>
                    <a:srgbClr val="595959"/>
                  </a:solidFill>
                  <a:latin typeface="Lato" pitchFamily="34" charset="0"/>
                  <a:ea typeface="Lato" pitchFamily="34" charset="-122"/>
                  <a:cs typeface="Lato" pitchFamily="34" charset="-120"/>
                </a:rPr>
                <a:t> de </a:t>
              </a:r>
              <a:r>
                <a:rPr lang="en-US" sz="1600" dirty="0" err="1">
                  <a:solidFill>
                    <a:srgbClr val="595959"/>
                  </a:solidFill>
                  <a:latin typeface="Lato" pitchFamily="34" charset="0"/>
                  <a:ea typeface="Lato" pitchFamily="34" charset="-122"/>
                  <a:cs typeface="Lato" pitchFamily="34" charset="-120"/>
                </a:rPr>
                <a:t>risques</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professionnels</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mentionnés</a:t>
              </a:r>
              <a:r>
                <a:rPr lang="en-US" sz="1600" dirty="0">
                  <a:solidFill>
                    <a:srgbClr val="595959"/>
                  </a:solidFill>
                  <a:latin typeface="Lato" pitchFamily="34" charset="0"/>
                  <a:ea typeface="Lato" pitchFamily="34" charset="-122"/>
                  <a:cs typeface="Lato" pitchFamily="34" charset="-120"/>
                </a:rPr>
                <a:t> à </a:t>
              </a:r>
              <a:r>
                <a:rPr lang="en-US" sz="1600" dirty="0" err="1">
                  <a:solidFill>
                    <a:srgbClr val="595959"/>
                  </a:solidFill>
                  <a:latin typeface="Lato" pitchFamily="34" charset="0"/>
                  <a:ea typeface="Lato" pitchFamily="34" charset="-122"/>
                  <a:cs typeface="Lato" pitchFamily="34" charset="-120"/>
                </a:rPr>
                <a:t>l'article</a:t>
              </a:r>
              <a:r>
                <a:rPr lang="en-US" sz="1600" dirty="0">
                  <a:solidFill>
                    <a:srgbClr val="595959"/>
                  </a:solidFill>
                  <a:latin typeface="Lato" pitchFamily="34" charset="0"/>
                  <a:ea typeface="Lato" pitchFamily="34" charset="-122"/>
                  <a:cs typeface="Lato" pitchFamily="34" charset="-120"/>
                </a:rPr>
                <a:t> L. 4161-1 ;</a:t>
              </a:r>
              <a:endParaRPr lang="en-US" dirty="0"/>
            </a:p>
            <a:p>
              <a:pPr marL="203200" indent="-203200">
                <a:lnSpc>
                  <a:spcPct val="110000"/>
                </a:lnSpc>
                <a:spcAft>
                  <a:spcPts val="700"/>
                </a:spcAft>
                <a:buSzPct val="100000"/>
                <a:buChar char="•"/>
              </a:pPr>
              <a:r>
                <a:rPr lang="en-US" sz="1600" dirty="0">
                  <a:solidFill>
                    <a:srgbClr val="595959"/>
                  </a:solidFill>
                  <a:latin typeface="Lato" pitchFamily="34" charset="0"/>
                  <a:ea typeface="Lato" pitchFamily="34" charset="-122"/>
                  <a:cs typeface="Lato" pitchFamily="34" charset="-120"/>
                </a:rPr>
                <a:t>2° </a:t>
              </a:r>
              <a:r>
                <a:rPr lang="en-US" sz="1600" dirty="0" err="1">
                  <a:solidFill>
                    <a:srgbClr val="595959"/>
                  </a:solidFill>
                  <a:latin typeface="Lato" pitchFamily="34" charset="0"/>
                  <a:ea typeface="Lato" pitchFamily="34" charset="-122"/>
                  <a:cs typeface="Lato" pitchFamily="34" charset="-120"/>
                </a:rPr>
                <a:t>Contribue</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notamment</a:t>
              </a:r>
              <a:r>
                <a:rPr lang="en-US" sz="1600" dirty="0">
                  <a:solidFill>
                    <a:srgbClr val="595959"/>
                  </a:solidFill>
                  <a:latin typeface="Lato" pitchFamily="34" charset="0"/>
                  <a:ea typeface="Lato" pitchFamily="34" charset="-122"/>
                  <a:cs typeface="Lato" pitchFamily="34" charset="-120"/>
                </a:rPr>
                <a:t> à </a:t>
              </a:r>
              <a:r>
                <a:rPr lang="en-US" sz="1600" dirty="0" err="1">
                  <a:solidFill>
                    <a:srgbClr val="595959"/>
                  </a:solidFill>
                  <a:latin typeface="Lato" pitchFamily="34" charset="0"/>
                  <a:ea typeface="Lato" pitchFamily="34" charset="-122"/>
                  <a:cs typeface="Lato" pitchFamily="34" charset="-120"/>
                </a:rPr>
                <a:t>faciliter</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l'accès</a:t>
              </a:r>
              <a:r>
                <a:rPr lang="en-US" sz="1600" dirty="0">
                  <a:solidFill>
                    <a:srgbClr val="595959"/>
                  </a:solidFill>
                  <a:latin typeface="Lato" pitchFamily="34" charset="0"/>
                  <a:ea typeface="Lato" pitchFamily="34" charset="-122"/>
                  <a:cs typeface="Lato" pitchFamily="34" charset="-120"/>
                </a:rPr>
                <a:t> des femmes à </a:t>
              </a:r>
              <a:r>
                <a:rPr lang="en-US" sz="1600" dirty="0" err="1">
                  <a:solidFill>
                    <a:srgbClr val="595959"/>
                  </a:solidFill>
                  <a:latin typeface="Lato" pitchFamily="34" charset="0"/>
                  <a:ea typeface="Lato" pitchFamily="34" charset="-122"/>
                  <a:cs typeface="Lato" pitchFamily="34" charset="-120"/>
                </a:rPr>
                <a:t>tous</a:t>
              </a:r>
              <a:r>
                <a:rPr lang="en-US" sz="1600" dirty="0">
                  <a:solidFill>
                    <a:srgbClr val="595959"/>
                  </a:solidFill>
                  <a:latin typeface="Lato" pitchFamily="34" charset="0"/>
                  <a:ea typeface="Lato" pitchFamily="34" charset="-122"/>
                  <a:cs typeface="Lato" pitchFamily="34" charset="-120"/>
                </a:rPr>
                <a:t> les </a:t>
              </a:r>
              <a:r>
                <a:rPr lang="en-US" sz="1600" dirty="0" err="1">
                  <a:solidFill>
                    <a:srgbClr val="595959"/>
                  </a:solidFill>
                  <a:latin typeface="Lato" pitchFamily="34" charset="0"/>
                  <a:ea typeface="Lato" pitchFamily="34" charset="-122"/>
                  <a:cs typeface="Lato" pitchFamily="34" charset="-120"/>
                </a:rPr>
                <a:t>emplois</a:t>
              </a:r>
              <a:r>
                <a:rPr lang="en-US" sz="1600" dirty="0">
                  <a:solidFill>
                    <a:srgbClr val="595959"/>
                  </a:solidFill>
                  <a:latin typeface="Lato" pitchFamily="34" charset="0"/>
                  <a:ea typeface="Lato" pitchFamily="34" charset="-122"/>
                  <a:cs typeface="Lato" pitchFamily="34" charset="-120"/>
                </a:rPr>
                <a:t>, à la </a:t>
              </a:r>
              <a:r>
                <a:rPr lang="en-US" sz="1600" dirty="0" err="1">
                  <a:solidFill>
                    <a:srgbClr val="595959"/>
                  </a:solidFill>
                  <a:latin typeface="Lato" pitchFamily="34" charset="0"/>
                  <a:ea typeface="Lato" pitchFamily="34" charset="-122"/>
                  <a:cs typeface="Lato" pitchFamily="34" charset="-120"/>
                </a:rPr>
                <a:t>résolution</a:t>
              </a:r>
              <a:r>
                <a:rPr lang="en-US" sz="1600" dirty="0">
                  <a:solidFill>
                    <a:srgbClr val="595959"/>
                  </a:solidFill>
                  <a:latin typeface="Lato" pitchFamily="34" charset="0"/>
                  <a:ea typeface="Lato" pitchFamily="34" charset="-122"/>
                  <a:cs typeface="Lato" pitchFamily="34" charset="-120"/>
                </a:rPr>
                <a:t> des </a:t>
              </a:r>
              <a:r>
                <a:rPr lang="en-US" sz="1600" dirty="0" err="1">
                  <a:solidFill>
                    <a:srgbClr val="595959"/>
                  </a:solidFill>
                  <a:latin typeface="Lato" pitchFamily="34" charset="0"/>
                  <a:ea typeface="Lato" pitchFamily="34" charset="-122"/>
                  <a:cs typeface="Lato" pitchFamily="34" charset="-120"/>
                </a:rPr>
                <a:t>problèmes</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liés</a:t>
              </a:r>
              <a:r>
                <a:rPr lang="en-US" sz="1600" dirty="0">
                  <a:solidFill>
                    <a:srgbClr val="595959"/>
                  </a:solidFill>
                  <a:latin typeface="Lato" pitchFamily="34" charset="0"/>
                  <a:ea typeface="Lato" pitchFamily="34" charset="-122"/>
                  <a:cs typeface="Lato" pitchFamily="34" charset="-120"/>
                </a:rPr>
                <a:t> à la </a:t>
              </a:r>
              <a:r>
                <a:rPr lang="en-US" sz="1600" dirty="0" err="1">
                  <a:solidFill>
                    <a:srgbClr val="595959"/>
                  </a:solidFill>
                  <a:latin typeface="Lato" pitchFamily="34" charset="0"/>
                  <a:ea typeface="Lato" pitchFamily="34" charset="-122"/>
                  <a:cs typeface="Lato" pitchFamily="34" charset="-120"/>
                </a:rPr>
                <a:t>maternité</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l'adaptation</a:t>
              </a:r>
              <a:r>
                <a:rPr lang="en-US" sz="1600" dirty="0">
                  <a:solidFill>
                    <a:srgbClr val="595959"/>
                  </a:solidFill>
                  <a:latin typeface="Lato" pitchFamily="34" charset="0"/>
                  <a:ea typeface="Lato" pitchFamily="34" charset="-122"/>
                  <a:cs typeface="Lato" pitchFamily="34" charset="-120"/>
                </a:rPr>
                <a:t> et à </a:t>
              </a:r>
              <a:r>
                <a:rPr lang="en-US" sz="1600" dirty="0" err="1">
                  <a:solidFill>
                    <a:srgbClr val="595959"/>
                  </a:solidFill>
                  <a:latin typeface="Lato" pitchFamily="34" charset="0"/>
                  <a:ea typeface="Lato" pitchFamily="34" charset="-122"/>
                  <a:cs typeface="Lato" pitchFamily="34" charset="-120"/>
                </a:rPr>
                <a:t>l'aménagement</a:t>
              </a:r>
              <a:r>
                <a:rPr lang="en-US" sz="1600" dirty="0">
                  <a:solidFill>
                    <a:srgbClr val="595959"/>
                  </a:solidFill>
                  <a:latin typeface="Lato" pitchFamily="34" charset="0"/>
                  <a:ea typeface="Lato" pitchFamily="34" charset="-122"/>
                  <a:cs typeface="Lato" pitchFamily="34" charset="-120"/>
                </a:rPr>
                <a:t> des </a:t>
              </a:r>
              <a:r>
                <a:rPr lang="en-US" sz="1600" dirty="0" err="1">
                  <a:solidFill>
                    <a:srgbClr val="595959"/>
                  </a:solidFill>
                  <a:latin typeface="Lato" pitchFamily="34" charset="0"/>
                  <a:ea typeface="Lato" pitchFamily="34" charset="-122"/>
                  <a:cs typeface="Lato" pitchFamily="34" charset="-120"/>
                </a:rPr>
                <a:t>postes</a:t>
              </a:r>
              <a:r>
                <a:rPr lang="en-US" sz="1600" dirty="0">
                  <a:solidFill>
                    <a:srgbClr val="595959"/>
                  </a:solidFill>
                  <a:latin typeface="Lato" pitchFamily="34" charset="0"/>
                  <a:ea typeface="Lato" pitchFamily="34" charset="-122"/>
                  <a:cs typeface="Lato" pitchFamily="34" charset="-120"/>
                </a:rPr>
                <a:t> de travail </a:t>
              </a:r>
              <a:r>
                <a:rPr lang="en-US" sz="1600" dirty="0" err="1">
                  <a:solidFill>
                    <a:srgbClr val="595959"/>
                  </a:solidFill>
                  <a:latin typeface="Lato" pitchFamily="34" charset="0"/>
                  <a:ea typeface="Lato" pitchFamily="34" charset="-122"/>
                  <a:cs typeface="Lato" pitchFamily="34" charset="-120"/>
                </a:rPr>
                <a:t>afin</a:t>
              </a:r>
              <a:r>
                <a:rPr lang="en-US" sz="1600" dirty="0">
                  <a:solidFill>
                    <a:srgbClr val="595959"/>
                  </a:solidFill>
                  <a:latin typeface="Lato" pitchFamily="34" charset="0"/>
                  <a:ea typeface="Lato" pitchFamily="34" charset="-122"/>
                  <a:cs typeface="Lato" pitchFamily="34" charset="-120"/>
                </a:rPr>
                <a:t> de </a:t>
              </a:r>
              <a:r>
                <a:rPr lang="en-US" sz="1600" dirty="0" err="1">
                  <a:solidFill>
                    <a:srgbClr val="595959"/>
                  </a:solidFill>
                  <a:latin typeface="Lato" pitchFamily="34" charset="0"/>
                  <a:ea typeface="Lato" pitchFamily="34" charset="-122"/>
                  <a:cs typeface="Lato" pitchFamily="34" charset="-120"/>
                </a:rPr>
                <a:t>faciliter</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l'accès</a:t>
              </a:r>
              <a:r>
                <a:rPr lang="en-US" sz="1600" dirty="0">
                  <a:solidFill>
                    <a:srgbClr val="595959"/>
                  </a:solidFill>
                  <a:latin typeface="Lato" pitchFamily="34" charset="0"/>
                  <a:ea typeface="Lato" pitchFamily="34" charset="-122"/>
                  <a:cs typeface="Lato" pitchFamily="34" charset="-120"/>
                </a:rPr>
                <a:t> et le </a:t>
              </a:r>
              <a:r>
                <a:rPr lang="en-US" sz="1600" dirty="0" err="1">
                  <a:solidFill>
                    <a:srgbClr val="595959"/>
                  </a:solidFill>
                  <a:latin typeface="Lato" pitchFamily="34" charset="0"/>
                  <a:ea typeface="Lato" pitchFamily="34" charset="-122"/>
                  <a:cs typeface="Lato" pitchFamily="34" charset="-120"/>
                </a:rPr>
                <a:t>maintien</a:t>
              </a:r>
              <a:r>
                <a:rPr lang="en-US" sz="1600" dirty="0">
                  <a:solidFill>
                    <a:srgbClr val="595959"/>
                  </a:solidFill>
                  <a:latin typeface="Lato" pitchFamily="34" charset="0"/>
                  <a:ea typeface="Lato" pitchFamily="34" charset="-122"/>
                  <a:cs typeface="Lato" pitchFamily="34" charset="-120"/>
                </a:rPr>
                <a:t> des </a:t>
              </a:r>
              <a:r>
                <a:rPr lang="en-US" sz="1600" dirty="0" err="1">
                  <a:solidFill>
                    <a:srgbClr val="595959"/>
                  </a:solidFill>
                  <a:latin typeface="Lato" pitchFamily="34" charset="0"/>
                  <a:ea typeface="Lato" pitchFamily="34" charset="-122"/>
                  <a:cs typeface="Lato" pitchFamily="34" charset="-120"/>
                </a:rPr>
                <a:t>personnes</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handicapées</a:t>
              </a:r>
              <a:r>
                <a:rPr lang="en-US" sz="1600" dirty="0">
                  <a:solidFill>
                    <a:srgbClr val="595959"/>
                  </a:solidFill>
                  <a:latin typeface="Lato" pitchFamily="34" charset="0"/>
                  <a:ea typeface="Lato" pitchFamily="34" charset="-122"/>
                  <a:cs typeface="Lato" pitchFamily="34" charset="-120"/>
                </a:rPr>
                <a:t> à </a:t>
              </a:r>
              <a:r>
                <a:rPr lang="en-US" sz="1600" dirty="0" err="1">
                  <a:solidFill>
                    <a:srgbClr val="595959"/>
                  </a:solidFill>
                  <a:latin typeface="Lato" pitchFamily="34" charset="0"/>
                  <a:ea typeface="Lato" pitchFamily="34" charset="-122"/>
                  <a:cs typeface="Lato" pitchFamily="34" charset="-120"/>
                </a:rPr>
                <a:t>tous</a:t>
              </a:r>
              <a:r>
                <a:rPr lang="en-US" sz="1600" dirty="0">
                  <a:solidFill>
                    <a:srgbClr val="595959"/>
                  </a:solidFill>
                  <a:latin typeface="Lato" pitchFamily="34" charset="0"/>
                  <a:ea typeface="Lato" pitchFamily="34" charset="-122"/>
                  <a:cs typeface="Lato" pitchFamily="34" charset="-120"/>
                </a:rPr>
                <a:t> les </a:t>
              </a:r>
              <a:r>
                <a:rPr lang="en-US" sz="1600" dirty="0" err="1">
                  <a:solidFill>
                    <a:srgbClr val="595959"/>
                  </a:solidFill>
                  <a:latin typeface="Lato" pitchFamily="34" charset="0"/>
                  <a:ea typeface="Lato" pitchFamily="34" charset="-122"/>
                  <a:cs typeface="Lato" pitchFamily="34" charset="-120"/>
                </a:rPr>
                <a:t>emplois</a:t>
              </a:r>
              <a:r>
                <a:rPr lang="en-US" sz="1600" dirty="0">
                  <a:solidFill>
                    <a:srgbClr val="595959"/>
                  </a:solidFill>
                  <a:latin typeface="Lato" pitchFamily="34" charset="0"/>
                  <a:ea typeface="Lato" pitchFamily="34" charset="-122"/>
                  <a:cs typeface="Lato" pitchFamily="34" charset="-120"/>
                </a:rPr>
                <a:t> au </a:t>
              </a:r>
              <a:r>
                <a:rPr lang="en-US" sz="1600" dirty="0" err="1">
                  <a:solidFill>
                    <a:srgbClr val="595959"/>
                  </a:solidFill>
                  <a:latin typeface="Lato" pitchFamily="34" charset="0"/>
                  <a:ea typeface="Lato" pitchFamily="34" charset="-122"/>
                  <a:cs typeface="Lato" pitchFamily="34" charset="-120"/>
                </a:rPr>
                <a:t>cours</a:t>
              </a:r>
              <a:r>
                <a:rPr lang="en-US" sz="1600" dirty="0">
                  <a:solidFill>
                    <a:srgbClr val="595959"/>
                  </a:solidFill>
                  <a:latin typeface="Lato" pitchFamily="34" charset="0"/>
                  <a:ea typeface="Lato" pitchFamily="34" charset="-122"/>
                  <a:cs typeface="Lato" pitchFamily="34" charset="-120"/>
                </a:rPr>
                <a:t> de </a:t>
              </a:r>
              <a:r>
                <a:rPr lang="en-US" sz="1600" dirty="0" err="1">
                  <a:solidFill>
                    <a:srgbClr val="595959"/>
                  </a:solidFill>
                  <a:latin typeface="Lato" pitchFamily="34" charset="0"/>
                  <a:ea typeface="Lato" pitchFamily="34" charset="-122"/>
                  <a:cs typeface="Lato" pitchFamily="34" charset="-120"/>
                </a:rPr>
                <a:t>leur</a:t>
              </a:r>
              <a:r>
                <a:rPr lang="en-US" sz="1600" dirty="0">
                  <a:solidFill>
                    <a:srgbClr val="595959"/>
                  </a:solidFill>
                  <a:latin typeface="Lato" pitchFamily="34" charset="0"/>
                  <a:ea typeface="Lato" pitchFamily="34" charset="-122"/>
                  <a:cs typeface="Lato" pitchFamily="34" charset="-120"/>
                </a:rPr>
                <a:t> vie </a:t>
              </a:r>
              <a:r>
                <a:rPr lang="en-US" sz="1600" dirty="0" err="1">
                  <a:solidFill>
                    <a:srgbClr val="595959"/>
                  </a:solidFill>
                  <a:latin typeface="Lato" pitchFamily="34" charset="0"/>
                  <a:ea typeface="Lato" pitchFamily="34" charset="-122"/>
                  <a:cs typeface="Lato" pitchFamily="34" charset="-120"/>
                </a:rPr>
                <a:t>professionnelle</a:t>
              </a:r>
              <a:r>
                <a:rPr lang="en-US" sz="1600" dirty="0">
                  <a:solidFill>
                    <a:srgbClr val="595959"/>
                  </a:solidFill>
                  <a:latin typeface="Lato" pitchFamily="34" charset="0"/>
                  <a:ea typeface="Lato" pitchFamily="34" charset="-122"/>
                  <a:cs typeface="Lato" pitchFamily="34" charset="-120"/>
                </a:rPr>
                <a:t> ;</a:t>
              </a:r>
              <a:endParaRPr lang="en-US" dirty="0"/>
            </a:p>
            <a:p>
              <a:pPr marL="203200" indent="-203200">
                <a:lnSpc>
                  <a:spcPct val="110000"/>
                </a:lnSpc>
                <a:spcAft>
                  <a:spcPts val="700"/>
                </a:spcAft>
                <a:buSzPct val="100000"/>
                <a:buChar char="•"/>
              </a:pPr>
              <a:r>
                <a:rPr lang="en-US" sz="1600" dirty="0">
                  <a:solidFill>
                    <a:srgbClr val="595959"/>
                  </a:solidFill>
                  <a:latin typeface="Lato" pitchFamily="34" charset="0"/>
                  <a:ea typeface="Lato" pitchFamily="34" charset="-122"/>
                  <a:cs typeface="Lato" pitchFamily="34" charset="-120"/>
                </a:rPr>
                <a:t>3° </a:t>
              </a:r>
              <a:r>
                <a:rPr lang="en-US" sz="1600" dirty="0" err="1">
                  <a:solidFill>
                    <a:srgbClr val="595959"/>
                  </a:solidFill>
                  <a:latin typeface="Lato" pitchFamily="34" charset="0"/>
                  <a:ea typeface="Lato" pitchFamily="34" charset="-122"/>
                  <a:cs typeface="Lato" pitchFamily="34" charset="-120"/>
                </a:rPr>
                <a:t>Peut</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susciter</a:t>
              </a:r>
              <a:r>
                <a:rPr lang="en-US" sz="1600" dirty="0">
                  <a:solidFill>
                    <a:srgbClr val="595959"/>
                  </a:solidFill>
                  <a:latin typeface="Lato" pitchFamily="34" charset="0"/>
                  <a:ea typeface="Lato" pitchFamily="34" charset="-122"/>
                  <a:cs typeface="Lato" pitchFamily="34" charset="-120"/>
                </a:rPr>
                <a:t> toute initiative </a:t>
              </a:r>
              <a:r>
                <a:rPr lang="en-US" sz="1600" dirty="0" err="1">
                  <a:solidFill>
                    <a:srgbClr val="595959"/>
                  </a:solidFill>
                  <a:latin typeface="Lato" pitchFamily="34" charset="0"/>
                  <a:ea typeface="Lato" pitchFamily="34" charset="-122"/>
                  <a:cs typeface="Lato" pitchFamily="34" charset="-120"/>
                </a:rPr>
                <a:t>qu'il</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estime</a:t>
              </a:r>
              <a:r>
                <a:rPr lang="en-US" sz="1600" dirty="0">
                  <a:solidFill>
                    <a:srgbClr val="595959"/>
                  </a:solidFill>
                  <a:latin typeface="Lato" pitchFamily="34" charset="0"/>
                  <a:ea typeface="Lato" pitchFamily="34" charset="-122"/>
                  <a:cs typeface="Lato" pitchFamily="34" charset="-120"/>
                </a:rPr>
                <a:t> utile et proposer </a:t>
              </a:r>
              <a:r>
                <a:rPr lang="en-US" sz="1600" dirty="0" err="1">
                  <a:solidFill>
                    <a:srgbClr val="595959"/>
                  </a:solidFill>
                  <a:latin typeface="Lato" pitchFamily="34" charset="0"/>
                  <a:ea typeface="Lato" pitchFamily="34" charset="-122"/>
                  <a:cs typeface="Lato" pitchFamily="34" charset="-120"/>
                </a:rPr>
                <a:t>notamment</a:t>
              </a:r>
              <a:r>
                <a:rPr lang="en-US" sz="1600" dirty="0">
                  <a:solidFill>
                    <a:srgbClr val="595959"/>
                  </a:solidFill>
                  <a:latin typeface="Lato" pitchFamily="34" charset="0"/>
                  <a:ea typeface="Lato" pitchFamily="34" charset="-122"/>
                  <a:cs typeface="Lato" pitchFamily="34" charset="-120"/>
                </a:rPr>
                <a:t> des actions de </a:t>
              </a:r>
              <a:r>
                <a:rPr lang="en-US" sz="1600" dirty="0" err="1">
                  <a:solidFill>
                    <a:srgbClr val="595959"/>
                  </a:solidFill>
                  <a:latin typeface="Lato" pitchFamily="34" charset="0"/>
                  <a:ea typeface="Lato" pitchFamily="34" charset="-122"/>
                  <a:cs typeface="Lato" pitchFamily="34" charset="-120"/>
                </a:rPr>
                <a:t>prévention</a:t>
              </a:r>
              <a:r>
                <a:rPr lang="en-US" sz="1600" dirty="0">
                  <a:solidFill>
                    <a:srgbClr val="595959"/>
                  </a:solidFill>
                  <a:latin typeface="Lato" pitchFamily="34" charset="0"/>
                  <a:ea typeface="Lato" pitchFamily="34" charset="-122"/>
                  <a:cs typeface="Lato" pitchFamily="34" charset="-120"/>
                </a:rPr>
                <a:t> du </a:t>
              </a:r>
              <a:r>
                <a:rPr lang="en-US" sz="1600" dirty="0" err="1">
                  <a:solidFill>
                    <a:srgbClr val="595959"/>
                  </a:solidFill>
                  <a:latin typeface="Lato" pitchFamily="34" charset="0"/>
                  <a:ea typeface="Lato" pitchFamily="34" charset="-122"/>
                  <a:cs typeface="Lato" pitchFamily="34" charset="-120"/>
                </a:rPr>
                <a:t>harcèlement</a:t>
              </a:r>
              <a:r>
                <a:rPr lang="en-US" sz="1600" dirty="0">
                  <a:solidFill>
                    <a:srgbClr val="595959"/>
                  </a:solidFill>
                  <a:latin typeface="Lato" pitchFamily="34" charset="0"/>
                  <a:ea typeface="Lato" pitchFamily="34" charset="-122"/>
                  <a:cs typeface="Lato" pitchFamily="34" charset="-120"/>
                </a:rPr>
                <a:t> moral, du </a:t>
              </a:r>
              <a:r>
                <a:rPr lang="en-US" sz="1600" dirty="0" err="1">
                  <a:solidFill>
                    <a:srgbClr val="595959"/>
                  </a:solidFill>
                  <a:latin typeface="Lato" pitchFamily="34" charset="0"/>
                  <a:ea typeface="Lato" pitchFamily="34" charset="-122"/>
                  <a:cs typeface="Lato" pitchFamily="34" charset="-120"/>
                </a:rPr>
                <a:t>harcèlement</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sexuel</a:t>
              </a:r>
              <a:r>
                <a:rPr lang="en-US" sz="1600" dirty="0">
                  <a:solidFill>
                    <a:srgbClr val="595959"/>
                  </a:solidFill>
                  <a:latin typeface="Lato" pitchFamily="34" charset="0"/>
                  <a:ea typeface="Lato" pitchFamily="34" charset="-122"/>
                  <a:cs typeface="Lato" pitchFamily="34" charset="-120"/>
                </a:rPr>
                <a:t> et des </a:t>
              </a:r>
              <a:r>
                <a:rPr lang="en-US" sz="1600" dirty="0" err="1">
                  <a:solidFill>
                    <a:srgbClr val="595959"/>
                  </a:solidFill>
                  <a:latin typeface="Lato" pitchFamily="34" charset="0"/>
                  <a:ea typeface="Lato" pitchFamily="34" charset="-122"/>
                  <a:cs typeface="Lato" pitchFamily="34" charset="-120"/>
                </a:rPr>
                <a:t>agissements</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sexistes</a:t>
              </a:r>
              <a:r>
                <a:rPr lang="en-US" sz="1600" dirty="0">
                  <a:solidFill>
                    <a:srgbClr val="595959"/>
                  </a:solidFill>
                  <a:latin typeface="Lato" pitchFamily="34" charset="0"/>
                  <a:ea typeface="Lato" pitchFamily="34" charset="-122"/>
                  <a:cs typeface="Lato" pitchFamily="34" charset="-120"/>
                </a:rPr>
                <a:t> </a:t>
              </a:r>
              <a:r>
                <a:rPr lang="en-US" sz="1600" dirty="0" err="1">
                  <a:solidFill>
                    <a:srgbClr val="595959"/>
                  </a:solidFill>
                  <a:latin typeface="Lato" pitchFamily="34" charset="0"/>
                  <a:ea typeface="Lato" pitchFamily="34" charset="-122"/>
                  <a:cs typeface="Lato" pitchFamily="34" charset="-120"/>
                </a:rPr>
                <a:t>définis</a:t>
              </a:r>
              <a:r>
                <a:rPr lang="en-US" sz="1600" dirty="0">
                  <a:solidFill>
                    <a:srgbClr val="595959"/>
                  </a:solidFill>
                  <a:latin typeface="Lato" pitchFamily="34" charset="0"/>
                  <a:ea typeface="Lato" pitchFamily="34" charset="-122"/>
                  <a:cs typeface="Lato" pitchFamily="34" charset="-120"/>
                </a:rPr>
                <a:t> à </a:t>
              </a:r>
              <a:r>
                <a:rPr lang="en-US" sz="1600" dirty="0" err="1">
                  <a:solidFill>
                    <a:srgbClr val="595959"/>
                  </a:solidFill>
                  <a:latin typeface="Lato" pitchFamily="34" charset="0"/>
                  <a:ea typeface="Lato" pitchFamily="34" charset="-122"/>
                  <a:cs typeface="Lato" pitchFamily="34" charset="-120"/>
                </a:rPr>
                <a:t>l'article</a:t>
              </a:r>
              <a:r>
                <a:rPr lang="en-US" sz="1600" dirty="0">
                  <a:solidFill>
                    <a:srgbClr val="595959"/>
                  </a:solidFill>
                  <a:latin typeface="Lato" pitchFamily="34" charset="0"/>
                  <a:ea typeface="Lato" pitchFamily="34" charset="-122"/>
                  <a:cs typeface="Lato" pitchFamily="34" charset="-120"/>
                </a:rPr>
                <a:t> L. 1142-2-1. Le </a:t>
              </a:r>
              <a:r>
                <a:rPr lang="en-US" sz="1600" dirty="0" err="1">
                  <a:solidFill>
                    <a:srgbClr val="595959"/>
                  </a:solidFill>
                  <a:latin typeface="Lato" pitchFamily="34" charset="0"/>
                  <a:ea typeface="Lato" pitchFamily="34" charset="-122"/>
                  <a:cs typeface="Lato" pitchFamily="34" charset="-120"/>
                </a:rPr>
                <a:t>refus</a:t>
              </a:r>
              <a:r>
                <a:rPr lang="en-US" sz="1600" dirty="0">
                  <a:solidFill>
                    <a:srgbClr val="595959"/>
                  </a:solidFill>
                  <a:latin typeface="Lato" pitchFamily="34" charset="0"/>
                  <a:ea typeface="Lato" pitchFamily="34" charset="-122"/>
                  <a:cs typeface="Lato" pitchFamily="34" charset="-120"/>
                </a:rPr>
                <a:t> de </a:t>
              </a:r>
              <a:r>
                <a:rPr lang="en-US" sz="1600" dirty="0" err="1">
                  <a:solidFill>
                    <a:srgbClr val="595959"/>
                  </a:solidFill>
                  <a:latin typeface="Lato" pitchFamily="34" charset="0"/>
                  <a:ea typeface="Lato" pitchFamily="34" charset="-122"/>
                  <a:cs typeface="Lato" pitchFamily="34" charset="-120"/>
                </a:rPr>
                <a:t>l'employeur</a:t>
              </a:r>
              <a:r>
                <a:rPr lang="en-US" sz="1600" dirty="0">
                  <a:solidFill>
                    <a:srgbClr val="595959"/>
                  </a:solidFill>
                  <a:latin typeface="Lato" pitchFamily="34" charset="0"/>
                  <a:ea typeface="Lato" pitchFamily="34" charset="-122"/>
                  <a:cs typeface="Lato" pitchFamily="34" charset="-120"/>
                </a:rPr>
                <a:t> est </a:t>
              </a:r>
              <a:r>
                <a:rPr lang="en-US" sz="1600" dirty="0" err="1">
                  <a:solidFill>
                    <a:srgbClr val="595959"/>
                  </a:solidFill>
                  <a:latin typeface="Lato" pitchFamily="34" charset="0"/>
                  <a:ea typeface="Lato" pitchFamily="34" charset="-122"/>
                  <a:cs typeface="Lato" pitchFamily="34" charset="-120"/>
                </a:rPr>
                <a:t>motivé</a:t>
              </a:r>
              <a:r>
                <a:rPr lang="en-US" sz="1600" dirty="0">
                  <a:solidFill>
                    <a:srgbClr val="595959"/>
                  </a:solidFill>
                  <a:latin typeface="Lato" pitchFamily="34" charset="0"/>
                  <a:ea typeface="Lato" pitchFamily="34" charset="-122"/>
                  <a:cs typeface="Lato" pitchFamily="34" charset="-120"/>
                </a:rPr>
                <a:t>.</a:t>
              </a:r>
              <a:endParaRPr lang="en-US" dirty="0"/>
            </a:p>
            <a:p>
              <a:pPr marL="0" indent="0">
                <a:lnSpc>
                  <a:spcPct val="115000"/>
                </a:lnSpc>
                <a:buNone/>
              </a:pPr>
              <a:endParaRPr lang="en-US" sz="1450" dirty="0"/>
            </a:p>
          </p:txBody>
        </p:sp>
      </p:gr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missions SSCT, article par article (1/2)</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1" name="Text 9"/>
          <p:cNvSpPr txBox="1"/>
          <p:nvPr/>
        </p:nvSpPr>
        <p:spPr>
          <a:xfrm>
            <a:off x="731520" y="1874519"/>
            <a:ext cx="10728655" cy="3081529"/>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200" b="1" dirty="0">
                <a:solidFill>
                  <a:srgbClr val="075767"/>
                </a:solidFill>
                <a:latin typeface="Lato" pitchFamily="34" charset="0"/>
                <a:ea typeface="Lato" pitchFamily="34" charset="-122"/>
                <a:cs typeface="Lato" pitchFamily="34" charset="-120"/>
              </a:rPr>
              <a:t>L. 2312-5 : Promouvoir la santé et enquêter</a:t>
            </a:r>
            <a:endParaRPr lang="en-US" sz="1300" dirty="0"/>
          </a:p>
          <a:p>
            <a:pPr marL="406400" lvl="1"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 Contribue à promouvoir la santé, la sécurité et l'amélioration des conditions de travail dans l'entreprise et réalise des enquêtes en matière d'accidents du travail ou de maladies professionnelles ou à caractère professionnel. »</a:t>
            </a:r>
            <a:endParaRPr lang="en-US" sz="1300" dirty="0"/>
          </a:p>
          <a:p>
            <a:pPr marL="406400" lvl="1"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 L'employeur lui présente la liste des actions de prévention et de protection prévue au 2° du III de l'article L. 4121-3-1. »</a:t>
            </a:r>
            <a:endParaRPr lang="en-US" sz="1300" dirty="0"/>
          </a:p>
          <a:p>
            <a:pPr marL="203200" indent="-203200">
              <a:lnSpc>
                <a:spcPct val="110000"/>
              </a:lnSpc>
              <a:spcAft>
                <a:spcPts val="700"/>
              </a:spcAft>
              <a:buSzPct val="100000"/>
              <a:buChar char="•"/>
            </a:pPr>
            <a:r>
              <a:rPr lang="en-US" sz="1200" b="1" dirty="0">
                <a:solidFill>
                  <a:srgbClr val="075767"/>
                </a:solidFill>
                <a:latin typeface="Lato" pitchFamily="34" charset="0"/>
                <a:ea typeface="Lato" pitchFamily="34" charset="-122"/>
                <a:cs typeface="Lato" pitchFamily="34" charset="-120"/>
              </a:rPr>
              <a:t>L. 2312-13 : Inspecter, enquêter, entendre, faire appel</a:t>
            </a:r>
            <a:endParaRPr lang="en-US" sz="1300" dirty="0"/>
          </a:p>
          <a:p>
            <a:pPr marL="406400" lvl="1"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 Le comité social et économique procède, à intervalles réguliers, à des inspections en matière de santé, de sécurité et des conditions de travail. »</a:t>
            </a:r>
            <a:endParaRPr lang="en-US" sz="1300" dirty="0"/>
          </a:p>
          <a:p>
            <a:pPr marL="406400" lvl="1"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 Il réalise des enquêtes en matière d'accidents du travail ou de maladies professionnelles ou à caractère professionnel. »</a:t>
            </a:r>
            <a:endParaRPr lang="en-US" sz="1300" dirty="0"/>
          </a:p>
          <a:p>
            <a:pPr marL="406400" lvl="1"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 Le comité peut demander à entendre le chef d'une entreprise voisine dont l'activité expose les travailleurs de son ressort à des nuisances particulières. Il est informé des suites réservées à ses observations. »</a:t>
            </a:r>
            <a:endParaRPr lang="en-US" sz="1300" dirty="0"/>
          </a:p>
          <a:p>
            <a:pPr marL="406400" lvl="1"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 Le comité peut faire appel à titre consultatif et occasionnel au concours de toute personne de l'entreprise qui lui paraîtrait qualifiée. »</a:t>
            </a:r>
            <a:endParaRPr lang="en-US" sz="1300" dirty="0"/>
          </a:p>
        </p:txBody>
      </p:sp>
      <p:grpSp>
        <p:nvGrpSpPr>
          <p:cNvPr id="9011" name="Bloc 2"/>
          <p:cNvGrpSpPr/>
          <p:nvPr/>
        </p:nvGrpSpPr>
        <p:grpSpPr>
          <a:xfrm>
            <a:off x="731520" y="4956048"/>
            <a:ext cx="10728655" cy="841248"/>
            <a:chOff x="731520" y="4956048"/>
            <a:chExt cx="10728655" cy="841248"/>
          </a:xfrm>
        </p:grpSpPr>
        <p:sp>
          <p:nvSpPr>
            <p:cNvPr id="12" name="Shape 10"/>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réflexe   « à intervalles réguliers » n'est pas défini par la loi. C'est à l'accord CSE, ou à défaut au comité, de fixer la cadence, et de la faire inscrire au procès-verbal.</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11"/>
                                        </p:tgtEl>
                                        <p:attrNameLst>
                                          <p:attrName>style.visibility</p:attrName>
                                        </p:attrNameLst>
                                      </p:cBhvr>
                                      <p:to>
                                        <p:strVal val="visible"/>
                                      </p:to>
                                    </p:set>
                                    <p:animEffect transition="in" filter="fade">
                                      <p:cBhvr>
                                        <p:cTn id="12" dur="450"/>
                                        <p:tgtEl>
                                          <p:spTgt spid="9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missions SSCT, article par article (2/2)</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1" name="Text 9"/>
          <p:cNvSpPr txBox="1"/>
          <p:nvPr/>
        </p:nvSpPr>
        <p:spPr>
          <a:xfrm>
            <a:off x="731520" y="1874519"/>
            <a:ext cx="10728655" cy="3374137"/>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200" b="1" dirty="0">
                <a:solidFill>
                  <a:srgbClr val="075767"/>
                </a:solidFill>
                <a:latin typeface="Lato" pitchFamily="34" charset="0"/>
                <a:ea typeface="Lato" pitchFamily="34" charset="-122"/>
                <a:cs typeface="Lato" pitchFamily="34" charset="-120"/>
              </a:rPr>
              <a:t>L. 2312-27 : Le rendez-vous annuel</a:t>
            </a:r>
            <a:endParaRPr lang="en-US" sz="1300" dirty="0"/>
          </a:p>
          <a:p>
            <a:pPr marL="406400" lvl="1"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L'employeur présente « un rapport annuel écrit faisant le bilan de la situation générale de la santé, de la sécurité et des conditions de travail » et « le programme annuel de prévention des risques professionnels et d'amélioration des conditions de travail ».</a:t>
            </a:r>
            <a:endParaRPr lang="en-US" sz="1300" dirty="0"/>
          </a:p>
          <a:p>
            <a:pPr marL="406400" lvl="1"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 Lors de l'avis rendu sur le rapport et sur le programme annuels de prévention, le comité peut proposer un ordre de priorité et l'adoption de mesures supplémentaires. »</a:t>
            </a:r>
            <a:endParaRPr lang="en-US" sz="1300" dirty="0"/>
          </a:p>
          <a:p>
            <a:pPr marL="203200" indent="-203200">
              <a:lnSpc>
                <a:spcPct val="110000"/>
              </a:lnSpc>
              <a:spcAft>
                <a:spcPts val="700"/>
              </a:spcAft>
              <a:buSzPct val="100000"/>
              <a:buChar char="•"/>
            </a:pPr>
            <a:r>
              <a:rPr lang="en-US" sz="1200" b="1" dirty="0">
                <a:solidFill>
                  <a:srgbClr val="075767"/>
                </a:solidFill>
                <a:latin typeface="Lato" pitchFamily="34" charset="0"/>
                <a:ea typeface="Lato" pitchFamily="34" charset="-122"/>
                <a:cs typeface="Lato" pitchFamily="34" charset="-120"/>
              </a:rPr>
              <a:t>L. 2312-59 et L. 2312-60 : Les droits d'alerte</a:t>
            </a:r>
            <a:endParaRPr lang="en-US" sz="1300" dirty="0"/>
          </a:p>
          <a:p>
            <a:pPr marL="406400" lvl="1"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Atteinte aux droits des personnes, danger grave et imminent, santé publique et environnement. Détaillés en partie 8.</a:t>
            </a:r>
            <a:endParaRPr lang="en-US" sz="1300" dirty="0"/>
          </a:p>
          <a:p>
            <a:pPr marL="203200" indent="-203200">
              <a:lnSpc>
                <a:spcPct val="110000"/>
              </a:lnSpc>
              <a:spcAft>
                <a:spcPts val="700"/>
              </a:spcAft>
              <a:buSzPct val="100000"/>
              <a:buChar char="•"/>
            </a:pPr>
            <a:r>
              <a:rPr lang="en-US" sz="1200" b="1" dirty="0">
                <a:solidFill>
                  <a:srgbClr val="075767"/>
                </a:solidFill>
                <a:latin typeface="Lato" pitchFamily="34" charset="0"/>
                <a:ea typeface="Lato" pitchFamily="34" charset="-122"/>
                <a:cs typeface="Lato" pitchFamily="34" charset="-120"/>
              </a:rPr>
              <a:t>L. 4121-3 : La contribution à l'évaluation des risques</a:t>
            </a:r>
            <a:endParaRPr lang="en-US" sz="1300" dirty="0"/>
          </a:p>
          <a:p>
            <a:pPr marL="406400" lvl="1"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Le CSE et, le cas échéant, la CSSCT « apportent leur contribution à l'évaluation des risques professionnels dans l'entreprise ».</a:t>
            </a:r>
            <a:endParaRPr lang="en-US" sz="1300" dirty="0"/>
          </a:p>
          <a:p>
            <a:pPr marL="203200" indent="-203200">
              <a:lnSpc>
                <a:spcPct val="110000"/>
              </a:lnSpc>
              <a:spcAft>
                <a:spcPts val="700"/>
              </a:spcAft>
              <a:buSzPct val="100000"/>
              <a:buChar char="•"/>
            </a:pPr>
            <a:r>
              <a:rPr lang="en-US" sz="1200" b="1" dirty="0">
                <a:solidFill>
                  <a:srgbClr val="075767"/>
                </a:solidFill>
                <a:latin typeface="Lato" pitchFamily="34" charset="0"/>
                <a:ea typeface="Lato" pitchFamily="34" charset="-122"/>
                <a:cs typeface="Lato" pitchFamily="34" charset="-120"/>
              </a:rPr>
              <a:t>R. 4512-2 et R. 4514-1 : L'intervention d'une entreprise extérieure</a:t>
            </a:r>
            <a:endParaRPr lang="en-US" sz="1300" dirty="0"/>
          </a:p>
          <a:p>
            <a:pPr marL="406400" lvl="1"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Inspection commune préalable des lieux de travail, dont les CSE de l'entreprise utilisatrice et des entreprises extérieures sont informés au plus tard trois jours avant.</a:t>
            </a:r>
            <a:endParaRPr lang="en-US" sz="13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Inspections et enquêtes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grpSp>
        <p:nvGrpSpPr>
          <p:cNvPr id="9013"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2312-13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Le comité procède, à intervalles réguliers, à des inspections en matière de santé, de sécurité et des conditions de travail. Il réalise des enquêtes en matière d'accidents du travail ou de maladies professionnelles ou à caractère professionnel.</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4173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Fréquence des inspections : au moins égale à celle des réunions SSCT, soit quatre par an (article R. 2312-4)</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L'enquête est menée par une délégation d'au moins deux personnes : l'employeur ou son représentant, et un élu du comité</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comité peut faire appel, à titre consultatif et occasionnel, à toute personne qualifiée de l'entreprise</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13"/>
                                        </p:tgtEl>
                                        <p:attrNameLst>
                                          <p:attrName>style.visibility</p:attrName>
                                        </p:attrNameLst>
                                      </p:cBhvr>
                                      <p:to>
                                        <p:strVal val="visible"/>
                                      </p:to>
                                    </p:set>
                                    <p:animEffect transition="in" filter="fade">
                                      <p:cBhvr>
                                        <p:cTn id="7" dur="450"/>
                                        <p:tgtEl>
                                          <p:spTgt spid="90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À quoi servent les inspections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L'inspection n'est pas une visite de courtoisie : c'est le seul moment où l'élu voit le travail réel.</a:t>
            </a:r>
            <a:endParaRPr lang="en-US" sz="1450" dirty="0"/>
          </a:p>
        </p:txBody>
      </p:sp>
      <p:sp>
        <p:nvSpPr>
          <p:cNvPr id="11" name="Text 9"/>
          <p:cNvSpPr txBox="1"/>
          <p:nvPr/>
        </p:nvSpPr>
        <p:spPr>
          <a:xfrm>
            <a:off x="731520" y="2487168"/>
            <a:ext cx="6035040"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S'informer sur le terrain des difficultés rencontrées par les salariés dans l'exécution de leur travail</a:t>
            </a:r>
            <a:endParaRPr lang="en-US" sz="1400" dirty="0"/>
          </a:p>
          <a:p>
            <a:pPr marL="203200"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Analyser les conditions de travail telles qu'elles sont, pas telles qu'elles sont prescrites</a:t>
            </a:r>
            <a:endParaRPr lang="en-US" sz="1400" dirty="0"/>
          </a:p>
          <a:p>
            <a:pPr marL="203200"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Formuler des propositions d'amélioration, à inscrire dans le programme annuel de prévention</a:t>
            </a:r>
            <a:endParaRPr lang="en-US" sz="1400" dirty="0"/>
          </a:p>
          <a:p>
            <a:pPr marL="203200"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Vérifier que la réglementation est appliquée</a:t>
            </a:r>
            <a:endParaRPr lang="en-US" sz="14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À défaut, signaler l'infraction au responsable hiérarchique, ou l'inscrire au registre des dangers graves et imminents selon sa gravité</a:t>
            </a:r>
            <a:endParaRPr lang="en-US" sz="1400" dirty="0"/>
          </a:p>
          <a:p>
            <a:pPr marL="203200"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Recueillir les informations qui nourriront les actions de prévention</a:t>
            </a:r>
            <a:endParaRPr lang="en-US" sz="1400" dirty="0"/>
          </a:p>
        </p:txBody>
      </p:sp>
      <p:grpSp>
        <p:nvGrpSpPr>
          <p:cNvPr id="9014" name="Bloc 2"/>
          <p:cNvGrpSpPr/>
          <p:nvPr/>
        </p:nvGrpSpPr>
        <p:grpSpPr>
          <a:xfrm>
            <a:off x="7223760" y="1828800"/>
            <a:ext cx="4334256" cy="3282696"/>
            <a:chOff x="7223760" y="1828800"/>
            <a:chExt cx="4334256" cy="3282696"/>
          </a:xfrm>
        </p:grpSpPr>
        <p:sp>
          <p:nvSpPr>
            <p:cNvPr id="21" name="Rounded Rectangle 20"/>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05.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15" name="Bloc 4"/>
          <p:cNvGrpSpPr/>
          <p:nvPr/>
        </p:nvGrpSpPr>
        <p:grpSpPr>
          <a:xfrm>
            <a:off x="731520" y="5248656"/>
            <a:ext cx="10728655" cy="841248"/>
            <a:chOff x="731520" y="5248656"/>
            <a:chExt cx="10728655" cy="841248"/>
          </a:xfrm>
        </p:grpSpPr>
        <p:sp>
          <p:nvSpPr>
            <p:cNvPr id="13" name="Text 10"/>
            <p:cNvSpPr txBox="1"/>
            <p:nvPr/>
          </p:nvSpPr>
          <p:spPr>
            <a:xfrm>
              <a:off x="7223760" y="5349240"/>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Voir le poste occupé, pas la photo du poste : l'écart se joue là.</a:t>
              </a:r>
              <a:endParaRPr lang="en-US" sz="950" dirty="0"/>
            </a:p>
          </p:txBody>
        </p:sp>
        <p:sp>
          <p:nvSpPr>
            <p:cNvPr id="14" name="Shape 11"/>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5" name="Text 12"/>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À retenir   </a:t>
              </a:r>
              <a:r>
                <a:rPr lang="en-US" sz="1300" dirty="0">
                  <a:solidFill>
                    <a:srgbClr val="075767"/>
                  </a:solidFill>
                  <a:latin typeface="Lato" pitchFamily="34" charset="0"/>
                  <a:ea typeface="Lato" pitchFamily="34" charset="-122"/>
                  <a:cs typeface="Lato" pitchFamily="34" charset="-120"/>
                </a:rPr>
                <a:t>c'est le CSE qui fixe lui-même le contenu et les modalités des inspections, collégiales ou individuelles, générales ou sectorielles.</a:t>
              </a:r>
              <a:endParaRPr lang="en-US" sz="1250" dirty="0"/>
            </a:p>
          </p:txBody>
        </p:sp>
      </p:gr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14</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14"/>
                                        </p:tgtEl>
                                        <p:attrNameLst>
                                          <p:attrName>style.visibility</p:attrName>
                                        </p:attrNameLst>
                                      </p:cBhvr>
                                      <p:to>
                                        <p:strVal val="visible"/>
                                      </p:to>
                                    </p:set>
                                    <p:animEffect transition="in" filter="fade">
                                      <p:cBhvr>
                                        <p:cTn id="12" dur="450"/>
                                        <p:tgtEl>
                                          <p:spTgt spid="90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15"/>
                                        </p:tgtEl>
                                        <p:attrNameLst>
                                          <p:attrName>style.visibility</p:attrName>
                                        </p:attrNameLst>
                                      </p:cBhvr>
                                      <p:to>
                                        <p:strVal val="visible"/>
                                      </p:to>
                                    </p:set>
                                    <p:animEffect transition="in" filter="fade">
                                      <p:cBhvr>
                                        <p:cTn id="22" dur="450"/>
                                        <p:tgtEl>
                                          <p:spTgt spid="9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L'entreprise extérieure : le cadre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pic>
        <p:nvPicPr>
          <p:cNvPr id="17" name="Image 1"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15</a:t>
            </a:r>
            <a:endParaRPr lang="en-US" sz="1000" dirty="0"/>
          </a:p>
        </p:txBody>
      </p:sp>
      <p:grpSp>
        <p:nvGrpSpPr>
          <p:cNvPr id="9016" name="Bloc 1"/>
          <p:cNvGrpSpPr/>
          <p:nvPr/>
        </p:nvGrpSpPr>
        <p:grpSpPr>
          <a:xfrm>
            <a:off x="731520" y="1874519"/>
            <a:ext cx="10725912" cy="1225295"/>
            <a:chOff x="731520" y="1874519"/>
            <a:chExt cx="10725912" cy="1225295"/>
          </a:xfrm>
        </p:grpSpPr>
        <p:sp>
          <p:nvSpPr>
            <p:cNvPr id="22" name="Rounded Rectangle 21"/>
            <p:cNvSpPr/>
            <p:nvPr/>
          </p:nvSpPr>
          <p:spPr>
            <a:xfrm>
              <a:off x="731520" y="1874519"/>
              <a:ext cx="10725912" cy="1225295"/>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5840" y="2039112"/>
              <a:ext cx="10177272" cy="274320"/>
            </a:xfrm>
            <a:prstGeom prst="rect">
              <a:avLst/>
            </a:prstGeom>
            <a:noFill/>
          </p:spPr>
          <p:txBody>
            <a:bodyPr wrap="square" lIns="0" tIns="0" rIns="0" bIns="0" anchor="t">
              <a:spAutoFit/>
            </a:bodyPr>
            <a:lstStyle/>
            <a:p>
              <a:pPr algn="l"/>
              <a:r>
                <a:rPr sz="1250" b="1" i="0">
                  <a:solidFill>
                    <a:srgbClr val="075767"/>
                  </a:solidFill>
                  <a:latin typeface="Lato"/>
                </a:rPr>
                <a:t>Article R. 4511-1 (code du travail)</a:t>
              </a:r>
            </a:p>
          </p:txBody>
        </p:sp>
        <p:sp>
          <p:nvSpPr>
            <p:cNvPr id="24" name="TextBox 23"/>
            <p:cNvSpPr txBox="1"/>
            <p:nvPr/>
          </p:nvSpPr>
          <p:spPr>
            <a:xfrm>
              <a:off x="1005840" y="2350008"/>
              <a:ext cx="10177272" cy="585215"/>
            </a:xfrm>
            <a:prstGeom prst="rect">
              <a:avLst/>
            </a:prstGeom>
            <a:noFill/>
          </p:spPr>
          <p:txBody>
            <a:bodyPr wrap="square" lIns="0" tIns="0" rIns="0" bIns="0" anchor="t">
              <a:spAutoFit/>
            </a:bodyPr>
            <a:lstStyle/>
            <a:p>
              <a:pPr algn="l"/>
              <a:r>
                <a:rPr sz="1200" b="0" i="1">
                  <a:solidFill>
                    <a:srgbClr val="075767"/>
                  </a:solidFill>
                  <a:latin typeface="Lato"/>
                </a:rPr>
                <a:t>Les dispositions du présent titre s'appliquent au chef de l'entreprise utilisatrice et au chef de l'entreprise extérieure lorsqu'une entreprise extérieure fait intervenir des travailleurs pour exécuter ou participer à l'exécution d'une opération, quelle que soit sa nature, dans un établissement d'une entreprise utilisatrice, y compris dans ses dépendances ou chantiers.</a:t>
              </a:r>
            </a:p>
          </p:txBody>
        </p:sp>
      </p:grpSp>
      <p:grpSp>
        <p:nvGrpSpPr>
          <p:cNvPr id="9017" name="Bloc 2"/>
          <p:cNvGrpSpPr/>
          <p:nvPr/>
        </p:nvGrpSpPr>
        <p:grpSpPr>
          <a:xfrm>
            <a:off x="731520" y="3246120"/>
            <a:ext cx="10725912" cy="1030223"/>
            <a:chOff x="731520" y="3246120"/>
            <a:chExt cx="10725912" cy="1030223"/>
          </a:xfrm>
        </p:grpSpPr>
        <p:sp>
          <p:nvSpPr>
            <p:cNvPr id="25" name="Rounded Rectangle 24"/>
            <p:cNvSpPr/>
            <p:nvPr/>
          </p:nvSpPr>
          <p:spPr>
            <a:xfrm>
              <a:off x="731520" y="3246120"/>
              <a:ext cx="10725912" cy="1030223"/>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5840" y="3410712"/>
              <a:ext cx="10177272" cy="274320"/>
            </a:xfrm>
            <a:prstGeom prst="rect">
              <a:avLst/>
            </a:prstGeom>
            <a:noFill/>
          </p:spPr>
          <p:txBody>
            <a:bodyPr wrap="square" lIns="0" tIns="0" rIns="0" bIns="0" anchor="t">
              <a:spAutoFit/>
            </a:bodyPr>
            <a:lstStyle/>
            <a:p>
              <a:pPr algn="l"/>
              <a:r>
                <a:rPr sz="1250" b="1" i="0">
                  <a:solidFill>
                    <a:srgbClr val="075767"/>
                  </a:solidFill>
                  <a:latin typeface="Lato"/>
                </a:rPr>
                <a:t>Article R. 4512-2 (code du travail)</a:t>
              </a:r>
            </a:p>
          </p:txBody>
        </p:sp>
        <p:sp>
          <p:nvSpPr>
            <p:cNvPr id="27" name="TextBox 26"/>
            <p:cNvSpPr txBox="1"/>
            <p:nvPr/>
          </p:nvSpPr>
          <p:spPr>
            <a:xfrm>
              <a:off x="1005840" y="3721608"/>
              <a:ext cx="10177272" cy="390143"/>
            </a:xfrm>
            <a:prstGeom prst="rect">
              <a:avLst/>
            </a:prstGeom>
            <a:noFill/>
          </p:spPr>
          <p:txBody>
            <a:bodyPr wrap="square" lIns="0" tIns="0" rIns="0" bIns="0" anchor="t">
              <a:spAutoFit/>
            </a:bodyPr>
            <a:lstStyle/>
            <a:p>
              <a:pPr algn="l"/>
              <a:r>
                <a:rPr sz="1200" b="0" i="1">
                  <a:solidFill>
                    <a:srgbClr val="075767"/>
                  </a:solidFill>
                  <a:latin typeface="Lato"/>
                </a:rPr>
                <a:t>Il est procédé, préalablement à l'exécution de l'opération réalisée par une entreprise extérieure, à une inspection commune des lieux de travail, des installations qui s'y trouvent et des matériels éventuellement mis à disposition des entreprises extérieures.</a:t>
              </a:r>
            </a:p>
          </p:txBody>
        </p:sp>
      </p:grpSp>
      <p:grpSp>
        <p:nvGrpSpPr>
          <p:cNvPr id="9018" name="Bloc 3"/>
          <p:cNvGrpSpPr/>
          <p:nvPr/>
        </p:nvGrpSpPr>
        <p:grpSpPr>
          <a:xfrm>
            <a:off x="731520" y="4422647"/>
            <a:ext cx="10725912" cy="1420368"/>
            <a:chOff x="731520" y="4422647"/>
            <a:chExt cx="10725912" cy="1420368"/>
          </a:xfrm>
        </p:grpSpPr>
        <p:sp>
          <p:nvSpPr>
            <p:cNvPr id="28" name="Rounded Rectangle 27"/>
            <p:cNvSpPr/>
            <p:nvPr/>
          </p:nvSpPr>
          <p:spPr>
            <a:xfrm>
              <a:off x="731520" y="4422647"/>
              <a:ext cx="10725912" cy="1420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40" y="4587239"/>
              <a:ext cx="10177272" cy="274320"/>
            </a:xfrm>
            <a:prstGeom prst="rect">
              <a:avLst/>
            </a:prstGeom>
            <a:noFill/>
          </p:spPr>
          <p:txBody>
            <a:bodyPr wrap="square" lIns="0" tIns="0" rIns="0" bIns="0" anchor="t">
              <a:spAutoFit/>
            </a:bodyPr>
            <a:lstStyle/>
            <a:p>
              <a:pPr algn="l"/>
              <a:r>
                <a:rPr sz="1250" b="1" i="0">
                  <a:solidFill>
                    <a:srgbClr val="075767"/>
                  </a:solidFill>
                  <a:latin typeface="Lato"/>
                </a:rPr>
                <a:t>Article R. 4512-6 (code du travail)</a:t>
              </a:r>
            </a:p>
          </p:txBody>
        </p:sp>
        <p:sp>
          <p:nvSpPr>
            <p:cNvPr id="30" name="TextBox 29"/>
            <p:cNvSpPr txBox="1"/>
            <p:nvPr/>
          </p:nvSpPr>
          <p:spPr>
            <a:xfrm>
              <a:off x="1005840" y="4898135"/>
              <a:ext cx="10177272" cy="780288"/>
            </a:xfrm>
            <a:prstGeom prst="rect">
              <a:avLst/>
            </a:prstGeom>
            <a:noFill/>
          </p:spPr>
          <p:txBody>
            <a:bodyPr wrap="square" lIns="0" tIns="0" rIns="0" bIns="0" anchor="t">
              <a:spAutoFit/>
            </a:bodyPr>
            <a:lstStyle/>
            <a:p>
              <a:pPr algn="l"/>
              <a:r>
                <a:rPr sz="1200" b="0" i="1">
                  <a:solidFill>
                    <a:srgbClr val="075767"/>
                  </a:solidFill>
                  <a:latin typeface="Lato"/>
                </a:rPr>
                <a:t>Au vu des informations et éléments recueillis au cours de l'inspection commune préalable, les chefs des entreprises utilisatrice et extérieures procèdent en commun à une analyse des risques pouvant résulter de l'interférence entre les activités, installations et matériels. Lorsque ces risques existent, les employeurs arrêtent d'un commun accord, avant le début des travaux, un plan de prévention définissant les mesures prises par chaque entreprise en vue de prévenir ces risques.</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16"/>
                                        </p:tgtEl>
                                        <p:attrNameLst>
                                          <p:attrName>style.visibility</p:attrName>
                                        </p:attrNameLst>
                                      </p:cBhvr>
                                      <p:to>
                                        <p:strVal val="visible"/>
                                      </p:to>
                                    </p:set>
                                    <p:animEffect transition="in" filter="fade">
                                      <p:cBhvr>
                                        <p:cTn id="7" dur="450"/>
                                        <p:tgtEl>
                                          <p:spTgt spid="90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17"/>
                                        </p:tgtEl>
                                        <p:attrNameLst>
                                          <p:attrName>style.visibility</p:attrName>
                                        </p:attrNameLst>
                                      </p:cBhvr>
                                      <p:to>
                                        <p:strVal val="visible"/>
                                      </p:to>
                                    </p:set>
                                    <p:animEffect transition="in" filter="fade">
                                      <p:cBhvr>
                                        <p:cTn id="12" dur="450"/>
                                        <p:tgtEl>
                                          <p:spTgt spid="90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18"/>
                                        </p:tgtEl>
                                        <p:attrNameLst>
                                          <p:attrName>style.visibility</p:attrName>
                                        </p:attrNameLst>
                                      </p:cBhvr>
                                      <p:to>
                                        <p:strVal val="visible"/>
                                      </p:to>
                                    </p:set>
                                    <p:animEffect transition="in" filter="fade">
                                      <p:cBhvr>
                                        <p:cTn id="17" dur="450"/>
                                        <p:tgtEl>
                                          <p:spTgt spid="90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plan de prévention écrit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16</a:t>
            </a:r>
            <a:endParaRPr lang="en-US" sz="1000" dirty="0"/>
          </a:p>
        </p:txBody>
      </p:sp>
      <p:grpSp>
        <p:nvGrpSpPr>
          <p:cNvPr id="9019" name="Bloc 1"/>
          <p:cNvGrpSpPr/>
          <p:nvPr/>
        </p:nvGrpSpPr>
        <p:grpSpPr>
          <a:xfrm>
            <a:off x="731520" y="1828800"/>
            <a:ext cx="10725912" cy="2249424"/>
            <a:chOff x="731520" y="1828800"/>
            <a:chExt cx="10725912" cy="2249424"/>
          </a:xfrm>
        </p:grpSpPr>
        <p:sp>
          <p:nvSpPr>
            <p:cNvPr id="19" name="Rounded Rectangle 18"/>
            <p:cNvSpPr/>
            <p:nvPr/>
          </p:nvSpPr>
          <p:spPr>
            <a:xfrm>
              <a:off x="731520" y="1828800"/>
              <a:ext cx="10725912" cy="2249424"/>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1993392"/>
              <a:ext cx="10177272" cy="274320"/>
            </a:xfrm>
            <a:prstGeom prst="rect">
              <a:avLst/>
            </a:prstGeom>
            <a:noFill/>
          </p:spPr>
          <p:txBody>
            <a:bodyPr wrap="square" lIns="0" tIns="0" rIns="0" bIns="0" anchor="t">
              <a:spAutoFit/>
            </a:bodyPr>
            <a:lstStyle/>
            <a:p>
              <a:pPr algn="l"/>
              <a:r>
                <a:rPr sz="1150" b="1" i="0">
                  <a:solidFill>
                    <a:srgbClr val="075767"/>
                  </a:solidFill>
                  <a:latin typeface="Lato"/>
                </a:rPr>
                <a:t>Article R. 4512-7 (code du travail)</a:t>
              </a:r>
            </a:p>
          </p:txBody>
        </p:sp>
        <p:sp>
          <p:nvSpPr>
            <p:cNvPr id="21" name="TextBox 20"/>
            <p:cNvSpPr txBox="1"/>
            <p:nvPr/>
          </p:nvSpPr>
          <p:spPr>
            <a:xfrm>
              <a:off x="1005840" y="2304288"/>
              <a:ext cx="10177272" cy="1609344"/>
            </a:xfrm>
            <a:prstGeom prst="rect">
              <a:avLst/>
            </a:prstGeom>
            <a:noFill/>
          </p:spPr>
          <p:txBody>
            <a:bodyPr wrap="square" lIns="0" tIns="0" rIns="0" bIns="0" anchor="t">
              <a:spAutoFit/>
            </a:bodyPr>
            <a:lstStyle/>
            <a:p>
              <a:pPr algn="l"/>
              <a:r>
                <a:rPr sz="1100" b="0" i="1">
                  <a:solidFill>
                    <a:srgbClr val="075767"/>
                  </a:solidFill>
                  <a:latin typeface="Lato"/>
                </a:rPr>
                <a:t>Le plan de prévention est établi par écrit et arrêté avant le commencement des travaux dans les deux cas suivants :
1° Dès lors que l'opération à réaliser par les entreprises extérieures, y compris les entreprises sous-traitantes auxquelles elles peuvent faire appel, représente un nombre total d'heures de travail prévisible égal au moins à 400 heures sur une période inférieure ou égale à douze mois, que les travaux soient continus ou discontinus. Il en est de même dès lors qu'il apparaît, en cours d'exécution des travaux, que le nombre d'heures de travail doit atteindre 400 heures ;
2° Quelle que soit la durée prévisible de l'opération, lorsque les travaux à accomplir sont au nombre des travaux dangereux figurant sur une liste fixée, respectivement, par arrêté du ministre chargé du travail et par arrêté du ministre chargé de l'agriculture.</a:t>
              </a:r>
            </a:p>
          </p:txBody>
        </p:sp>
      </p:grpSp>
      <p:grpSp>
        <p:nvGrpSpPr>
          <p:cNvPr id="9020" name="Bloc 2"/>
          <p:cNvGrpSpPr/>
          <p:nvPr/>
        </p:nvGrpSpPr>
        <p:grpSpPr>
          <a:xfrm>
            <a:off x="731520" y="4224528"/>
            <a:ext cx="10725912" cy="1176528"/>
            <a:chOff x="731520" y="4224528"/>
            <a:chExt cx="10725912" cy="1176528"/>
          </a:xfrm>
        </p:grpSpPr>
        <p:sp>
          <p:nvSpPr>
            <p:cNvPr id="22" name="Rounded Rectangle 21"/>
            <p:cNvSpPr/>
            <p:nvPr/>
          </p:nvSpPr>
          <p:spPr>
            <a:xfrm>
              <a:off x="731520" y="4224528"/>
              <a:ext cx="10725912" cy="117652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5840" y="4389120"/>
              <a:ext cx="10177272" cy="274320"/>
            </a:xfrm>
            <a:prstGeom prst="rect">
              <a:avLst/>
            </a:prstGeom>
            <a:noFill/>
          </p:spPr>
          <p:txBody>
            <a:bodyPr wrap="square" lIns="0" tIns="0" rIns="0" bIns="0" anchor="t">
              <a:spAutoFit/>
            </a:bodyPr>
            <a:lstStyle/>
            <a:p>
              <a:pPr algn="l"/>
              <a:r>
                <a:rPr sz="1150" b="1" i="0">
                  <a:solidFill>
                    <a:srgbClr val="075767"/>
                  </a:solidFill>
                  <a:latin typeface="Lato"/>
                </a:rPr>
                <a:t>Article R. 4514-2 (code du travail)</a:t>
              </a:r>
            </a:p>
          </p:txBody>
        </p:sp>
        <p:sp>
          <p:nvSpPr>
            <p:cNvPr id="24" name="TextBox 23"/>
            <p:cNvSpPr txBox="1"/>
            <p:nvPr/>
          </p:nvSpPr>
          <p:spPr>
            <a:xfrm>
              <a:off x="1005840" y="4700016"/>
              <a:ext cx="10177272" cy="536448"/>
            </a:xfrm>
            <a:prstGeom prst="rect">
              <a:avLst/>
            </a:prstGeom>
            <a:noFill/>
          </p:spPr>
          <p:txBody>
            <a:bodyPr wrap="square" lIns="0" tIns="0" rIns="0" bIns="0" anchor="t">
              <a:spAutoFit/>
            </a:bodyPr>
            <a:lstStyle/>
            <a:p>
              <a:pPr algn="l"/>
              <a:r>
                <a:rPr sz="1100" b="0" i="1">
                  <a:solidFill>
                    <a:srgbClr val="075767"/>
                  </a:solidFill>
                  <a:latin typeface="Lato"/>
                </a:rPr>
                <a:t>Lorsque l'établissement d'un plan de prévention par écrit est obligatoire, en application de l'article R. 4512-7, ce plan est tenu à la disposition du comité social et économique de l'entreprise utilisatrice et de ceux des entreprises extérieures. Ces comités sont informés de ses mises à jour. Ce plan et ses mises à jour leur sont communiqués sur leur demande. Ils reçoivent toutes informations nécessaires à l'exercice de leurs missions.</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19"/>
                                        </p:tgtEl>
                                        <p:attrNameLst>
                                          <p:attrName>style.visibility</p:attrName>
                                        </p:attrNameLst>
                                      </p:cBhvr>
                                      <p:to>
                                        <p:strVal val="visible"/>
                                      </p:to>
                                    </p:set>
                                    <p:animEffect transition="in" filter="fade">
                                      <p:cBhvr>
                                        <p:cTn id="7" dur="450"/>
                                        <p:tgtEl>
                                          <p:spTgt spid="90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20"/>
                                        </p:tgtEl>
                                        <p:attrNameLst>
                                          <p:attrName>style.visibility</p:attrName>
                                        </p:attrNameLst>
                                      </p:cBhvr>
                                      <p:to>
                                        <p:strVal val="visible"/>
                                      </p:to>
                                    </p:set>
                                    <p:animEffect transition="in" filter="fade">
                                      <p:cBhvr>
                                        <p:cTn id="12" dur="450"/>
                                        <p:tgtEl>
                                          <p:spTgt spid="9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que le comité peut exiger</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17</a:t>
            </a:r>
            <a:endParaRPr lang="en-US" sz="1000" dirty="0"/>
          </a:p>
        </p:txBody>
      </p:sp>
      <p:grpSp>
        <p:nvGrpSpPr>
          <p:cNvPr id="9021" name="Bloc 1"/>
          <p:cNvGrpSpPr/>
          <p:nvPr/>
        </p:nvGrpSpPr>
        <p:grpSpPr>
          <a:xfrm>
            <a:off x="731520" y="1828800"/>
            <a:ext cx="10725912" cy="2029967"/>
            <a:chOff x="731520" y="1828800"/>
            <a:chExt cx="10725912" cy="2029967"/>
          </a:xfrm>
        </p:grpSpPr>
        <p:sp>
          <p:nvSpPr>
            <p:cNvPr id="19" name="Rounded Rectangle 18"/>
            <p:cNvSpPr/>
            <p:nvPr/>
          </p:nvSpPr>
          <p:spPr>
            <a:xfrm>
              <a:off x="731520" y="1828800"/>
              <a:ext cx="10725912" cy="2029967"/>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1993392"/>
              <a:ext cx="10177272" cy="274320"/>
            </a:xfrm>
            <a:prstGeom prst="rect">
              <a:avLst/>
            </a:prstGeom>
            <a:noFill/>
          </p:spPr>
          <p:txBody>
            <a:bodyPr wrap="square" lIns="0" tIns="0" rIns="0" bIns="0" anchor="t">
              <a:spAutoFit/>
            </a:bodyPr>
            <a:lstStyle/>
            <a:p>
              <a:pPr algn="l"/>
              <a:r>
                <a:rPr sz="1000" b="1" i="0">
                  <a:solidFill>
                    <a:srgbClr val="075767"/>
                  </a:solidFill>
                  <a:latin typeface="Lato"/>
                </a:rPr>
                <a:t>Article R. 4514-1 (code du travail)</a:t>
              </a:r>
            </a:p>
          </p:txBody>
        </p:sp>
        <p:sp>
          <p:nvSpPr>
            <p:cNvPr id="21" name="TextBox 20"/>
            <p:cNvSpPr txBox="1"/>
            <p:nvPr/>
          </p:nvSpPr>
          <p:spPr>
            <a:xfrm>
              <a:off x="1005840" y="2304288"/>
              <a:ext cx="10177272" cy="1389887"/>
            </a:xfrm>
            <a:prstGeom prst="rect">
              <a:avLst/>
            </a:prstGeom>
            <a:noFill/>
          </p:spPr>
          <p:txBody>
            <a:bodyPr wrap="square" lIns="0" tIns="0" rIns="0" bIns="0" anchor="t">
              <a:spAutoFit/>
            </a:bodyPr>
            <a:lstStyle/>
            <a:p>
              <a:pPr algn="l"/>
              <a:r>
                <a:rPr sz="950" b="0" i="1">
                  <a:solidFill>
                    <a:srgbClr val="075767"/>
                  </a:solidFill>
                  <a:latin typeface="Lato"/>
                </a:rPr>
                <a:t>Les comités sociaux et économiques de l'entreprise utilisatrice et des entreprises extérieures sont informés :
1° De la date de l'inspection commune préalable par les chefs des entreprises intéressées, dès qu'ils en ont connaissance et au plus tard trois jours avant qu'elle ait lieu. En cas d'urgence, ils sont informés sur le champ ;
2° De la date des inspections et réunions périodiques de coordination, au plus tard trois jours avant qu'elles aient lieu. En cas d'urgence, ils sont informés sur le champ ;
3° De toute situation d'urgence et de gravité mentionnée au 3° de l'article L. 4614-6.</a:t>
              </a:r>
            </a:p>
          </p:txBody>
        </p:sp>
      </p:grpSp>
      <p:grpSp>
        <p:nvGrpSpPr>
          <p:cNvPr id="9022" name="Bloc 2"/>
          <p:cNvGrpSpPr/>
          <p:nvPr/>
        </p:nvGrpSpPr>
        <p:grpSpPr>
          <a:xfrm>
            <a:off x="731520" y="4005072"/>
            <a:ext cx="10725912" cy="1257808"/>
            <a:chOff x="731520" y="4005072"/>
            <a:chExt cx="10725912" cy="1257808"/>
          </a:xfrm>
        </p:grpSpPr>
        <p:sp>
          <p:nvSpPr>
            <p:cNvPr id="22" name="Rounded Rectangle 21"/>
            <p:cNvSpPr/>
            <p:nvPr/>
          </p:nvSpPr>
          <p:spPr>
            <a:xfrm>
              <a:off x="731520" y="4005072"/>
              <a:ext cx="10725912" cy="125780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5840" y="4169663"/>
              <a:ext cx="10177272" cy="274320"/>
            </a:xfrm>
            <a:prstGeom prst="rect">
              <a:avLst/>
            </a:prstGeom>
            <a:noFill/>
          </p:spPr>
          <p:txBody>
            <a:bodyPr wrap="square" lIns="0" tIns="0" rIns="0" bIns="0" anchor="t">
              <a:spAutoFit/>
            </a:bodyPr>
            <a:lstStyle/>
            <a:p>
              <a:pPr algn="l"/>
              <a:r>
                <a:rPr sz="1000" b="1" i="0">
                  <a:solidFill>
                    <a:srgbClr val="075767"/>
                  </a:solidFill>
                  <a:latin typeface="Lato"/>
                </a:rPr>
                <a:t>Article R. 4514-3 (code du travail)</a:t>
              </a:r>
            </a:p>
          </p:txBody>
        </p:sp>
        <p:sp>
          <p:nvSpPr>
            <p:cNvPr id="24" name="TextBox 23"/>
            <p:cNvSpPr txBox="1"/>
            <p:nvPr/>
          </p:nvSpPr>
          <p:spPr>
            <a:xfrm>
              <a:off x="1005840" y="4480560"/>
              <a:ext cx="10177272" cy="617728"/>
            </a:xfrm>
            <a:prstGeom prst="rect">
              <a:avLst/>
            </a:prstGeom>
            <a:noFill/>
          </p:spPr>
          <p:txBody>
            <a:bodyPr wrap="square" lIns="0" tIns="0" rIns="0" bIns="0" anchor="t">
              <a:spAutoFit/>
            </a:bodyPr>
            <a:lstStyle/>
            <a:p>
              <a:pPr algn="l"/>
              <a:r>
                <a:rPr sz="950" b="0" i="1">
                  <a:solidFill>
                    <a:srgbClr val="075767"/>
                  </a:solidFill>
                  <a:latin typeface="Lato"/>
                </a:rPr>
                <a:t>Le comité social et économique de l'entreprise utilisatrice compétent charge, s'il l'estime nécessaire, un ou plusieurs de ses membres appartenant à la délégation du personnel de participer à l'inspection commune préalable. Les comités sociaux et économiques des entreprises extérieures intéressées participent, s'ils l'estiment nécessaire, à l'inspection commune préalable, dans les conditions prévues à l'article R. 4514-9. Les membres des comités désignés pour participer à l'inspection commune préalable émettent un avis sur les mesures de prévention. Cet avis est porté sur le plan de prévention lorsque ce plan doit être établi par écrit.</a:t>
              </a:r>
            </a:p>
          </p:txBody>
        </p:sp>
      </p:grpSp>
      <p:grpSp>
        <p:nvGrpSpPr>
          <p:cNvPr id="9023" name="Bloc 3"/>
          <p:cNvGrpSpPr/>
          <p:nvPr/>
        </p:nvGrpSpPr>
        <p:grpSpPr>
          <a:xfrm>
            <a:off x="731520" y="5431536"/>
            <a:ext cx="10725912" cy="658368"/>
            <a:chOff x="731520" y="5431536"/>
            <a:chExt cx="10725912" cy="658368"/>
          </a:xfrm>
        </p:grpSpPr>
        <p:sp>
          <p:nvSpPr>
            <p:cNvPr id="25" name="Rounded Rectangle 24"/>
            <p:cNvSpPr/>
            <p:nvPr/>
          </p:nvSpPr>
          <p:spPr>
            <a:xfrm>
              <a:off x="731520" y="5431536"/>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4128" y="5431536"/>
              <a:ext cx="10140696" cy="658368"/>
            </a:xfrm>
            <a:prstGeom prst="rect">
              <a:avLst/>
            </a:prstGeom>
            <a:noFill/>
          </p:spPr>
          <p:txBody>
            <a:bodyPr wrap="square" lIns="0" rIns="0" anchor="ctr">
              <a:spAutoFit/>
            </a:bodyPr>
            <a:lstStyle/>
            <a:p>
              <a:r>
                <a:rPr sz="1100" b="1">
                  <a:solidFill>
                    <a:srgbClr val="C33F14"/>
                  </a:solidFill>
                  <a:latin typeface="Lato"/>
                </a:rPr>
                <a:t>Article R. 4514-4 (code du travail)   </a:t>
              </a:r>
              <a:r>
                <a:rPr sz="1100">
                  <a:solidFill>
                    <a:srgbClr val="595959"/>
                  </a:solidFill>
                  <a:latin typeface="Lato"/>
                </a:rPr>
                <a:t>« Des inspections et réunions périodiques de coordination sont organisées à la demande motivée de deux représentants du personnel au comité social et économique de l'entreprise utilisatrice. »</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21"/>
                                        </p:tgtEl>
                                        <p:attrNameLst>
                                          <p:attrName>style.visibility</p:attrName>
                                        </p:attrNameLst>
                                      </p:cBhvr>
                                      <p:to>
                                        <p:strVal val="visible"/>
                                      </p:to>
                                    </p:set>
                                    <p:animEffect transition="in" filter="fade">
                                      <p:cBhvr>
                                        <p:cTn id="7" dur="450"/>
                                        <p:tgtEl>
                                          <p:spTgt spid="90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22"/>
                                        </p:tgtEl>
                                        <p:attrNameLst>
                                          <p:attrName>style.visibility</p:attrName>
                                        </p:attrNameLst>
                                      </p:cBhvr>
                                      <p:to>
                                        <p:strVal val="visible"/>
                                      </p:to>
                                    </p:set>
                                    <p:animEffect transition="in" filter="fade">
                                      <p:cBhvr>
                                        <p:cTn id="12" dur="450"/>
                                        <p:tgtEl>
                                          <p:spTgt spid="90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23"/>
                                        </p:tgtEl>
                                        <p:attrNameLst>
                                          <p:attrName>style.visibility</p:attrName>
                                        </p:attrNameLst>
                                      </p:cBhvr>
                                      <p:to>
                                        <p:strVal val="visible"/>
                                      </p:to>
                                    </p:set>
                                    <p:animEffect transition="in" filter="fade">
                                      <p:cBhvr>
                                        <p:cTn id="17" dur="450"/>
                                        <p:tgtEl>
                                          <p:spTgt spid="9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Vos accords CSE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grpSp>
        <p:nvGrpSpPr>
          <p:cNvPr id="9024" name="Bloc 1"/>
          <p:cNvGrpSpPr/>
          <p:nvPr/>
        </p:nvGrpSpPr>
        <p:grpSpPr>
          <a:xfrm>
            <a:off x="731520" y="1828800"/>
            <a:ext cx="10728655" cy="3977640"/>
            <a:chOff x="731520" y="1828800"/>
            <a:chExt cx="10728655" cy="3977640"/>
          </a:xfrm>
        </p:grpSpPr>
        <p:sp>
          <p:nvSpPr>
            <p:cNvPr id="10" name="Shape 8"/>
            <p:cNvSpPr/>
            <p:nvPr/>
          </p:nvSpPr>
          <p:spPr>
            <a:xfrm>
              <a:off x="731520" y="1828800"/>
              <a:ext cx="10728655" cy="3977640"/>
            </a:xfrm>
            <a:prstGeom prst="roundRect">
              <a:avLst>
                <a:gd name="adj" fmla="val 1379"/>
              </a:avLst>
            </a:prstGeom>
            <a:solidFill>
              <a:srgbClr val="F2F2F2"/>
            </a:solidFill>
            <a:ln/>
          </p:spPr>
          <p:txBody>
            <a:bodyPr/>
            <a:lstStyle/>
            <a:p>
              <a:endParaRPr/>
            </a:p>
          </p:txBody>
        </p:sp>
        <p:sp>
          <p:nvSpPr>
            <p:cNvPr id="11" name="Shape 9"/>
            <p:cNvSpPr/>
            <p:nvPr/>
          </p:nvSpPr>
          <p:spPr>
            <a:xfrm>
              <a:off x="1097280" y="2121408"/>
              <a:ext cx="777240" cy="777240"/>
            </a:xfrm>
            <a:prstGeom prst="ellipse">
              <a:avLst/>
            </a:prstGeom>
            <a:solidFill>
              <a:srgbClr val="F06C23"/>
            </a:solidFill>
            <a:ln/>
          </p:spPr>
          <p:txBody>
            <a:bodyPr/>
            <a:lstStyle/>
            <a:p>
              <a:endParaRPr/>
            </a:p>
          </p:txBody>
        </p:sp>
        <p:pic>
          <p:nvPicPr>
            <p:cNvPr id="12" name="Image 0" descr="/home/claude/tmo/build/ico/equipe-blanc.png"/>
            <p:cNvPicPr>
              <a:picLocks noChangeAspect="1"/>
            </p:cNvPicPr>
            <p:nvPr/>
          </p:nvPicPr>
          <p:blipFill>
            <a:blip r:embed="rId3"/>
            <a:stretch>
              <a:fillRect/>
            </a:stretch>
          </p:blipFill>
          <p:spPr>
            <a:xfrm>
              <a:off x="1299362" y="2323490"/>
              <a:ext cx="373075" cy="373075"/>
            </a:xfrm>
            <a:prstGeom prst="rect">
              <a:avLst/>
            </a:prstGeom>
          </p:spPr>
        </p:pic>
        <p:sp>
          <p:nvSpPr>
            <p:cNvPr id="13" name="Shape 10"/>
            <p:cNvSpPr/>
            <p:nvPr/>
          </p:nvSpPr>
          <p:spPr>
            <a:xfrm>
              <a:off x="8854135" y="2139696"/>
              <a:ext cx="2240280" cy="457200"/>
            </a:xfrm>
            <a:prstGeom prst="roundRect">
              <a:avLst>
                <a:gd name="adj" fmla="val 24000"/>
              </a:avLst>
            </a:prstGeom>
            <a:solidFill>
              <a:srgbClr val="075767"/>
            </a:solidFill>
            <a:ln/>
          </p:spPr>
          <p:txBody>
            <a:bodyPr/>
            <a:lstStyle/>
            <a:p>
              <a:endParaRPr/>
            </a:p>
          </p:txBody>
        </p:sp>
        <p:sp>
          <p:nvSpPr>
            <p:cNvPr id="14" name="Text 11"/>
            <p:cNvSpPr txBox="1"/>
            <p:nvPr/>
          </p:nvSpPr>
          <p:spPr>
            <a:xfrm>
              <a:off x="8854135" y="2139696"/>
              <a:ext cx="22402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Lato" pitchFamily="34" charset="0"/>
                  <a:ea typeface="Lato" pitchFamily="34" charset="-122"/>
                  <a:cs typeface="Lato" pitchFamily="34" charset="-120"/>
                </a:rPr>
                <a:t>15' + 15' de restitution</a:t>
              </a:r>
              <a:endParaRPr lang="en-US" sz="1250" dirty="0"/>
            </a:p>
          </p:txBody>
        </p:sp>
        <p:sp>
          <p:nvSpPr>
            <p:cNvPr id="15" name="Text 12"/>
            <p:cNvSpPr txBox="1"/>
            <p:nvPr/>
          </p:nvSpPr>
          <p:spPr>
            <a:xfrm>
              <a:off x="2103120" y="2084832"/>
              <a:ext cx="4572000" cy="274320"/>
            </a:xfrm>
            <a:prstGeom prst="rect">
              <a:avLst/>
            </a:prstGeom>
            <a:noFill/>
            <a:ln/>
          </p:spPr>
          <p:txBody>
            <a:bodyPr wrap="square" lIns="0" tIns="0" rIns="0" bIns="0" rtlCol="0" anchor="ctr"/>
            <a:lstStyle/>
            <a:p>
              <a:pPr marL="0" indent="0">
                <a:buNone/>
              </a:pPr>
              <a:r>
                <a:rPr lang="en-US" sz="1100" b="1" kern="0" spc="160" dirty="0">
                  <a:solidFill>
                    <a:srgbClr val="C33F14"/>
                  </a:solidFill>
                  <a:latin typeface="Lato" pitchFamily="34" charset="0"/>
                  <a:ea typeface="Lato" pitchFamily="34" charset="-122"/>
                  <a:cs typeface="Lato" pitchFamily="34" charset="-120"/>
                </a:rPr>
                <a:t>EXERCICE</a:t>
              </a:r>
              <a:endParaRPr lang="en-US" sz="1100" dirty="0"/>
            </a:p>
          </p:txBody>
        </p:sp>
        <p:sp>
          <p:nvSpPr>
            <p:cNvPr id="16" name="Text 13"/>
            <p:cNvSpPr txBox="1"/>
            <p:nvPr/>
          </p:nvSpPr>
          <p:spPr>
            <a:xfrm>
              <a:off x="2103120" y="2377440"/>
              <a:ext cx="6522415" cy="658368"/>
            </a:xfrm>
            <a:prstGeom prst="rect">
              <a:avLst/>
            </a:prstGeom>
            <a:noFill/>
            <a:ln/>
          </p:spPr>
          <p:txBody>
            <a:bodyPr wrap="square" lIns="0" tIns="0" rIns="0" bIns="0" rtlCol="0" anchor="t"/>
            <a:lstStyle/>
            <a:p>
              <a:pPr marL="0" indent="0">
                <a:lnSpc>
                  <a:spcPct val="110000"/>
                </a:lnSpc>
                <a:buNone/>
              </a:pPr>
              <a:r>
                <a:rPr lang="en-US" sz="1600" b="1" dirty="0">
                  <a:solidFill>
                    <a:srgbClr val="075767"/>
                  </a:solidFill>
                  <a:latin typeface="Lato" pitchFamily="34" charset="0"/>
                  <a:ea typeface="Lato" pitchFamily="34" charset="-122"/>
                  <a:cs typeface="Lato" pitchFamily="34" charset="-120"/>
                </a:rPr>
                <a:t>À l'aide de vos accords CSE, définissez ce qui s'applique réellement chez vous.</a:t>
              </a:r>
              <a:endParaRPr lang="en-US" sz="1600" dirty="0"/>
            </a:p>
          </p:txBody>
        </p:sp>
        <p:sp>
          <p:nvSpPr>
            <p:cNvPr id="17" name="Text 14"/>
            <p:cNvSpPr txBox="1"/>
            <p:nvPr/>
          </p:nvSpPr>
          <p:spPr>
            <a:xfrm>
              <a:off x="2103120" y="3127248"/>
              <a:ext cx="8716975" cy="25146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Les règles de désignation des membres de la CSSCT</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Les moyens : heures de délégation, déplacements, périmètre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Les attributions déléguées à la commission</a:t>
              </a:r>
              <a:endParaRPr lang="en-US" sz="1400" dirty="0"/>
            </a:p>
          </p:txBody>
        </p:sp>
      </p:grpSp>
      <p:pic>
        <p:nvPicPr>
          <p:cNvPr id="18"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9" name="Text 15"/>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6"/>
          <p:cNvSpPr/>
          <p:nvPr/>
        </p:nvSpPr>
        <p:spPr>
          <a:xfrm>
            <a:off x="10591495" y="6181344"/>
            <a:ext cx="438912" cy="438912"/>
          </a:xfrm>
          <a:prstGeom prst="ellipse">
            <a:avLst/>
          </a:prstGeom>
          <a:solidFill>
            <a:srgbClr val="F06C23"/>
          </a:solidFill>
          <a:ln/>
        </p:spPr>
        <p:txBody>
          <a:bodyPr/>
          <a:lstStyle/>
          <a:p>
            <a:endParaRPr/>
          </a:p>
        </p:txBody>
      </p:sp>
      <p:sp>
        <p:nvSpPr>
          <p:cNvPr id="21" name="Text 17"/>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22" name="Text 18"/>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24"/>
                                        </p:tgtEl>
                                        <p:attrNameLst>
                                          <p:attrName>style.visibility</p:attrName>
                                        </p:attrNameLst>
                                      </p:cBhvr>
                                      <p:to>
                                        <p:strVal val="visible"/>
                                      </p:to>
                                    </p:set>
                                    <p:animEffect transition="in" filter="fade">
                                      <p:cBhvr>
                                        <p:cTn id="7" dur="450"/>
                                        <p:tgtEl>
                                          <p:spTgt spid="9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700" b="1" kern="0" spc="-150" dirty="0">
                <a:solidFill>
                  <a:srgbClr val="075767"/>
                </a:solidFill>
                <a:latin typeface="Lato" pitchFamily="34" charset="0"/>
                <a:ea typeface="Lato" pitchFamily="34" charset="-122"/>
                <a:cs typeface="Lato" pitchFamily="34" charset="-120"/>
              </a:rPr>
              <a:t>Information et consultation : ne pas confondre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L'information</a:t>
            </a:r>
            <a:endParaRPr lang="en-US" sz="1700" dirty="0"/>
          </a:p>
        </p:txBody>
      </p:sp>
      <p:sp>
        <p:nvSpPr>
          <p:cNvPr id="11" name="Text 9"/>
          <p:cNvSpPr txBox="1"/>
          <p:nvPr/>
        </p:nvSpPr>
        <p:spPr>
          <a:xfrm>
            <a:off x="73152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Elle aide le CSE à préparer sa décision</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La CSSCT est toujours informée, jamais consultée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résultat des échanges est retranscrit dans un relevé de position</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Elle n'ouvre aucun délai et n'appelle aucun avis</a:t>
            </a:r>
            <a:endParaRPr lang="en-US" sz="1350" dirty="0"/>
          </a:p>
        </p:txBody>
      </p:sp>
      <p:sp>
        <p:nvSpPr>
          <p:cNvPr id="12" name="Text 10"/>
          <p:cNvSpPr txBox="1"/>
          <p:nvPr/>
        </p:nvSpPr>
        <p:spPr>
          <a:xfrm>
            <a:off x="630936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La consultation</a:t>
            </a:r>
            <a:endParaRPr lang="en-US" sz="1700" dirty="0"/>
          </a:p>
        </p:txBody>
      </p:sp>
      <p:sp>
        <p:nvSpPr>
          <p:cNvPr id="13" name="Text 11"/>
          <p:cNvSpPr txBox="1"/>
          <p:nvPr/>
        </p:nvSpPr>
        <p:spPr>
          <a:xfrm>
            <a:off x="630936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Elle doit être préalable à la décision de l'employeur (article L. 2312-14)</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CSE émet des avis et des vœux (article L. 2312-15)</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Il dispose d'un délai d'examen suffisant et d'informations précises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L'employeur doit apporter une réponse motivée</a:t>
            </a:r>
            <a:endParaRPr lang="en-US" sz="1350" dirty="0"/>
          </a:p>
        </p:txBody>
      </p:sp>
      <p:grpSp>
        <p:nvGrpSpPr>
          <p:cNvPr id="9025" name="Bloc 5"/>
          <p:cNvGrpSpPr/>
          <p:nvPr/>
        </p:nvGrpSpPr>
        <p:grpSpPr>
          <a:xfrm>
            <a:off x="731520" y="4956048"/>
            <a:ext cx="10728655" cy="841248"/>
            <a:chOff x="731520" y="4956048"/>
            <a:chExt cx="10728655" cy="841248"/>
          </a:xfrm>
        </p:grpSpPr>
        <p:sp>
          <p:nvSpPr>
            <p:cNvPr id="14" name="Shape 12"/>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5" name="Text 13"/>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piège   </a:t>
              </a:r>
              <a:r>
                <a:rPr lang="en-US" sz="1300" dirty="0">
                  <a:solidFill>
                    <a:srgbClr val="075767"/>
                  </a:solidFill>
                  <a:latin typeface="Lato" pitchFamily="34" charset="0"/>
                  <a:ea typeface="Lato" pitchFamily="34" charset="-122"/>
                  <a:cs typeface="Lato" pitchFamily="34" charset="-120"/>
                </a:rPr>
                <a:t>remplacer une consultation par une simple information est un délit d'entrave, la jurisprudence est constante sur ce point.</a:t>
              </a:r>
              <a:endParaRPr lang="en-US" sz="1250" dirty="0"/>
            </a:p>
          </p:txBody>
        </p:sp>
      </p:grpSp>
      <p:pic>
        <p:nvPicPr>
          <p:cNvPr id="16"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7"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5"/>
          <p:cNvSpPr/>
          <p:nvPr/>
        </p:nvSpPr>
        <p:spPr>
          <a:xfrm>
            <a:off x="10591495" y="6181344"/>
            <a:ext cx="438912" cy="438912"/>
          </a:xfrm>
          <a:prstGeom prst="ellipse">
            <a:avLst/>
          </a:prstGeom>
          <a:solidFill>
            <a:srgbClr val="F06C23"/>
          </a:solidFill>
          <a:ln/>
        </p:spPr>
        <p:txBody>
          <a:bodyPr/>
          <a:lstStyle/>
          <a:p>
            <a:endParaRPr/>
          </a:p>
        </p:txBody>
      </p:sp>
      <p:sp>
        <p:nvSpPr>
          <p:cNvPr id="19"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20"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3">
                                            <p:txEl>
                                              <p:pRg st="0" end="0"/>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3">
                                            <p:txEl>
                                              <p:pRg st="1" end="1"/>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3">
                                            <p:txEl>
                                              <p:pRg st="2" end="2"/>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0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délais de consultation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2103120"/>
            <a:ext cx="3576218" cy="1188720"/>
          </a:xfrm>
          <a:prstGeom prst="rect">
            <a:avLst/>
          </a:prstGeom>
          <a:noFill/>
          <a:ln/>
        </p:spPr>
        <p:txBody>
          <a:bodyPr wrap="square" lIns="0" tIns="0" rIns="0" bIns="0" rtlCol="0" anchor="ctr"/>
          <a:lstStyle/>
          <a:p>
            <a:pPr marL="0" indent="0" algn="ctr">
              <a:buNone/>
            </a:pPr>
            <a:r>
              <a:rPr lang="en-US" sz="6400" b="1" kern="0" spc="-200" dirty="0">
                <a:solidFill>
                  <a:srgbClr val="075767"/>
                </a:solidFill>
                <a:latin typeface="Lato" pitchFamily="34" charset="0"/>
                <a:ea typeface="Lato" pitchFamily="34" charset="-122"/>
                <a:cs typeface="Lato" pitchFamily="34" charset="-120"/>
              </a:rPr>
              <a:t>1 mois</a:t>
            </a:r>
            <a:endParaRPr lang="en-US" sz="6400" dirty="0"/>
          </a:p>
        </p:txBody>
      </p:sp>
      <p:sp>
        <p:nvSpPr>
          <p:cNvPr id="11" name="Text 9"/>
          <p:cNvSpPr txBox="1"/>
          <p:nvPr/>
        </p:nvSpPr>
        <p:spPr>
          <a:xfrm>
            <a:off x="731520" y="3337560"/>
            <a:ext cx="3576218" cy="365760"/>
          </a:xfrm>
          <a:prstGeom prst="rect">
            <a:avLst/>
          </a:prstGeom>
          <a:noFill/>
          <a:ln/>
        </p:spPr>
        <p:txBody>
          <a:bodyPr wrap="square" lIns="0" tIns="0" rIns="0" bIns="0" rtlCol="0" anchor="t"/>
          <a:lstStyle/>
          <a:p>
            <a:pPr marL="0" indent="0" algn="ctr">
              <a:buNone/>
            </a:pPr>
            <a:r>
              <a:rPr lang="en-US" sz="1600" b="1" dirty="0">
                <a:solidFill>
                  <a:srgbClr val="075767"/>
                </a:solidFill>
                <a:latin typeface="Lato" pitchFamily="34" charset="0"/>
                <a:ea typeface="Lato" pitchFamily="34" charset="-122"/>
                <a:cs typeface="Lato" pitchFamily="34" charset="-120"/>
              </a:rPr>
              <a:t>Cas général</a:t>
            </a:r>
            <a:endParaRPr lang="en-US" sz="1600" dirty="0"/>
          </a:p>
        </p:txBody>
      </p:sp>
      <p:sp>
        <p:nvSpPr>
          <p:cNvPr id="12" name="Text 10"/>
          <p:cNvSpPr txBox="1"/>
          <p:nvPr/>
        </p:nvSpPr>
        <p:spPr>
          <a:xfrm>
            <a:off x="960120" y="3730752"/>
            <a:ext cx="3119018" cy="822960"/>
          </a:xfrm>
          <a:prstGeom prst="rect">
            <a:avLst/>
          </a:prstGeom>
          <a:noFill/>
          <a:ln/>
        </p:spPr>
        <p:txBody>
          <a:bodyPr wrap="square" lIns="0" tIns="0" rIns="0" bIns="0" rtlCol="0" anchor="t"/>
          <a:lstStyle/>
          <a:p>
            <a:pPr marL="0" indent="0" algn="ctr">
              <a:buNone/>
            </a:pPr>
            <a:r>
              <a:rPr lang="en-US" sz="1200" dirty="0">
                <a:solidFill>
                  <a:srgbClr val="595959"/>
                </a:solidFill>
                <a:latin typeface="Lato" pitchFamily="34" charset="0"/>
                <a:ea typeface="Lato" pitchFamily="34" charset="-122"/>
                <a:cs typeface="Lato" pitchFamily="34" charset="-120"/>
              </a:rPr>
              <a:t>Délai de droit commun pour rendre un avis</a:t>
            </a:r>
            <a:endParaRPr lang="en-US" sz="1200" dirty="0"/>
          </a:p>
        </p:txBody>
      </p:sp>
      <p:sp>
        <p:nvSpPr>
          <p:cNvPr id="13" name="Text 11"/>
          <p:cNvSpPr txBox="1"/>
          <p:nvPr/>
        </p:nvSpPr>
        <p:spPr>
          <a:xfrm>
            <a:off x="4307738" y="2103120"/>
            <a:ext cx="3576218" cy="1188720"/>
          </a:xfrm>
          <a:prstGeom prst="rect">
            <a:avLst/>
          </a:prstGeom>
          <a:noFill/>
          <a:ln/>
        </p:spPr>
        <p:txBody>
          <a:bodyPr wrap="square" lIns="0" tIns="0" rIns="0" bIns="0" rtlCol="0" anchor="ctr"/>
          <a:lstStyle/>
          <a:p>
            <a:pPr marL="0" indent="0" algn="ctr">
              <a:buNone/>
            </a:pPr>
            <a:r>
              <a:rPr lang="en-US" sz="6400" b="1" kern="0" spc="-200" dirty="0">
                <a:solidFill>
                  <a:srgbClr val="075767"/>
                </a:solidFill>
                <a:latin typeface="Lato" pitchFamily="34" charset="0"/>
                <a:ea typeface="Lato" pitchFamily="34" charset="-122"/>
                <a:cs typeface="Lato" pitchFamily="34" charset="-120"/>
              </a:rPr>
              <a:t>2 mois</a:t>
            </a:r>
            <a:endParaRPr lang="en-US" sz="6400" dirty="0"/>
          </a:p>
        </p:txBody>
      </p:sp>
      <p:sp>
        <p:nvSpPr>
          <p:cNvPr id="14" name="Text 12"/>
          <p:cNvSpPr txBox="1"/>
          <p:nvPr/>
        </p:nvSpPr>
        <p:spPr>
          <a:xfrm>
            <a:off x="4307738" y="3337560"/>
            <a:ext cx="3576218" cy="365760"/>
          </a:xfrm>
          <a:prstGeom prst="rect">
            <a:avLst/>
          </a:prstGeom>
          <a:noFill/>
          <a:ln/>
        </p:spPr>
        <p:txBody>
          <a:bodyPr wrap="square" lIns="0" tIns="0" rIns="0" bIns="0" rtlCol="0" anchor="t"/>
          <a:lstStyle/>
          <a:p>
            <a:pPr marL="0" indent="0" algn="ctr">
              <a:buNone/>
            </a:pPr>
            <a:r>
              <a:rPr lang="en-US" sz="1600" b="1" dirty="0">
                <a:solidFill>
                  <a:srgbClr val="075767"/>
                </a:solidFill>
                <a:latin typeface="Lato" pitchFamily="34" charset="0"/>
                <a:ea typeface="Lato" pitchFamily="34" charset="-122"/>
                <a:cs typeface="Lato" pitchFamily="34" charset="-120"/>
              </a:rPr>
              <a:t>Avec expert</a:t>
            </a:r>
            <a:endParaRPr lang="en-US" sz="1600" dirty="0"/>
          </a:p>
        </p:txBody>
      </p:sp>
      <p:sp>
        <p:nvSpPr>
          <p:cNvPr id="15" name="Text 13"/>
          <p:cNvSpPr txBox="1"/>
          <p:nvPr/>
        </p:nvSpPr>
        <p:spPr>
          <a:xfrm>
            <a:off x="4536338" y="3730752"/>
            <a:ext cx="3119018" cy="822960"/>
          </a:xfrm>
          <a:prstGeom prst="rect">
            <a:avLst/>
          </a:prstGeom>
          <a:noFill/>
          <a:ln/>
        </p:spPr>
        <p:txBody>
          <a:bodyPr wrap="square" lIns="0" tIns="0" rIns="0" bIns="0" rtlCol="0" anchor="t"/>
          <a:lstStyle/>
          <a:p>
            <a:pPr marL="0" indent="0" algn="ctr">
              <a:buNone/>
            </a:pPr>
            <a:r>
              <a:rPr lang="en-US" sz="1200" dirty="0">
                <a:solidFill>
                  <a:srgbClr val="595959"/>
                </a:solidFill>
                <a:latin typeface="Lato" pitchFamily="34" charset="0"/>
                <a:ea typeface="Lato" pitchFamily="34" charset="-122"/>
                <a:cs typeface="Lato" pitchFamily="34" charset="-120"/>
              </a:rPr>
              <a:t>En cas d'intervention d'un expert</a:t>
            </a:r>
            <a:endParaRPr lang="en-US" sz="1200" dirty="0"/>
          </a:p>
        </p:txBody>
      </p:sp>
      <p:sp>
        <p:nvSpPr>
          <p:cNvPr id="16" name="Text 14"/>
          <p:cNvSpPr txBox="1"/>
          <p:nvPr/>
        </p:nvSpPr>
        <p:spPr>
          <a:xfrm>
            <a:off x="7883957" y="2103120"/>
            <a:ext cx="3576218" cy="1188720"/>
          </a:xfrm>
          <a:prstGeom prst="rect">
            <a:avLst/>
          </a:prstGeom>
          <a:noFill/>
          <a:ln/>
        </p:spPr>
        <p:txBody>
          <a:bodyPr wrap="square" lIns="0" tIns="0" rIns="0" bIns="0" rtlCol="0" anchor="ctr"/>
          <a:lstStyle/>
          <a:p>
            <a:pPr marL="0" indent="0" algn="ctr">
              <a:buNone/>
            </a:pPr>
            <a:r>
              <a:rPr lang="en-US" sz="6400" b="1" kern="0" spc="-200" dirty="0">
                <a:solidFill>
                  <a:srgbClr val="075767"/>
                </a:solidFill>
                <a:latin typeface="Lato" pitchFamily="34" charset="0"/>
                <a:ea typeface="Lato" pitchFamily="34" charset="-122"/>
                <a:cs typeface="Lato" pitchFamily="34" charset="-120"/>
              </a:rPr>
              <a:t>3 mois</a:t>
            </a:r>
            <a:endParaRPr lang="en-US" sz="6400" dirty="0"/>
          </a:p>
        </p:txBody>
      </p:sp>
      <p:sp>
        <p:nvSpPr>
          <p:cNvPr id="17" name="Text 15"/>
          <p:cNvSpPr txBox="1"/>
          <p:nvPr/>
        </p:nvSpPr>
        <p:spPr>
          <a:xfrm>
            <a:off x="7883957" y="3337560"/>
            <a:ext cx="3576218" cy="365760"/>
          </a:xfrm>
          <a:prstGeom prst="rect">
            <a:avLst/>
          </a:prstGeom>
          <a:noFill/>
          <a:ln/>
        </p:spPr>
        <p:txBody>
          <a:bodyPr wrap="square" lIns="0" tIns="0" rIns="0" bIns="0" rtlCol="0" anchor="t"/>
          <a:lstStyle/>
          <a:p>
            <a:pPr marL="0" indent="0" algn="ctr">
              <a:buNone/>
            </a:pPr>
            <a:r>
              <a:rPr lang="en-US" sz="1600" b="1" dirty="0">
                <a:solidFill>
                  <a:srgbClr val="075767"/>
                </a:solidFill>
                <a:latin typeface="Lato" pitchFamily="34" charset="0"/>
                <a:ea typeface="Lato" pitchFamily="34" charset="-122"/>
                <a:cs typeface="Lato" pitchFamily="34" charset="-120"/>
              </a:rPr>
              <a:t>CSE central</a:t>
            </a:r>
            <a:endParaRPr lang="en-US" sz="1600" dirty="0"/>
          </a:p>
        </p:txBody>
      </p:sp>
      <p:sp>
        <p:nvSpPr>
          <p:cNvPr id="18" name="Text 16"/>
          <p:cNvSpPr txBox="1"/>
          <p:nvPr/>
        </p:nvSpPr>
        <p:spPr>
          <a:xfrm>
            <a:off x="8112557" y="3730752"/>
            <a:ext cx="3119018" cy="822960"/>
          </a:xfrm>
          <a:prstGeom prst="rect">
            <a:avLst/>
          </a:prstGeom>
          <a:noFill/>
          <a:ln/>
        </p:spPr>
        <p:txBody>
          <a:bodyPr wrap="square" lIns="0" tIns="0" rIns="0" bIns="0" rtlCol="0" anchor="t"/>
          <a:lstStyle/>
          <a:p>
            <a:pPr marL="0" indent="0" algn="ctr">
              <a:buNone/>
            </a:pPr>
            <a:r>
              <a:rPr lang="en-US" sz="1200" dirty="0">
                <a:solidFill>
                  <a:srgbClr val="595959"/>
                </a:solidFill>
                <a:latin typeface="Lato" pitchFamily="34" charset="0"/>
                <a:ea typeface="Lato" pitchFamily="34" charset="-122"/>
                <a:cs typeface="Lato" pitchFamily="34" charset="-120"/>
              </a:rPr>
              <a:t>Un ou plusieurs experts, consultation CSE-C et CSE-E</a:t>
            </a:r>
            <a:endParaRPr lang="en-US" sz="1200" dirty="0"/>
          </a:p>
        </p:txBody>
      </p:sp>
      <p:sp>
        <p:nvSpPr>
          <p:cNvPr id="19" name="Text 17"/>
          <p:cNvSpPr txBox="1"/>
          <p:nvPr/>
        </p:nvSpPr>
        <p:spPr>
          <a:xfrm>
            <a:off x="731520" y="4709160"/>
            <a:ext cx="10728655" cy="320040"/>
          </a:xfrm>
          <a:prstGeom prst="rect">
            <a:avLst/>
          </a:prstGeom>
          <a:noFill/>
          <a:ln/>
        </p:spPr>
        <p:txBody>
          <a:bodyPr wrap="square" lIns="0" tIns="0" rIns="0" bIns="0" rtlCol="0" anchor="ctr"/>
          <a:lstStyle/>
          <a:p>
            <a:pPr marL="0" indent="0">
              <a:buNone/>
            </a:pPr>
            <a:r>
              <a:rPr lang="en-US" sz="1000" i="1" dirty="0">
                <a:solidFill>
                  <a:srgbClr val="595959"/>
                </a:solidFill>
                <a:latin typeface="Lato" pitchFamily="34" charset="0"/>
                <a:ea typeface="Lato" pitchFamily="34" charset="-122"/>
                <a:cs typeface="Lato" pitchFamily="34" charset="-120"/>
              </a:rPr>
              <a:t>Articles R. 2312-5 et R. 2312-6 du code du travail. Ces délais sont supplétifs : un accord peut les modifier.</a:t>
            </a:r>
            <a:endParaRPr lang="en-US" sz="1000" dirty="0"/>
          </a:p>
        </p:txBody>
      </p:sp>
      <p:grpSp>
        <p:nvGrpSpPr>
          <p:cNvPr id="9026" name="Bloc 11"/>
          <p:cNvGrpSpPr/>
          <p:nvPr/>
        </p:nvGrpSpPr>
        <p:grpSpPr>
          <a:xfrm>
            <a:off x="731520" y="5074920"/>
            <a:ext cx="10728655" cy="841248"/>
            <a:chOff x="731520" y="5074920"/>
            <a:chExt cx="10728655" cy="841248"/>
          </a:xfrm>
        </p:grpSpPr>
        <p:sp>
          <p:nvSpPr>
            <p:cNvPr id="20" name="Shape 18"/>
            <p:cNvSpPr/>
            <p:nvPr/>
          </p:nvSpPr>
          <p:spPr>
            <a:xfrm>
              <a:off x="731520" y="5074920"/>
              <a:ext cx="10728655" cy="841248"/>
            </a:xfrm>
            <a:prstGeom prst="roundRect">
              <a:avLst>
                <a:gd name="adj" fmla="val 6522"/>
              </a:avLst>
            </a:prstGeom>
            <a:solidFill>
              <a:srgbClr val="D7E8EB"/>
            </a:solidFill>
            <a:ln/>
          </p:spPr>
          <p:txBody>
            <a:bodyPr/>
            <a:lstStyle/>
            <a:p>
              <a:endParaRPr/>
            </a:p>
          </p:txBody>
        </p:sp>
        <p:sp>
          <p:nvSpPr>
            <p:cNvPr id="21" name="Text 19"/>
            <p:cNvSpPr txBox="1"/>
            <p:nvPr/>
          </p:nvSpPr>
          <p:spPr>
            <a:xfrm>
              <a:off x="1024128" y="507492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À retenir   </a:t>
              </a:r>
              <a:r>
                <a:rPr lang="en-US" sz="1300" dirty="0">
                  <a:solidFill>
                    <a:srgbClr val="075767"/>
                  </a:solidFill>
                  <a:latin typeface="Lato" pitchFamily="34" charset="0"/>
                  <a:ea typeface="Lato" pitchFamily="34" charset="-122"/>
                  <a:cs typeface="Lato" pitchFamily="34" charset="-120"/>
                </a:rPr>
                <a:t>à l'expiration du délai, le CSE est réputé avoir rendu un avis négatif. Le silence ne protège pas, il vaut refus.</a:t>
              </a:r>
              <a:endParaRPr lang="en-US" sz="1250" dirty="0"/>
            </a:p>
          </p:txBody>
        </p:sp>
      </p:grpSp>
      <p:pic>
        <p:nvPicPr>
          <p:cNvPr id="2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23" name="Text 2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4" name="Shape 21"/>
          <p:cNvSpPr/>
          <p:nvPr/>
        </p:nvSpPr>
        <p:spPr>
          <a:xfrm>
            <a:off x="10591495" y="6181344"/>
            <a:ext cx="438912" cy="438912"/>
          </a:xfrm>
          <a:prstGeom prst="ellipse">
            <a:avLst/>
          </a:prstGeom>
          <a:solidFill>
            <a:srgbClr val="F06C23"/>
          </a:solidFill>
          <a:ln/>
        </p:spPr>
        <p:txBody>
          <a:bodyPr/>
          <a:lstStyle/>
          <a:p>
            <a:endParaRPr/>
          </a:p>
        </p:txBody>
      </p:sp>
      <p:sp>
        <p:nvSpPr>
          <p:cNvPr id="25" name="Text 2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26" name="Text 2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20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5" grpId="0" animBg="1"/>
      <p:bldP spid="16" grpId="0" animBg="1"/>
      <p:bldP spid="17" grpId="0" animBg="1"/>
      <p:bldP spid="18" grpId="0" animBg="1"/>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délit d'entrave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grpSp>
        <p:nvGrpSpPr>
          <p:cNvPr id="9027"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2317-1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250" i="1" dirty="0">
                  <a:solidFill>
                    <a:srgbClr val="075767"/>
                  </a:solidFill>
                  <a:latin typeface="Lato" pitchFamily="34" charset="0"/>
                  <a:ea typeface="Lato" pitchFamily="34" charset="-122"/>
                  <a:cs typeface="Lato" pitchFamily="34" charset="-120"/>
                </a:rPr>
                <a:t>Le fait d'apporter une entrave soit à la constitution d'un comité social et économique, soit à la libre désignation de ses membres, notamment par la méconnaissance des dispositions des articles L. 2314-1 à L. 2314-9, est puni d'un emprisonnement d'un an et d'une amende de 7 500 €. Le fait d'apporter une entrave à son fonctionnement régulier est puni d'une amende de 7 500 €.</a:t>
              </a:r>
              <a:endParaRPr lang="en-US" sz="12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4173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Entrave à la constitution ou à la désignation : 1 an d'emprisonnement + 7 500 €</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Entrave au fonctionnement régulier : 7 500 € d'amende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Mêmes peines pour le comité de groupe (article L. 2335-1), et 7 500 € pour l'absence de bilan social annuel dans les entreprises d'au moins 300 salariés</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21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27"/>
                                        </p:tgtEl>
                                        <p:attrNameLst>
                                          <p:attrName>style.visibility</p:attrName>
                                        </p:attrNameLst>
                                      </p:cBhvr>
                                      <p:to>
                                        <p:strVal val="visible"/>
                                      </p:to>
                                    </p:set>
                                    <p:animEffect transition="in" filter="fade">
                                      <p:cBhvr>
                                        <p:cTn id="7" dur="450"/>
                                        <p:tgtEl>
                                          <p:spTgt spid="90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800" b="1" kern="0" spc="-150" dirty="0">
                <a:solidFill>
                  <a:srgbClr val="075767"/>
                </a:solidFill>
                <a:latin typeface="Lato" pitchFamily="34" charset="0"/>
                <a:ea typeface="Lato" pitchFamily="34" charset="-122"/>
                <a:cs typeface="Lato" pitchFamily="34" charset="-120"/>
              </a:rPr>
              <a:t>Ce que la jurisprudence appelle une entrave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L'entrave n'est pas définie par la loi. C'est le juge qui en a dessiné les contours.</a:t>
            </a:r>
            <a:endParaRPr lang="en-US" sz="1450" dirty="0"/>
          </a:p>
        </p:txBody>
      </p:sp>
      <p:sp>
        <p:nvSpPr>
          <p:cNvPr id="11" name="Text 9"/>
          <p:cNvSpPr txBox="1"/>
          <p:nvPr/>
        </p:nvSpPr>
        <p:spPr>
          <a:xfrm>
            <a:off x="731520" y="2487168"/>
            <a:ext cx="10728655" cy="231343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 Tout fait d'action ou d'omission ayant pour objet ou même seulement pour effet de porter une atteinte quelconque, si légère soit-elle, au fonctionnement normal du comité, au plein exercice de ses attributions ou aux prérogatives de ses membres. »</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L'entrave suppose deux éléments cumulatifs :</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un élément matériel : un acte, ou une abstention</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un élément moral : le caractère intentionnel ou volontaire</a:t>
            </a:r>
            <a:endParaRPr lang="en-US" sz="1400" dirty="0"/>
          </a:p>
        </p:txBody>
      </p:sp>
      <p:grpSp>
        <p:nvGrpSpPr>
          <p:cNvPr id="9028" name="Bloc 3"/>
          <p:cNvGrpSpPr/>
          <p:nvPr/>
        </p:nvGrpSpPr>
        <p:grpSpPr>
          <a:xfrm>
            <a:off x="731520" y="4956048"/>
            <a:ext cx="10728655" cy="841248"/>
            <a:chOff x="731520" y="4956048"/>
            <a:chExt cx="10728655" cy="841248"/>
          </a:xfrm>
        </p:grpSpPr>
        <p:sp>
          <p:nvSpPr>
            <p:cNvPr id="12" name="Shape 10"/>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À noter   </a:t>
              </a:r>
              <a:r>
                <a:rPr lang="en-US" sz="1300" dirty="0">
                  <a:solidFill>
                    <a:srgbClr val="075767"/>
                  </a:solidFill>
                  <a:latin typeface="Lato" pitchFamily="34" charset="0"/>
                  <a:ea typeface="Lato" pitchFamily="34" charset="-122"/>
                  <a:cs typeface="Lato" pitchFamily="34" charset="-120"/>
                </a:rPr>
                <a:t>« si légère soit-elle » : la gravité n'est pas une condition de l'infraction. Elle joue sur la peine, pas sur la qualification.</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22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28"/>
                                        </p:tgtEl>
                                        <p:attrNameLst>
                                          <p:attrName>style.visibility</p:attrName>
                                        </p:attrNameLst>
                                      </p:cBhvr>
                                      <p:to>
                                        <p:strVal val="visible"/>
                                      </p:to>
                                    </p:set>
                                    <p:animEffect transition="in" filter="fade">
                                      <p:cBhvr>
                                        <p:cTn id="17" dur="450"/>
                                        <p:tgtEl>
                                          <p:spTgt spid="9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L'entrave en pratique : la jurisprudence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Par un acte</a:t>
            </a:r>
            <a:endParaRPr lang="en-US" sz="1700" dirty="0"/>
          </a:p>
        </p:txBody>
      </p:sp>
      <p:sp>
        <p:nvSpPr>
          <p:cNvPr id="11" name="Text 9"/>
          <p:cNvSpPr txBox="1"/>
          <p:nvPr/>
        </p:nvSpPr>
        <p:spPr>
          <a:xfrm>
            <a:off x="731520" y="2331720"/>
            <a:ext cx="4983480" cy="34747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Refuser de convoquer une réunion extraordinaire (Cass. crim., 11 mars 2008, n° 07-80169)</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Fixer unilatéralement l'ordre du jour (Cass. crim., 4 sept. 2018, n° 17-82297)</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Venir en réunion avec cinq directeurs sans l'accord des élus (Cass. crim., 28 nov. 2017, n° 16-86138)</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Remplacer une consultation par une simple information (Cass. crim., 6 déc. 1994, n° 93-42473)</a:t>
            </a:r>
            <a:endParaRPr lang="en-US" sz="1350" dirty="0"/>
          </a:p>
        </p:txBody>
      </p:sp>
      <p:sp>
        <p:nvSpPr>
          <p:cNvPr id="12" name="Text 10"/>
          <p:cNvSpPr txBox="1"/>
          <p:nvPr/>
        </p:nvSpPr>
        <p:spPr>
          <a:xfrm>
            <a:off x="630936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Par une omission</a:t>
            </a:r>
            <a:endParaRPr lang="en-US" sz="1700" dirty="0"/>
          </a:p>
        </p:txBody>
      </p:sp>
      <p:sp>
        <p:nvSpPr>
          <p:cNvPr id="13" name="Text 11"/>
          <p:cNvSpPr txBox="1"/>
          <p:nvPr/>
        </p:nvSpPr>
        <p:spPr>
          <a:xfrm>
            <a:off x="6309360" y="2331720"/>
            <a:ext cx="4983480" cy="34747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Ne pas consulter en temps utile avant une réduction d'effectif (Cass. crim., 22 juin 1999, n° 98-83114)</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Consulter tardivement sur un déménagement, alors que les baux sont déjà signés (Cass. crim., 15 mars 2016, n° 14-85078)</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Ne pas fournir d'informations précises et écrites lors d'une consultation (Cass. crim., 27 mars 2012, n° 11-80565)</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Ne pas reclasser correctement un représentant du personnel (Cass. crim., 27 sept. 1994, n° 92-83156)</a:t>
            </a:r>
            <a:endParaRPr lang="en-US" sz="135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23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Jurisprudence récente : l'entrave retenue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24</a:t>
            </a:r>
            <a:endParaRPr lang="en-US" sz="1000" dirty="0"/>
          </a:p>
        </p:txBody>
      </p:sp>
      <p:grpSp>
        <p:nvGrpSpPr>
          <p:cNvPr id="9029" name="Bloc 1"/>
          <p:cNvGrpSpPr/>
          <p:nvPr/>
        </p:nvGrpSpPr>
        <p:grpSpPr>
          <a:xfrm>
            <a:off x="731520" y="1874519"/>
            <a:ext cx="10725912" cy="1481328"/>
            <a:chOff x="731520" y="1874519"/>
            <a:chExt cx="10725912" cy="1481328"/>
          </a:xfrm>
        </p:grpSpPr>
        <p:sp>
          <p:nvSpPr>
            <p:cNvPr id="19" name="Rounded Rectangle 18"/>
            <p:cNvSpPr/>
            <p:nvPr/>
          </p:nvSpPr>
          <p:spPr>
            <a:xfrm>
              <a:off x="731520" y="1874519"/>
              <a:ext cx="10725912" cy="148132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39112"/>
              <a:ext cx="10177272" cy="274320"/>
            </a:xfrm>
            <a:prstGeom prst="rect">
              <a:avLst/>
            </a:prstGeom>
            <a:noFill/>
          </p:spPr>
          <p:txBody>
            <a:bodyPr wrap="square" lIns="0" tIns="0" rIns="0" bIns="0" anchor="t">
              <a:spAutoFit/>
            </a:bodyPr>
            <a:lstStyle/>
            <a:p>
              <a:pPr algn="l"/>
              <a:r>
                <a:rPr sz="1200" b="1" i="0">
                  <a:solidFill>
                    <a:srgbClr val="075767"/>
                  </a:solidFill>
                  <a:latin typeface="Lato"/>
                </a:rPr>
                <a:t>Chambre criminelle, 30 mars 2021, pourvoi nº 20-81.030</a:t>
              </a:r>
            </a:p>
          </p:txBody>
        </p:sp>
        <p:sp>
          <p:nvSpPr>
            <p:cNvPr id="21" name="TextBox 20"/>
            <p:cNvSpPr txBox="1"/>
            <p:nvPr/>
          </p:nvSpPr>
          <p:spPr>
            <a:xfrm>
              <a:off x="1005840" y="2350008"/>
              <a:ext cx="10177272" cy="841248"/>
            </a:xfrm>
            <a:prstGeom prst="rect">
              <a:avLst/>
            </a:prstGeom>
            <a:noFill/>
          </p:spPr>
          <p:txBody>
            <a:bodyPr wrap="square" lIns="0" tIns="0" rIns="0" bIns="0" anchor="t">
              <a:spAutoFit/>
            </a:bodyPr>
            <a:lstStyle/>
            <a:p>
              <a:pPr algn="l"/>
              <a:r>
                <a:rPr sz="1150" b="0" i="1">
                  <a:solidFill>
                    <a:srgbClr val="075767"/>
                  </a:solidFill>
                  <a:latin typeface="Lato"/>
                </a:rPr>
                <a:t>L'ordonnance du 22 septembre 2017 « a maintenu l'incrimination d'entrave au fonctionnement régulier du comité social et économique, prévue et réprimée à l'article L. 2317-1 du code du travail, qui s'est ainsi substitué à l'article L. 2328-1 dudit code ».</a:t>
              </a:r>
            </a:p>
          </p:txBody>
        </p:sp>
      </p:grpSp>
      <p:sp>
        <p:nvSpPr>
          <p:cNvPr id="22" name="TextBox 21"/>
          <p:cNvSpPr txBox="1"/>
          <p:nvPr/>
        </p:nvSpPr>
        <p:spPr>
          <a:xfrm>
            <a:off x="731520" y="3474720"/>
            <a:ext cx="5212080" cy="1783080"/>
          </a:xfrm>
          <a:prstGeom prst="rect">
            <a:avLst/>
          </a:prstGeom>
          <a:noFill/>
        </p:spPr>
        <p:txBody>
          <a:bodyPr wrap="square" lIns="0" tIns="0" rIns="0" bIns="0">
            <a:spAutoFit/>
          </a:bodyPr>
          <a:lstStyle/>
          <a:p>
            <a:pPr>
              <a:spcAft>
                <a:spcPts val="700"/>
              </a:spcAft>
            </a:pPr>
            <a:r>
              <a:rPr sz="1250" b="1">
                <a:solidFill>
                  <a:srgbClr val="075767"/>
                </a:solidFill>
                <a:latin typeface="Lato"/>
              </a:rPr>
              <a:t>Ce que la décision retient</a:t>
            </a:r>
          </a:p>
          <a:p>
            <a:pPr lvl="1">
              <a:spcAft>
                <a:spcPts val="700"/>
              </a:spcAft>
            </a:pPr>
            <a:r>
              <a:rPr sz="1200" b="0">
                <a:solidFill>
                  <a:srgbClr val="595959"/>
                </a:solidFill>
                <a:latin typeface="Lato"/>
              </a:rPr>
              <a:t>La jurisprudence rendue sous l'empire du comité d'entreprise reste transposable : l'incrimination est continue, seul le texte a changé.</a:t>
            </a:r>
          </a:p>
          <a:p>
            <a:pPr lvl="1">
              <a:spcAft>
                <a:spcPts val="700"/>
              </a:spcAft>
            </a:pPr>
            <a:r>
              <a:rPr sz="1200" b="0">
                <a:solidFill>
                  <a:srgbClr val="595959"/>
                </a:solidFill>
                <a:latin typeface="Lato"/>
              </a:rPr>
              <a:t>L'entrave est caractérisée dès lors que le projet est arrêté et mis en œuvre avant l'information et la consultation. Une consultation tardive ne régularise rien.</a:t>
            </a:r>
          </a:p>
        </p:txBody>
      </p:sp>
      <p:sp>
        <p:nvSpPr>
          <p:cNvPr id="23" name="TextBox 22"/>
          <p:cNvSpPr txBox="1"/>
          <p:nvPr/>
        </p:nvSpPr>
        <p:spPr>
          <a:xfrm>
            <a:off x="6263640" y="3474720"/>
            <a:ext cx="5193792" cy="1783080"/>
          </a:xfrm>
          <a:prstGeom prst="rect">
            <a:avLst/>
          </a:prstGeom>
          <a:noFill/>
        </p:spPr>
        <p:txBody>
          <a:bodyPr wrap="square" lIns="0" tIns="0" rIns="0" bIns="0">
            <a:spAutoFit/>
          </a:bodyPr>
          <a:lstStyle/>
          <a:p>
            <a:pPr>
              <a:spcAft>
                <a:spcPts val="700"/>
              </a:spcAft>
            </a:pPr>
            <a:r>
              <a:rPr sz="1250" b="1">
                <a:solidFill>
                  <a:srgbClr val="075767"/>
                </a:solidFill>
                <a:latin typeface="Lato"/>
              </a:rPr>
              <a:t>Et la limite posée à la condamnation</a:t>
            </a:r>
          </a:p>
          <a:p>
            <a:pPr lvl="1">
              <a:spcAft>
                <a:spcPts val="700"/>
              </a:spcAft>
            </a:pPr>
            <a:r>
              <a:rPr sz="1200" b="0">
                <a:solidFill>
                  <a:srgbClr val="595959"/>
                </a:solidFill>
                <a:latin typeface="Lato"/>
              </a:rPr>
              <a:t>La responsabilité pénale d'une société suppose d'identifier l'organe ou le représentant qui a commis le manquement pour son compte (article 121-2 du code pénal). À défaut, la condamnation est cassée.</a:t>
            </a:r>
          </a:p>
          <a:p>
            <a:pPr lvl="1">
              <a:spcAft>
                <a:spcPts val="700"/>
              </a:spcAft>
            </a:pPr>
            <a:r>
              <a:rPr sz="1200" b="0">
                <a:solidFill>
                  <a:srgbClr val="595959"/>
                </a:solidFill>
                <a:latin typeface="Lato"/>
              </a:rPr>
              <a:t>C'est le point sur lequel l'arrêt a été partiellement cassé.</a:t>
            </a:r>
          </a:p>
        </p:txBody>
      </p:sp>
      <p:grpSp>
        <p:nvGrpSpPr>
          <p:cNvPr id="9030" name="Bloc 4"/>
          <p:cNvGrpSpPr/>
          <p:nvPr/>
        </p:nvGrpSpPr>
        <p:grpSpPr>
          <a:xfrm>
            <a:off x="731520" y="5394960"/>
            <a:ext cx="10725912" cy="731520"/>
            <a:chOff x="731520" y="5394960"/>
            <a:chExt cx="10725912" cy="731520"/>
          </a:xfrm>
        </p:grpSpPr>
        <p:sp>
          <p:nvSpPr>
            <p:cNvPr id="24" name="Rounded Rectangle 23"/>
            <p:cNvSpPr/>
            <p:nvPr/>
          </p:nvSpPr>
          <p:spPr>
            <a:xfrm>
              <a:off x="731520" y="5394960"/>
              <a:ext cx="10725912" cy="73152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5840" y="5559552"/>
              <a:ext cx="10177272" cy="274320"/>
            </a:xfrm>
            <a:prstGeom prst="rect">
              <a:avLst/>
            </a:prstGeom>
            <a:noFill/>
          </p:spPr>
          <p:txBody>
            <a:bodyPr wrap="square" lIns="0" tIns="0" rIns="0" bIns="0" anchor="t">
              <a:spAutoFit/>
            </a:bodyPr>
            <a:lstStyle/>
            <a:p>
              <a:pPr algn="l"/>
              <a:r>
                <a:rPr sz="1100" b="1" i="0">
                  <a:solidFill>
                    <a:srgbClr val="075767"/>
                  </a:solidFill>
                  <a:latin typeface="Lato"/>
                </a:rPr>
                <a:t>Chambre criminelle, 6 juin 2023, pourvoi nº 22-83.037</a:t>
              </a:r>
            </a:p>
          </p:txBody>
        </p:sp>
        <p:sp>
          <p:nvSpPr>
            <p:cNvPr id="26" name="TextBox 25"/>
            <p:cNvSpPr txBox="1"/>
            <p:nvPr/>
          </p:nvSpPr>
          <p:spPr>
            <a:xfrm>
              <a:off x="1005840" y="5870448"/>
              <a:ext cx="10177272" cy="91440"/>
            </a:xfrm>
            <a:prstGeom prst="rect">
              <a:avLst/>
            </a:prstGeom>
            <a:noFill/>
          </p:spPr>
          <p:txBody>
            <a:bodyPr wrap="square" lIns="0" tIns="0" rIns="0" bIns="0" anchor="t">
              <a:spAutoFit/>
            </a:bodyPr>
            <a:lstStyle/>
            <a:p>
              <a:pPr algn="l"/>
              <a:r>
                <a:rPr sz="1050" b="0" i="1">
                  <a:solidFill>
                    <a:srgbClr val="075767"/>
                  </a:solidFill>
                  <a:latin typeface="Lato"/>
                </a:rPr>
                <a:t>« L'inobservation des règles d'information et de consultation du comité est constitutive du délit d'entrave, peu important l'absence d'intention de nuire caractérisée ou de volonté de porter atteinte à la représentation du personnel en particulier. »</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29"/>
                                        </p:tgtEl>
                                        <p:attrNameLst>
                                          <p:attrName>style.visibility</p:attrName>
                                        </p:attrNameLst>
                                      </p:cBhvr>
                                      <p:to>
                                        <p:strVal val="visible"/>
                                      </p:to>
                                    </p:set>
                                    <p:animEffect transition="in" filter="fade">
                                      <p:cBhvr>
                                        <p:cTn id="7" dur="450"/>
                                        <p:tgtEl>
                                          <p:spTgt spid="90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5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5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30"/>
                                        </p:tgtEl>
                                        <p:attrNameLst>
                                          <p:attrName>style.visibility</p:attrName>
                                        </p:attrNameLst>
                                      </p:cBhvr>
                                      <p:to>
                                        <p:strVal val="visible"/>
                                      </p:to>
                                    </p:set>
                                    <p:animEffect transition="in" filter="fade">
                                      <p:cBhvr>
                                        <p:cTn id="22" dur="450"/>
                                        <p:tgtEl>
                                          <p:spTgt spid="9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Jurisprudence récente : l'entrave écartée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25</a:t>
            </a:r>
            <a:endParaRPr lang="en-US" sz="1000" dirty="0"/>
          </a:p>
        </p:txBody>
      </p:sp>
      <p:grpSp>
        <p:nvGrpSpPr>
          <p:cNvPr id="9031" name="Bloc 1"/>
          <p:cNvGrpSpPr/>
          <p:nvPr/>
        </p:nvGrpSpPr>
        <p:grpSpPr>
          <a:xfrm>
            <a:off x="731520" y="1874519"/>
            <a:ext cx="10725912" cy="1051560"/>
            <a:chOff x="731520" y="1874519"/>
            <a:chExt cx="10725912" cy="1051560"/>
          </a:xfrm>
        </p:grpSpPr>
        <p:sp>
          <p:nvSpPr>
            <p:cNvPr id="19" name="Rounded Rectangle 18"/>
            <p:cNvSpPr/>
            <p:nvPr/>
          </p:nvSpPr>
          <p:spPr>
            <a:xfrm>
              <a:off x="731520" y="1874519"/>
              <a:ext cx="10725912" cy="105156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39112"/>
              <a:ext cx="10177272" cy="274320"/>
            </a:xfrm>
            <a:prstGeom prst="rect">
              <a:avLst/>
            </a:prstGeom>
            <a:noFill/>
          </p:spPr>
          <p:txBody>
            <a:bodyPr wrap="square" lIns="0" tIns="0" rIns="0" bIns="0" anchor="t">
              <a:spAutoFit/>
            </a:bodyPr>
            <a:lstStyle/>
            <a:p>
              <a:pPr algn="l"/>
              <a:r>
                <a:rPr sz="1200" b="1" i="0">
                  <a:solidFill>
                    <a:srgbClr val="075767"/>
                  </a:solidFill>
                  <a:latin typeface="Lato"/>
                </a:rPr>
                <a:t>Chambre sociale, 13 mai 2026, pourvoi nº 25-12.560</a:t>
              </a:r>
            </a:p>
          </p:txBody>
        </p:sp>
        <p:sp>
          <p:nvSpPr>
            <p:cNvPr id="21" name="TextBox 20"/>
            <p:cNvSpPr txBox="1"/>
            <p:nvPr/>
          </p:nvSpPr>
          <p:spPr>
            <a:xfrm>
              <a:off x="1005840" y="2350008"/>
              <a:ext cx="10177272" cy="411479"/>
            </a:xfrm>
            <a:prstGeom prst="rect">
              <a:avLst/>
            </a:prstGeom>
            <a:noFill/>
          </p:spPr>
          <p:txBody>
            <a:bodyPr wrap="square" lIns="0" tIns="0" rIns="0" bIns="0" anchor="t">
              <a:spAutoFit/>
            </a:bodyPr>
            <a:lstStyle/>
            <a:p>
              <a:pPr algn="l"/>
              <a:r>
                <a:rPr sz="1150" b="0" i="1">
                  <a:solidFill>
                    <a:srgbClr val="075767"/>
                  </a:solidFill>
                  <a:latin typeface="Lato"/>
                </a:rPr>
                <a:t>Le comité social et économique demandait des dommages et intérêts pour entrave à ses prérogatives. Son pourvoi est rejeté sur les quatre moyens.</a:t>
              </a:r>
            </a:p>
          </p:txBody>
        </p:sp>
      </p:grpSp>
      <p:sp>
        <p:nvSpPr>
          <p:cNvPr id="22" name="TextBox 21"/>
          <p:cNvSpPr txBox="1"/>
          <p:nvPr/>
        </p:nvSpPr>
        <p:spPr>
          <a:xfrm>
            <a:off x="731520" y="3063240"/>
            <a:ext cx="5212080" cy="2240280"/>
          </a:xfrm>
          <a:prstGeom prst="rect">
            <a:avLst/>
          </a:prstGeom>
          <a:noFill/>
        </p:spPr>
        <p:txBody>
          <a:bodyPr wrap="square" lIns="0" tIns="0" rIns="0" bIns="0">
            <a:spAutoFit/>
          </a:bodyPr>
          <a:lstStyle/>
          <a:p>
            <a:pPr>
              <a:spcAft>
                <a:spcPts val="700"/>
              </a:spcAft>
            </a:pPr>
            <a:r>
              <a:rPr sz="1200" b="1">
                <a:solidFill>
                  <a:srgbClr val="075767"/>
                </a:solidFill>
                <a:latin typeface="Lato"/>
              </a:rPr>
              <a:t>Sur un déménagement de site</a:t>
            </a:r>
          </a:p>
          <a:p>
            <a:pPr lvl="1">
              <a:spcAft>
                <a:spcPts val="700"/>
              </a:spcAft>
            </a:pPr>
            <a:r>
              <a:rPr sz="1150" b="0">
                <a:solidFill>
                  <a:srgbClr val="595959"/>
                </a:solidFill>
                <a:latin typeface="Lato"/>
              </a:rPr>
              <a:t>La procédure avait été conduite auprès du comité d'entreprise, puis du CHSCT, puis de la commission SSCT locale, informée régulièrement pendant quatorze mois. Pas d'entrave.</a:t>
            </a:r>
          </a:p>
          <a:p>
            <a:pPr lvl="1">
              <a:spcAft>
                <a:spcPts val="700"/>
              </a:spcAft>
            </a:pPr>
            <a:r>
              <a:rPr sz="1150" b="0">
                <a:solidFill>
                  <a:srgbClr val="595959"/>
                </a:solidFill>
                <a:latin typeface="Lato"/>
              </a:rPr>
              <a:t>Le comité ne démontrait pas que les aménagements modifiaient substantiellement les conditions de travail.</a:t>
            </a:r>
          </a:p>
          <a:p>
            <a:pPr>
              <a:spcAft>
                <a:spcPts val="700"/>
              </a:spcAft>
            </a:pPr>
            <a:r>
              <a:rPr sz="1200" b="1">
                <a:solidFill>
                  <a:srgbClr val="075767"/>
                </a:solidFill>
                <a:latin typeface="Lato"/>
              </a:rPr>
              <a:t>Sur les réunions extraordinaires</a:t>
            </a:r>
          </a:p>
          <a:p>
            <a:pPr lvl="1">
              <a:spcAft>
                <a:spcPts val="700"/>
              </a:spcAft>
            </a:pPr>
            <a:r>
              <a:rPr sz="1150" b="0">
                <a:solidFill>
                  <a:srgbClr val="595959"/>
                </a:solidFill>
                <a:latin typeface="Lato"/>
              </a:rPr>
              <a:t>Vingt-huit réunions en 2019, trente et une en 2020, organisées majoritairement à la demande des élus. Pas d'entrave.</a:t>
            </a:r>
          </a:p>
        </p:txBody>
      </p:sp>
      <p:sp>
        <p:nvSpPr>
          <p:cNvPr id="23" name="TextBox 22"/>
          <p:cNvSpPr txBox="1"/>
          <p:nvPr/>
        </p:nvSpPr>
        <p:spPr>
          <a:xfrm>
            <a:off x="6263640" y="3063240"/>
            <a:ext cx="5193792" cy="2240280"/>
          </a:xfrm>
          <a:prstGeom prst="rect">
            <a:avLst/>
          </a:prstGeom>
          <a:noFill/>
        </p:spPr>
        <p:txBody>
          <a:bodyPr wrap="square" lIns="0" tIns="0" rIns="0" bIns="0">
            <a:spAutoFit/>
          </a:bodyPr>
          <a:lstStyle/>
          <a:p>
            <a:pPr>
              <a:spcAft>
                <a:spcPts val="700"/>
              </a:spcAft>
            </a:pPr>
            <a:r>
              <a:rPr sz="1200" b="1">
                <a:solidFill>
                  <a:srgbClr val="075767"/>
                </a:solidFill>
                <a:latin typeface="Lato"/>
              </a:rPr>
              <a:t>Sur des commissions réunies trop rarement</a:t>
            </a:r>
          </a:p>
          <a:p>
            <a:pPr lvl="1">
              <a:spcAft>
                <a:spcPts val="700"/>
              </a:spcAft>
            </a:pPr>
            <a:r>
              <a:rPr sz="1150" b="0">
                <a:solidFill>
                  <a:srgbClr val="595959"/>
                </a:solidFill>
                <a:latin typeface="Lato"/>
              </a:rPr>
              <a:t>Le nombre de réunions était inférieur à ce que prévoyait l'accord d'entreprise. La Cour retient qu'il n'était pas démontré que cette insuffisance ait empêché les élus de faire valoir utilement leurs observations. Pas d'entrave.</a:t>
            </a:r>
          </a:p>
          <a:p>
            <a:pPr>
              <a:spcAft>
                <a:spcPts val="700"/>
              </a:spcAft>
            </a:pPr>
            <a:r>
              <a:rPr sz="1200" b="1">
                <a:solidFill>
                  <a:srgbClr val="075767"/>
                </a:solidFill>
                <a:latin typeface="Lato"/>
              </a:rPr>
              <a:t>Ce qu'il faut en tirer</a:t>
            </a:r>
          </a:p>
          <a:p>
            <a:pPr lvl="1">
              <a:spcAft>
                <a:spcPts val="700"/>
              </a:spcAft>
            </a:pPr>
            <a:r>
              <a:rPr sz="1150" b="0">
                <a:solidFill>
                  <a:srgbClr val="595959"/>
                </a:solidFill>
                <a:latin typeface="Lato"/>
              </a:rPr>
              <a:t>Le manquement formel ne suffit pas devant le juge civil : il faut démontrer en quoi il a privé le comité de l'exercice effectif de ses prérogatives. C'est la démonstration à préparer, pièce par pièce.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31"/>
                                        </p:tgtEl>
                                        <p:attrNameLst>
                                          <p:attrName>style.visibility</p:attrName>
                                        </p:attrNameLst>
                                      </p:cBhvr>
                                      <p:to>
                                        <p:strVal val="visible"/>
                                      </p:to>
                                    </p:set>
                                    <p:animEffect transition="in" filter="fade">
                                      <p:cBhvr>
                                        <p:cTn id="7" dur="450"/>
                                        <p:tgtEl>
                                          <p:spTgt spid="90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5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900" b="1" kern="0" spc="-150" dirty="0">
                <a:solidFill>
                  <a:srgbClr val="075767"/>
                </a:solidFill>
                <a:latin typeface="Lato" pitchFamily="34" charset="0"/>
                <a:ea typeface="Lato" pitchFamily="34" charset="-122"/>
                <a:cs typeface="Lato" pitchFamily="34" charset="-120"/>
              </a:rPr>
              <a:t>Faire constater une entrave : les trois voies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La plainte simple</a:t>
            </a:r>
            <a:endParaRPr lang="en-US" sz="1700" dirty="0"/>
          </a:p>
        </p:txBody>
      </p:sp>
      <p:sp>
        <p:nvSpPr>
          <p:cNvPr id="11" name="Text 9"/>
          <p:cNvSpPr txBox="1"/>
          <p:nvPr/>
        </p:nvSpPr>
        <p:spPr>
          <a:xfrm>
            <a:off x="731520" y="2331720"/>
            <a:ext cx="4983480" cy="34747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Lettre au procureur de la République, de préférence en recommandé avec accusé de réception</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L'accusé fait courir le délai de trois mois au terme duquel l'absence de réponse vaut classement (article 85 du code de procédure pénale)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parquet peut ordonner une enquête, ouvrir une information judiciaire, citer directement, ou classer sans suite</a:t>
            </a:r>
            <a:endParaRPr lang="en-US" sz="1350" dirty="0"/>
          </a:p>
        </p:txBody>
      </p:sp>
      <p:sp>
        <p:nvSpPr>
          <p:cNvPr id="12" name="Text 10"/>
          <p:cNvSpPr txBox="1"/>
          <p:nvPr/>
        </p:nvSpPr>
        <p:spPr>
          <a:xfrm>
            <a:off x="6309360" y="1828800"/>
            <a:ext cx="5029200" cy="502920"/>
          </a:xfrm>
          <a:prstGeom prst="rect">
            <a:avLst/>
          </a:prstGeom>
          <a:noFill/>
          <a:ln/>
        </p:spPr>
        <p:txBody>
          <a:bodyPr wrap="square" lIns="0" tIns="0" rIns="0" bIns="0" rtlCol="0" anchor="t"/>
          <a:lstStyle/>
          <a:p>
            <a:pPr marL="0" indent="0">
              <a:buNone/>
            </a:pPr>
            <a:r>
              <a:rPr lang="en-US" sz="1600" b="1" dirty="0">
                <a:solidFill>
                  <a:srgbClr val="075767"/>
                </a:solidFill>
                <a:latin typeface="Lato" pitchFamily="34" charset="0"/>
                <a:ea typeface="Lato" pitchFamily="34" charset="-122"/>
                <a:cs typeface="Lato" pitchFamily="34" charset="-120"/>
              </a:rPr>
              <a:t>La plainte avec constitution de partie civile</a:t>
            </a:r>
            <a:endParaRPr lang="en-US" sz="1700" dirty="0"/>
          </a:p>
        </p:txBody>
      </p:sp>
      <p:sp>
        <p:nvSpPr>
          <p:cNvPr id="13" name="Text 11"/>
          <p:cNvSpPr txBox="1"/>
          <p:nvPr/>
        </p:nvSpPr>
        <p:spPr>
          <a:xfrm>
            <a:off x="6309360" y="2331720"/>
            <a:ext cx="4983480" cy="34747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Lettre au doyen des juges d'instruction du lieu de l'infraction ou du domicile de l'auteur</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Objectif : obtenir la condamnation pénale et des dommages-intérêts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La poursuite est obligatoirement déclenchée : le juge d'instruction est saisi</a:t>
            </a:r>
            <a:endParaRPr lang="en-US" sz="135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26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 citation directe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La voie la plus utilisée en matière d'entrave, parce que les faits sont généralement simples.</a:t>
            </a:r>
            <a:endParaRPr lang="en-US" sz="1450" dirty="0"/>
          </a:p>
        </p:txBody>
      </p:sp>
      <p:sp>
        <p:nvSpPr>
          <p:cNvPr id="11" name="Text 9"/>
          <p:cNvSpPr txBox="1"/>
          <p:nvPr/>
        </p:nvSpPr>
        <p:spPr>
          <a:xfrm>
            <a:off x="731520" y="2487168"/>
            <a:ext cx="6035040"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Elle permet au plaignant d'assigner directement l'auteur devant le tribunal correctionnel (article 388 du code de procédure pénale)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Elle met automatiquement en mouvement l'action publique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 plaignant s'adresse à un huissier, qui obtient la fixation de l'audience et envoie la citation au prévenu</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 citation mentionne le texte violé et évalue le préjudice subi : elle implique constitution de partie civile</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Ces infractions ne sont pas toujours poursuivies par le ministère public, et les faits ne nécessitent pas d'instruction préalable</a:t>
            </a:r>
            <a:endParaRPr lang="en-US" sz="1400" dirty="0"/>
          </a:p>
        </p:txBody>
      </p:sp>
      <p:grpSp>
        <p:nvGrpSpPr>
          <p:cNvPr id="9032" name="Bloc 2"/>
          <p:cNvGrpSpPr/>
          <p:nvPr/>
        </p:nvGrpSpPr>
        <p:grpSpPr>
          <a:xfrm>
            <a:off x="7223760" y="1828800"/>
            <a:ext cx="4334256" cy="3282696"/>
            <a:chOff x="7223760" y="1828800"/>
            <a:chExt cx="4334256" cy="3282696"/>
          </a:xfrm>
        </p:grpSpPr>
        <p:sp>
          <p:nvSpPr>
            <p:cNvPr id="19" name="Rounded Rectangle 18"/>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06.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sp>
        <p:nvSpPr>
          <p:cNvPr id="13" name="Text 10"/>
          <p:cNvSpPr txBox="1"/>
          <p:nvPr/>
        </p:nvSpPr>
        <p:spPr>
          <a:xfrm>
            <a:off x="7223760" y="5056632"/>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Une procédure accessible : mais qui suppose des preuves écrites solides.</a:t>
            </a:r>
            <a:endParaRPr lang="en-US" sz="950" dirty="0"/>
          </a:p>
        </p:txBody>
      </p:sp>
      <p:pic>
        <p:nvPicPr>
          <p:cNvPr id="14"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5"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2"/>
          <p:cNvSpPr/>
          <p:nvPr/>
        </p:nvSpPr>
        <p:spPr>
          <a:xfrm>
            <a:off x="10591495" y="6181344"/>
            <a:ext cx="438912" cy="438912"/>
          </a:xfrm>
          <a:prstGeom prst="ellipse">
            <a:avLst/>
          </a:prstGeom>
          <a:solidFill>
            <a:srgbClr val="F06C23"/>
          </a:solidFill>
          <a:ln/>
        </p:spPr>
        <p:txBody>
          <a:bodyPr/>
          <a:lstStyle/>
          <a:p>
            <a:endParaRPr/>
          </a:p>
        </p:txBody>
      </p:sp>
      <p:sp>
        <p:nvSpPr>
          <p:cNvPr id="17"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8"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27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32"/>
                                        </p:tgtEl>
                                        <p:attrNameLst>
                                          <p:attrName>style.visibility</p:attrName>
                                        </p:attrNameLst>
                                      </p:cBhvr>
                                      <p:to>
                                        <p:strVal val="visible"/>
                                      </p:to>
                                    </p:set>
                                    <p:animEffect transition="in" filter="fade">
                                      <p:cBhvr>
                                        <p:cTn id="12" dur="450"/>
                                        <p:tgtEl>
                                          <p:spTgt spid="90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Qui répond de l'entrave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1828800"/>
            <a:ext cx="10728655" cy="397764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Le chef d'entreprise, en majorité personnellement responsable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Responsabilité cumulative en cas de délégation de pouvoir : le délégataire répond de la parcelle d'autorité qu'il détient, en plus du chef d'entreprise (Cass. crim., 21 févr. 1978, Thiburce)</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La personne morale (article 121-2 du code pénal)</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Il existe un casier judiciaire des personnes morales</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L'employeur et la personne morale peuvent être poursuivis ensemble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Amende au quintuple de celle prévue pour les personnes physiques (article 131-38), soit 37 500 €</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Peine complémentaire : affichage ou diffusion de la décision (article 131-39, 9°)</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 CSE est informé de la date d'audience, dix jours avant (article R. 131-53 du code pénal)</a:t>
            </a:r>
            <a:endParaRPr lang="en-US" sz="1300" dirty="0"/>
          </a:p>
        </p:txBody>
      </p:sp>
      <p:pic>
        <p:nvPicPr>
          <p:cNvPr id="11"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2"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3" name="Shape 10"/>
          <p:cNvSpPr/>
          <p:nvPr/>
        </p:nvSpPr>
        <p:spPr>
          <a:xfrm>
            <a:off x="10591495" y="6181344"/>
            <a:ext cx="438912" cy="438912"/>
          </a:xfrm>
          <a:prstGeom prst="ellipse">
            <a:avLst/>
          </a:prstGeom>
          <a:solidFill>
            <a:srgbClr val="F06C23"/>
          </a:solidFill>
          <a:ln/>
        </p:spPr>
        <p:txBody>
          <a:bodyPr/>
          <a:lstStyle/>
          <a:p>
            <a:endParaRPr/>
          </a:p>
        </p:txBody>
      </p:sp>
      <p:sp>
        <p:nvSpPr>
          <p:cNvPr id="14"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5"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28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800" b="1" kern="0" spc="-150" dirty="0">
                <a:solidFill>
                  <a:srgbClr val="075767"/>
                </a:solidFill>
                <a:latin typeface="Lato" pitchFamily="34" charset="0"/>
                <a:ea typeface="Lato" pitchFamily="34" charset="-122"/>
                <a:cs typeface="Lato" pitchFamily="34" charset="-120"/>
              </a:rPr>
              <a:t>Le délit commis par un tiers ou par un salarié</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1828800"/>
            <a:ext cx="10728655" cy="29718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Toute personne peut être condamnée, à titre d'auteur individuel ou de complice : un salarié, un autre employeur, un préfet, un ministre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 loi ne distingue pas selon la qualité de l'auteur de l'infraction</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Un membre du CSE peut lui-même être poursuivi, mais uniquement si la décision a été prise par résolution du comité (TGI Nanterre, 14ᵉ ch., 31 oct. 2006, n° 06072000028)</a:t>
            </a:r>
            <a:endParaRPr lang="en-US" sz="1400" dirty="0"/>
          </a:p>
        </p:txBody>
      </p:sp>
      <p:grpSp>
        <p:nvGrpSpPr>
          <p:cNvPr id="9033" name="Bloc 2"/>
          <p:cNvGrpSpPr/>
          <p:nvPr/>
        </p:nvGrpSpPr>
        <p:grpSpPr>
          <a:xfrm>
            <a:off x="731520" y="4956048"/>
            <a:ext cx="10728655" cy="841248"/>
            <a:chOff x="731520" y="4956048"/>
            <a:chExt cx="10728655" cy="841248"/>
          </a:xfrm>
        </p:grpSpPr>
        <p:sp>
          <p:nvSpPr>
            <p:cNvPr id="11" name="Shape 9"/>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2" name="Text 10"/>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À retenir   </a:t>
              </a:r>
              <a:r>
                <a:rPr lang="en-US" sz="1300" dirty="0">
                  <a:solidFill>
                    <a:srgbClr val="075767"/>
                  </a:solidFill>
                  <a:latin typeface="Lato" pitchFamily="34" charset="0"/>
                  <a:ea typeface="Lato" pitchFamily="34" charset="-122"/>
                  <a:cs typeface="Lato" pitchFamily="34" charset="-120"/>
                </a:rPr>
                <a:t>un élu qui agit seul engage sa responsabilité personnelle ; le comité ne le couvre que s'il a délibéré.</a:t>
              </a:r>
              <a:endParaRPr lang="en-US" sz="1250" dirty="0"/>
            </a:p>
          </p:txBody>
        </p:sp>
      </p:grpSp>
      <p:pic>
        <p:nvPicPr>
          <p:cNvPr id="13"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4"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5" name="Shape 12"/>
          <p:cNvSpPr/>
          <p:nvPr/>
        </p:nvSpPr>
        <p:spPr>
          <a:xfrm>
            <a:off x="10591495" y="6181344"/>
            <a:ext cx="438912" cy="438912"/>
          </a:xfrm>
          <a:prstGeom prst="ellipse">
            <a:avLst/>
          </a:prstGeom>
          <a:solidFill>
            <a:srgbClr val="F06C23"/>
          </a:solidFill>
          <a:ln/>
        </p:spPr>
        <p:txBody>
          <a:bodyPr/>
          <a:lstStyle/>
          <a:p>
            <a:endParaRPr/>
          </a:p>
        </p:txBody>
      </p:sp>
      <p:sp>
        <p:nvSpPr>
          <p:cNvPr id="16"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7"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29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33"/>
                                        </p:tgtEl>
                                        <p:attrNameLst>
                                          <p:attrName>style.visibility</p:attrName>
                                        </p:attrNameLst>
                                      </p:cBhvr>
                                      <p:to>
                                        <p:strVal val="visible"/>
                                      </p:to>
                                    </p:set>
                                    <p:animEffect transition="in" filter="fade">
                                      <p:cBhvr>
                                        <p:cTn id="12" dur="450"/>
                                        <p:tgtEl>
                                          <p:spTgt spid="9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home/claude/tmo/build/photos/p07.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2A30">
              <a:alpha val="38000"/>
            </a:srgbClr>
          </a:solidFill>
          <a:ln/>
        </p:spPr>
        <p:txBody>
          <a:bodyPr/>
          <a:lstStyle/>
          <a:p>
            <a:endParaRPr/>
          </a:p>
        </p:txBody>
      </p:sp>
      <p:sp>
        <p:nvSpPr>
          <p:cNvPr id="4" name="Shape 1"/>
          <p:cNvSpPr/>
          <p:nvPr/>
        </p:nvSpPr>
        <p:spPr>
          <a:xfrm>
            <a:off x="0" y="4343400"/>
            <a:ext cx="12191695" cy="2514600"/>
          </a:xfrm>
          <a:prstGeom prst="rect">
            <a:avLst/>
          </a:prstGeom>
          <a:solidFill>
            <a:srgbClr val="082A30">
              <a:alpha val="88000"/>
            </a:srgbClr>
          </a:solidFill>
          <a:ln/>
        </p:spPr>
        <p:txBody>
          <a:bodyPr/>
          <a:lstStyle/>
          <a:p>
            <a:endParaRPr/>
          </a:p>
        </p:txBody>
      </p:sp>
      <p:sp>
        <p:nvSpPr>
          <p:cNvPr id="5" name="Text 2"/>
          <p:cNvSpPr txBox="1"/>
          <p:nvPr/>
        </p:nvSpPr>
        <p:spPr>
          <a:xfrm>
            <a:off x="731520" y="4709160"/>
            <a:ext cx="8686800" cy="685800"/>
          </a:xfrm>
          <a:prstGeom prst="rect">
            <a:avLst/>
          </a:prstGeom>
          <a:noFill/>
          <a:ln/>
        </p:spPr>
        <p:txBody>
          <a:bodyPr wrap="square" lIns="0" tIns="0" rIns="0" bIns="0" rtlCol="0" anchor="t"/>
          <a:lstStyle/>
          <a:p>
            <a:pPr marL="0" indent="0">
              <a:buNone/>
            </a:pPr>
            <a:r>
              <a:rPr lang="en-US" sz="3000" b="1" kern="0" spc="-100" dirty="0">
                <a:solidFill>
                  <a:srgbClr val="FFFFFF"/>
                </a:solidFill>
                <a:latin typeface="Lato" pitchFamily="34" charset="0"/>
                <a:ea typeface="Lato" pitchFamily="34" charset="-122"/>
                <a:cs typeface="Lato" pitchFamily="34" charset="-120"/>
              </a:rPr>
              <a:t>La pénibilité</a:t>
            </a:r>
            <a:endParaRPr lang="en-US" sz="3000" dirty="0"/>
          </a:p>
        </p:txBody>
      </p:sp>
      <p:sp>
        <p:nvSpPr>
          <p:cNvPr id="6" name="Text 3"/>
          <p:cNvSpPr txBox="1"/>
          <p:nvPr/>
        </p:nvSpPr>
        <p:spPr>
          <a:xfrm>
            <a:off x="731520" y="5413248"/>
            <a:ext cx="8961120" cy="731520"/>
          </a:xfrm>
          <a:prstGeom prst="rect">
            <a:avLst/>
          </a:prstGeom>
          <a:noFill/>
          <a:ln/>
        </p:spPr>
        <p:txBody>
          <a:bodyPr wrap="square" lIns="0" tIns="0" rIns="0" bIns="0" rtlCol="0" anchor="t"/>
          <a:lstStyle/>
          <a:p>
            <a:pPr marL="0" indent="0">
              <a:lnSpc>
                <a:spcPct val="110000"/>
              </a:lnSpc>
              <a:buNone/>
            </a:pPr>
            <a:r>
              <a:rPr lang="en-US" sz="1450" dirty="0">
                <a:solidFill>
                  <a:srgbClr val="C1D5D9"/>
                </a:solidFill>
                <a:latin typeface="Lato" pitchFamily="34" charset="0"/>
                <a:ea typeface="Lato" pitchFamily="34" charset="-122"/>
                <a:cs typeface="Lato" pitchFamily="34" charset="-120"/>
              </a:rPr>
              <a:t>Ce que la loi appelle « facteurs de risques professionnels », et ce qu'elle en tire pour le salarié exposé.</a:t>
            </a:r>
            <a:endParaRPr lang="en-US" sz="1450" dirty="0"/>
          </a:p>
        </p:txBody>
      </p:sp>
      <p:pic>
        <p:nvPicPr>
          <p:cNvPr id="7" name="Image 1" descr="/home/claude/tmo/build/logo.png"/>
          <p:cNvPicPr>
            <a:picLocks noChangeAspect="1"/>
          </p:cNvPicPr>
          <p:nvPr/>
        </p:nvPicPr>
        <p:blipFill>
          <a:blip r:embed="rId4"/>
          <a:stretch>
            <a:fillRect/>
          </a:stretch>
        </p:blipFill>
        <p:spPr>
          <a:xfrm>
            <a:off x="10893247" y="4892040"/>
            <a:ext cx="566928" cy="566928"/>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facteurs de risques professionnels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grpSp>
        <p:nvGrpSpPr>
          <p:cNvPr id="9034"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4161-1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Les facteurs de risques professionnels sont liés à des contraintes physiques marquées, à un environnement physique agressif ou à certains rythmes de travail susceptibles de laisser des traces durables, identifiables et irréversibles sur la santé.</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67335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100" b="1" dirty="0">
                <a:solidFill>
                  <a:srgbClr val="075767"/>
                </a:solidFill>
                <a:latin typeface="Lato" pitchFamily="34" charset="0"/>
                <a:ea typeface="Lato" pitchFamily="34" charset="-122"/>
                <a:cs typeface="Lato" pitchFamily="34" charset="-120"/>
              </a:rPr>
              <a:t>Contraintes physiques marquées</a:t>
            </a:r>
            <a:endParaRPr lang="en-US" sz="1350" dirty="0"/>
          </a:p>
          <a:p>
            <a:pPr marL="406400" lvl="1" indent="-203200">
              <a:lnSpc>
                <a:spcPct val="110000"/>
              </a:lnSpc>
              <a:spcAft>
                <a:spcPts val="700"/>
              </a:spcAft>
              <a:buSzPct val="100000"/>
              <a:buChar char="•"/>
            </a:pPr>
            <a:r>
              <a:rPr lang="en-US" sz="1100" dirty="0">
                <a:solidFill>
                  <a:srgbClr val="595959"/>
                </a:solidFill>
                <a:latin typeface="Lato" pitchFamily="34" charset="0"/>
                <a:ea typeface="Lato" pitchFamily="34" charset="-122"/>
                <a:cs typeface="Lato" pitchFamily="34" charset="-120"/>
              </a:rPr>
              <a:t>Manutentions manuelles de charges · postures pénibles · vibrations mécaniques</a:t>
            </a:r>
            <a:endParaRPr lang="en-US" sz="1350" dirty="0"/>
          </a:p>
          <a:p>
            <a:pPr marL="203200" indent="-203200">
              <a:lnSpc>
                <a:spcPct val="110000"/>
              </a:lnSpc>
              <a:spcAft>
                <a:spcPts val="700"/>
              </a:spcAft>
              <a:buSzPct val="100000"/>
              <a:buChar char="•"/>
            </a:pPr>
            <a:r>
              <a:rPr lang="en-US" sz="1100" b="1" dirty="0">
                <a:solidFill>
                  <a:srgbClr val="075767"/>
                </a:solidFill>
                <a:latin typeface="Lato" pitchFamily="34" charset="0"/>
                <a:ea typeface="Lato" pitchFamily="34" charset="-122"/>
                <a:cs typeface="Lato" pitchFamily="34" charset="-120"/>
              </a:rPr>
              <a:t>Environnement physique agressif</a:t>
            </a:r>
            <a:endParaRPr lang="en-US" sz="1350" dirty="0"/>
          </a:p>
          <a:p>
            <a:pPr marL="406400" lvl="1" indent="-203200">
              <a:lnSpc>
                <a:spcPct val="110000"/>
              </a:lnSpc>
              <a:spcAft>
                <a:spcPts val="700"/>
              </a:spcAft>
              <a:buSzPct val="100000"/>
              <a:buChar char="•"/>
            </a:pPr>
            <a:r>
              <a:rPr lang="en-US" sz="1100" dirty="0">
                <a:solidFill>
                  <a:srgbClr val="595959"/>
                </a:solidFill>
                <a:latin typeface="Lato" pitchFamily="34" charset="0"/>
                <a:ea typeface="Lato" pitchFamily="34" charset="-122"/>
                <a:cs typeface="Lato" pitchFamily="34" charset="-120"/>
              </a:rPr>
              <a:t>Agents chimiques dangereux (poussières et fumées comprises) · milieu hyperbare · températures extrêmes · bruit</a:t>
            </a:r>
            <a:endParaRPr lang="en-US" sz="1350" dirty="0"/>
          </a:p>
          <a:p>
            <a:pPr marL="203200" indent="-203200">
              <a:lnSpc>
                <a:spcPct val="110000"/>
              </a:lnSpc>
              <a:spcAft>
                <a:spcPts val="700"/>
              </a:spcAft>
              <a:buSzPct val="100000"/>
              <a:buChar char="•"/>
            </a:pPr>
            <a:r>
              <a:rPr lang="en-US" sz="1100" b="1" dirty="0">
                <a:solidFill>
                  <a:srgbClr val="075767"/>
                </a:solidFill>
                <a:latin typeface="Lato" pitchFamily="34" charset="0"/>
                <a:ea typeface="Lato" pitchFamily="34" charset="-122"/>
                <a:cs typeface="Lato" pitchFamily="34" charset="-120"/>
              </a:rPr>
              <a:t>Certains rythmes de travail</a:t>
            </a:r>
            <a:endParaRPr lang="en-US" sz="1350" dirty="0"/>
          </a:p>
          <a:p>
            <a:pPr marL="406400" lvl="1" indent="-203200">
              <a:lnSpc>
                <a:spcPct val="110000"/>
              </a:lnSpc>
              <a:spcAft>
                <a:spcPts val="700"/>
              </a:spcAft>
              <a:buSzPct val="100000"/>
              <a:buChar char="•"/>
            </a:pPr>
            <a:r>
              <a:rPr lang="en-US" sz="1100" dirty="0">
                <a:solidFill>
                  <a:srgbClr val="595959"/>
                </a:solidFill>
                <a:latin typeface="Lato" pitchFamily="34" charset="0"/>
                <a:ea typeface="Lato" pitchFamily="34" charset="-122"/>
                <a:cs typeface="Lato" pitchFamily="34" charset="-120"/>
              </a:rPr>
              <a:t>Travail de nuit · équipes successives alternantes · travail répétitif</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31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34"/>
                                        </p:tgtEl>
                                        <p:attrNameLst>
                                          <p:attrName>style.visibility</p:attrName>
                                        </p:attrNameLst>
                                      </p:cBhvr>
                                      <p:to>
                                        <p:strVal val="visible"/>
                                      </p:to>
                                    </p:set>
                                    <p:animEffect transition="in" filter="fade">
                                      <p:cBhvr>
                                        <p:cTn id="7" dur="450"/>
                                        <p:tgtEl>
                                          <p:spTgt spid="90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400" b="1" kern="0" spc="-150" dirty="0">
                <a:solidFill>
                  <a:srgbClr val="075767"/>
                </a:solidFill>
                <a:latin typeface="Lato" pitchFamily="34" charset="0"/>
                <a:ea typeface="Lato" pitchFamily="34" charset="-122"/>
                <a:cs typeface="Lato" pitchFamily="34" charset="-120"/>
              </a:rPr>
              <a:t>Manutentions manuelles : les limites réglementaires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grpSp>
        <p:nvGrpSpPr>
          <p:cNvPr id="9035"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R. 4541-9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Un travailleur ne peut être admis à porter d'une façon habituelle des charges supérieures à 55 kilogrammes qu'à condition d'y avoir été reconnu apte par le médecin du travail, sans que ces charges puissent être supérieures à 105 kilogrammes.</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4173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Homme : 55 kg, jusqu'à 105 kg sur aptitude du médecin du travail</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Femme : 25 kg, ou 40 kg brouette comprise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La norme AFNOR X35-109 propose des valeurs de référence bien plus basses pour la prévention des TMS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Aide à l'évaluation : brochure ED 6161 de l'INRS</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32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35"/>
                                        </p:tgtEl>
                                        <p:attrNameLst>
                                          <p:attrName>style.visibility</p:attrName>
                                        </p:attrNameLst>
                                      </p:cBhvr>
                                      <p:to>
                                        <p:strVal val="visible"/>
                                      </p:to>
                                    </p:set>
                                    <p:animEffect transition="in" filter="fade">
                                      <p:cBhvr>
                                        <p:cTn id="7" dur="450"/>
                                        <p:tgtEl>
                                          <p:spTgt spid="90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postures pénibles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Positions forcées des articulations, maintenues ou répétées.</a:t>
            </a:r>
            <a:endParaRPr lang="en-US" sz="1450" dirty="0"/>
          </a:p>
        </p:txBody>
      </p:sp>
      <p:sp>
        <p:nvSpPr>
          <p:cNvPr id="11" name="Text 9"/>
          <p:cNvSpPr txBox="1"/>
          <p:nvPr/>
        </p:nvSpPr>
        <p:spPr>
          <a:xfrm>
            <a:off x="731520" y="2487168"/>
            <a:ext cx="6035040"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Travail à genoux prolongé</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carreleur, jardinier, monteur de réseaux</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Position accroupie maintenue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travaux de mécanique, récolte agricole</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Torsion du tronc répétée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manutention de charges avec rotation</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Bras levés au-dessus des épaules de façon prolongée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peintre en bâtiment, installateur de rayonnages</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Flexion ou extension extrême du cou</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plombier sous un évier, électricien au plafond</a:t>
            </a:r>
            <a:endParaRPr lang="en-US" sz="1300" dirty="0"/>
          </a:p>
        </p:txBody>
      </p:sp>
      <p:grpSp>
        <p:nvGrpSpPr>
          <p:cNvPr id="9036" name="Bloc 2"/>
          <p:cNvGrpSpPr/>
          <p:nvPr/>
        </p:nvGrpSpPr>
        <p:grpSpPr>
          <a:xfrm>
            <a:off x="7223760" y="1828800"/>
            <a:ext cx="4334256" cy="3282696"/>
            <a:chOff x="7223760" y="1828800"/>
            <a:chExt cx="4334256" cy="3282696"/>
          </a:xfrm>
        </p:grpSpPr>
        <p:sp>
          <p:nvSpPr>
            <p:cNvPr id="19" name="Rounded Rectangle 18"/>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08.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sp>
        <p:nvSpPr>
          <p:cNvPr id="13" name="Text 10"/>
          <p:cNvSpPr txBox="1"/>
          <p:nvPr/>
        </p:nvSpPr>
        <p:spPr>
          <a:xfrm>
            <a:off x="7223760" y="5056632"/>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Chercher la posture imposée par l'organisation, pas par le salarié.</a:t>
            </a:r>
            <a:endParaRPr lang="en-US" sz="950" dirty="0"/>
          </a:p>
        </p:txBody>
      </p:sp>
      <p:pic>
        <p:nvPicPr>
          <p:cNvPr id="14"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5"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2"/>
          <p:cNvSpPr/>
          <p:nvPr/>
        </p:nvSpPr>
        <p:spPr>
          <a:xfrm>
            <a:off x="10591495" y="6181344"/>
            <a:ext cx="438912" cy="438912"/>
          </a:xfrm>
          <a:prstGeom prst="ellipse">
            <a:avLst/>
          </a:prstGeom>
          <a:solidFill>
            <a:srgbClr val="F06C23"/>
          </a:solidFill>
          <a:ln/>
        </p:spPr>
        <p:txBody>
          <a:bodyPr/>
          <a:lstStyle/>
          <a:p>
            <a:endParaRPr/>
          </a:p>
        </p:txBody>
      </p:sp>
      <p:sp>
        <p:nvSpPr>
          <p:cNvPr id="17"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8"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33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36"/>
                                        </p:tgtEl>
                                        <p:attrNameLst>
                                          <p:attrName>style.visibility</p:attrName>
                                        </p:attrNameLst>
                                      </p:cBhvr>
                                      <p:to>
                                        <p:strVal val="visible"/>
                                      </p:to>
                                    </p:set>
                                    <p:animEffect transition="in" filter="fade">
                                      <p:cBhvr>
                                        <p:cTn id="12" dur="450"/>
                                        <p:tgtEl>
                                          <p:spTgt spid="90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600" b="1" kern="0" spc="-150" dirty="0">
                <a:solidFill>
                  <a:srgbClr val="075767"/>
                </a:solidFill>
                <a:latin typeface="Lato" pitchFamily="34" charset="0"/>
                <a:ea typeface="Lato" pitchFamily="34" charset="-122"/>
                <a:cs typeface="Lato" pitchFamily="34" charset="-120"/>
              </a:rPr>
              <a:t>Vibrations mécaniques : les valeurs de référence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0725912" cy="1700784"/>
        </p:xfrm>
        <a:graphic>
          <a:graphicData uri="http://schemas.openxmlformats.org/drawingml/2006/table">
            <a:tbl>
              <a:tblPr/>
              <a:tblGrid>
                <a:gridCol w="45720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tblGrid>
              <a:tr h="566928">
                <a:tc>
                  <a:txBody>
                    <a:bodyPr/>
                    <a:lstStyle/>
                    <a:p>
                      <a:pPr marL="0" indent="0">
                        <a:buNone/>
                      </a:pPr>
                      <a:r>
                        <a:rPr lang="en-US" sz="1250" b="1" dirty="0">
                          <a:solidFill>
                            <a:srgbClr val="FFFFFF"/>
                          </a:solidFill>
                          <a:latin typeface="Lato" pitchFamily="34" charset="0"/>
                          <a:ea typeface="Lato" pitchFamily="34" charset="-122"/>
                          <a:cs typeface="Lato" pitchFamily="34" charset="-120"/>
                        </a:rPr>
                        <a:t>Source de vibrations</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Valeur déclenchant l'action de prévention</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Valeur limite d'exposition</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Transmises aux mains et aux bras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2,5 m/s²</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5 m/s²</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Transmises à l'ensemble du corps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0,5 m/s²</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1,15 m/s²</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bl>
          </a:graphicData>
        </a:graphic>
      </p:graphicFrame>
      <p:sp>
        <p:nvSpPr>
          <p:cNvPr id="11" name="Text 8"/>
          <p:cNvSpPr txBox="1"/>
          <p:nvPr/>
        </p:nvSpPr>
        <p:spPr>
          <a:xfrm>
            <a:off x="731520" y="5623560"/>
            <a:ext cx="10728655" cy="365760"/>
          </a:xfrm>
          <a:prstGeom prst="rect">
            <a:avLst/>
          </a:prstGeom>
          <a:noFill/>
          <a:ln/>
        </p:spPr>
        <p:txBody>
          <a:bodyPr wrap="square" lIns="0" tIns="0" rIns="0" bIns="0" rtlCol="0" anchor="t"/>
          <a:lstStyle/>
          <a:p>
            <a:pPr marL="0" indent="0">
              <a:buNone/>
            </a:pPr>
            <a:r>
              <a:rPr lang="en-US" sz="1000" i="1" dirty="0">
                <a:solidFill>
                  <a:srgbClr val="595959"/>
                </a:solidFill>
                <a:latin typeface="Lato" pitchFamily="34" charset="0"/>
                <a:ea typeface="Lato" pitchFamily="34" charset="-122"/>
                <a:cs typeface="Lato" pitchFamily="34" charset="-120"/>
              </a:rPr>
              <a:t>Valeurs d'exposition journalière rapportées à une période de référence de huit heures. Méthode d'évaluation : OSEV (INRS).</a:t>
            </a:r>
            <a:endParaRPr lang="en-US" sz="10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34</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45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700" b="1" kern="0" spc="-150" dirty="0">
                <a:solidFill>
                  <a:srgbClr val="075767"/>
                </a:solidFill>
                <a:latin typeface="Lato" pitchFamily="34" charset="0"/>
                <a:ea typeface="Lato" pitchFamily="34" charset="-122"/>
                <a:cs typeface="Lato" pitchFamily="34" charset="-120"/>
              </a:rPr>
              <a:t>L'environnement physique agressif : les seuils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0725912" cy="2834640"/>
        </p:xfrm>
        <a:graphic>
          <a:graphicData uri="http://schemas.openxmlformats.org/drawingml/2006/table">
            <a:tbl>
              <a:tblPr/>
              <a:tblGrid>
                <a:gridCol w="32004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673352">
                  <a:extLst>
                    <a:ext uri="{9D8B030D-6E8A-4147-A177-3AD203B41FA5}">
                      <a16:colId xmlns:a16="http://schemas.microsoft.com/office/drawing/2014/main" val="20003"/>
                    </a:ext>
                  </a:extLst>
                </a:gridCol>
              </a:tblGrid>
              <a:tr h="566928">
                <a:tc>
                  <a:txBody>
                    <a:bodyPr/>
                    <a:lstStyle/>
                    <a:p>
                      <a:pPr marL="0" indent="0">
                        <a:buNone/>
                      </a:pPr>
                      <a:r>
                        <a:rPr lang="en-US" sz="1250" b="1" dirty="0">
                          <a:solidFill>
                            <a:srgbClr val="FFFFFF"/>
                          </a:solidFill>
                          <a:latin typeface="Lato" pitchFamily="34" charset="0"/>
                          <a:ea typeface="Lato" pitchFamily="34" charset="-122"/>
                          <a:cs typeface="Lato" pitchFamily="34" charset="-120"/>
                        </a:rPr>
                        <a:t>Facteur</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Action ou situation</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Intensité minimale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Durée minimale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Milieu hyperbare (R. 4461-1)</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Interventions ou travaux</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1 200 hectopascals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60 par an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Températures extrêmes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Travail au froid ou au chaud</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 5 °C ou ≥ 30 °C</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900 h/an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Bruit (R. 4431-1)</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Exposition moyennée sur 8 h</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 81 dB(A)</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600 h/an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Bruit : crête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Pression acoustique de crête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 135 dB(C)</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120 fois/an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11" name="Text 8"/>
          <p:cNvSpPr txBox="1"/>
          <p:nvPr/>
        </p:nvSpPr>
        <p:spPr>
          <a:xfrm>
            <a:off x="731520" y="5623560"/>
            <a:ext cx="10728655" cy="365760"/>
          </a:xfrm>
          <a:prstGeom prst="rect">
            <a:avLst/>
          </a:prstGeom>
          <a:noFill/>
          <a:ln/>
        </p:spPr>
        <p:txBody>
          <a:bodyPr wrap="square" lIns="0" tIns="0" rIns="0" bIns="0" rtlCol="0" anchor="t"/>
          <a:lstStyle/>
          <a:p>
            <a:pPr marL="0" indent="0">
              <a:buNone/>
            </a:pPr>
            <a:r>
              <a:rPr lang="en-US" sz="1000" i="1" dirty="0">
                <a:solidFill>
                  <a:srgbClr val="595959"/>
                </a:solidFill>
                <a:latin typeface="Lato" pitchFamily="34" charset="0"/>
                <a:ea typeface="Lato" pitchFamily="34" charset="-122"/>
                <a:cs typeface="Lato" pitchFamily="34" charset="-120"/>
              </a:rPr>
              <a:t>Le franchissement du seuil, intensité ET durée réunies, déclenche la déclaration au compte professionnel de prévention.</a:t>
            </a:r>
            <a:endParaRPr lang="en-US" sz="10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35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5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rythmes de travail : les seuils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0725912" cy="2267712"/>
        </p:xfrm>
        <a:graphic>
          <a:graphicData uri="http://schemas.openxmlformats.org/drawingml/2006/table">
            <a:tbl>
              <a:tblPr/>
              <a:tblGrid>
                <a:gridCol w="36576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tblGrid>
              <a:tr h="566928">
                <a:tc>
                  <a:txBody>
                    <a:bodyPr/>
                    <a:lstStyle/>
                    <a:p>
                      <a:pPr marL="0" indent="0">
                        <a:buNone/>
                      </a:pPr>
                      <a:r>
                        <a:rPr lang="en-US" sz="1250" b="1" dirty="0">
                          <a:solidFill>
                            <a:srgbClr val="FFFFFF"/>
                          </a:solidFill>
                          <a:latin typeface="Lato" pitchFamily="34" charset="0"/>
                          <a:ea typeface="Lato" pitchFamily="34" charset="-122"/>
                          <a:cs typeface="Lato" pitchFamily="34" charset="-120"/>
                        </a:rPr>
                        <a:t>Facteur</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Intensité minimale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Durée minimale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Travail de nuit</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1 heure de travail entre minuit et 5 h</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100 nuits/an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Équipes successives alternantes (5×8, 3×8)</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1 heure de travail entre minuit et 5 h</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30 nuits/an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Travail répétitif</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15 actions techniques ou plus pour un cycle ≤ 30 s, ou 30 actions par minute au-delà</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900 h/an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Text 8"/>
          <p:cNvSpPr txBox="1"/>
          <p:nvPr/>
        </p:nvSpPr>
        <p:spPr>
          <a:xfrm>
            <a:off x="731520" y="5623560"/>
            <a:ext cx="10728655" cy="365760"/>
          </a:xfrm>
          <a:prstGeom prst="rect">
            <a:avLst/>
          </a:prstGeom>
          <a:noFill/>
          <a:ln/>
        </p:spPr>
        <p:txBody>
          <a:bodyPr wrap="square" lIns="0" tIns="0" rIns="0" bIns="0" rtlCol="0" anchor="t"/>
          <a:lstStyle/>
          <a:p>
            <a:pPr marL="0" indent="0">
              <a:buNone/>
            </a:pPr>
            <a:r>
              <a:rPr lang="en-US" sz="1000" i="1" dirty="0">
                <a:solidFill>
                  <a:srgbClr val="595959"/>
                </a:solidFill>
                <a:latin typeface="Lato" pitchFamily="34" charset="0"/>
                <a:ea typeface="Lato" pitchFamily="34" charset="-122"/>
                <a:cs typeface="Lato" pitchFamily="34" charset="-120"/>
              </a:rPr>
              <a:t>Le travail répétitif est le facteur le plus souvent sous-déclaré : il suppose de compter les actions techniques, pas les pièces.</a:t>
            </a:r>
            <a:endParaRPr lang="en-US" sz="10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36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5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six facteurs qui ouvrent des points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37</a:t>
            </a:r>
            <a:endParaRPr lang="en-US" sz="1000" dirty="0"/>
          </a:p>
        </p:txBody>
      </p:sp>
      <p:graphicFrame>
        <p:nvGraphicFramePr>
          <p:cNvPr id="19" name="Table 18"/>
          <p:cNvGraphicFramePr>
            <a:graphicFrameLocks noGrp="1"/>
          </p:cNvGraphicFramePr>
          <p:nvPr/>
        </p:nvGraphicFramePr>
        <p:xfrm>
          <a:off x="731520" y="1847088"/>
          <a:ext cx="10725911" cy="42062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1856231">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402336">
                <a:tc>
                  <a:txBody>
                    <a:bodyPr/>
                    <a:lstStyle/>
                    <a:p>
                      <a:r>
                        <a:rPr sz="1050" b="1">
                          <a:solidFill>
                            <a:srgbClr val="FFFFFF"/>
                          </a:solidFill>
                          <a:latin typeface="Lato"/>
                        </a:rPr>
                        <a:t>Facteur de risque professionnel</a:t>
                      </a:r>
                    </a:p>
                  </a:txBody>
                  <a:tcPr marL="64008" marR="64008" marT="18288" marB="18288" anchor="ctr">
                    <a:solidFill>
                      <a:srgbClr val="075767"/>
                    </a:solidFill>
                  </a:tcPr>
                </a:tc>
                <a:tc>
                  <a:txBody>
                    <a:bodyPr/>
                    <a:lstStyle/>
                    <a:p>
                      <a:pPr algn="ctr"/>
                      <a:r>
                        <a:rPr sz="1050" b="1">
                          <a:solidFill>
                            <a:srgbClr val="FFFFFF"/>
                          </a:solidFill>
                          <a:latin typeface="Lato"/>
                        </a:rPr>
                        <a:t>Article</a:t>
                      </a:r>
                    </a:p>
                  </a:txBody>
                  <a:tcPr marL="64008" marR="64008" marT="18288" marB="18288" anchor="ctr">
                    <a:solidFill>
                      <a:srgbClr val="075767"/>
                    </a:solidFill>
                  </a:tcPr>
                </a:tc>
                <a:tc>
                  <a:txBody>
                    <a:bodyPr/>
                    <a:lstStyle/>
                    <a:p>
                      <a:pPr algn="ctr"/>
                      <a:r>
                        <a:rPr sz="1050" b="1">
                          <a:solidFill>
                            <a:srgbClr val="FFFFFF"/>
                          </a:solidFill>
                          <a:latin typeface="Lato"/>
                        </a:rPr>
                        <a:t>Action ou situation, intensité minimale</a:t>
                      </a:r>
                    </a:p>
                  </a:txBody>
                  <a:tcPr marL="64008" marR="64008" marT="18288" marB="18288" anchor="ctr">
                    <a:solidFill>
                      <a:srgbClr val="075767"/>
                    </a:solidFill>
                  </a:tcPr>
                </a:tc>
                <a:tc>
                  <a:txBody>
                    <a:bodyPr/>
                    <a:lstStyle/>
                    <a:p>
                      <a:pPr algn="ctr"/>
                      <a:r>
                        <a:rPr sz="1050" b="1">
                          <a:solidFill>
                            <a:srgbClr val="FFFFFF"/>
                          </a:solidFill>
                          <a:latin typeface="Lato"/>
                        </a:rPr>
                        <a:t>Durée minimale</a:t>
                      </a:r>
                    </a:p>
                  </a:txBody>
                  <a:tcPr marL="64008" marR="64008" marT="18288" marB="18288" anchor="ctr">
                    <a:solidFill>
                      <a:srgbClr val="075767"/>
                    </a:solidFill>
                  </a:tcPr>
                </a:tc>
                <a:tc>
                  <a:txBody>
                    <a:bodyPr/>
                    <a:lstStyle/>
                    <a:p>
                      <a:pPr algn="ctr"/>
                      <a:r>
                        <a:rPr sz="1050" b="1">
                          <a:solidFill>
                            <a:srgbClr val="FFFFFF"/>
                          </a:solidFill>
                          <a:latin typeface="Lato"/>
                        </a:rPr>
                        <a:t>Points par an</a:t>
                      </a:r>
                    </a:p>
                  </a:txBody>
                  <a:tcPr marL="64008" marR="64008" marT="18288" marB="18288" anchor="ctr">
                    <a:solidFill>
                      <a:srgbClr val="075767"/>
                    </a:solidFill>
                  </a:tcPr>
                </a:tc>
                <a:extLst>
                  <a:ext uri="{0D108BD9-81ED-4DB2-BD59-A6C34878D82A}">
                    <a16:rowId xmlns:a16="http://schemas.microsoft.com/office/drawing/2014/main" val="10000"/>
                  </a:ext>
                </a:extLst>
              </a:tr>
              <a:tr h="493776">
                <a:tc>
                  <a:txBody>
                    <a:bodyPr/>
                    <a:lstStyle/>
                    <a:p>
                      <a:r>
                        <a:rPr sz="1000" b="1">
                          <a:solidFill>
                            <a:srgbClr val="075767"/>
                          </a:solidFill>
                          <a:latin typeface="Lato"/>
                        </a:rPr>
                        <a:t>Activités exercées en milieu hyperbare</a:t>
                      </a:r>
                    </a:p>
                  </a:txBody>
                  <a:tcPr marL="64008" marR="64008" marT="18288" marB="18288" anchor="ctr">
                    <a:solidFill>
                      <a:srgbClr val="E8F4F5"/>
                    </a:solidFill>
                  </a:tcPr>
                </a:tc>
                <a:tc>
                  <a:txBody>
                    <a:bodyPr/>
                    <a:lstStyle/>
                    <a:p>
                      <a:pPr algn="ctr"/>
                      <a:r>
                        <a:rPr sz="1000" b="0">
                          <a:solidFill>
                            <a:srgbClr val="075767"/>
                          </a:solidFill>
                          <a:latin typeface="Lato"/>
                        </a:rPr>
                        <a:t>2° b</a:t>
                      </a:r>
                    </a:p>
                  </a:txBody>
                  <a:tcPr marL="64008" marR="64008" marT="18288" marB="18288" anchor="ctr">
                    <a:solidFill>
                      <a:srgbClr val="E8F4F5"/>
                    </a:solidFill>
                  </a:tcPr>
                </a:tc>
                <a:tc>
                  <a:txBody>
                    <a:bodyPr/>
                    <a:lstStyle/>
                    <a:p>
                      <a:r>
                        <a:rPr sz="950" b="0">
                          <a:solidFill>
                            <a:srgbClr val="595959"/>
                          </a:solidFill>
                          <a:latin typeface="Lato"/>
                        </a:rPr>
                        <a:t>Interventions ou travaux à 1 200 hectopascals</a:t>
                      </a:r>
                    </a:p>
                  </a:txBody>
                  <a:tcPr marL="64008" marR="64008" marT="18288" marB="18288" anchor="ctr">
                    <a:solidFill>
                      <a:srgbClr val="E8F4F5"/>
                    </a:solidFill>
                  </a:tcPr>
                </a:tc>
                <a:tc>
                  <a:txBody>
                    <a:bodyPr/>
                    <a:lstStyle/>
                    <a:p>
                      <a:pPr algn="ctr"/>
                      <a:r>
                        <a:rPr sz="1000" b="0">
                          <a:solidFill>
                            <a:srgbClr val="595959"/>
                          </a:solidFill>
                          <a:latin typeface="Lato"/>
                        </a:rPr>
                        <a:t>60 interventions ou travaux par an</a:t>
                      </a:r>
                    </a:p>
                  </a:txBody>
                  <a:tcPr marL="64008" marR="64008" marT="18288" marB="18288" anchor="ctr">
                    <a:solidFill>
                      <a:srgbClr val="E8F4F5"/>
                    </a:solidFill>
                  </a:tcPr>
                </a:tc>
                <a:tc>
                  <a:txBody>
                    <a:bodyPr/>
                    <a:lstStyle/>
                    <a:p>
                      <a:pPr algn="ctr"/>
                      <a:r>
                        <a:rPr sz="1000" b="1">
                          <a:solidFill>
                            <a:srgbClr val="075767"/>
                          </a:solidFill>
                          <a:latin typeface="Lato"/>
                        </a:rPr>
                        <a:t>4</a:t>
                      </a:r>
                    </a:p>
                  </a:txBody>
                  <a:tcPr marL="64008" marR="64008" marT="18288" marB="18288" anchor="ctr">
                    <a:solidFill>
                      <a:srgbClr val="E8F4F5"/>
                    </a:solidFill>
                  </a:tcPr>
                </a:tc>
                <a:extLst>
                  <a:ext uri="{0D108BD9-81ED-4DB2-BD59-A6C34878D82A}">
                    <a16:rowId xmlns:a16="http://schemas.microsoft.com/office/drawing/2014/main" val="10001"/>
                  </a:ext>
                </a:extLst>
              </a:tr>
              <a:tr h="493776">
                <a:tc>
                  <a:txBody>
                    <a:bodyPr/>
                    <a:lstStyle/>
                    <a:p>
                      <a:r>
                        <a:rPr sz="1000" b="1">
                          <a:solidFill>
                            <a:srgbClr val="075767"/>
                          </a:solidFill>
                          <a:latin typeface="Lato"/>
                        </a:rPr>
                        <a:t>Températures extrêmes</a:t>
                      </a:r>
                    </a:p>
                  </a:txBody>
                  <a:tcPr marL="64008" marR="64008" marT="18288" marB="18288" anchor="ctr">
                    <a:solidFill>
                      <a:srgbClr val="FFFFFF"/>
                    </a:solidFill>
                  </a:tcPr>
                </a:tc>
                <a:tc>
                  <a:txBody>
                    <a:bodyPr/>
                    <a:lstStyle/>
                    <a:p>
                      <a:pPr algn="ctr"/>
                      <a:r>
                        <a:rPr sz="1000" b="0">
                          <a:solidFill>
                            <a:srgbClr val="075767"/>
                          </a:solidFill>
                          <a:latin typeface="Lato"/>
                        </a:rPr>
                        <a:t>2° c</a:t>
                      </a:r>
                    </a:p>
                  </a:txBody>
                  <a:tcPr marL="64008" marR="64008" marT="18288" marB="18288" anchor="ctr">
                    <a:solidFill>
                      <a:srgbClr val="FFFFFF"/>
                    </a:solidFill>
                  </a:tcPr>
                </a:tc>
                <a:tc>
                  <a:txBody>
                    <a:bodyPr/>
                    <a:lstStyle/>
                    <a:p>
                      <a:r>
                        <a:rPr sz="950" b="0">
                          <a:solidFill>
                            <a:srgbClr val="595959"/>
                          </a:solidFill>
                          <a:latin typeface="Lato"/>
                        </a:rPr>
                        <a:t>Température inférieure ou égale à 5 °C, ou au moins égale à 30 °C</a:t>
                      </a:r>
                    </a:p>
                  </a:txBody>
                  <a:tcPr marL="64008" marR="64008" marT="18288" marB="18288" anchor="ctr">
                    <a:solidFill>
                      <a:srgbClr val="FFFFFF"/>
                    </a:solidFill>
                  </a:tcPr>
                </a:tc>
                <a:tc>
                  <a:txBody>
                    <a:bodyPr/>
                    <a:lstStyle/>
                    <a:p>
                      <a:pPr algn="ctr"/>
                      <a:r>
                        <a:rPr sz="1000" b="0">
                          <a:solidFill>
                            <a:srgbClr val="595959"/>
                          </a:solidFill>
                          <a:latin typeface="Lato"/>
                        </a:rPr>
                        <a:t>900 heures par an</a:t>
                      </a:r>
                    </a:p>
                  </a:txBody>
                  <a:tcPr marL="64008" marR="64008" marT="18288" marB="18288" anchor="ctr">
                    <a:solidFill>
                      <a:srgbClr val="FFFFFF"/>
                    </a:solidFill>
                  </a:tcPr>
                </a:tc>
                <a:tc>
                  <a:txBody>
                    <a:bodyPr/>
                    <a:lstStyle/>
                    <a:p>
                      <a:pPr algn="ctr"/>
                      <a:r>
                        <a:rPr sz="1000" b="1">
                          <a:solidFill>
                            <a:srgbClr val="075767"/>
                          </a:solidFill>
                          <a:latin typeface="Lato"/>
                        </a:rPr>
                        <a:t>4</a:t>
                      </a:r>
                    </a:p>
                  </a:txBody>
                  <a:tcPr marL="64008" marR="64008" marT="18288" marB="18288" anchor="ctr">
                    <a:solidFill>
                      <a:srgbClr val="FFFFFF"/>
                    </a:solidFill>
                  </a:tcPr>
                </a:tc>
                <a:extLst>
                  <a:ext uri="{0D108BD9-81ED-4DB2-BD59-A6C34878D82A}">
                    <a16:rowId xmlns:a16="http://schemas.microsoft.com/office/drawing/2014/main" val="10002"/>
                  </a:ext>
                </a:extLst>
              </a:tr>
              <a:tr h="493776">
                <a:tc>
                  <a:txBody>
                    <a:bodyPr/>
                    <a:lstStyle/>
                    <a:p>
                      <a:r>
                        <a:rPr sz="1000" b="1">
                          <a:solidFill>
                            <a:srgbClr val="075767"/>
                          </a:solidFill>
                          <a:latin typeface="Lato"/>
                        </a:rPr>
                        <a:t>Bruit</a:t>
                      </a:r>
                    </a:p>
                  </a:txBody>
                  <a:tcPr marL="64008" marR="64008" marT="18288" marB="18288" anchor="ctr">
                    <a:solidFill>
                      <a:srgbClr val="E8F4F5"/>
                    </a:solidFill>
                  </a:tcPr>
                </a:tc>
                <a:tc>
                  <a:txBody>
                    <a:bodyPr/>
                    <a:lstStyle/>
                    <a:p>
                      <a:pPr algn="ctr"/>
                      <a:r>
                        <a:rPr sz="1000" b="0">
                          <a:solidFill>
                            <a:srgbClr val="075767"/>
                          </a:solidFill>
                          <a:latin typeface="Lato"/>
                        </a:rPr>
                        <a:t>2° d</a:t>
                      </a:r>
                    </a:p>
                  </a:txBody>
                  <a:tcPr marL="64008" marR="64008" marT="18288" marB="18288" anchor="ctr">
                    <a:solidFill>
                      <a:srgbClr val="E8F4F5"/>
                    </a:solidFill>
                  </a:tcPr>
                </a:tc>
                <a:tc>
                  <a:txBody>
                    <a:bodyPr/>
                    <a:lstStyle/>
                    <a:p>
                      <a:r>
                        <a:rPr sz="950" b="0">
                          <a:solidFill>
                            <a:srgbClr val="595959"/>
                          </a:solidFill>
                          <a:latin typeface="Lato"/>
                        </a:rPr>
                        <a:t>81 décibels (A) sur une période de référence de huit heures</a:t>
                      </a:r>
                    </a:p>
                    <a:p>
                      <a:r>
                        <a:rPr sz="950" b="0">
                          <a:solidFill>
                            <a:srgbClr val="595959"/>
                          </a:solidFill>
                          <a:latin typeface="Lato"/>
                        </a:rPr>
                        <a:t>ou pression acoustique de crête d'au moins 135 décibels (C)</a:t>
                      </a:r>
                    </a:p>
                  </a:txBody>
                  <a:tcPr marL="64008" marR="64008" marT="18288" marB="18288" anchor="ctr">
                    <a:solidFill>
                      <a:srgbClr val="E8F4F5"/>
                    </a:solidFill>
                  </a:tcPr>
                </a:tc>
                <a:tc>
                  <a:txBody>
                    <a:bodyPr/>
                    <a:lstStyle/>
                    <a:p>
                      <a:pPr algn="ctr"/>
                      <a:r>
                        <a:rPr sz="1000" b="0">
                          <a:solidFill>
                            <a:srgbClr val="595959"/>
                          </a:solidFill>
                          <a:latin typeface="Lato"/>
                        </a:rPr>
                        <a:t>600 heures par an</a:t>
                      </a:r>
                    </a:p>
                    <a:p>
                      <a:pPr algn="ctr"/>
                      <a:r>
                        <a:rPr sz="1000" b="0">
                          <a:solidFill>
                            <a:srgbClr val="595959"/>
                          </a:solidFill>
                          <a:latin typeface="Lato"/>
                        </a:rPr>
                        <a:t>ou 120 fois par an</a:t>
                      </a:r>
                    </a:p>
                  </a:txBody>
                  <a:tcPr marL="64008" marR="64008" marT="18288" marB="18288" anchor="ctr">
                    <a:solidFill>
                      <a:srgbClr val="E8F4F5"/>
                    </a:solidFill>
                  </a:tcPr>
                </a:tc>
                <a:tc>
                  <a:txBody>
                    <a:bodyPr/>
                    <a:lstStyle/>
                    <a:p>
                      <a:pPr algn="ctr"/>
                      <a:r>
                        <a:rPr sz="1000" b="1">
                          <a:solidFill>
                            <a:srgbClr val="075767"/>
                          </a:solidFill>
                          <a:latin typeface="Lato"/>
                        </a:rPr>
                        <a:t>4</a:t>
                      </a:r>
                    </a:p>
                  </a:txBody>
                  <a:tcPr marL="64008" marR="64008" marT="18288" marB="18288" anchor="ctr">
                    <a:solidFill>
                      <a:srgbClr val="E8F4F5"/>
                    </a:solidFill>
                  </a:tcPr>
                </a:tc>
                <a:extLst>
                  <a:ext uri="{0D108BD9-81ED-4DB2-BD59-A6C34878D82A}">
                    <a16:rowId xmlns:a16="http://schemas.microsoft.com/office/drawing/2014/main" val="10003"/>
                  </a:ext>
                </a:extLst>
              </a:tr>
              <a:tr h="493776">
                <a:tc>
                  <a:txBody>
                    <a:bodyPr/>
                    <a:lstStyle/>
                    <a:p>
                      <a:r>
                        <a:rPr sz="1000" b="1">
                          <a:solidFill>
                            <a:srgbClr val="075767"/>
                          </a:solidFill>
                          <a:latin typeface="Lato"/>
                        </a:rPr>
                        <a:t>Travail de nuit</a:t>
                      </a:r>
                    </a:p>
                  </a:txBody>
                  <a:tcPr marL="64008" marR="64008" marT="18288" marB="18288" anchor="ctr">
                    <a:solidFill>
                      <a:srgbClr val="FFFFFF"/>
                    </a:solidFill>
                  </a:tcPr>
                </a:tc>
                <a:tc>
                  <a:txBody>
                    <a:bodyPr/>
                    <a:lstStyle/>
                    <a:p>
                      <a:pPr algn="ctr"/>
                      <a:r>
                        <a:rPr sz="1000" b="0">
                          <a:solidFill>
                            <a:srgbClr val="075767"/>
                          </a:solidFill>
                          <a:latin typeface="Lato"/>
                        </a:rPr>
                        <a:t>3° a</a:t>
                      </a:r>
                    </a:p>
                  </a:txBody>
                  <a:tcPr marL="64008" marR="64008" marT="18288" marB="18288" anchor="ctr">
                    <a:solidFill>
                      <a:srgbClr val="FFFFFF"/>
                    </a:solidFill>
                  </a:tcPr>
                </a:tc>
                <a:tc>
                  <a:txBody>
                    <a:bodyPr/>
                    <a:lstStyle/>
                    <a:p>
                      <a:r>
                        <a:rPr sz="950" b="0">
                          <a:solidFill>
                            <a:srgbClr val="595959"/>
                          </a:solidFill>
                          <a:latin typeface="Lato"/>
                        </a:rPr>
                        <a:t>Une heure de travail entre 24 heures et 5 heures</a:t>
                      </a:r>
                    </a:p>
                  </a:txBody>
                  <a:tcPr marL="64008" marR="64008" marT="18288" marB="18288" anchor="ctr">
                    <a:solidFill>
                      <a:srgbClr val="FFFFFF"/>
                    </a:solidFill>
                  </a:tcPr>
                </a:tc>
                <a:tc>
                  <a:txBody>
                    <a:bodyPr/>
                    <a:lstStyle/>
                    <a:p>
                      <a:pPr algn="ctr"/>
                      <a:r>
                        <a:rPr sz="1000" b="0">
                          <a:solidFill>
                            <a:srgbClr val="595959"/>
                          </a:solidFill>
                          <a:latin typeface="Lato"/>
                        </a:rPr>
                        <a:t>100 nuits par an</a:t>
                      </a:r>
                    </a:p>
                  </a:txBody>
                  <a:tcPr marL="64008" marR="64008" marT="18288" marB="18288" anchor="ctr">
                    <a:solidFill>
                      <a:srgbClr val="FFFFFF"/>
                    </a:solidFill>
                  </a:tcPr>
                </a:tc>
                <a:tc>
                  <a:txBody>
                    <a:bodyPr/>
                    <a:lstStyle/>
                    <a:p>
                      <a:pPr algn="ctr"/>
                      <a:r>
                        <a:rPr sz="1000" b="1">
                          <a:solidFill>
                            <a:srgbClr val="075767"/>
                          </a:solidFill>
                          <a:latin typeface="Lato"/>
                        </a:rPr>
                        <a:t>4</a:t>
                      </a:r>
                    </a:p>
                  </a:txBody>
                  <a:tcPr marL="64008" marR="64008" marT="18288" marB="18288" anchor="ctr">
                    <a:solidFill>
                      <a:srgbClr val="FFFFFF"/>
                    </a:solidFill>
                  </a:tcPr>
                </a:tc>
                <a:extLst>
                  <a:ext uri="{0D108BD9-81ED-4DB2-BD59-A6C34878D82A}">
                    <a16:rowId xmlns:a16="http://schemas.microsoft.com/office/drawing/2014/main" val="10004"/>
                  </a:ext>
                </a:extLst>
              </a:tr>
              <a:tr h="493776">
                <a:tc>
                  <a:txBody>
                    <a:bodyPr/>
                    <a:lstStyle/>
                    <a:p>
                      <a:r>
                        <a:rPr sz="1000" b="1">
                          <a:solidFill>
                            <a:srgbClr val="075767"/>
                          </a:solidFill>
                          <a:latin typeface="Lato"/>
                        </a:rPr>
                        <a:t>Travail en équipes successives alternantes</a:t>
                      </a:r>
                    </a:p>
                  </a:txBody>
                  <a:tcPr marL="64008" marR="64008" marT="18288" marB="18288" anchor="ctr">
                    <a:solidFill>
                      <a:srgbClr val="E8F4F5"/>
                    </a:solidFill>
                  </a:tcPr>
                </a:tc>
                <a:tc>
                  <a:txBody>
                    <a:bodyPr/>
                    <a:lstStyle/>
                    <a:p>
                      <a:pPr algn="ctr"/>
                      <a:r>
                        <a:rPr sz="1000" b="0">
                          <a:solidFill>
                            <a:srgbClr val="075767"/>
                          </a:solidFill>
                          <a:latin typeface="Lato"/>
                        </a:rPr>
                        <a:t>3° b</a:t>
                      </a:r>
                    </a:p>
                  </a:txBody>
                  <a:tcPr marL="64008" marR="64008" marT="18288" marB="18288" anchor="ctr">
                    <a:solidFill>
                      <a:srgbClr val="E8F4F5"/>
                    </a:solidFill>
                  </a:tcPr>
                </a:tc>
                <a:tc>
                  <a:txBody>
                    <a:bodyPr/>
                    <a:lstStyle/>
                    <a:p>
                      <a:r>
                        <a:rPr sz="950" b="0">
                          <a:solidFill>
                            <a:srgbClr val="595959"/>
                          </a:solidFill>
                          <a:latin typeface="Lato"/>
                        </a:rPr>
                        <a:t>Au minimum une heure de travail entre 24 heures et 5 heures</a:t>
                      </a:r>
                    </a:p>
                  </a:txBody>
                  <a:tcPr marL="64008" marR="64008" marT="18288" marB="18288" anchor="ctr">
                    <a:solidFill>
                      <a:srgbClr val="E8F4F5"/>
                    </a:solidFill>
                  </a:tcPr>
                </a:tc>
                <a:tc>
                  <a:txBody>
                    <a:bodyPr/>
                    <a:lstStyle/>
                    <a:p>
                      <a:pPr algn="ctr"/>
                      <a:r>
                        <a:rPr sz="1000" b="0">
                          <a:solidFill>
                            <a:srgbClr val="595959"/>
                          </a:solidFill>
                          <a:latin typeface="Lato"/>
                        </a:rPr>
                        <a:t>30 nuits par an</a:t>
                      </a:r>
                    </a:p>
                  </a:txBody>
                  <a:tcPr marL="64008" marR="64008" marT="18288" marB="18288" anchor="ctr">
                    <a:solidFill>
                      <a:srgbClr val="E8F4F5"/>
                    </a:solidFill>
                  </a:tcPr>
                </a:tc>
                <a:tc>
                  <a:txBody>
                    <a:bodyPr/>
                    <a:lstStyle/>
                    <a:p>
                      <a:pPr algn="ctr"/>
                      <a:r>
                        <a:rPr sz="1000" b="1">
                          <a:solidFill>
                            <a:srgbClr val="075767"/>
                          </a:solidFill>
                          <a:latin typeface="Lato"/>
                        </a:rPr>
                        <a:t>4</a:t>
                      </a:r>
                    </a:p>
                  </a:txBody>
                  <a:tcPr marL="64008" marR="64008" marT="18288" marB="18288" anchor="ctr">
                    <a:solidFill>
                      <a:srgbClr val="E8F4F5"/>
                    </a:solidFill>
                  </a:tcPr>
                </a:tc>
                <a:extLst>
                  <a:ext uri="{0D108BD9-81ED-4DB2-BD59-A6C34878D82A}">
                    <a16:rowId xmlns:a16="http://schemas.microsoft.com/office/drawing/2014/main" val="10005"/>
                  </a:ext>
                </a:extLst>
              </a:tr>
              <a:tr h="493776">
                <a:tc>
                  <a:txBody>
                    <a:bodyPr/>
                    <a:lstStyle/>
                    <a:p>
                      <a:r>
                        <a:rPr sz="1000" b="1">
                          <a:solidFill>
                            <a:srgbClr val="075767"/>
                          </a:solidFill>
                          <a:latin typeface="Lato"/>
                        </a:rPr>
                        <a:t>Travail répétitif</a:t>
                      </a:r>
                    </a:p>
                  </a:txBody>
                  <a:tcPr marL="64008" marR="64008" marT="18288" marB="18288" anchor="ctr">
                    <a:solidFill>
                      <a:srgbClr val="FFFFFF"/>
                    </a:solidFill>
                  </a:tcPr>
                </a:tc>
                <a:tc>
                  <a:txBody>
                    <a:bodyPr/>
                    <a:lstStyle/>
                    <a:p>
                      <a:pPr algn="ctr"/>
                      <a:r>
                        <a:rPr sz="1000" b="0">
                          <a:solidFill>
                            <a:srgbClr val="075767"/>
                          </a:solidFill>
                          <a:latin typeface="Lato"/>
                        </a:rPr>
                        <a:t>3° c</a:t>
                      </a:r>
                    </a:p>
                  </a:txBody>
                  <a:tcPr marL="64008" marR="64008" marT="18288" marB="18288" anchor="ctr">
                    <a:solidFill>
                      <a:srgbClr val="FFFFFF"/>
                    </a:solidFill>
                  </a:tcPr>
                </a:tc>
                <a:tc>
                  <a:txBody>
                    <a:bodyPr/>
                    <a:lstStyle/>
                    <a:p>
                      <a:r>
                        <a:rPr sz="950" b="0">
                          <a:solidFill>
                            <a:srgbClr val="595959"/>
                          </a:solidFill>
                          <a:latin typeface="Lato"/>
                        </a:rPr>
                        <a:t>Cycle de 30 secondes ou moins : 15 actions techniques ou plus</a:t>
                      </a:r>
                    </a:p>
                    <a:p>
                      <a:r>
                        <a:rPr sz="950" b="0">
                          <a:solidFill>
                            <a:srgbClr val="595959"/>
                          </a:solidFill>
                          <a:latin typeface="Lato"/>
                        </a:rPr>
                        <a:t>Cycle de plus de 30 secondes, variable ou absent : 30 actions techniques par minute ou plus</a:t>
                      </a:r>
                    </a:p>
                  </a:txBody>
                  <a:tcPr marL="64008" marR="64008" marT="18288" marB="18288" anchor="ctr">
                    <a:solidFill>
                      <a:srgbClr val="FFFFFF"/>
                    </a:solidFill>
                  </a:tcPr>
                </a:tc>
                <a:tc>
                  <a:txBody>
                    <a:bodyPr/>
                    <a:lstStyle/>
                    <a:p>
                      <a:pPr algn="ctr"/>
                      <a:r>
                        <a:rPr sz="1000" b="0">
                          <a:solidFill>
                            <a:srgbClr val="595959"/>
                          </a:solidFill>
                          <a:latin typeface="Lato"/>
                        </a:rPr>
                        <a:t>900 heures par an</a:t>
                      </a:r>
                    </a:p>
                  </a:txBody>
                  <a:tcPr marL="64008" marR="64008" marT="18288" marB="18288" anchor="ctr">
                    <a:solidFill>
                      <a:srgbClr val="FFFFFF"/>
                    </a:solidFill>
                  </a:tcPr>
                </a:tc>
                <a:tc>
                  <a:txBody>
                    <a:bodyPr/>
                    <a:lstStyle/>
                    <a:p>
                      <a:pPr algn="ctr"/>
                      <a:r>
                        <a:rPr sz="1000" b="1">
                          <a:solidFill>
                            <a:srgbClr val="075767"/>
                          </a:solidFill>
                          <a:latin typeface="Lato"/>
                        </a:rPr>
                        <a:t>4</a:t>
                      </a:r>
                    </a:p>
                  </a:txBody>
                  <a:tcPr marL="64008" marR="64008" marT="18288" marB="18288" anchor="ctr">
                    <a:solidFill>
                      <a:srgbClr val="FFFFFF"/>
                    </a:solidFill>
                  </a:tcPr>
                </a:tc>
                <a:extLst>
                  <a:ext uri="{0D108BD9-81ED-4DB2-BD59-A6C34878D82A}">
                    <a16:rowId xmlns:a16="http://schemas.microsoft.com/office/drawing/2014/main" val="10006"/>
                  </a:ext>
                </a:extLst>
              </a:tr>
              <a:tr h="438912">
                <a:tc>
                  <a:txBody>
                    <a:bodyPr/>
                    <a:lstStyle/>
                    <a:p>
                      <a:r>
                        <a:rPr sz="1050" b="1">
                          <a:solidFill>
                            <a:srgbClr val="FFFFFF"/>
                          </a:solidFill>
                          <a:latin typeface="Lato"/>
                        </a:rPr>
                        <a:t>Six facteurs au maximum, cumulés la même année</a:t>
                      </a:r>
                    </a:p>
                  </a:txBody>
                  <a:tcPr marL="64008" marR="64008" marT="18288" marB="18288" anchor="ctr">
                    <a:solidFill>
                      <a:srgbClr val="075767"/>
                    </a:solidFill>
                  </a:tcPr>
                </a:tc>
                <a:tc>
                  <a:txBody>
                    <a:bodyPr/>
                    <a:lstStyle/>
                    <a:p>
                      <a:endParaRPr/>
                    </a:p>
                  </a:txBody>
                  <a:tcPr marL="64008" marR="64008" marT="18288" marB="18288" anchor="ctr">
                    <a:solidFill>
                      <a:srgbClr val="075767"/>
                    </a:solidFill>
                  </a:tcPr>
                </a:tc>
                <a:tc>
                  <a:txBody>
                    <a:bodyPr/>
                    <a:lstStyle/>
                    <a:p>
                      <a:endParaRPr/>
                    </a:p>
                  </a:txBody>
                  <a:tcPr marL="64008" marR="64008" marT="18288" marB="18288" anchor="ctr">
                    <a:solidFill>
                      <a:srgbClr val="075767"/>
                    </a:solidFill>
                  </a:tcPr>
                </a:tc>
                <a:tc>
                  <a:txBody>
                    <a:bodyPr/>
                    <a:lstStyle/>
                    <a:p>
                      <a:endParaRPr/>
                    </a:p>
                  </a:txBody>
                  <a:tcPr marL="64008" marR="64008" marT="18288" marB="18288" anchor="ctr">
                    <a:solidFill>
                      <a:srgbClr val="075767"/>
                    </a:solidFill>
                  </a:tcPr>
                </a:tc>
                <a:tc>
                  <a:txBody>
                    <a:bodyPr/>
                    <a:lstStyle/>
                    <a:p>
                      <a:pPr algn="ctr"/>
                      <a:r>
                        <a:rPr sz="1300" b="1">
                          <a:solidFill>
                            <a:srgbClr val="FFFFFF"/>
                          </a:solidFill>
                          <a:latin typeface="Lato"/>
                        </a:rPr>
                        <a:t>24 points</a:t>
                      </a:r>
                    </a:p>
                  </a:txBody>
                  <a:tcPr marL="64008" marR="64008" marT="18288" marB="18288" anchor="ctr">
                    <a:solidFill>
                      <a:srgbClr val="075767"/>
                    </a:solidFill>
                  </a:tcPr>
                </a:tc>
                <a:extLst>
                  <a:ext uri="{0D108BD9-81ED-4DB2-BD59-A6C34878D82A}">
                    <a16:rowId xmlns:a16="http://schemas.microsoft.com/office/drawing/2014/main" val="10007"/>
                  </a:ext>
                </a:extLst>
              </a:tr>
              <a:tr h="402336">
                <a:tc>
                  <a:txBody>
                    <a:bodyPr/>
                    <a:lstStyle/>
                    <a:p>
                      <a:r>
                        <a:rPr sz="1000" b="1">
                          <a:solidFill>
                            <a:srgbClr val="C33F14"/>
                          </a:solidFill>
                          <a:latin typeface="Lato"/>
                        </a:rPr>
                        <a:t>Les quatre facteurs exclus</a:t>
                      </a:r>
                    </a:p>
                  </a:txBody>
                  <a:tcPr marL="64008" marR="64008" marT="18288" marB="18288" anchor="ctr">
                    <a:solidFill>
                      <a:srgbClr val="FFFFFF"/>
                    </a:solidFill>
                  </a:tcPr>
                </a:tc>
                <a:tc>
                  <a:txBody>
                    <a:bodyPr/>
                    <a:lstStyle/>
                    <a:p>
                      <a:pPr algn="ctr"/>
                      <a:r>
                        <a:rPr sz="850" b="0">
                          <a:solidFill>
                            <a:srgbClr val="45818D"/>
                          </a:solidFill>
                          <a:latin typeface="Lato"/>
                        </a:rPr>
                        <a:t>1° a, b, c</a:t>
                      </a:r>
                    </a:p>
                    <a:p>
                      <a:pPr algn="ctr"/>
                      <a:r>
                        <a:rPr sz="850" b="0">
                          <a:solidFill>
                            <a:srgbClr val="45818D"/>
                          </a:solidFill>
                          <a:latin typeface="Lato"/>
                        </a:rPr>
                        <a:t>et 2° a</a:t>
                      </a:r>
                    </a:p>
                  </a:txBody>
                  <a:tcPr marL="64008" marR="64008" marT="18288" marB="18288" anchor="ctr">
                    <a:solidFill>
                      <a:srgbClr val="FFFFFF"/>
                    </a:solidFill>
                  </a:tcPr>
                </a:tc>
                <a:tc>
                  <a:txBody>
                    <a:bodyPr/>
                    <a:lstStyle/>
                    <a:p>
                      <a:r>
                        <a:rPr sz="950" b="0">
                          <a:solidFill>
                            <a:srgbClr val="595959"/>
                          </a:solidFill>
                          <a:latin typeface="Lato"/>
                        </a:rPr>
                        <a:t>Manutentions manuelles de charges, postures pénibles, vibrations mécaniques, agents chimiques dangereux</a:t>
                      </a:r>
                    </a:p>
                  </a:txBody>
                  <a:tcPr marL="64008" marR="64008" marT="18288" marB="18288" anchor="ctr">
                    <a:solidFill>
                      <a:srgbClr val="FFFFFF"/>
                    </a:solidFill>
                  </a:tcPr>
                </a:tc>
                <a:tc>
                  <a:txBody>
                    <a:bodyPr/>
                    <a:lstStyle/>
                    <a:p>
                      <a:pPr algn="ctr"/>
                      <a:r>
                        <a:rPr sz="900" b="0">
                          <a:solidFill>
                            <a:srgbClr val="595959"/>
                          </a:solidFill>
                          <a:latin typeface="Lato"/>
                        </a:rPr>
                        <a:t>Restent au document unique</a:t>
                      </a:r>
                    </a:p>
                    <a:p>
                      <a:pPr algn="ctr"/>
                      <a:r>
                        <a:rPr sz="900" b="0">
                          <a:solidFill>
                            <a:srgbClr val="595959"/>
                          </a:solidFill>
                          <a:latin typeface="Lato"/>
                        </a:rPr>
                        <a:t>et à la déclaration</a:t>
                      </a:r>
                    </a:p>
                  </a:txBody>
                  <a:tcPr marL="64008" marR="64008" marT="18288" marB="18288" anchor="ctr">
                    <a:solidFill>
                      <a:srgbClr val="FFFFFF"/>
                    </a:solidFill>
                  </a:tcPr>
                </a:tc>
                <a:tc>
                  <a:txBody>
                    <a:bodyPr/>
                    <a:lstStyle/>
                    <a:p>
                      <a:pPr algn="ctr"/>
                      <a:r>
                        <a:rPr sz="1100" b="1">
                          <a:solidFill>
                            <a:srgbClr val="C33F14"/>
                          </a:solidFill>
                          <a:latin typeface="Lato"/>
                        </a:rPr>
                        <a:t>0 point</a:t>
                      </a:r>
                    </a:p>
                  </a:txBody>
                  <a:tcPr marL="64008" marR="64008" marT="18288" marB="18288" anchor="ct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Du seuil franchi au compte alimenté</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Shape 8"/>
          <p:cNvSpPr/>
          <p:nvPr/>
        </p:nvSpPr>
        <p:spPr>
          <a:xfrm>
            <a:off x="2057400" y="2743200"/>
            <a:ext cx="8076895" cy="0"/>
          </a:xfrm>
          <a:prstGeom prst="line">
            <a:avLst/>
          </a:prstGeom>
          <a:noFill/>
          <a:ln w="25400">
            <a:solidFill>
              <a:srgbClr val="C1D5D9"/>
            </a:solidFill>
            <a:prstDash val="solid"/>
          </a:ln>
        </p:spPr>
        <p:txBody>
          <a:bodyPr/>
          <a:lstStyle/>
          <a:p>
            <a:endParaRPr/>
          </a:p>
        </p:txBody>
      </p:sp>
      <p:grpSp>
        <p:nvGrpSpPr>
          <p:cNvPr id="9037" name="Bloc 1"/>
          <p:cNvGrpSpPr/>
          <p:nvPr/>
        </p:nvGrpSpPr>
        <p:grpSpPr>
          <a:xfrm>
            <a:off x="1691640" y="2377440"/>
            <a:ext cx="731520" cy="731520"/>
            <a:chOff x="1691640" y="2377440"/>
            <a:chExt cx="731520" cy="731520"/>
          </a:xfrm>
        </p:grpSpPr>
        <p:sp>
          <p:nvSpPr>
            <p:cNvPr id="11" name="Shape 9"/>
            <p:cNvSpPr/>
            <p:nvPr/>
          </p:nvSpPr>
          <p:spPr>
            <a:xfrm>
              <a:off x="1691640" y="2377440"/>
              <a:ext cx="731520" cy="731520"/>
            </a:xfrm>
            <a:prstGeom prst="ellipse">
              <a:avLst/>
            </a:prstGeom>
            <a:solidFill>
              <a:srgbClr val="075767"/>
            </a:solidFill>
            <a:ln w="38100">
              <a:solidFill>
                <a:srgbClr val="FFFFFF"/>
              </a:solidFill>
              <a:prstDash val="solid"/>
            </a:ln>
          </p:spPr>
          <p:txBody>
            <a:bodyPr/>
            <a:lstStyle/>
            <a:p>
              <a:endParaRPr/>
            </a:p>
          </p:txBody>
        </p:sp>
        <p:sp>
          <p:nvSpPr>
            <p:cNvPr id="12" name="Text 10"/>
            <p:cNvSpPr txBox="1"/>
            <p:nvPr/>
          </p:nvSpPr>
          <p:spPr>
            <a:xfrm>
              <a:off x="1691640"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1</a:t>
              </a:r>
              <a:endParaRPr lang="en-US" sz="1900" dirty="0"/>
            </a:p>
          </p:txBody>
        </p:sp>
      </p:grpSp>
      <p:sp>
        <p:nvSpPr>
          <p:cNvPr id="13" name="Text 11"/>
          <p:cNvSpPr txBox="1"/>
          <p:nvPr/>
        </p:nvSpPr>
        <p:spPr>
          <a:xfrm>
            <a:off x="777240"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Exposition</a:t>
            </a:r>
            <a:endParaRPr lang="en-US" sz="1550" dirty="0"/>
          </a:p>
        </p:txBody>
      </p:sp>
      <p:sp>
        <p:nvSpPr>
          <p:cNvPr id="14" name="Text 12"/>
          <p:cNvSpPr txBox="1"/>
          <p:nvPr/>
        </p:nvSpPr>
        <p:spPr>
          <a:xfrm>
            <a:off x="777240"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Le salarié franchit le seuil d'un facteur de risque</a:t>
            </a:r>
            <a:endParaRPr lang="en-US" sz="1150" dirty="0"/>
          </a:p>
        </p:txBody>
      </p:sp>
      <p:grpSp>
        <p:nvGrpSpPr>
          <p:cNvPr id="9038" name="Bloc 2"/>
          <p:cNvGrpSpPr/>
          <p:nvPr/>
        </p:nvGrpSpPr>
        <p:grpSpPr>
          <a:xfrm>
            <a:off x="4383938" y="2377440"/>
            <a:ext cx="731520" cy="731520"/>
            <a:chOff x="4383938" y="2377440"/>
            <a:chExt cx="731520" cy="731520"/>
          </a:xfrm>
        </p:grpSpPr>
        <p:sp>
          <p:nvSpPr>
            <p:cNvPr id="15" name="Shape 13"/>
            <p:cNvSpPr/>
            <p:nvPr/>
          </p:nvSpPr>
          <p:spPr>
            <a:xfrm>
              <a:off x="4383938" y="2377440"/>
              <a:ext cx="731520" cy="731520"/>
            </a:xfrm>
            <a:prstGeom prst="ellipse">
              <a:avLst/>
            </a:prstGeom>
            <a:solidFill>
              <a:srgbClr val="F06C23"/>
            </a:solidFill>
            <a:ln w="38100">
              <a:solidFill>
                <a:srgbClr val="FFFFFF"/>
              </a:solidFill>
              <a:prstDash val="solid"/>
            </a:ln>
          </p:spPr>
          <p:txBody>
            <a:bodyPr/>
            <a:lstStyle/>
            <a:p>
              <a:endParaRPr/>
            </a:p>
          </p:txBody>
        </p:sp>
        <p:sp>
          <p:nvSpPr>
            <p:cNvPr id="16" name="Text 14"/>
            <p:cNvSpPr txBox="1"/>
            <p:nvPr/>
          </p:nvSpPr>
          <p:spPr>
            <a:xfrm>
              <a:off x="4383938"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2</a:t>
              </a:r>
              <a:endParaRPr lang="en-US" sz="1900" dirty="0"/>
            </a:p>
          </p:txBody>
        </p:sp>
      </p:grpSp>
      <p:sp>
        <p:nvSpPr>
          <p:cNvPr id="17" name="Text 15"/>
          <p:cNvSpPr txBox="1"/>
          <p:nvPr/>
        </p:nvSpPr>
        <p:spPr>
          <a:xfrm>
            <a:off x="3469538"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Déclaration</a:t>
            </a:r>
            <a:endParaRPr lang="en-US" sz="1550" dirty="0"/>
          </a:p>
        </p:txBody>
      </p:sp>
      <p:sp>
        <p:nvSpPr>
          <p:cNvPr id="18" name="Text 16"/>
          <p:cNvSpPr txBox="1"/>
          <p:nvPr/>
        </p:nvSpPr>
        <p:spPr>
          <a:xfrm>
            <a:off x="3469538"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L'employeur déclare via la déclaration sociale nominative, une fois par an</a:t>
            </a:r>
            <a:endParaRPr lang="en-US" sz="1150" dirty="0"/>
          </a:p>
        </p:txBody>
      </p:sp>
      <p:grpSp>
        <p:nvGrpSpPr>
          <p:cNvPr id="9039" name="Bloc 3"/>
          <p:cNvGrpSpPr/>
          <p:nvPr/>
        </p:nvGrpSpPr>
        <p:grpSpPr>
          <a:xfrm>
            <a:off x="7076237" y="2377440"/>
            <a:ext cx="731520" cy="731520"/>
            <a:chOff x="7076237" y="2377440"/>
            <a:chExt cx="731520" cy="731520"/>
          </a:xfrm>
        </p:grpSpPr>
        <p:sp>
          <p:nvSpPr>
            <p:cNvPr id="19" name="Shape 17"/>
            <p:cNvSpPr/>
            <p:nvPr/>
          </p:nvSpPr>
          <p:spPr>
            <a:xfrm>
              <a:off x="7076237" y="2377440"/>
              <a:ext cx="731520" cy="731520"/>
            </a:xfrm>
            <a:prstGeom prst="ellipse">
              <a:avLst/>
            </a:prstGeom>
            <a:solidFill>
              <a:srgbClr val="075767"/>
            </a:solidFill>
            <a:ln w="38100">
              <a:solidFill>
                <a:srgbClr val="FFFFFF"/>
              </a:solidFill>
              <a:prstDash val="solid"/>
            </a:ln>
          </p:spPr>
          <p:txBody>
            <a:bodyPr/>
            <a:lstStyle/>
            <a:p>
              <a:endParaRPr/>
            </a:p>
          </p:txBody>
        </p:sp>
        <p:sp>
          <p:nvSpPr>
            <p:cNvPr id="20" name="Text 18"/>
            <p:cNvSpPr txBox="1"/>
            <p:nvPr/>
          </p:nvSpPr>
          <p:spPr>
            <a:xfrm>
              <a:off x="7076237"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3</a:t>
              </a:r>
              <a:endParaRPr lang="en-US" sz="1900" dirty="0"/>
            </a:p>
          </p:txBody>
        </p:sp>
      </p:grpSp>
      <p:sp>
        <p:nvSpPr>
          <p:cNvPr id="21" name="Text 19"/>
          <p:cNvSpPr txBox="1"/>
          <p:nvPr/>
        </p:nvSpPr>
        <p:spPr>
          <a:xfrm>
            <a:off x="6161837"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Ouverture</a:t>
            </a:r>
            <a:endParaRPr lang="en-US" sz="1550" dirty="0"/>
          </a:p>
        </p:txBody>
      </p:sp>
      <p:sp>
        <p:nvSpPr>
          <p:cNvPr id="22" name="Text 20"/>
          <p:cNvSpPr txBox="1"/>
          <p:nvPr/>
        </p:nvSpPr>
        <p:spPr>
          <a:xfrm>
            <a:off x="6161837"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Le compte professionnel de prévention est créé automatiquement</a:t>
            </a:r>
            <a:endParaRPr lang="en-US" sz="1150" dirty="0"/>
          </a:p>
        </p:txBody>
      </p:sp>
      <p:grpSp>
        <p:nvGrpSpPr>
          <p:cNvPr id="9040" name="Bloc 4"/>
          <p:cNvGrpSpPr/>
          <p:nvPr/>
        </p:nvGrpSpPr>
        <p:grpSpPr>
          <a:xfrm>
            <a:off x="9768535" y="2377440"/>
            <a:ext cx="731520" cy="731520"/>
            <a:chOff x="9768535" y="2377440"/>
            <a:chExt cx="731520" cy="731520"/>
          </a:xfrm>
        </p:grpSpPr>
        <p:sp>
          <p:nvSpPr>
            <p:cNvPr id="23" name="Shape 21"/>
            <p:cNvSpPr/>
            <p:nvPr/>
          </p:nvSpPr>
          <p:spPr>
            <a:xfrm>
              <a:off x="9768535" y="2377440"/>
              <a:ext cx="731520" cy="731520"/>
            </a:xfrm>
            <a:prstGeom prst="ellipse">
              <a:avLst/>
            </a:prstGeom>
            <a:solidFill>
              <a:srgbClr val="075767"/>
            </a:solidFill>
            <a:ln w="38100">
              <a:solidFill>
                <a:srgbClr val="FFFFFF"/>
              </a:solidFill>
              <a:prstDash val="solid"/>
            </a:ln>
          </p:spPr>
          <p:txBody>
            <a:bodyPr/>
            <a:lstStyle/>
            <a:p>
              <a:endParaRPr/>
            </a:p>
          </p:txBody>
        </p:sp>
        <p:sp>
          <p:nvSpPr>
            <p:cNvPr id="24" name="Text 22"/>
            <p:cNvSpPr txBox="1"/>
            <p:nvPr/>
          </p:nvSpPr>
          <p:spPr>
            <a:xfrm>
              <a:off x="9768535"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4</a:t>
              </a:r>
              <a:endParaRPr lang="en-US" sz="1900" dirty="0"/>
            </a:p>
          </p:txBody>
        </p:sp>
      </p:grpSp>
      <p:sp>
        <p:nvSpPr>
          <p:cNvPr id="25" name="Text 23"/>
          <p:cNvSpPr txBox="1"/>
          <p:nvPr/>
        </p:nvSpPr>
        <p:spPr>
          <a:xfrm>
            <a:off x="8854135"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Utilisation</a:t>
            </a:r>
            <a:endParaRPr lang="en-US" sz="1550" dirty="0"/>
          </a:p>
        </p:txBody>
      </p:sp>
      <p:sp>
        <p:nvSpPr>
          <p:cNvPr id="26" name="Text 24"/>
          <p:cNvSpPr txBox="1"/>
          <p:nvPr/>
        </p:nvSpPr>
        <p:spPr>
          <a:xfrm>
            <a:off x="8854135"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Formation, temps partiel compensé ou départ anticipé</a:t>
            </a:r>
            <a:endParaRPr lang="en-US" sz="1150" dirty="0"/>
          </a:p>
        </p:txBody>
      </p:sp>
      <p:grpSp>
        <p:nvGrpSpPr>
          <p:cNvPr id="9041" name="Bloc 14"/>
          <p:cNvGrpSpPr/>
          <p:nvPr/>
        </p:nvGrpSpPr>
        <p:grpSpPr>
          <a:xfrm>
            <a:off x="731520" y="5029200"/>
            <a:ext cx="10728655" cy="841248"/>
            <a:chOff x="731520" y="5029200"/>
            <a:chExt cx="10728655" cy="841248"/>
          </a:xfrm>
        </p:grpSpPr>
        <p:sp>
          <p:nvSpPr>
            <p:cNvPr id="27" name="Shape 25"/>
            <p:cNvSpPr/>
            <p:nvPr/>
          </p:nvSpPr>
          <p:spPr>
            <a:xfrm>
              <a:off x="731520" y="5029200"/>
              <a:ext cx="10728655" cy="841248"/>
            </a:xfrm>
            <a:prstGeom prst="roundRect">
              <a:avLst>
                <a:gd name="adj" fmla="val 6522"/>
              </a:avLst>
            </a:prstGeom>
            <a:solidFill>
              <a:srgbClr val="D7E8EB"/>
            </a:solidFill>
            <a:ln/>
          </p:spPr>
          <p:txBody>
            <a:bodyPr/>
            <a:lstStyle/>
            <a:p>
              <a:endParaRPr/>
            </a:p>
          </p:txBody>
        </p:sp>
        <p:sp>
          <p:nvSpPr>
            <p:cNvPr id="28" name="Text 26"/>
            <p:cNvSpPr txBox="1"/>
            <p:nvPr/>
          </p:nvSpPr>
          <p:spPr>
            <a:xfrm>
              <a:off x="1024128" y="50292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Les conditions   </a:t>
              </a:r>
              <a:r>
                <a:rPr lang="en-US" sz="1300" dirty="0">
                  <a:solidFill>
                    <a:srgbClr val="075767"/>
                  </a:solidFill>
                  <a:latin typeface="Lato" pitchFamily="34" charset="0"/>
                  <a:ea typeface="Lato" pitchFamily="34" charset="-122"/>
                  <a:cs typeface="Lato" pitchFamily="34" charset="-120"/>
                </a:rPr>
                <a:t>secteur privé, régime général, contrat d'au moins un mois, exposition au-delà d'au moins un seuil.</a:t>
              </a:r>
              <a:endParaRPr lang="en-US" sz="1250" dirty="0"/>
            </a:p>
          </p:txBody>
        </p:sp>
      </p:grpSp>
      <p:pic>
        <p:nvPicPr>
          <p:cNvPr id="29"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30" name="Text 27"/>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31" name="Shape 28"/>
          <p:cNvSpPr/>
          <p:nvPr/>
        </p:nvSpPr>
        <p:spPr>
          <a:xfrm>
            <a:off x="10591495" y="6181344"/>
            <a:ext cx="438912" cy="438912"/>
          </a:xfrm>
          <a:prstGeom prst="ellipse">
            <a:avLst/>
          </a:prstGeom>
          <a:solidFill>
            <a:srgbClr val="F06C23"/>
          </a:solidFill>
          <a:ln/>
        </p:spPr>
        <p:txBody>
          <a:bodyPr/>
          <a:lstStyle/>
          <a:p>
            <a:endParaRPr/>
          </a:p>
        </p:txBody>
      </p:sp>
      <p:sp>
        <p:nvSpPr>
          <p:cNvPr id="32" name="Text 29"/>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33" name="Text 30"/>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37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37"/>
                                        </p:tgtEl>
                                        <p:attrNameLst>
                                          <p:attrName>style.visibility</p:attrName>
                                        </p:attrNameLst>
                                      </p:cBhvr>
                                      <p:to>
                                        <p:strVal val="visible"/>
                                      </p:to>
                                    </p:set>
                                    <p:animEffect transition="in" filter="fade">
                                      <p:cBhvr>
                                        <p:cTn id="7" dur="450"/>
                                        <p:tgtEl>
                                          <p:spTgt spid="90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38"/>
                                        </p:tgtEl>
                                        <p:attrNameLst>
                                          <p:attrName>style.visibility</p:attrName>
                                        </p:attrNameLst>
                                      </p:cBhvr>
                                      <p:to>
                                        <p:strVal val="visible"/>
                                      </p:to>
                                    </p:set>
                                    <p:animEffect transition="in" filter="fade">
                                      <p:cBhvr>
                                        <p:cTn id="12" dur="450"/>
                                        <p:tgtEl>
                                          <p:spTgt spid="90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39"/>
                                        </p:tgtEl>
                                        <p:attrNameLst>
                                          <p:attrName>style.visibility</p:attrName>
                                        </p:attrNameLst>
                                      </p:cBhvr>
                                      <p:to>
                                        <p:strVal val="visible"/>
                                      </p:to>
                                    </p:set>
                                    <p:animEffect transition="in" filter="fade">
                                      <p:cBhvr>
                                        <p:cTn id="17" dur="450"/>
                                        <p:tgtEl>
                                          <p:spTgt spid="90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40"/>
                                        </p:tgtEl>
                                        <p:attrNameLst>
                                          <p:attrName>style.visibility</p:attrName>
                                        </p:attrNameLst>
                                      </p:cBhvr>
                                      <p:to>
                                        <p:strVal val="visible"/>
                                      </p:to>
                                    </p:set>
                                    <p:animEffect transition="in" filter="fade">
                                      <p:cBhvr>
                                        <p:cTn id="22" dur="450"/>
                                        <p:tgtEl>
                                          <p:spTgt spid="90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5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5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45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9041"/>
                                        </p:tgtEl>
                                        <p:attrNameLst>
                                          <p:attrName>style.visibility</p:attrName>
                                        </p:attrNameLst>
                                      </p:cBhvr>
                                      <p:to>
                                        <p:strVal val="visible"/>
                                      </p:to>
                                    </p:set>
                                    <p:animEffect transition="in" filter="fade">
                                      <p:cBhvr>
                                        <p:cTn id="72" dur="450"/>
                                        <p:tgtEl>
                                          <p:spTgt spid="9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500" b="1" kern="0" spc="-150" dirty="0">
                <a:solidFill>
                  <a:srgbClr val="075767"/>
                </a:solidFill>
                <a:latin typeface="Lato" pitchFamily="34" charset="0"/>
                <a:ea typeface="Lato" pitchFamily="34" charset="-122"/>
                <a:cs typeface="Lato" pitchFamily="34" charset="-120"/>
              </a:rPr>
              <a:t>Le compte professionnel de prévention : les points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Un système de points acquis chaque année en fonction du nombre de facteurs de risque.</a:t>
            </a:r>
            <a:endParaRPr lang="en-US" sz="1450" dirty="0"/>
          </a:p>
        </p:txBody>
      </p:sp>
      <p:sp>
        <p:nvSpPr>
          <p:cNvPr id="11" name="Text 9"/>
          <p:cNvSpPr txBox="1"/>
          <p:nvPr/>
        </p:nvSpPr>
        <p:spPr>
          <a:xfrm>
            <a:off x="731520" y="2487168"/>
            <a:ext cx="6035040"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4 points par an et par facteur de risque, doublés pour les salariés nés avant 1956</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Pour un contrat de moins d'un an : comptabilisation par trimestre, 1 point par facteur</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Exemple : salarié présent du 1ᵉʳ janvier au 30 juin, exposé à 3 facteurs → 2 trimestres × 3 points = 6 points</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Aucun plafonnement du nombre de points</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Exemple : travail de nuit et exposition au bruit pendant 20 ans → 160 points</a:t>
            </a:r>
            <a:endParaRPr lang="en-US" sz="1400" dirty="0"/>
          </a:p>
        </p:txBody>
      </p:sp>
      <p:grpSp>
        <p:nvGrpSpPr>
          <p:cNvPr id="9042" name="Bloc 2"/>
          <p:cNvGrpSpPr/>
          <p:nvPr/>
        </p:nvGrpSpPr>
        <p:grpSpPr>
          <a:xfrm>
            <a:off x="7223760" y="1828800"/>
            <a:ext cx="4334256" cy="3282696"/>
            <a:chOff x="7223760" y="1828800"/>
            <a:chExt cx="4334256" cy="3282696"/>
          </a:xfrm>
        </p:grpSpPr>
        <p:sp>
          <p:nvSpPr>
            <p:cNvPr id="19" name="Rounded Rectangle 18"/>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09.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sp>
        <p:nvSpPr>
          <p:cNvPr id="13" name="Text 10"/>
          <p:cNvSpPr txBox="1"/>
          <p:nvPr/>
        </p:nvSpPr>
        <p:spPr>
          <a:xfrm>
            <a:off x="7223760" y="5056632"/>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Le compte suit le salarié, pas le poste : il est conservé en cas de changement d'entreprise.</a:t>
            </a:r>
            <a:endParaRPr lang="en-US" sz="950" dirty="0"/>
          </a:p>
        </p:txBody>
      </p:sp>
      <p:pic>
        <p:nvPicPr>
          <p:cNvPr id="14"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5"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2"/>
          <p:cNvSpPr/>
          <p:nvPr/>
        </p:nvSpPr>
        <p:spPr>
          <a:xfrm>
            <a:off x="10591495" y="6181344"/>
            <a:ext cx="438912" cy="438912"/>
          </a:xfrm>
          <a:prstGeom prst="ellipse">
            <a:avLst/>
          </a:prstGeom>
          <a:solidFill>
            <a:srgbClr val="F06C23"/>
          </a:solidFill>
          <a:ln/>
        </p:spPr>
        <p:txBody>
          <a:bodyPr/>
          <a:lstStyle/>
          <a:p>
            <a:endParaRPr/>
          </a:p>
        </p:txBody>
      </p:sp>
      <p:sp>
        <p:nvSpPr>
          <p:cNvPr id="17"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8"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38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42"/>
                                        </p:tgtEl>
                                        <p:attrNameLst>
                                          <p:attrName>style.visibility</p:attrName>
                                        </p:attrNameLst>
                                      </p:cBhvr>
                                      <p:to>
                                        <p:strVal val="visible"/>
                                      </p:to>
                                    </p:set>
                                    <p:animEffect transition="in" filter="fade">
                                      <p:cBhvr>
                                        <p:cTn id="12" dur="450"/>
                                        <p:tgtEl>
                                          <p:spTgt spid="90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Trois usages, trois objectifs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grpSp>
        <p:nvGrpSpPr>
          <p:cNvPr id="9043" name="Bloc 1"/>
          <p:cNvGrpSpPr/>
          <p:nvPr/>
        </p:nvGrpSpPr>
        <p:grpSpPr>
          <a:xfrm>
            <a:off x="731520" y="1965960"/>
            <a:ext cx="3332378" cy="3108960"/>
            <a:chOff x="731520" y="1965960"/>
            <a:chExt cx="3332378" cy="3108960"/>
          </a:xfrm>
        </p:grpSpPr>
        <p:sp>
          <p:nvSpPr>
            <p:cNvPr id="10" name="Shape 8"/>
            <p:cNvSpPr/>
            <p:nvPr/>
          </p:nvSpPr>
          <p:spPr>
            <a:xfrm>
              <a:off x="731520" y="1965960"/>
              <a:ext cx="3332378" cy="3108960"/>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document-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Se former</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1 point = 500 € sur le compte personnel de formation. Objectif : accéder à un emploi moins exposé.</a:t>
              </a:r>
              <a:endParaRPr lang="en-US" sz="1250" dirty="0"/>
            </a:p>
          </p:txBody>
        </p:sp>
      </p:grpSp>
      <p:grpSp>
        <p:nvGrpSpPr>
          <p:cNvPr id="9044"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horloge-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Travailler moins</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10 points = 4 mois à mi-temps avec maintien de salaire, ou 10 mois à 80 %. Objectif : réduire l'exposition.</a:t>
              </a:r>
              <a:endParaRPr lang="en-US" sz="1250" dirty="0"/>
            </a:p>
          </p:txBody>
        </p:sp>
      </p:grpSp>
      <p:grpSp>
        <p:nvGrpSpPr>
          <p:cNvPr id="9045" name="Bloc 3"/>
          <p:cNvGrpSpPr/>
          <p:nvPr/>
        </p:nvGrpSpPr>
        <p:grpSpPr>
          <a:xfrm>
            <a:off x="8127797" y="1965960"/>
            <a:ext cx="3332378" cy="3108960"/>
            <a:chOff x="8127797" y="1965960"/>
            <a:chExt cx="3332378" cy="3108960"/>
          </a:xfrm>
        </p:grpSpPr>
        <p:sp>
          <p:nvSpPr>
            <p:cNvPr id="20" name="Shape 16"/>
            <p:cNvSpPr/>
            <p:nvPr/>
          </p:nvSpPr>
          <p:spPr>
            <a:xfrm>
              <a:off x="8127797" y="1965960"/>
              <a:ext cx="3332378" cy="3108960"/>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valide-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Partir plus tôt</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10 points = 1 trimestre de majoration d'assurance vieillesse, jusqu'à 2 ans d'anticipation.</a:t>
              </a:r>
              <a:endParaRPr lang="en-US" sz="1250" dirty="0"/>
            </a:p>
          </p:txBody>
        </p:sp>
      </p:grpSp>
      <p:grpSp>
        <p:nvGrpSpPr>
          <p:cNvPr id="9046" name="Bloc 4"/>
          <p:cNvGrpSpPr/>
          <p:nvPr/>
        </p:nvGrpSpPr>
        <p:grpSpPr>
          <a:xfrm>
            <a:off x="731520" y="5257800"/>
            <a:ext cx="10728655" cy="841248"/>
            <a:chOff x="731520" y="5257800"/>
            <a:chExt cx="10728655" cy="841248"/>
          </a:xfrm>
        </p:grpSpPr>
        <p:sp>
          <p:nvSpPr>
            <p:cNvPr id="25" name="Shape 20"/>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26" name="Text 21"/>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Deux exemples   </a:t>
              </a:r>
              <a:r>
                <a:rPr lang="en-US" sz="1300" dirty="0">
                  <a:solidFill>
                    <a:srgbClr val="075767"/>
                  </a:solidFill>
                  <a:latin typeface="Lato" pitchFamily="34" charset="0"/>
                  <a:ea typeface="Lato" pitchFamily="34" charset="-122"/>
                  <a:cs typeface="Lato" pitchFamily="34" charset="-120"/>
                </a:rPr>
                <a:t>40 points permettent un an à mi-temps compensé ; 80 points permettent de partir deux ans avant l'âge légal.</a:t>
              </a:r>
              <a:endParaRPr lang="en-US" sz="1250" dirty="0"/>
            </a:p>
          </p:txBody>
        </p:sp>
      </p:grpSp>
      <p:pic>
        <p:nvPicPr>
          <p:cNvPr id="27"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8"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9" name="Shape 23"/>
          <p:cNvSpPr/>
          <p:nvPr/>
        </p:nvSpPr>
        <p:spPr>
          <a:xfrm>
            <a:off x="10591495" y="6181344"/>
            <a:ext cx="438912" cy="438912"/>
          </a:xfrm>
          <a:prstGeom prst="ellipse">
            <a:avLst/>
          </a:prstGeom>
          <a:solidFill>
            <a:srgbClr val="F06C23"/>
          </a:solidFill>
          <a:ln/>
        </p:spPr>
        <p:txBody>
          <a:bodyPr/>
          <a:lstStyle/>
          <a:p>
            <a:endParaRPr/>
          </a:p>
        </p:txBody>
      </p:sp>
      <p:sp>
        <p:nvSpPr>
          <p:cNvPr id="30"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31"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39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43"/>
                                        </p:tgtEl>
                                        <p:attrNameLst>
                                          <p:attrName>style.visibility</p:attrName>
                                        </p:attrNameLst>
                                      </p:cBhvr>
                                      <p:to>
                                        <p:strVal val="visible"/>
                                      </p:to>
                                    </p:set>
                                    <p:animEffect transition="in" filter="fade">
                                      <p:cBhvr>
                                        <p:cTn id="7" dur="450"/>
                                        <p:tgtEl>
                                          <p:spTgt spid="90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44"/>
                                        </p:tgtEl>
                                        <p:attrNameLst>
                                          <p:attrName>style.visibility</p:attrName>
                                        </p:attrNameLst>
                                      </p:cBhvr>
                                      <p:to>
                                        <p:strVal val="visible"/>
                                      </p:to>
                                    </p:set>
                                    <p:animEffect transition="in" filter="fade">
                                      <p:cBhvr>
                                        <p:cTn id="12" dur="450"/>
                                        <p:tgtEl>
                                          <p:spTgt spid="90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45"/>
                                        </p:tgtEl>
                                        <p:attrNameLst>
                                          <p:attrName>style.visibility</p:attrName>
                                        </p:attrNameLst>
                                      </p:cBhvr>
                                      <p:to>
                                        <p:strVal val="visible"/>
                                      </p:to>
                                    </p:set>
                                    <p:animEffect transition="in" filter="fade">
                                      <p:cBhvr>
                                        <p:cTn id="17" dur="450"/>
                                        <p:tgtEl>
                                          <p:spTgt spid="90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46"/>
                                        </p:tgtEl>
                                        <p:attrNameLst>
                                          <p:attrName>style.visibility</p:attrName>
                                        </p:attrNameLst>
                                      </p:cBhvr>
                                      <p:to>
                                        <p:strVal val="visible"/>
                                      </p:to>
                                    </p:set>
                                    <p:animEffect transition="in" filter="fade">
                                      <p:cBhvr>
                                        <p:cTn id="22" dur="450"/>
                                        <p:tgtEl>
                                          <p:spTgt spid="9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500" b="1" kern="0" spc="-150" dirty="0">
                <a:solidFill>
                  <a:srgbClr val="075767"/>
                </a:solidFill>
                <a:latin typeface="Lato" pitchFamily="34" charset="0"/>
                <a:ea typeface="Lato" pitchFamily="34" charset="-122"/>
                <a:cs typeface="Lato" pitchFamily="34" charset="-120"/>
              </a:rPr>
              <a:t>Le fonds de prévention de l'usure professionnelle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Du CSE à la CSSCT</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Un milliard d'euros sur cinq ans pour financer des actions d'employeurs.</a:t>
            </a:r>
            <a:endParaRPr lang="en-US" sz="1450" dirty="0"/>
          </a:p>
        </p:txBody>
      </p:sp>
      <p:sp>
        <p:nvSpPr>
          <p:cNvPr id="11" name="Text 9"/>
          <p:cNvSpPr txBox="1"/>
          <p:nvPr/>
        </p:nvSpPr>
        <p:spPr>
          <a:xfrm>
            <a:off x="731520" y="2487168"/>
            <a:ext cx="10728655" cy="231343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Des actions de sensibilisation et de prévention</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Des actions de formation : celles éligibles au compte personnel de formation</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Des actions de reconversion et de prévention de la désinsertion professionnelle</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Pour les salariés « particulièrement exposés » aux facteurs de risques professionnels</a:t>
            </a:r>
            <a:endParaRPr lang="en-US" sz="1400" dirty="0"/>
          </a:p>
        </p:txBody>
      </p:sp>
      <p:grpSp>
        <p:nvGrpSpPr>
          <p:cNvPr id="9047" name="Bloc 3"/>
          <p:cNvGrpSpPr/>
          <p:nvPr/>
        </p:nvGrpSpPr>
        <p:grpSpPr>
          <a:xfrm>
            <a:off x="731520" y="4956048"/>
            <a:ext cx="10728655" cy="841248"/>
            <a:chOff x="731520" y="4956048"/>
            <a:chExt cx="10728655" cy="841248"/>
          </a:xfrm>
        </p:grpSpPr>
        <p:sp>
          <p:nvSpPr>
            <p:cNvPr id="12" name="Shape 10"/>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levier CSE   </a:t>
              </a:r>
              <a:r>
                <a:rPr lang="en-US" sz="1300" dirty="0">
                  <a:solidFill>
                    <a:srgbClr val="075767"/>
                  </a:solidFill>
                  <a:latin typeface="Lato" pitchFamily="34" charset="0"/>
                  <a:ea typeface="Lato" pitchFamily="34" charset="-122"/>
                  <a:cs typeface="Lato" pitchFamily="34" charset="-120"/>
                </a:rPr>
                <a:t>demander en réunion si l'entreprise a déposé un dossier. C'est un financement, pas une charge, l'argument porte.</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02</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40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47"/>
                                        </p:tgtEl>
                                        <p:attrNameLst>
                                          <p:attrName>style.visibility</p:attrName>
                                        </p:attrNameLst>
                                      </p:cBhvr>
                                      <p:to>
                                        <p:strVal val="visible"/>
                                      </p:to>
                                    </p:set>
                                    <p:animEffect transition="in" filter="fade">
                                      <p:cBhvr>
                                        <p:cTn id="17" dur="450"/>
                                        <p:tgtEl>
                                          <p:spTgt spid="90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name="Slide 34">
    <p:bg>
      <p:bgPr>
        <a:solidFill>
          <a:srgbClr val="075767"/>
        </a:solidFill>
        <a:effectLst/>
      </p:bgPr>
    </p:bg>
    <p:spTree>
      <p:nvGrpSpPr>
        <p:cNvPr id="1" name=""/>
        <p:cNvGrpSpPr/>
        <p:nvPr/>
      </p:nvGrpSpPr>
      <p:grpSpPr>
        <a:xfrm>
          <a:off x="0" y="0"/>
          <a:ext cx="0" cy="0"/>
          <a:chOff x="0" y="0"/>
          <a:chExt cx="0" cy="0"/>
        </a:xfrm>
      </p:grpSpPr>
      <p:sp>
        <p:nvSpPr>
          <p:cNvPr id="2" name="Shape 0"/>
          <p:cNvSpPr/>
          <p:nvPr/>
        </p:nvSpPr>
        <p:spPr>
          <a:xfrm rot="420000">
            <a:off x="5760720" y="-3749040"/>
            <a:ext cx="10972800" cy="8229600"/>
          </a:xfrm>
          <a:prstGeom prst="ellipse">
            <a:avLst/>
          </a:prstGeom>
          <a:solidFill>
            <a:srgbClr val="0A6C78"/>
          </a:solidFill>
          <a:ln/>
        </p:spPr>
        <p:txBody>
          <a:bodyPr/>
          <a:lstStyle/>
          <a:p>
            <a:endParaRPr/>
          </a:p>
        </p:txBody>
      </p:sp>
      <p:sp>
        <p:nvSpPr>
          <p:cNvPr id="3" name="Shape 1"/>
          <p:cNvSpPr/>
          <p:nvPr/>
        </p:nvSpPr>
        <p:spPr>
          <a:xfrm>
            <a:off x="868680" y="5788152"/>
            <a:ext cx="274320" cy="274320"/>
          </a:xfrm>
          <a:prstGeom prst="ellipse">
            <a:avLst/>
          </a:prstGeom>
          <a:solidFill>
            <a:srgbClr val="F06C23"/>
          </a:solidFill>
          <a:ln/>
        </p:spPr>
        <p:txBody>
          <a:bodyPr/>
          <a:lstStyle/>
          <a:p>
            <a:endParaRPr/>
          </a:p>
        </p:txBody>
      </p:sp>
      <p:sp>
        <p:nvSpPr>
          <p:cNvPr id="4" name="Shape 2"/>
          <p:cNvSpPr/>
          <p:nvPr/>
        </p:nvSpPr>
        <p:spPr>
          <a:xfrm>
            <a:off x="1353312" y="5943600"/>
            <a:ext cx="146304" cy="146304"/>
          </a:xfrm>
          <a:prstGeom prst="ellipse">
            <a:avLst/>
          </a:prstGeom>
          <a:solidFill>
            <a:srgbClr val="C1D5D9"/>
          </a:solidFill>
          <a:ln/>
        </p:spPr>
        <p:txBody>
          <a:bodyPr/>
          <a:lstStyle/>
          <a:p>
            <a:endParaRPr/>
          </a:p>
        </p:txBody>
      </p:sp>
      <p:sp>
        <p:nvSpPr>
          <p:cNvPr id="5" name="Shape 3"/>
          <p:cNvSpPr/>
          <p:nvPr/>
        </p:nvSpPr>
        <p:spPr>
          <a:xfrm>
            <a:off x="1645920" y="5650992"/>
            <a:ext cx="100584" cy="100584"/>
          </a:xfrm>
          <a:prstGeom prst="ellipse">
            <a:avLst/>
          </a:prstGeom>
          <a:solidFill>
            <a:srgbClr val="C1D5D9"/>
          </a:solidFill>
          <a:ln/>
        </p:spPr>
        <p:txBody>
          <a:bodyPr/>
          <a:lstStyle/>
          <a:p>
            <a:endParaRPr/>
          </a:p>
        </p:txBody>
      </p:sp>
      <p:sp>
        <p:nvSpPr>
          <p:cNvPr id="6" name="Text 4"/>
          <p:cNvSpPr txBox="1"/>
          <p:nvPr/>
        </p:nvSpPr>
        <p:spPr>
          <a:xfrm>
            <a:off x="822960" y="1325880"/>
            <a:ext cx="2377440" cy="1691640"/>
          </a:xfrm>
          <a:prstGeom prst="rect">
            <a:avLst/>
          </a:prstGeom>
          <a:noFill/>
          <a:ln/>
        </p:spPr>
        <p:txBody>
          <a:bodyPr wrap="square" lIns="0" tIns="0" rIns="0" bIns="0" rtlCol="0" anchor="t"/>
          <a:lstStyle/>
          <a:p>
            <a:pPr marL="0" indent="0">
              <a:buNone/>
            </a:pPr>
            <a:r>
              <a:rPr lang="en-US" sz="9600" b="1" kern="0" spc="-300" dirty="0">
                <a:solidFill>
                  <a:srgbClr val="F58B60"/>
                </a:solidFill>
                <a:latin typeface="Lato" pitchFamily="34" charset="0"/>
                <a:ea typeface="Lato" pitchFamily="34" charset="-122"/>
                <a:cs typeface="Lato" pitchFamily="34" charset="-120"/>
              </a:rPr>
              <a:t>03</a:t>
            </a:r>
            <a:endParaRPr lang="en-US" sz="9600" dirty="0"/>
          </a:p>
        </p:txBody>
      </p:sp>
      <p:sp>
        <p:nvSpPr>
          <p:cNvPr id="7" name="Text 5"/>
          <p:cNvSpPr txBox="1"/>
          <p:nvPr/>
        </p:nvSpPr>
        <p:spPr>
          <a:xfrm>
            <a:off x="868680" y="3017520"/>
            <a:ext cx="5303520" cy="1536192"/>
          </a:xfrm>
          <a:prstGeom prst="rect">
            <a:avLst/>
          </a:prstGeom>
          <a:noFill/>
          <a:ln/>
        </p:spPr>
        <p:txBody>
          <a:bodyPr wrap="square" lIns="0" tIns="0" rIns="0" bIns="0" rtlCol="0" anchor="t"/>
          <a:lstStyle/>
          <a:p>
            <a:pPr marL="0" indent="0">
              <a:buNone/>
            </a:pPr>
            <a:r>
              <a:rPr lang="en-US" sz="3400" b="1" kern="0" spc="-150" dirty="0">
                <a:solidFill>
                  <a:srgbClr val="FFFFFF"/>
                </a:solidFill>
                <a:latin typeface="Lato" pitchFamily="34" charset="0"/>
                <a:ea typeface="Lato" pitchFamily="34" charset="-122"/>
                <a:cs typeface="Lato" pitchFamily="34" charset="-120"/>
              </a:rPr>
              <a:t>La réglementation</a:t>
            </a:r>
            <a:endParaRPr lang="en-US" sz="3400" dirty="0"/>
          </a:p>
          <a:p>
            <a:pPr marL="0" indent="0">
              <a:buNone/>
            </a:pPr>
            <a:r>
              <a:rPr lang="en-US" sz="3400" b="1" kern="0" spc="-150" dirty="0">
                <a:solidFill>
                  <a:srgbClr val="FFFFFF"/>
                </a:solidFill>
                <a:latin typeface="Lato" pitchFamily="34" charset="0"/>
                <a:ea typeface="Lato" pitchFamily="34" charset="-122"/>
                <a:cs typeface="Lato" pitchFamily="34" charset="-120"/>
              </a:rPr>
              <a:t>SSCT</a:t>
            </a:r>
            <a:endParaRPr lang="en-US" sz="3400" dirty="0"/>
          </a:p>
        </p:txBody>
      </p:sp>
      <p:sp>
        <p:nvSpPr>
          <p:cNvPr id="8" name="Text 6"/>
          <p:cNvSpPr txBox="1"/>
          <p:nvPr/>
        </p:nvSpPr>
        <p:spPr>
          <a:xfrm>
            <a:off x="868680" y="4023360"/>
            <a:ext cx="5029200" cy="914400"/>
          </a:xfrm>
          <a:prstGeom prst="rect">
            <a:avLst/>
          </a:prstGeom>
          <a:noFill/>
          <a:ln/>
        </p:spPr>
        <p:txBody>
          <a:bodyPr wrap="square" lIns="0" tIns="0" rIns="0" bIns="0" rtlCol="0" anchor="t"/>
          <a:lstStyle/>
          <a:p>
            <a:pPr marL="0" indent="0">
              <a:lnSpc>
                <a:spcPct val="115000"/>
              </a:lnSpc>
              <a:buNone/>
            </a:pPr>
            <a:r>
              <a:rPr lang="en-US" sz="1500" dirty="0">
                <a:solidFill>
                  <a:srgbClr val="C1D5D9"/>
                </a:solidFill>
                <a:latin typeface="Lato" pitchFamily="34" charset="0"/>
                <a:ea typeface="Lato" pitchFamily="34" charset="-122"/>
                <a:cs typeface="Lato" pitchFamily="34" charset="-120"/>
              </a:rPr>
              <a:t>Ce que la loi impose à l'employeur, ce que le juge en a fait, et où se situe l'élu.</a:t>
            </a:r>
            <a:endParaRPr lang="en-US" sz="1500" dirty="0"/>
          </a:p>
        </p:txBody>
      </p:sp>
      <p:sp>
        <p:nvSpPr>
          <p:cNvPr id="12" name="Rounded Rectangle 11"/>
          <p:cNvSpPr/>
          <p:nvPr/>
        </p:nvSpPr>
        <p:spPr>
          <a:xfrm>
            <a:off x="6711696" y="1316736"/>
            <a:ext cx="4892040" cy="448056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mage 0" descr="/home/claude/tmo/build/photos/p10.jpg"/>
          <p:cNvPicPr>
            <a:picLocks noChangeAspect="1"/>
          </p:cNvPicPr>
          <p:nvPr/>
        </p:nvPicPr>
        <p:blipFill>
          <a:blip r:embed="rId3"/>
          <a:srcRect/>
          <a:stretch/>
        </p:blipFill>
        <p:spPr>
          <a:xfrm>
            <a:off x="6583680" y="1188720"/>
            <a:ext cx="4892040" cy="4480560"/>
          </a:xfrm>
          <a:prstGeom prst="roundRect">
            <a:avLst>
              <a:gd name="adj" fmla="val 2200"/>
            </a:avLst>
          </a:prstGeom>
          <a:effectLst>
            <a:outerShdw blurRad="190500" dist="38100" dir="5400000" rotWithShape="0">
              <a:srgbClr val="075767">
                <a:alpha val="22000"/>
              </a:srgbClr>
            </a:outerShdw>
            <a:softEdge rad="32004"/>
          </a:effectLst>
        </p:spPr>
      </p:pic>
      <p:sp>
        <p:nvSpPr>
          <p:cNvPr id="10" name="Shape 7"/>
          <p:cNvSpPr/>
          <p:nvPr/>
        </p:nvSpPr>
        <p:spPr>
          <a:xfrm>
            <a:off x="10929823" y="6071616"/>
            <a:ext cx="603504" cy="603504"/>
          </a:xfrm>
          <a:prstGeom prst="ellipse">
            <a:avLst/>
          </a:prstGeom>
          <a:solidFill>
            <a:srgbClr val="FFFFFF"/>
          </a:solidFill>
          <a:ln/>
        </p:spPr>
        <p:txBody>
          <a:bodyPr/>
          <a:lstStyle/>
          <a:p>
            <a:endParaRPr/>
          </a:p>
        </p:txBody>
      </p:sp>
      <p:pic>
        <p:nvPicPr>
          <p:cNvPr id="11" name="Image 1" descr="/home/claude/tmo/build/logo.png"/>
          <p:cNvPicPr>
            <a:picLocks noChangeAspect="1"/>
          </p:cNvPicPr>
          <p:nvPr/>
        </p:nvPicPr>
        <p:blipFill>
          <a:blip r:embed="rId4"/>
          <a:stretch>
            <a:fillRect/>
          </a:stretch>
        </p:blipFill>
        <p:spPr>
          <a:xfrm>
            <a:off x="10957255" y="6099048"/>
            <a:ext cx="548640" cy="548640"/>
          </a:xfrm>
          <a:prstGeom prst="rect">
            <a:avLst/>
          </a:prstGeom>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Deux responsabilités distinctes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La responsabilité pénale</a:t>
            </a:r>
            <a:endParaRPr lang="en-US" sz="1700" dirty="0"/>
          </a:p>
        </p:txBody>
      </p:sp>
      <p:sp>
        <p:nvSpPr>
          <p:cNvPr id="11" name="Text 9"/>
          <p:cNvSpPr txBox="1"/>
          <p:nvPr/>
        </p:nvSpPr>
        <p:spPr>
          <a:xfrm>
            <a:off x="73152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Répondre en justice du dommage causé</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Sanction : amende et, selon les cas, emprisonnement</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Engagée à titre personnel</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Non assurable</a:t>
            </a:r>
            <a:endParaRPr lang="en-US" sz="1350" dirty="0"/>
          </a:p>
        </p:txBody>
      </p:sp>
      <p:sp>
        <p:nvSpPr>
          <p:cNvPr id="12" name="Text 10"/>
          <p:cNvSpPr txBox="1"/>
          <p:nvPr/>
        </p:nvSpPr>
        <p:spPr>
          <a:xfrm>
            <a:off x="630936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La responsabilité civile</a:t>
            </a:r>
            <a:endParaRPr lang="en-US" sz="1700" dirty="0"/>
          </a:p>
        </p:txBody>
      </p:sp>
      <p:sp>
        <p:nvSpPr>
          <p:cNvPr id="13" name="Text 11"/>
          <p:cNvSpPr txBox="1"/>
          <p:nvPr/>
        </p:nvSpPr>
        <p:spPr>
          <a:xfrm>
            <a:off x="630936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Obligation de réparer le préjudice causé à autrui</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Sanction : dommages et intérêts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Engagée le plus souvent par l'entreprise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Assurable</a:t>
            </a:r>
            <a:endParaRPr lang="en-US" sz="1350" dirty="0"/>
          </a:p>
        </p:txBody>
      </p:sp>
      <p:grpSp>
        <p:nvGrpSpPr>
          <p:cNvPr id="9048" name="Bloc 5"/>
          <p:cNvGrpSpPr/>
          <p:nvPr/>
        </p:nvGrpSpPr>
        <p:grpSpPr>
          <a:xfrm>
            <a:off x="731520" y="4956048"/>
            <a:ext cx="10728655" cy="841248"/>
            <a:chOff x="731520" y="4956048"/>
            <a:chExt cx="10728655" cy="841248"/>
          </a:xfrm>
        </p:grpSpPr>
        <p:sp>
          <p:nvSpPr>
            <p:cNvPr id="14" name="Shape 12"/>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5" name="Text 13"/>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À retenir   </a:t>
              </a:r>
              <a:r>
                <a:rPr lang="en-US" sz="1300" dirty="0">
                  <a:solidFill>
                    <a:srgbClr val="075767"/>
                  </a:solidFill>
                  <a:latin typeface="Lato" pitchFamily="34" charset="0"/>
                  <a:ea typeface="Lato" pitchFamily="34" charset="-122"/>
                  <a:cs typeface="Lato" pitchFamily="34" charset="-120"/>
                </a:rPr>
                <a:t>les deux peuvent être engagées pour un même accident : elles ne s'excluent pas.</a:t>
              </a:r>
              <a:endParaRPr lang="en-US" sz="1250" dirty="0"/>
            </a:p>
          </p:txBody>
        </p:sp>
      </p:grpSp>
      <p:pic>
        <p:nvPicPr>
          <p:cNvPr id="16"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7"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5"/>
          <p:cNvSpPr/>
          <p:nvPr/>
        </p:nvSpPr>
        <p:spPr>
          <a:xfrm>
            <a:off x="10591495" y="6181344"/>
            <a:ext cx="438912" cy="438912"/>
          </a:xfrm>
          <a:prstGeom prst="ellipse">
            <a:avLst/>
          </a:prstGeom>
          <a:solidFill>
            <a:srgbClr val="F06C23"/>
          </a:solidFill>
          <a:ln/>
        </p:spPr>
        <p:txBody>
          <a:bodyPr/>
          <a:lstStyle/>
          <a:p>
            <a:endParaRPr/>
          </a:p>
        </p:txBody>
      </p:sp>
      <p:sp>
        <p:nvSpPr>
          <p:cNvPr id="19"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20"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42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048"/>
                                        </p:tgtEl>
                                        <p:attrNameLst>
                                          <p:attrName>style.visibility</p:attrName>
                                        </p:attrNameLst>
                                      </p:cBhvr>
                                      <p:to>
                                        <p:strVal val="visible"/>
                                      </p:to>
                                    </p:set>
                                    <p:animEffect transition="in" filter="fade">
                                      <p:cBhvr>
                                        <p:cTn id="27" dur="450"/>
                                        <p:tgtEl>
                                          <p:spTgt spid="9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800" b="1" kern="0" spc="-150" dirty="0">
                <a:solidFill>
                  <a:srgbClr val="075767"/>
                </a:solidFill>
                <a:latin typeface="Lato" pitchFamily="34" charset="0"/>
                <a:ea typeface="Lato" pitchFamily="34" charset="-122"/>
                <a:cs typeface="Lato" pitchFamily="34" charset="-120"/>
              </a:rPr>
              <a:t>Obligation de moyens, obligation de résultat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Obligation de moyens</a:t>
            </a:r>
            <a:endParaRPr lang="en-US" sz="1700" dirty="0"/>
          </a:p>
        </p:txBody>
      </p:sp>
      <p:sp>
        <p:nvSpPr>
          <p:cNvPr id="11" name="Text 9"/>
          <p:cNvSpPr txBox="1"/>
          <p:nvPr/>
        </p:nvSpPr>
        <p:spPr>
          <a:xfrm>
            <a:off x="73152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Tout mettre en œuvre pour atteindre l'objectif visé</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L'employeur répond de sa diligence, pas du résultat</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Il peut s'exonérer en prouvant qu'il a pris les mesures nécessaires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Cass. soc., 25 novembre 2015, « Air France », n° 14-24444</a:t>
            </a:r>
            <a:endParaRPr lang="en-US" sz="1350" dirty="0"/>
          </a:p>
        </p:txBody>
      </p:sp>
      <p:sp>
        <p:nvSpPr>
          <p:cNvPr id="12" name="Text 10"/>
          <p:cNvSpPr txBox="1"/>
          <p:nvPr/>
        </p:nvSpPr>
        <p:spPr>
          <a:xfrm>
            <a:off x="630936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Obligation de résultat</a:t>
            </a:r>
            <a:endParaRPr lang="en-US" sz="1700" dirty="0"/>
          </a:p>
        </p:txBody>
      </p:sp>
      <p:sp>
        <p:nvSpPr>
          <p:cNvPr id="13" name="Text 11"/>
          <p:cNvSpPr txBox="1"/>
          <p:nvPr/>
        </p:nvSpPr>
        <p:spPr>
          <a:xfrm>
            <a:off x="630936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Atteindre un résultat déterminé, sans échappatoire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seul constat du dommage suffit à engager la responsabilité</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Position issue des arrêts « amiante »</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Cass. soc., 22 février 2002, pourvoi n° 99-18389</a:t>
            </a:r>
            <a:endParaRPr lang="en-US" sz="1350" dirty="0"/>
          </a:p>
        </p:txBody>
      </p:sp>
      <p:grpSp>
        <p:nvGrpSpPr>
          <p:cNvPr id="9049" name="Bloc 5"/>
          <p:cNvGrpSpPr/>
          <p:nvPr/>
        </p:nvGrpSpPr>
        <p:grpSpPr>
          <a:xfrm>
            <a:off x="731520" y="4956048"/>
            <a:ext cx="10728655" cy="841248"/>
            <a:chOff x="731520" y="4956048"/>
            <a:chExt cx="10728655" cy="841248"/>
          </a:xfrm>
        </p:grpSpPr>
        <p:sp>
          <p:nvSpPr>
            <p:cNvPr id="14" name="Shape 12"/>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5" name="Text 13"/>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basculement de 2015   </a:t>
              </a:r>
              <a:r>
                <a:rPr lang="en-US" sz="1300" dirty="0">
                  <a:solidFill>
                    <a:srgbClr val="075767"/>
                  </a:solidFill>
                  <a:latin typeface="Lato" pitchFamily="34" charset="0"/>
                  <a:ea typeface="Lato" pitchFamily="34" charset="-122"/>
                  <a:cs typeface="Lato" pitchFamily="34" charset="-120"/>
                </a:rPr>
                <a:t>l'arrêt Air France a fait glisser l'obligation de sécurité du résultat vers les moyens renforcés : l'employeur qui prouve avoir tout mis en œuvre peut s'exonérer.</a:t>
              </a:r>
              <a:endParaRPr lang="en-US" sz="1250" dirty="0"/>
            </a:p>
          </p:txBody>
        </p:sp>
      </p:grpSp>
      <p:pic>
        <p:nvPicPr>
          <p:cNvPr id="16"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7"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5"/>
          <p:cNvSpPr/>
          <p:nvPr/>
        </p:nvSpPr>
        <p:spPr>
          <a:xfrm>
            <a:off x="10591495" y="6181344"/>
            <a:ext cx="438912" cy="438912"/>
          </a:xfrm>
          <a:prstGeom prst="ellipse">
            <a:avLst/>
          </a:prstGeom>
          <a:solidFill>
            <a:srgbClr val="F06C23"/>
          </a:solidFill>
          <a:ln/>
        </p:spPr>
        <p:txBody>
          <a:bodyPr/>
          <a:lstStyle/>
          <a:p>
            <a:endParaRPr/>
          </a:p>
        </p:txBody>
      </p:sp>
      <p:sp>
        <p:nvSpPr>
          <p:cNvPr id="19"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20"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43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049"/>
                                        </p:tgtEl>
                                        <p:attrNameLst>
                                          <p:attrName>style.visibility</p:attrName>
                                        </p:attrNameLst>
                                      </p:cBhvr>
                                      <p:to>
                                        <p:strVal val="visible"/>
                                      </p:to>
                                    </p:set>
                                    <p:animEffect transition="in" filter="fade">
                                      <p:cBhvr>
                                        <p:cTn id="27" dur="450"/>
                                        <p:tgtEl>
                                          <p:spTgt spid="9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900" b="1" kern="0" spc="-150" dirty="0">
                <a:solidFill>
                  <a:srgbClr val="075767"/>
                </a:solidFill>
                <a:latin typeface="Lato" pitchFamily="34" charset="0"/>
                <a:ea typeface="Lato" pitchFamily="34" charset="-122"/>
                <a:cs typeface="Lato" pitchFamily="34" charset="-120"/>
              </a:rPr>
              <a:t>L'obligation de résultat : les arrêts amiante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44</a:t>
            </a:r>
            <a:endParaRPr lang="en-US" sz="1000" dirty="0"/>
          </a:p>
        </p:txBody>
      </p:sp>
      <p:grpSp>
        <p:nvGrpSpPr>
          <p:cNvPr id="9050" name="Bloc 1"/>
          <p:cNvGrpSpPr/>
          <p:nvPr/>
        </p:nvGrpSpPr>
        <p:grpSpPr>
          <a:xfrm>
            <a:off x="731520" y="1920240"/>
            <a:ext cx="5577840" cy="1417320"/>
            <a:chOff x="731520" y="1920240"/>
            <a:chExt cx="5577840" cy="1417320"/>
          </a:xfrm>
        </p:grpSpPr>
        <p:sp>
          <p:nvSpPr>
            <p:cNvPr id="19" name="Rounded Rectangle 18"/>
            <p:cNvSpPr/>
            <p:nvPr/>
          </p:nvSpPr>
          <p:spPr>
            <a:xfrm>
              <a:off x="731520" y="1920240"/>
              <a:ext cx="5577840" cy="141732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84832"/>
              <a:ext cx="5029200" cy="274320"/>
            </a:xfrm>
            <a:prstGeom prst="rect">
              <a:avLst/>
            </a:prstGeom>
            <a:noFill/>
          </p:spPr>
          <p:txBody>
            <a:bodyPr wrap="square" lIns="0" tIns="0" rIns="0" bIns="0" anchor="t">
              <a:spAutoFit/>
            </a:bodyPr>
            <a:lstStyle/>
            <a:p>
              <a:pPr algn="l"/>
              <a:r>
                <a:rPr sz="1200" b="1" i="0">
                  <a:solidFill>
                    <a:srgbClr val="075767"/>
                  </a:solidFill>
                  <a:latin typeface="Lato"/>
                </a:rPr>
                <a:t>Cass. soc., 28 février 2002, nº 99-18.389 et suivants</a:t>
              </a:r>
            </a:p>
          </p:txBody>
        </p:sp>
        <p:sp>
          <p:nvSpPr>
            <p:cNvPr id="21" name="TextBox 20"/>
            <p:cNvSpPr txBox="1"/>
            <p:nvPr/>
          </p:nvSpPr>
          <p:spPr>
            <a:xfrm>
              <a:off x="1005840" y="2395728"/>
              <a:ext cx="5029200" cy="777240"/>
            </a:xfrm>
            <a:prstGeom prst="rect">
              <a:avLst/>
            </a:prstGeom>
            <a:noFill/>
          </p:spPr>
          <p:txBody>
            <a:bodyPr wrap="square" lIns="0" tIns="0" rIns="0" bIns="0" anchor="t">
              <a:spAutoFit/>
            </a:bodyPr>
            <a:lstStyle/>
            <a:p>
              <a:pPr algn="l"/>
              <a:r>
                <a:rPr sz="1150" b="0" i="1">
                  <a:solidFill>
                    <a:srgbClr val="075767"/>
                  </a:solidFill>
                  <a:latin typeface="Lato"/>
                </a:rPr>
                <a:t>« L'employeur est tenu envers son salarié d'une obligation de sécurité de résultat, notamment en ce qui concerne les maladies professionnelles contractées par ce salarié du fait des produits fabriqués ou utilisés par l'entreprise. »</a:t>
              </a:r>
            </a:p>
          </p:txBody>
        </p:sp>
      </p:grpSp>
      <p:sp>
        <p:nvSpPr>
          <p:cNvPr id="22" name="TextBox 21"/>
          <p:cNvSpPr txBox="1"/>
          <p:nvPr/>
        </p:nvSpPr>
        <p:spPr>
          <a:xfrm>
            <a:off x="731520" y="3520440"/>
            <a:ext cx="5577840" cy="1828800"/>
          </a:xfrm>
          <a:prstGeom prst="rect">
            <a:avLst/>
          </a:prstGeom>
          <a:noFill/>
        </p:spPr>
        <p:txBody>
          <a:bodyPr wrap="square" lIns="0" tIns="0" rIns="0" bIns="0">
            <a:spAutoFit/>
          </a:bodyPr>
          <a:lstStyle/>
          <a:p>
            <a:pPr>
              <a:spcAft>
                <a:spcPts val="700"/>
              </a:spcAft>
            </a:pPr>
            <a:r>
              <a:rPr sz="1300" b="1">
                <a:solidFill>
                  <a:srgbClr val="075767"/>
                </a:solidFill>
                <a:latin typeface="Lato"/>
              </a:rPr>
              <a:t>Ce que les arrêts amiante ont posé</a:t>
            </a:r>
          </a:p>
          <a:p>
            <a:pPr lvl="1">
              <a:spcAft>
                <a:spcPts val="700"/>
              </a:spcAft>
            </a:pPr>
            <a:r>
              <a:rPr sz="1250" b="0">
                <a:solidFill>
                  <a:srgbClr val="595959"/>
                </a:solidFill>
                <a:latin typeface="Lato"/>
              </a:rPr>
              <a:t>Le manquement à cette obligation a le caractère d'une faute inexcusable dès lors que l'employeur avait ou aurait dû avoir conscience du danger et n'a pas pris les mesures nécessaires pour en préserver le salarié.</a:t>
            </a:r>
          </a:p>
          <a:p>
            <a:pPr lvl="1">
              <a:spcAft>
                <a:spcPts val="700"/>
              </a:spcAft>
            </a:pPr>
            <a:r>
              <a:rPr sz="1250" b="0">
                <a:solidFill>
                  <a:srgbClr val="595959"/>
                </a:solidFill>
                <a:latin typeface="Lato"/>
              </a:rPr>
              <a:t>Le seul constat du dommage suffisait : l'employeur ne pouvait pas s'exonérer en montrant sa diligence.</a:t>
            </a:r>
          </a:p>
        </p:txBody>
      </p:sp>
      <p:grpSp>
        <p:nvGrpSpPr>
          <p:cNvPr id="9051" name="Bloc 2"/>
          <p:cNvGrpSpPr/>
          <p:nvPr/>
        </p:nvGrpSpPr>
        <p:grpSpPr>
          <a:xfrm>
            <a:off x="6675120" y="1920240"/>
            <a:ext cx="4910328" cy="3374136"/>
            <a:chOff x="6675120" y="1920240"/>
            <a:chExt cx="4910328" cy="3374136"/>
          </a:xfrm>
        </p:grpSpPr>
        <p:sp>
          <p:nvSpPr>
            <p:cNvPr id="27" name="Rounded Rectangle 26"/>
            <p:cNvSpPr/>
            <p:nvPr/>
          </p:nvSpPr>
          <p:spPr>
            <a:xfrm>
              <a:off x="6803136" y="2048256"/>
              <a:ext cx="4782312" cy="324612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10.jpeg"/>
            <p:cNvPicPr>
              <a:picLocks noChangeAspect="1"/>
            </p:cNvPicPr>
            <p:nvPr/>
          </p:nvPicPr>
          <p:blipFill>
            <a:blip r:embed="rId4"/>
            <a:srcRect l="981" r="981"/>
            <a:stretch>
              <a:fillRect/>
            </a:stretch>
          </p:blipFill>
          <p:spPr>
            <a:xfrm>
              <a:off x="6675120" y="1920240"/>
              <a:ext cx="4782312" cy="3246120"/>
            </a:xfrm>
            <a:prstGeom prst="roundRect">
              <a:avLst>
                <a:gd name="adj" fmla="val 2200"/>
              </a:avLst>
            </a:prstGeom>
            <a:effectLst>
              <a:outerShdw blurRad="190500" dist="38100" dir="5400000" rotWithShape="0">
                <a:srgbClr val="075767">
                  <a:alpha val="22000"/>
                </a:srgbClr>
              </a:outerShdw>
              <a:softEdge rad="32004"/>
            </a:effectLst>
          </p:spPr>
        </p:pic>
      </p:grpSp>
      <p:sp>
        <p:nvSpPr>
          <p:cNvPr id="24" name="TextBox 23"/>
          <p:cNvSpPr txBox="1"/>
          <p:nvPr/>
        </p:nvSpPr>
        <p:spPr>
          <a:xfrm>
            <a:off x="6675120" y="5239512"/>
            <a:ext cx="4782312" cy="256032"/>
          </a:xfrm>
          <a:prstGeom prst="rect">
            <a:avLst/>
          </a:prstGeom>
          <a:noFill/>
        </p:spPr>
        <p:txBody>
          <a:bodyPr wrap="square" lIns="0" tIns="0" rIns="0" bIns="0" anchor="t">
            <a:spAutoFit/>
          </a:bodyPr>
          <a:lstStyle/>
          <a:p>
            <a:pPr algn="l"/>
            <a:r>
              <a:rPr sz="950" b="0" i="1">
                <a:solidFill>
                  <a:srgbClr val="45818D"/>
                </a:solidFill>
                <a:latin typeface="Lato"/>
              </a:rPr>
              <a:t>Les arrêts du 28 février 2002 sont nés des dossiers amiante.</a:t>
            </a:r>
          </a:p>
        </p:txBody>
      </p:sp>
      <p:grpSp>
        <p:nvGrpSpPr>
          <p:cNvPr id="9052" name="Bloc 5"/>
          <p:cNvGrpSpPr/>
          <p:nvPr/>
        </p:nvGrpSpPr>
        <p:grpSpPr>
          <a:xfrm>
            <a:off x="731520" y="5468112"/>
            <a:ext cx="10725912" cy="658368"/>
            <a:chOff x="731520" y="5468112"/>
            <a:chExt cx="10725912" cy="658368"/>
          </a:xfrm>
        </p:grpSpPr>
        <p:sp>
          <p:nvSpPr>
            <p:cNvPr id="25" name="Rounded Rectangle 24"/>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À retenir   l'obligation de sécurité de résultat est née des arrêts amiante du 28 février 2002. Elle a été infléchie en 2015, comme l'expose la planche suivante.</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50"/>
                                        </p:tgtEl>
                                        <p:attrNameLst>
                                          <p:attrName>style.visibility</p:attrName>
                                        </p:attrNameLst>
                                      </p:cBhvr>
                                      <p:to>
                                        <p:strVal val="visible"/>
                                      </p:to>
                                    </p:set>
                                    <p:animEffect transition="in" filter="fade">
                                      <p:cBhvr>
                                        <p:cTn id="7" dur="450"/>
                                        <p:tgtEl>
                                          <p:spTgt spid="9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51"/>
                                        </p:tgtEl>
                                        <p:attrNameLst>
                                          <p:attrName>style.visibility</p:attrName>
                                        </p:attrNameLst>
                                      </p:cBhvr>
                                      <p:to>
                                        <p:strVal val="visible"/>
                                      </p:to>
                                    </p:set>
                                    <p:animEffect transition="in" filter="fade">
                                      <p:cBhvr>
                                        <p:cTn id="12" dur="450"/>
                                        <p:tgtEl>
                                          <p:spTgt spid="905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5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5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052"/>
                                        </p:tgtEl>
                                        <p:attrNameLst>
                                          <p:attrName>style.visibility</p:attrName>
                                        </p:attrNameLst>
                                      </p:cBhvr>
                                      <p:to>
                                        <p:strVal val="visible"/>
                                      </p:to>
                                    </p:set>
                                    <p:animEffect transition="in" filter="fade">
                                      <p:cBhvr>
                                        <p:cTn id="27" dur="450"/>
                                        <p:tgtEl>
                                          <p:spTgt spid="9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2015 : l'obligation de moyens renforcés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45</a:t>
            </a:r>
            <a:endParaRPr lang="en-US" sz="1000" dirty="0"/>
          </a:p>
        </p:txBody>
      </p:sp>
      <p:grpSp>
        <p:nvGrpSpPr>
          <p:cNvPr id="9053" name="Bloc 1"/>
          <p:cNvGrpSpPr/>
          <p:nvPr/>
        </p:nvGrpSpPr>
        <p:grpSpPr>
          <a:xfrm>
            <a:off x="731520" y="1920240"/>
            <a:ext cx="5577840" cy="1852574"/>
            <a:chOff x="731520" y="1920240"/>
            <a:chExt cx="5577840" cy="1852574"/>
          </a:xfrm>
        </p:grpSpPr>
        <p:sp>
          <p:nvSpPr>
            <p:cNvPr id="19" name="Rounded Rectangle 18"/>
            <p:cNvSpPr/>
            <p:nvPr/>
          </p:nvSpPr>
          <p:spPr>
            <a:xfrm>
              <a:off x="731520" y="1920240"/>
              <a:ext cx="5577840" cy="1852574"/>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84832"/>
              <a:ext cx="5029200" cy="435254"/>
            </a:xfrm>
            <a:prstGeom prst="rect">
              <a:avLst/>
            </a:prstGeom>
            <a:noFill/>
          </p:spPr>
          <p:txBody>
            <a:bodyPr wrap="square" lIns="0" tIns="0" rIns="0" bIns="0" anchor="t">
              <a:spAutoFit/>
            </a:bodyPr>
            <a:lstStyle/>
            <a:p>
              <a:pPr algn="l"/>
              <a:r>
                <a:rPr sz="1200" b="1" i="0">
                  <a:solidFill>
                    <a:srgbClr val="075767"/>
                  </a:solidFill>
                  <a:latin typeface="Lato"/>
                </a:rPr>
                <a:t>Cass. soc., 25 novembre 2015, « Air France », nº 14-24.444</a:t>
              </a:r>
            </a:p>
          </p:txBody>
        </p:sp>
        <p:sp>
          <p:nvSpPr>
            <p:cNvPr id="21" name="TextBox 20"/>
            <p:cNvSpPr txBox="1"/>
            <p:nvPr/>
          </p:nvSpPr>
          <p:spPr>
            <a:xfrm>
              <a:off x="1005840" y="2395728"/>
              <a:ext cx="5029200" cy="1051560"/>
            </a:xfrm>
            <a:prstGeom prst="rect">
              <a:avLst/>
            </a:prstGeom>
            <a:noFill/>
          </p:spPr>
          <p:txBody>
            <a:bodyPr wrap="square" lIns="0" tIns="0" rIns="0" bIns="0" anchor="t">
              <a:spAutoFit/>
            </a:bodyPr>
            <a:lstStyle/>
            <a:p>
              <a:pPr algn="l"/>
              <a:r>
                <a:rPr sz="1150" b="0" i="1">
                  <a:solidFill>
                    <a:srgbClr val="075767"/>
                  </a:solidFill>
                  <a:latin typeface="Lato"/>
                </a:rPr>
                <a:t>« Ne méconnaît pas l'obligation légale lui imposant de prendre les mesures nécessaires pour assurer la sécurité et protéger la santé physique et mentale des travailleurs l'employeur qui justifie avoir pris toutes les mesures prévues par les articles L. 4121-1 et L. 4121-2 du code du travail. »</a:t>
              </a:r>
            </a:p>
          </p:txBody>
        </p:sp>
      </p:grpSp>
      <p:sp>
        <p:nvSpPr>
          <p:cNvPr id="22" name="TextBox 21"/>
          <p:cNvSpPr txBox="1"/>
          <p:nvPr/>
        </p:nvSpPr>
        <p:spPr>
          <a:xfrm>
            <a:off x="731520" y="3794760"/>
            <a:ext cx="5577840" cy="1673352"/>
          </a:xfrm>
          <a:prstGeom prst="rect">
            <a:avLst/>
          </a:prstGeom>
          <a:noFill/>
        </p:spPr>
        <p:txBody>
          <a:bodyPr wrap="square" lIns="0" tIns="0" rIns="0" bIns="0">
            <a:spAutoFit/>
          </a:bodyPr>
          <a:lstStyle/>
          <a:p>
            <a:pPr>
              <a:spcAft>
                <a:spcPts val="700"/>
              </a:spcAft>
            </a:pPr>
            <a:r>
              <a:rPr sz="1300" b="1">
                <a:solidFill>
                  <a:srgbClr val="075767"/>
                </a:solidFill>
                <a:latin typeface="Lato"/>
              </a:rPr>
              <a:t>Ce qui change</a:t>
            </a:r>
          </a:p>
          <a:p>
            <a:pPr lvl="1">
              <a:spcAft>
                <a:spcPts val="700"/>
              </a:spcAft>
            </a:pPr>
            <a:r>
              <a:rPr sz="1250" b="0">
                <a:solidFill>
                  <a:srgbClr val="595959"/>
                </a:solidFill>
                <a:latin typeface="Lato"/>
              </a:rPr>
              <a:t>L'obligation reste exigeante, mais elle devient une obligation de moyens renforcés : l'employeur qui prouve avoir tout mis en œuvre peut s'exonérer.</a:t>
            </a:r>
          </a:p>
          <a:p>
            <a:pPr lvl="1">
              <a:spcAft>
                <a:spcPts val="700"/>
              </a:spcAft>
            </a:pPr>
            <a:r>
              <a:rPr sz="1250" b="0">
                <a:solidFill>
                  <a:srgbClr val="595959"/>
                </a:solidFill>
                <a:latin typeface="Lato"/>
              </a:rPr>
              <a:t>La charge de la preuve pèse sur lui. C'est exactement ce qui donne au DUERP, au programme annuel et aux traces écrites du CSE leur valeur probatoire.</a:t>
            </a:r>
          </a:p>
        </p:txBody>
      </p:sp>
      <p:pic>
        <p:nvPicPr>
          <p:cNvPr id="23" name="Picture 22" descr="image11.jpeg"/>
          <p:cNvPicPr>
            <a:picLocks noChangeAspect="1"/>
          </p:cNvPicPr>
          <p:nvPr/>
        </p:nvPicPr>
        <p:blipFill>
          <a:blip r:embed="rId4"/>
          <a:srcRect l="467" r="467"/>
          <a:stretch>
            <a:fillRect/>
          </a:stretch>
        </p:blipFill>
        <p:spPr>
          <a:xfrm>
            <a:off x="6675120" y="1920240"/>
            <a:ext cx="2322576" cy="1554480"/>
          </a:xfrm>
          <a:prstGeom prst="roundRect">
            <a:avLst>
              <a:gd name="adj" fmla="val 2200"/>
            </a:avLst>
          </a:prstGeom>
          <a:effectLst>
            <a:outerShdw blurRad="190500" dist="38100" dir="5400000" rotWithShape="0">
              <a:srgbClr val="075767">
                <a:alpha val="22000"/>
              </a:srgbClr>
            </a:outerShdw>
            <a:softEdge rad="32004"/>
          </a:effectLst>
        </p:spPr>
      </p:pic>
      <p:pic>
        <p:nvPicPr>
          <p:cNvPr id="24" name="Picture 23" descr="image12.jpeg"/>
          <p:cNvPicPr>
            <a:picLocks noChangeAspect="1"/>
          </p:cNvPicPr>
          <p:nvPr/>
        </p:nvPicPr>
        <p:blipFill>
          <a:blip r:embed="rId5"/>
          <a:srcRect/>
          <a:stretch>
            <a:fillRect/>
          </a:stretch>
        </p:blipFill>
        <p:spPr>
          <a:xfrm>
            <a:off x="9622106" y="1920240"/>
            <a:ext cx="1348076" cy="1554480"/>
          </a:xfrm>
          <a:prstGeom prst="roundRect">
            <a:avLst>
              <a:gd name="adj" fmla="val 2200"/>
            </a:avLst>
          </a:prstGeom>
          <a:effectLst>
            <a:outerShdw blurRad="190500" dist="38100" dir="5400000" rotWithShape="0">
              <a:srgbClr val="075767">
                <a:alpha val="22000"/>
              </a:srgbClr>
            </a:outerShdw>
            <a:softEdge rad="32004"/>
          </a:effectLst>
        </p:spPr>
      </p:pic>
      <p:sp>
        <p:nvSpPr>
          <p:cNvPr id="25" name="TextBox 24"/>
          <p:cNvSpPr txBox="1"/>
          <p:nvPr/>
        </p:nvSpPr>
        <p:spPr>
          <a:xfrm>
            <a:off x="6675120" y="3566160"/>
            <a:ext cx="4782312" cy="1554480"/>
          </a:xfrm>
          <a:prstGeom prst="rect">
            <a:avLst/>
          </a:prstGeom>
          <a:noFill/>
        </p:spPr>
        <p:txBody>
          <a:bodyPr wrap="square" lIns="0" tIns="0" rIns="0" bIns="0" anchor="t">
            <a:spAutoFit/>
          </a:bodyPr>
          <a:lstStyle/>
          <a:p>
            <a:pPr algn="l"/>
            <a:r>
              <a:rPr sz="1150" b="0" i="0">
                <a:solidFill>
                  <a:srgbClr val="075767"/>
                </a:solidFill>
                <a:latin typeface="Lato"/>
              </a:rPr>
              <a:t>L'affaire : un steward d'Air France présent à New York le 11 septembre 2001, déclaré inapte des années plus tard pour syndrome de stress post-traumatique. La compagnie prouve avoir pris toutes les mesures de suivi et de soutien. Elle est exonérée.</a:t>
            </a:r>
          </a:p>
        </p:txBody>
      </p:sp>
      <p:grpSp>
        <p:nvGrpSpPr>
          <p:cNvPr id="9054" name="Bloc 6"/>
          <p:cNvGrpSpPr/>
          <p:nvPr/>
        </p:nvGrpSpPr>
        <p:grpSpPr>
          <a:xfrm>
            <a:off x="731520" y="5468112"/>
            <a:ext cx="10725912" cy="658368"/>
            <a:chOff x="731520" y="5468112"/>
            <a:chExt cx="10725912" cy="658368"/>
          </a:xfrm>
        </p:grpSpPr>
        <p:sp>
          <p:nvSpPr>
            <p:cNvPr id="26" name="Rounded Rectangle 25"/>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À retenir   depuis 2015, la question n'est plus « y a-t-il eu un dommage ? » mais « quelles mesures ont été mises en œuvre, et peuvent-elles être prouvées ? ». Le procès-verbal du CSE est une pièce de ce dossier.</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53"/>
                                        </p:tgtEl>
                                        <p:attrNameLst>
                                          <p:attrName>style.visibility</p:attrName>
                                        </p:attrNameLst>
                                      </p:cBhvr>
                                      <p:to>
                                        <p:strVal val="visible"/>
                                      </p:to>
                                    </p:set>
                                    <p:animEffect transition="in" filter="fade">
                                      <p:cBhvr>
                                        <p:cTn id="7" dur="450"/>
                                        <p:tgtEl>
                                          <p:spTgt spid="90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5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5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5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5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054"/>
                                        </p:tgtEl>
                                        <p:attrNameLst>
                                          <p:attrName>style.visibility</p:attrName>
                                        </p:attrNameLst>
                                      </p:cBhvr>
                                      <p:to>
                                        <p:strVal val="visible"/>
                                      </p:to>
                                    </p:set>
                                    <p:animEffect transition="in" filter="fade">
                                      <p:cBhvr>
                                        <p:cTn id="32" dur="450"/>
                                        <p:tgtEl>
                                          <p:spTgt spid="9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L'obligation de sécurité de l'employeur</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grpSp>
        <p:nvGrpSpPr>
          <p:cNvPr id="9055"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4121-1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L'employeur prend les mesures nécessaires pour assurer la sécurité et protéger la santé physique et mentale des travailleurs. Ces mesures comprennent : 1° des actions de prévention des risques professionnels ; 2° des actions d'information et de formation ; 3° la mise en place d'une organisation et de moyens adaptés.</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4173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L'employeur veille à l'adaptation de ces mesures pour tenir compte du changement des circonstances et tendre à l'amélioration des situations existantes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La santé mentale est visée au même titre que la santé physique, c'est le fondement de la prévention des RPS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Trois volets indissociables : prévenir, informer et former, organiser</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46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55"/>
                                        </p:tgtEl>
                                        <p:attrNameLst>
                                          <p:attrName>style.visibility</p:attrName>
                                        </p:attrNameLst>
                                      </p:cBhvr>
                                      <p:to>
                                        <p:strVal val="visible"/>
                                      </p:to>
                                    </p:set>
                                    <p:animEffect transition="in" filter="fade">
                                      <p:cBhvr>
                                        <p:cTn id="7" dur="450"/>
                                        <p:tgtEl>
                                          <p:spTgt spid="90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 CNAT : le régime AT/MP des IEG</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47</a:t>
            </a:r>
            <a:endParaRPr lang="en-US" sz="1000" dirty="0"/>
          </a:p>
        </p:txBody>
      </p:sp>
      <p:grpSp>
        <p:nvGrpSpPr>
          <p:cNvPr id="9056" name="Bloc 1"/>
          <p:cNvGrpSpPr/>
          <p:nvPr/>
        </p:nvGrpSpPr>
        <p:grpSpPr>
          <a:xfrm>
            <a:off x="731520" y="1874519"/>
            <a:ext cx="10725912" cy="1097280"/>
            <a:chOff x="731520" y="1874519"/>
            <a:chExt cx="10725912" cy="1097280"/>
          </a:xfrm>
        </p:grpSpPr>
        <p:sp>
          <p:nvSpPr>
            <p:cNvPr id="19" name="Rounded Rectangle 18"/>
            <p:cNvSpPr/>
            <p:nvPr/>
          </p:nvSpPr>
          <p:spPr>
            <a:xfrm>
              <a:off x="731520" y="1874519"/>
              <a:ext cx="10725912" cy="109728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39112"/>
              <a:ext cx="10177272" cy="274320"/>
            </a:xfrm>
            <a:prstGeom prst="rect">
              <a:avLst/>
            </a:prstGeom>
            <a:noFill/>
          </p:spPr>
          <p:txBody>
            <a:bodyPr wrap="square" lIns="0" tIns="0" rIns="0" bIns="0" anchor="t">
              <a:spAutoFit/>
            </a:bodyPr>
            <a:lstStyle/>
            <a:p>
              <a:pPr algn="l"/>
              <a:r>
                <a:rPr sz="1200" b="1" i="0">
                  <a:solidFill>
                    <a:srgbClr val="075767"/>
                  </a:solidFill>
                  <a:latin typeface="Lato"/>
                </a:rPr>
                <a:t>Statut national du personnel des IEG, article 22 § 2 et annexe 3, article 4, 1°</a:t>
              </a:r>
            </a:p>
          </p:txBody>
        </p:sp>
        <p:sp>
          <p:nvSpPr>
            <p:cNvPr id="21" name="TextBox 20"/>
            <p:cNvSpPr txBox="1"/>
            <p:nvPr/>
          </p:nvSpPr>
          <p:spPr>
            <a:xfrm>
              <a:off x="1005840" y="2350008"/>
              <a:ext cx="10177272" cy="457200"/>
            </a:xfrm>
            <a:prstGeom prst="rect">
              <a:avLst/>
            </a:prstGeom>
            <a:noFill/>
          </p:spPr>
          <p:txBody>
            <a:bodyPr wrap="square" lIns="0" tIns="0" rIns="0" bIns="0" anchor="t">
              <a:spAutoFit/>
            </a:bodyPr>
            <a:lstStyle/>
            <a:p>
              <a:pPr algn="l"/>
              <a:r>
                <a:rPr sz="1150" b="0" i="1">
                  <a:solidFill>
                    <a:srgbClr val="075767"/>
                  </a:solidFill>
                  <a:latin typeface="Lato"/>
                </a:rPr>
                <a:t>Les entreprises des industries électriques et gazières assurent elles-mêmes la couverture des risques accidents du travail et maladies professionnelles. La Commission nationale des accidents du travail (CNAT) est l'instance paritaire de branche qui en connaît.</a:t>
              </a:r>
            </a:p>
          </p:txBody>
        </p:sp>
      </p:grpSp>
      <p:sp>
        <p:nvSpPr>
          <p:cNvPr id="22" name="TextBox 21"/>
          <p:cNvSpPr txBox="1"/>
          <p:nvPr/>
        </p:nvSpPr>
        <p:spPr>
          <a:xfrm>
            <a:off x="731520" y="3154680"/>
            <a:ext cx="5212080" cy="2313432"/>
          </a:xfrm>
          <a:prstGeom prst="rect">
            <a:avLst/>
          </a:prstGeom>
          <a:noFill/>
        </p:spPr>
        <p:txBody>
          <a:bodyPr wrap="square" lIns="0" tIns="0" rIns="0" bIns="0">
            <a:spAutoFit/>
          </a:bodyPr>
          <a:lstStyle/>
          <a:p>
            <a:pPr>
              <a:spcAft>
                <a:spcPts val="700"/>
              </a:spcAft>
            </a:pPr>
            <a:r>
              <a:rPr sz="1250" b="1">
                <a:solidFill>
                  <a:srgbClr val="075767"/>
                </a:solidFill>
                <a:latin typeface="Lato"/>
              </a:rPr>
              <a:t>Ce qu'elle examine</a:t>
            </a:r>
          </a:p>
          <a:p>
            <a:pPr lvl="1">
              <a:spcAft>
                <a:spcPts val="700"/>
              </a:spcAft>
            </a:pPr>
            <a:r>
              <a:rPr sz="1200" b="0">
                <a:solidFill>
                  <a:srgbClr val="595959"/>
                </a:solidFill>
                <a:latin typeface="Lato"/>
              </a:rPr>
              <a:t>Les dossiers des agents victimes d'un accident du travail ou atteints d'une maladie professionnelle qui demeurent inaptes après consolidation.</a:t>
            </a:r>
          </a:p>
          <a:p>
            <a:pPr lvl="1">
              <a:spcAft>
                <a:spcPts val="700"/>
              </a:spcAft>
            </a:pPr>
            <a:r>
              <a:rPr sz="1200" b="0">
                <a:solidFill>
                  <a:srgbClr val="595959"/>
                </a:solidFill>
                <a:latin typeface="Lato"/>
              </a:rPr>
              <a:t>Elle fixe le taux d'incapacité permanente et la date de consolidation, et rend un avis sur le droit à rente et son montant.</a:t>
            </a:r>
          </a:p>
          <a:p>
            <a:pPr lvl="1">
              <a:spcAft>
                <a:spcPts val="700"/>
              </a:spcAft>
            </a:pPr>
            <a:r>
              <a:rPr sz="1200" b="0">
                <a:solidFill>
                  <a:srgbClr val="595959"/>
                </a:solidFill>
                <a:latin typeface="Lato"/>
              </a:rPr>
              <a:t>Un médecin rapporteur instruit le dossier à partir des certificats du médecin traitant et des pièces administratives ; la commission peut entendre des médecins spécialistes, avec voix consultative.</a:t>
            </a:r>
          </a:p>
        </p:txBody>
      </p:sp>
      <p:sp>
        <p:nvSpPr>
          <p:cNvPr id="23" name="TextBox 22"/>
          <p:cNvSpPr txBox="1"/>
          <p:nvPr/>
        </p:nvSpPr>
        <p:spPr>
          <a:xfrm>
            <a:off x="6263640" y="3154680"/>
            <a:ext cx="5193792" cy="2194560"/>
          </a:xfrm>
          <a:prstGeom prst="rect">
            <a:avLst/>
          </a:prstGeom>
          <a:noFill/>
        </p:spPr>
        <p:txBody>
          <a:bodyPr wrap="square" lIns="0" tIns="0" rIns="0" bIns="0">
            <a:spAutoFit/>
          </a:bodyPr>
          <a:lstStyle/>
          <a:p>
            <a:pPr>
              <a:spcAft>
                <a:spcPts val="700"/>
              </a:spcAft>
            </a:pPr>
            <a:r>
              <a:rPr sz="1300" b="1">
                <a:solidFill>
                  <a:srgbClr val="075767"/>
                </a:solidFill>
                <a:latin typeface="Lato"/>
              </a:rPr>
              <a:t>Sa composition</a:t>
            </a:r>
          </a:p>
          <a:p>
            <a:pPr lvl="1">
              <a:spcAft>
                <a:spcPts val="700"/>
              </a:spcAft>
            </a:pPr>
            <a:r>
              <a:rPr sz="1250" b="0">
                <a:solidFill>
                  <a:srgbClr val="595959"/>
                </a:solidFill>
                <a:latin typeface="Lato"/>
              </a:rPr>
              <a:t>22 membres à voix délibérative, à parité : 11 désignés par les directions, 11 par les organisations syndicales représentatives, dont quatre médecins de chaque côté.</a:t>
            </a:r>
          </a:p>
          <a:p>
            <a:pPr>
              <a:spcAft>
                <a:spcPts val="700"/>
              </a:spcAft>
            </a:pPr>
            <a:r>
              <a:rPr sz="1300" b="1">
                <a:solidFill>
                  <a:srgbClr val="075767"/>
                </a:solidFill>
                <a:latin typeface="Lato"/>
              </a:rPr>
              <a:t>Ce que ça change pour un élu</a:t>
            </a:r>
          </a:p>
          <a:p>
            <a:pPr lvl="1">
              <a:spcAft>
                <a:spcPts val="700"/>
              </a:spcAft>
            </a:pPr>
            <a:r>
              <a:rPr sz="1250" b="0">
                <a:solidFill>
                  <a:srgbClr val="595959"/>
                </a:solidFill>
                <a:latin typeface="Lato"/>
              </a:rPr>
              <a:t>C'est le seul endroit où l'argumentaire d'exposition d'un agent est débattu avant la décision. Un dossier bien documenté par le CSE (inspections, registre, mesures d'exposition) s'y défend ; un dossier sans traces, non.</a:t>
            </a:r>
          </a:p>
        </p:txBody>
      </p:sp>
      <p:grpSp>
        <p:nvGrpSpPr>
          <p:cNvPr id="9057" name="Bloc 4"/>
          <p:cNvGrpSpPr/>
          <p:nvPr/>
        </p:nvGrpSpPr>
        <p:grpSpPr>
          <a:xfrm>
            <a:off x="731520" y="5468112"/>
            <a:ext cx="10725912" cy="658368"/>
            <a:chOff x="731520" y="5468112"/>
            <a:chExt cx="10725912" cy="658368"/>
          </a:xfrm>
        </p:grpSpPr>
        <p:sp>
          <p:nvSpPr>
            <p:cNvPr id="24" name="Rounded Rectangle 23"/>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À retenir   </a:t>
              </a:r>
              <a:r>
                <a:rPr sz="1150">
                  <a:solidFill>
                    <a:srgbClr val="595959"/>
                  </a:solidFill>
                  <a:latin typeface="Lato"/>
                </a:rPr>
                <a:t>faire vérifier au procès-verbal de la CNAT que les interventions ont été reprises fidèlement, et demander l'enregistrement de la séance en cas de divergence. Un PV incomplet est un argument perdu.</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56"/>
                                        </p:tgtEl>
                                        <p:attrNameLst>
                                          <p:attrName>style.visibility</p:attrName>
                                        </p:attrNameLst>
                                      </p:cBhvr>
                                      <p:to>
                                        <p:strVal val="visible"/>
                                      </p:to>
                                    </p:set>
                                    <p:animEffect transition="in" filter="fade">
                                      <p:cBhvr>
                                        <p:cTn id="7" dur="450"/>
                                        <p:tgtEl>
                                          <p:spTgt spid="90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5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5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57"/>
                                        </p:tgtEl>
                                        <p:attrNameLst>
                                          <p:attrName>style.visibility</p:attrName>
                                        </p:attrNameLst>
                                      </p:cBhvr>
                                      <p:to>
                                        <p:strVal val="visible"/>
                                      </p:to>
                                    </p:set>
                                    <p:animEffect transition="in" filter="fade">
                                      <p:cBhvr>
                                        <p:cTn id="22" dur="450"/>
                                        <p:tgtEl>
                                          <p:spTgt spid="9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900" b="1" kern="0" spc="-150" dirty="0">
                <a:solidFill>
                  <a:srgbClr val="075767"/>
                </a:solidFill>
                <a:latin typeface="Lato" pitchFamily="34" charset="0"/>
                <a:ea typeface="Lato" pitchFamily="34" charset="-122"/>
                <a:cs typeface="Lato" pitchFamily="34" charset="-120"/>
              </a:rPr>
              <a:t>Les neuf principes généraux de prévention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grpSp>
        <p:nvGrpSpPr>
          <p:cNvPr id="9058"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4121-2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L'employeur met en œuvre les mesures prévues à l'article L. 4121-1 sur le fondement des principes généraux de prévention suivants.</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4173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Ils ne sont pas au choix : c'est un ordre de priorité, du plus efficace au moins efficace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On ne descend d'un cran que si le cran précédent est impossible, et cette impossibilité doit être démontrée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Les équipements de protection individuelle arrivent en huitième position, jamais en premier</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48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58"/>
                                        </p:tgtEl>
                                        <p:attrNameLst>
                                          <p:attrName>style.visibility</p:attrName>
                                        </p:attrNameLst>
                                      </p:cBhvr>
                                      <p:to>
                                        <p:strVal val="visible"/>
                                      </p:to>
                                    </p:set>
                                    <p:animEffect transition="in" filter="fade">
                                      <p:cBhvr>
                                        <p:cTn id="7" dur="450"/>
                                        <p:tgtEl>
                                          <p:spTgt spid="90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Principe 1 : Éviter les risques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49</a:t>
            </a:r>
            <a:endParaRPr lang="en-US" sz="1000" dirty="0"/>
          </a:p>
        </p:txBody>
      </p:sp>
      <p:grpSp>
        <p:nvGrpSpPr>
          <p:cNvPr id="9059" name="Bloc 1"/>
          <p:cNvGrpSpPr/>
          <p:nvPr/>
        </p:nvGrpSpPr>
        <p:grpSpPr>
          <a:xfrm>
            <a:off x="731520" y="1920240"/>
            <a:ext cx="5577840" cy="1234440"/>
            <a:chOff x="731520" y="1920240"/>
            <a:chExt cx="5577840" cy="1234440"/>
          </a:xfrm>
        </p:grpSpPr>
        <p:sp>
          <p:nvSpPr>
            <p:cNvPr id="19" name="Rounded Rectangle 18"/>
            <p:cNvSpPr/>
            <p:nvPr/>
          </p:nvSpPr>
          <p:spPr>
            <a:xfrm>
              <a:off x="731520" y="1920240"/>
              <a:ext cx="5577840" cy="123444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84832"/>
              <a:ext cx="5029200" cy="274320"/>
            </a:xfrm>
            <a:prstGeom prst="rect">
              <a:avLst/>
            </a:prstGeom>
            <a:noFill/>
          </p:spPr>
          <p:txBody>
            <a:bodyPr wrap="square" lIns="0" tIns="0" rIns="0" bIns="0" anchor="t">
              <a:spAutoFit/>
            </a:bodyPr>
            <a:lstStyle/>
            <a:p>
              <a:pPr algn="l"/>
              <a:r>
                <a:rPr sz="1200" b="1" i="0">
                  <a:solidFill>
                    <a:srgbClr val="075767"/>
                  </a:solidFill>
                  <a:latin typeface="Lato"/>
                </a:rPr>
                <a:t>Article L. 4121-2 (code du travail)</a:t>
              </a:r>
            </a:p>
          </p:txBody>
        </p:sp>
        <p:sp>
          <p:nvSpPr>
            <p:cNvPr id="21" name="TextBox 20"/>
            <p:cNvSpPr txBox="1"/>
            <p:nvPr/>
          </p:nvSpPr>
          <p:spPr>
            <a:xfrm>
              <a:off x="1005840" y="2395728"/>
              <a:ext cx="5029200" cy="594360"/>
            </a:xfrm>
            <a:prstGeom prst="rect">
              <a:avLst/>
            </a:prstGeom>
            <a:noFill/>
          </p:spPr>
          <p:txBody>
            <a:bodyPr wrap="square" lIns="0" tIns="0" rIns="0" bIns="0" anchor="t">
              <a:spAutoFit/>
            </a:bodyPr>
            <a:lstStyle/>
            <a:p>
              <a:pPr algn="l"/>
              <a:r>
                <a:rPr sz="1150" b="0" i="1">
                  <a:solidFill>
                    <a:srgbClr val="075767"/>
                  </a:solidFill>
                  <a:latin typeface="Lato"/>
                </a:rPr>
                <a:t>1° Éviter les risques ;</a:t>
              </a:r>
            </a:p>
          </p:txBody>
        </p:sp>
      </p:grpSp>
      <p:sp>
        <p:nvSpPr>
          <p:cNvPr id="22" name="TextBox 21"/>
          <p:cNvSpPr txBox="1"/>
          <p:nvPr/>
        </p:nvSpPr>
        <p:spPr>
          <a:xfrm>
            <a:off x="731520" y="3410712"/>
            <a:ext cx="5577840" cy="1938527"/>
          </a:xfrm>
          <a:prstGeom prst="rect">
            <a:avLst/>
          </a:prstGeom>
          <a:noFill/>
        </p:spPr>
        <p:txBody>
          <a:bodyPr wrap="square" lIns="0" tIns="0" rIns="0" bIns="0">
            <a:spAutoFit/>
          </a:bodyPr>
          <a:lstStyle/>
          <a:p>
            <a:pPr>
              <a:spcAft>
                <a:spcPts val="700"/>
              </a:spcAft>
            </a:pPr>
            <a:r>
              <a:rPr sz="1300" b="1">
                <a:solidFill>
                  <a:srgbClr val="075767"/>
                </a:solidFill>
                <a:latin typeface="Lato"/>
              </a:rPr>
              <a:t>Le seul principe qui règle définitivement le problème</a:t>
            </a:r>
          </a:p>
          <a:p>
            <a:pPr lvl="1">
              <a:spcAft>
                <a:spcPts val="700"/>
              </a:spcAft>
            </a:pPr>
            <a:r>
              <a:rPr sz="1250" b="0">
                <a:solidFill>
                  <a:srgbClr val="595959"/>
                </a:solidFill>
                <a:latin typeface="Lato"/>
              </a:rPr>
              <a:t>Supprimer le danger, ou supprimer l'exposition au danger. Si le risque n'existe plus, il n'y a plus rien à évaluer, à protéger ni à surveiller.</a:t>
            </a:r>
          </a:p>
          <a:p>
            <a:pPr lvl="1">
              <a:spcAft>
                <a:spcPts val="700"/>
              </a:spcAft>
            </a:pPr>
            <a:r>
              <a:rPr sz="1250" b="0">
                <a:solidFill>
                  <a:srgbClr val="595959"/>
                </a:solidFill>
                <a:latin typeface="Lato"/>
              </a:rPr>
              <a:t>Sur la photo : le nettoyage se fait depuis le sol, à la perche télescopique. Le risque de chute de hauteur n'a pas été réduit, il a été supprimé.</a:t>
            </a:r>
          </a:p>
        </p:txBody>
      </p:sp>
      <p:grpSp>
        <p:nvGrpSpPr>
          <p:cNvPr id="9060" name="Bloc 2"/>
          <p:cNvGrpSpPr/>
          <p:nvPr/>
        </p:nvGrpSpPr>
        <p:grpSpPr>
          <a:xfrm>
            <a:off x="7581349" y="1920240"/>
            <a:ext cx="3097870" cy="3374136"/>
            <a:chOff x="7581349" y="1920240"/>
            <a:chExt cx="3097870" cy="3374136"/>
          </a:xfrm>
        </p:grpSpPr>
        <p:sp>
          <p:nvSpPr>
            <p:cNvPr id="26" name="Rounded Rectangle 25"/>
            <p:cNvSpPr/>
            <p:nvPr/>
          </p:nvSpPr>
          <p:spPr>
            <a:xfrm>
              <a:off x="7709365" y="2048256"/>
              <a:ext cx="2969854" cy="324612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14.jpeg"/>
            <p:cNvPicPr>
              <a:picLocks noChangeAspect="1"/>
            </p:cNvPicPr>
            <p:nvPr/>
          </p:nvPicPr>
          <p:blipFill>
            <a:blip r:embed="rId4"/>
            <a:srcRect/>
            <a:stretch>
              <a:fillRect/>
            </a:stretch>
          </p:blipFill>
          <p:spPr>
            <a:xfrm>
              <a:off x="7581349" y="1920240"/>
              <a:ext cx="2969854" cy="324612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61" name="Bloc 4"/>
          <p:cNvGrpSpPr/>
          <p:nvPr/>
        </p:nvGrpSpPr>
        <p:grpSpPr>
          <a:xfrm>
            <a:off x="731520" y="5468112"/>
            <a:ext cx="10725912" cy="658368"/>
            <a:chOff x="731520" y="5468112"/>
            <a:chExt cx="10725912" cy="658368"/>
          </a:xfrm>
        </p:grpSpPr>
        <p:sp>
          <p:nvSpPr>
            <p:cNvPr id="24" name="Rounded Rectangle 23"/>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À retenir   </a:t>
              </a:r>
              <a:r>
                <a:rPr sz="1150">
                  <a:solidFill>
                    <a:srgbClr val="595959"/>
                  </a:solidFill>
                  <a:latin typeface="Lato"/>
                </a:rPr>
                <a:t>avant toute autre question, demander : peut-on ne pas faire, faire autrement, ou faire ailleurs ? C'est la seule question qui fait disparaître le risque.</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59"/>
                                        </p:tgtEl>
                                        <p:attrNameLst>
                                          <p:attrName>style.visibility</p:attrName>
                                        </p:attrNameLst>
                                      </p:cBhvr>
                                      <p:to>
                                        <p:strVal val="visible"/>
                                      </p:to>
                                    </p:set>
                                    <p:animEffect transition="in" filter="fade">
                                      <p:cBhvr>
                                        <p:cTn id="7" dur="450"/>
                                        <p:tgtEl>
                                          <p:spTgt spid="90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60"/>
                                        </p:tgtEl>
                                        <p:attrNameLst>
                                          <p:attrName>style.visibility</p:attrName>
                                        </p:attrNameLst>
                                      </p:cBhvr>
                                      <p:to>
                                        <p:strVal val="visible"/>
                                      </p:to>
                                    </p:set>
                                    <p:animEffect transition="in" filter="fade">
                                      <p:cBhvr>
                                        <p:cTn id="12" dur="450"/>
                                        <p:tgtEl>
                                          <p:spTgt spid="906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5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61"/>
                                        </p:tgtEl>
                                        <p:attrNameLst>
                                          <p:attrName>style.visibility</p:attrName>
                                        </p:attrNameLst>
                                      </p:cBhvr>
                                      <p:to>
                                        <p:strVal val="visible"/>
                                      </p:to>
                                    </p:set>
                                    <p:animEffect transition="in" filter="fade">
                                      <p:cBhvr>
                                        <p:cTn id="22" dur="450"/>
                                        <p:tgtEl>
                                          <p:spTgt spid="9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Principe 2 : Évaluer les risques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50</a:t>
            </a:r>
            <a:endParaRPr lang="en-US" sz="1000" dirty="0"/>
          </a:p>
        </p:txBody>
      </p:sp>
      <p:grpSp>
        <p:nvGrpSpPr>
          <p:cNvPr id="9062" name="Bloc 1"/>
          <p:cNvGrpSpPr/>
          <p:nvPr/>
        </p:nvGrpSpPr>
        <p:grpSpPr>
          <a:xfrm>
            <a:off x="731520" y="1920240"/>
            <a:ext cx="5577840" cy="1234440"/>
            <a:chOff x="731520" y="1920240"/>
            <a:chExt cx="5577840" cy="1234440"/>
          </a:xfrm>
        </p:grpSpPr>
        <p:sp>
          <p:nvSpPr>
            <p:cNvPr id="19" name="Rounded Rectangle 18"/>
            <p:cNvSpPr/>
            <p:nvPr/>
          </p:nvSpPr>
          <p:spPr>
            <a:xfrm>
              <a:off x="731520" y="1920240"/>
              <a:ext cx="5577840" cy="123444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84832"/>
              <a:ext cx="5029200" cy="274320"/>
            </a:xfrm>
            <a:prstGeom prst="rect">
              <a:avLst/>
            </a:prstGeom>
            <a:noFill/>
          </p:spPr>
          <p:txBody>
            <a:bodyPr wrap="square" lIns="0" tIns="0" rIns="0" bIns="0" anchor="t">
              <a:spAutoFit/>
            </a:bodyPr>
            <a:lstStyle/>
            <a:p>
              <a:pPr algn="l"/>
              <a:r>
                <a:rPr sz="1200" b="1" i="0">
                  <a:solidFill>
                    <a:srgbClr val="075767"/>
                  </a:solidFill>
                  <a:latin typeface="Lato"/>
                </a:rPr>
                <a:t>Article L. 4121-2 (code du travail)</a:t>
              </a:r>
            </a:p>
          </p:txBody>
        </p:sp>
        <p:sp>
          <p:nvSpPr>
            <p:cNvPr id="21" name="TextBox 20"/>
            <p:cNvSpPr txBox="1"/>
            <p:nvPr/>
          </p:nvSpPr>
          <p:spPr>
            <a:xfrm>
              <a:off x="1005840" y="2395728"/>
              <a:ext cx="5029200" cy="594360"/>
            </a:xfrm>
            <a:prstGeom prst="rect">
              <a:avLst/>
            </a:prstGeom>
            <a:noFill/>
          </p:spPr>
          <p:txBody>
            <a:bodyPr wrap="square" lIns="0" tIns="0" rIns="0" bIns="0" anchor="t">
              <a:spAutoFit/>
            </a:bodyPr>
            <a:lstStyle/>
            <a:p>
              <a:pPr algn="l"/>
              <a:r>
                <a:rPr sz="1150" b="0" i="1">
                  <a:solidFill>
                    <a:srgbClr val="075767"/>
                  </a:solidFill>
                  <a:latin typeface="Lato"/>
                </a:rPr>
                <a:t>2° Évaluer les risques qui ne peuvent pas être évités ;</a:t>
              </a:r>
            </a:p>
          </p:txBody>
        </p:sp>
      </p:grpSp>
      <p:sp>
        <p:nvSpPr>
          <p:cNvPr id="22" name="TextBox 21"/>
          <p:cNvSpPr txBox="1"/>
          <p:nvPr/>
        </p:nvSpPr>
        <p:spPr>
          <a:xfrm>
            <a:off x="731520" y="3410712"/>
            <a:ext cx="5577840" cy="1938527"/>
          </a:xfrm>
          <a:prstGeom prst="rect">
            <a:avLst/>
          </a:prstGeom>
          <a:noFill/>
        </p:spPr>
        <p:txBody>
          <a:bodyPr wrap="square" lIns="0" tIns="0" rIns="0" bIns="0">
            <a:spAutoFit/>
          </a:bodyPr>
          <a:lstStyle/>
          <a:p>
            <a:pPr>
              <a:spcAft>
                <a:spcPts val="700"/>
              </a:spcAft>
            </a:pPr>
            <a:r>
              <a:rPr sz="1300" b="1">
                <a:solidFill>
                  <a:srgbClr val="075767"/>
                </a:solidFill>
                <a:latin typeface="Lato"/>
              </a:rPr>
              <a:t>Le fondement du document unique</a:t>
            </a:r>
          </a:p>
          <a:p>
            <a:pPr lvl="1">
              <a:spcAft>
                <a:spcPts val="700"/>
              </a:spcAft>
            </a:pPr>
            <a:r>
              <a:rPr sz="1250" b="0">
                <a:solidFill>
                  <a:srgbClr val="595959"/>
                </a:solidFill>
                <a:latin typeface="Lato"/>
              </a:rPr>
              <a:t>Ce qui n'a pas pu être évité doit être identifié, coté et tracé. C'est l'objet du DUERP, et c'est ce que l'article L. 4121-3 impose à l'employeur.</a:t>
            </a:r>
          </a:p>
          <a:p>
            <a:pPr lvl="1">
              <a:spcAft>
                <a:spcPts val="700"/>
              </a:spcAft>
            </a:pPr>
            <a:r>
              <a:rPr sz="1250" b="0">
                <a:solidFill>
                  <a:srgbClr val="595959"/>
                </a:solidFill>
                <a:latin typeface="Lato"/>
              </a:rPr>
              <a:t>Le CSE et la CSSCT apportent leur contribution à cette évaluation : c'est écrit dans le code, ce n'est pas une faveur.</a:t>
            </a:r>
          </a:p>
        </p:txBody>
      </p:sp>
      <p:grpSp>
        <p:nvGrpSpPr>
          <p:cNvPr id="9063" name="Bloc 2"/>
          <p:cNvGrpSpPr/>
          <p:nvPr/>
        </p:nvGrpSpPr>
        <p:grpSpPr>
          <a:xfrm>
            <a:off x="6994632" y="1920240"/>
            <a:ext cx="4271304" cy="3374136"/>
            <a:chOff x="6994632" y="1920240"/>
            <a:chExt cx="4271304" cy="3374136"/>
          </a:xfrm>
        </p:grpSpPr>
        <p:sp>
          <p:nvSpPr>
            <p:cNvPr id="26" name="Rounded Rectangle 25"/>
            <p:cNvSpPr/>
            <p:nvPr/>
          </p:nvSpPr>
          <p:spPr>
            <a:xfrm>
              <a:off x="7122648" y="2048256"/>
              <a:ext cx="4143288" cy="324612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15.jpeg"/>
            <p:cNvPicPr>
              <a:picLocks noChangeAspect="1"/>
            </p:cNvPicPr>
            <p:nvPr/>
          </p:nvPicPr>
          <p:blipFill>
            <a:blip r:embed="rId4"/>
            <a:srcRect/>
            <a:stretch>
              <a:fillRect/>
            </a:stretch>
          </p:blipFill>
          <p:spPr>
            <a:xfrm>
              <a:off x="6994632" y="1920240"/>
              <a:ext cx="4143288" cy="324612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64" name="Bloc 4"/>
          <p:cNvGrpSpPr/>
          <p:nvPr/>
        </p:nvGrpSpPr>
        <p:grpSpPr>
          <a:xfrm>
            <a:off x="731520" y="5468112"/>
            <a:ext cx="10725912" cy="658368"/>
            <a:chOff x="731520" y="5468112"/>
            <a:chExt cx="10725912" cy="658368"/>
          </a:xfrm>
        </p:grpSpPr>
        <p:sp>
          <p:nvSpPr>
            <p:cNvPr id="24" name="Rounded Rectangle 23"/>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Point de vigilance   </a:t>
              </a:r>
              <a:r>
                <a:rPr sz="1150">
                  <a:solidFill>
                    <a:srgbClr val="595959"/>
                  </a:solidFill>
                  <a:latin typeface="Lato"/>
                </a:rPr>
                <a:t>un DUERP qui n'a pas été mis à jour depuis plus d'un an ferme aussi l'accès aux aides financières de la Carsat. L'argument porte auprès d'une direction.</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62"/>
                                        </p:tgtEl>
                                        <p:attrNameLst>
                                          <p:attrName>style.visibility</p:attrName>
                                        </p:attrNameLst>
                                      </p:cBhvr>
                                      <p:to>
                                        <p:strVal val="visible"/>
                                      </p:to>
                                    </p:set>
                                    <p:animEffect transition="in" filter="fade">
                                      <p:cBhvr>
                                        <p:cTn id="7" dur="450"/>
                                        <p:tgtEl>
                                          <p:spTgt spid="90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63"/>
                                        </p:tgtEl>
                                        <p:attrNameLst>
                                          <p:attrName>style.visibility</p:attrName>
                                        </p:attrNameLst>
                                      </p:cBhvr>
                                      <p:to>
                                        <p:strVal val="visible"/>
                                      </p:to>
                                    </p:set>
                                    <p:animEffect transition="in" filter="fade">
                                      <p:cBhvr>
                                        <p:cTn id="12" dur="450"/>
                                        <p:tgtEl>
                                          <p:spTgt spid="90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5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64"/>
                                        </p:tgtEl>
                                        <p:attrNameLst>
                                          <p:attrName>style.visibility</p:attrName>
                                        </p:attrNameLst>
                                      </p:cBhvr>
                                      <p:to>
                                        <p:strVal val="visible"/>
                                      </p:to>
                                    </p:set>
                                    <p:animEffect transition="in" filter="fade">
                                      <p:cBhvr>
                                        <p:cTn id="22" dur="450"/>
                                        <p:tgtEl>
                                          <p:spTgt spid="9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Principe 3 : Combattre à la source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51</a:t>
            </a:r>
            <a:endParaRPr lang="en-US" sz="1000" dirty="0"/>
          </a:p>
        </p:txBody>
      </p:sp>
      <p:grpSp>
        <p:nvGrpSpPr>
          <p:cNvPr id="9065" name="Bloc 1"/>
          <p:cNvGrpSpPr/>
          <p:nvPr/>
        </p:nvGrpSpPr>
        <p:grpSpPr>
          <a:xfrm>
            <a:off x="731520" y="1920240"/>
            <a:ext cx="5577840" cy="1234440"/>
            <a:chOff x="731520" y="1920240"/>
            <a:chExt cx="5577840" cy="1234440"/>
          </a:xfrm>
        </p:grpSpPr>
        <p:sp>
          <p:nvSpPr>
            <p:cNvPr id="19" name="Rounded Rectangle 18"/>
            <p:cNvSpPr/>
            <p:nvPr/>
          </p:nvSpPr>
          <p:spPr>
            <a:xfrm>
              <a:off x="731520" y="1920240"/>
              <a:ext cx="5577840" cy="123444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84832"/>
              <a:ext cx="5029200" cy="274320"/>
            </a:xfrm>
            <a:prstGeom prst="rect">
              <a:avLst/>
            </a:prstGeom>
            <a:noFill/>
          </p:spPr>
          <p:txBody>
            <a:bodyPr wrap="square" lIns="0" tIns="0" rIns="0" bIns="0" anchor="t">
              <a:spAutoFit/>
            </a:bodyPr>
            <a:lstStyle/>
            <a:p>
              <a:pPr algn="l"/>
              <a:r>
                <a:rPr sz="1200" b="1" i="0">
                  <a:solidFill>
                    <a:srgbClr val="075767"/>
                  </a:solidFill>
                  <a:latin typeface="Lato"/>
                </a:rPr>
                <a:t>Article L. 4121-2 (code du travail)</a:t>
              </a:r>
            </a:p>
          </p:txBody>
        </p:sp>
        <p:sp>
          <p:nvSpPr>
            <p:cNvPr id="21" name="TextBox 20"/>
            <p:cNvSpPr txBox="1"/>
            <p:nvPr/>
          </p:nvSpPr>
          <p:spPr>
            <a:xfrm>
              <a:off x="1005840" y="2395728"/>
              <a:ext cx="5029200" cy="594360"/>
            </a:xfrm>
            <a:prstGeom prst="rect">
              <a:avLst/>
            </a:prstGeom>
            <a:noFill/>
          </p:spPr>
          <p:txBody>
            <a:bodyPr wrap="square" lIns="0" tIns="0" rIns="0" bIns="0" anchor="t">
              <a:spAutoFit/>
            </a:bodyPr>
            <a:lstStyle/>
            <a:p>
              <a:pPr algn="l"/>
              <a:r>
                <a:rPr sz="1150" b="0" i="1">
                  <a:solidFill>
                    <a:srgbClr val="075767"/>
                  </a:solidFill>
                  <a:latin typeface="Lato"/>
                </a:rPr>
                <a:t>3° Combattre les risques à la source ;</a:t>
              </a:r>
            </a:p>
          </p:txBody>
        </p:sp>
      </p:grpSp>
      <p:sp>
        <p:nvSpPr>
          <p:cNvPr id="22" name="TextBox 21"/>
          <p:cNvSpPr txBox="1"/>
          <p:nvPr/>
        </p:nvSpPr>
        <p:spPr>
          <a:xfrm>
            <a:off x="731520" y="3410712"/>
            <a:ext cx="5577840" cy="1938527"/>
          </a:xfrm>
          <a:prstGeom prst="rect">
            <a:avLst/>
          </a:prstGeom>
          <a:noFill/>
        </p:spPr>
        <p:txBody>
          <a:bodyPr wrap="square" lIns="0" tIns="0" rIns="0" bIns="0">
            <a:spAutoFit/>
          </a:bodyPr>
          <a:lstStyle/>
          <a:p>
            <a:pPr>
              <a:spcAft>
                <a:spcPts val="700"/>
              </a:spcAft>
            </a:pPr>
            <a:r>
              <a:rPr sz="1300" b="1">
                <a:solidFill>
                  <a:srgbClr val="075767"/>
                </a:solidFill>
                <a:latin typeface="Lato"/>
              </a:rPr>
              <a:t>Agir sur la cause, pas sur ses effets</a:t>
            </a:r>
          </a:p>
          <a:p>
            <a:pPr lvl="1">
              <a:spcAft>
                <a:spcPts val="700"/>
              </a:spcAft>
            </a:pPr>
            <a:r>
              <a:rPr sz="1250" b="0">
                <a:solidFill>
                  <a:srgbClr val="595959"/>
                </a:solidFill>
                <a:latin typeface="Lato"/>
              </a:rPr>
              <a:t>Capter la poussière là où elle est produite plutôt que distribuer des masques. Traiter le bruit à la machine plutôt qu'au casque.</a:t>
            </a:r>
          </a:p>
          <a:p>
            <a:pPr lvl="1">
              <a:spcAft>
                <a:spcPts val="700"/>
              </a:spcAft>
            </a:pPr>
            <a:r>
              <a:rPr sz="1250" b="0">
                <a:solidFill>
                  <a:srgbClr val="595959"/>
                </a:solidFill>
                <a:latin typeface="Lato"/>
              </a:rPr>
              <a:t>Sur les photos : aspiration intégrée à l'outil, et curage par aspiration qui évite la descente d'un opérateur dans l'ouvrage.</a:t>
            </a:r>
          </a:p>
        </p:txBody>
      </p:sp>
      <p:grpSp>
        <p:nvGrpSpPr>
          <p:cNvPr id="9066" name="Bloc 2"/>
          <p:cNvGrpSpPr/>
          <p:nvPr/>
        </p:nvGrpSpPr>
        <p:grpSpPr>
          <a:xfrm>
            <a:off x="7388555" y="1263814"/>
            <a:ext cx="3582416" cy="1682496"/>
            <a:chOff x="7339076" y="1920240"/>
            <a:chExt cx="3582416" cy="1682496"/>
          </a:xfrm>
        </p:grpSpPr>
        <p:sp>
          <p:nvSpPr>
            <p:cNvPr id="27" name="Rounded Rectangle 26"/>
            <p:cNvSpPr/>
            <p:nvPr/>
          </p:nvSpPr>
          <p:spPr>
            <a:xfrm>
              <a:off x="7467092" y="2048256"/>
              <a:ext cx="3454400" cy="15544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17.png"/>
            <p:cNvPicPr>
              <a:picLocks noChangeAspect="1"/>
            </p:cNvPicPr>
            <p:nvPr/>
          </p:nvPicPr>
          <p:blipFill>
            <a:blip r:embed="rId4"/>
            <a:srcRect/>
            <a:stretch>
              <a:fillRect/>
            </a:stretch>
          </p:blipFill>
          <p:spPr>
            <a:xfrm>
              <a:off x="7339076" y="1920240"/>
              <a:ext cx="3454400" cy="15544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68" name="Bloc 5"/>
          <p:cNvGrpSpPr/>
          <p:nvPr/>
        </p:nvGrpSpPr>
        <p:grpSpPr>
          <a:xfrm>
            <a:off x="731520" y="5468112"/>
            <a:ext cx="10725912" cy="658368"/>
            <a:chOff x="731520" y="5468112"/>
            <a:chExt cx="10725912" cy="658368"/>
          </a:xfrm>
        </p:grpSpPr>
        <p:sp>
          <p:nvSpPr>
            <p:cNvPr id="25" name="Rounded Rectangle 24"/>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À retenir   </a:t>
              </a:r>
              <a:r>
                <a:rPr sz="1150">
                  <a:solidFill>
                    <a:srgbClr val="595959"/>
                  </a:solidFill>
                  <a:latin typeface="Lato"/>
                </a:rPr>
                <a:t>quand l'employeur propose un EPI, demander ce qui a été examiné en amont. L'EPI est le principe 8, pas le principe 3.</a:t>
              </a:r>
            </a:p>
          </p:txBody>
        </p:sp>
      </p:grpSp>
      <p:pic>
        <p:nvPicPr>
          <p:cNvPr id="10" name="Image 9">
            <a:extLst>
              <a:ext uri="{FF2B5EF4-FFF2-40B4-BE49-F238E27FC236}">
                <a16:creationId xmlns:a16="http://schemas.microsoft.com/office/drawing/2014/main" id="{BE2C29EA-04B3-F0A2-66FB-12D7CA5C493C}"/>
              </a:ext>
            </a:extLst>
          </p:cNvPr>
          <p:cNvPicPr>
            <a:picLocks noChangeAspect="1"/>
          </p:cNvPicPr>
          <p:nvPr/>
        </p:nvPicPr>
        <p:blipFill>
          <a:blip r:embed="rId5"/>
          <a:stretch>
            <a:fillRect/>
          </a:stretch>
        </p:blipFill>
        <p:spPr>
          <a:xfrm>
            <a:off x="7500823" y="3193197"/>
            <a:ext cx="3310128" cy="2208328"/>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65"/>
                                        </p:tgtEl>
                                        <p:attrNameLst>
                                          <p:attrName>style.visibility</p:attrName>
                                        </p:attrNameLst>
                                      </p:cBhvr>
                                      <p:to>
                                        <p:strVal val="visible"/>
                                      </p:to>
                                    </p:set>
                                    <p:animEffect transition="in" filter="fade">
                                      <p:cBhvr>
                                        <p:cTn id="7" dur="450"/>
                                        <p:tgtEl>
                                          <p:spTgt spid="90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66"/>
                                        </p:tgtEl>
                                        <p:attrNameLst>
                                          <p:attrName>style.visibility</p:attrName>
                                        </p:attrNameLst>
                                      </p:cBhvr>
                                      <p:to>
                                        <p:strVal val="visible"/>
                                      </p:to>
                                    </p:set>
                                    <p:animEffect transition="in" filter="fade">
                                      <p:cBhvr>
                                        <p:cTn id="12" dur="450"/>
                                        <p:tgtEl>
                                          <p:spTgt spid="90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5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68"/>
                                        </p:tgtEl>
                                        <p:attrNameLst>
                                          <p:attrName>style.visibility</p:attrName>
                                        </p:attrNameLst>
                                      </p:cBhvr>
                                      <p:to>
                                        <p:strVal val="visible"/>
                                      </p:to>
                                    </p:set>
                                    <p:animEffect transition="in" filter="fade">
                                      <p:cBhvr>
                                        <p:cTn id="22" dur="450"/>
                                        <p:tgtEl>
                                          <p:spTgt spid="9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Principe 4 : Adapter le travail à l'homme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52</a:t>
            </a:r>
            <a:endParaRPr lang="en-US" sz="1000" dirty="0"/>
          </a:p>
        </p:txBody>
      </p:sp>
      <p:grpSp>
        <p:nvGrpSpPr>
          <p:cNvPr id="9069" name="Bloc 1"/>
          <p:cNvGrpSpPr/>
          <p:nvPr/>
        </p:nvGrpSpPr>
        <p:grpSpPr>
          <a:xfrm>
            <a:off x="731520" y="1920240"/>
            <a:ext cx="5577840" cy="2103120"/>
            <a:chOff x="731520" y="1920240"/>
            <a:chExt cx="5577840" cy="2103120"/>
          </a:xfrm>
        </p:grpSpPr>
        <p:sp>
          <p:nvSpPr>
            <p:cNvPr id="19" name="Rounded Rectangle 18"/>
            <p:cNvSpPr/>
            <p:nvPr/>
          </p:nvSpPr>
          <p:spPr>
            <a:xfrm>
              <a:off x="731520" y="1920240"/>
              <a:ext cx="5577840" cy="210312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84832"/>
              <a:ext cx="5029200" cy="274320"/>
            </a:xfrm>
            <a:prstGeom prst="rect">
              <a:avLst/>
            </a:prstGeom>
            <a:noFill/>
          </p:spPr>
          <p:txBody>
            <a:bodyPr wrap="square" lIns="0" tIns="0" rIns="0" bIns="0" anchor="t">
              <a:spAutoFit/>
            </a:bodyPr>
            <a:lstStyle/>
            <a:p>
              <a:pPr algn="l"/>
              <a:r>
                <a:rPr sz="1200" b="1" i="0">
                  <a:solidFill>
                    <a:srgbClr val="075767"/>
                  </a:solidFill>
                  <a:latin typeface="Lato"/>
                </a:rPr>
                <a:t>Article L. 4121-2 (code du travail)</a:t>
              </a:r>
            </a:p>
          </p:txBody>
        </p:sp>
        <p:sp>
          <p:nvSpPr>
            <p:cNvPr id="21" name="TextBox 20"/>
            <p:cNvSpPr txBox="1"/>
            <p:nvPr/>
          </p:nvSpPr>
          <p:spPr>
            <a:xfrm>
              <a:off x="1005840" y="2395728"/>
              <a:ext cx="5029200" cy="1463039"/>
            </a:xfrm>
            <a:prstGeom prst="rect">
              <a:avLst/>
            </a:prstGeom>
            <a:noFill/>
          </p:spPr>
          <p:txBody>
            <a:bodyPr wrap="square" lIns="0" tIns="0" rIns="0" bIns="0" anchor="t">
              <a:spAutoFit/>
            </a:bodyPr>
            <a:lstStyle/>
            <a:p>
              <a:pPr algn="l"/>
              <a:r>
                <a:rPr sz="1150" b="0" i="1">
                  <a:solidFill>
                    <a:srgbClr val="075767"/>
                  </a:solidFill>
                  <a:latin typeface="Lato"/>
                </a:rPr>
                <a:t>4° Adapter le travail à l'homme, en particulier en ce qui concerne la conception des postes de travail ainsi que le choix des équipements de travail et des méthodes de travail et de production, en vue notamment de limiter le travail monotone et le travail cadencé et de réduire les effets de ceux-ci sur la santé ;</a:t>
              </a:r>
            </a:p>
          </p:txBody>
        </p:sp>
      </p:grpSp>
      <p:sp>
        <p:nvSpPr>
          <p:cNvPr id="22" name="TextBox 21"/>
          <p:cNvSpPr txBox="1"/>
          <p:nvPr/>
        </p:nvSpPr>
        <p:spPr>
          <a:xfrm>
            <a:off x="731520" y="4279392"/>
            <a:ext cx="5577840" cy="1188720"/>
          </a:xfrm>
          <a:prstGeom prst="rect">
            <a:avLst/>
          </a:prstGeom>
          <a:noFill/>
        </p:spPr>
        <p:txBody>
          <a:bodyPr wrap="square" lIns="0" tIns="0" rIns="0" bIns="0">
            <a:spAutoFit/>
          </a:bodyPr>
          <a:lstStyle/>
          <a:p>
            <a:pPr>
              <a:spcAft>
                <a:spcPts val="700"/>
              </a:spcAft>
            </a:pPr>
            <a:r>
              <a:rPr sz="1100" b="1">
                <a:solidFill>
                  <a:srgbClr val="075767"/>
                </a:solidFill>
                <a:latin typeface="Lato"/>
              </a:rPr>
              <a:t>C'est le travail qui s'adapte, pas l'inverse</a:t>
            </a:r>
          </a:p>
          <a:p>
            <a:pPr lvl="1">
              <a:spcAft>
                <a:spcPts val="700"/>
              </a:spcAft>
            </a:pPr>
            <a:r>
              <a:rPr sz="1050" b="0">
                <a:solidFill>
                  <a:srgbClr val="595959"/>
                </a:solidFill>
                <a:latin typeface="Lato"/>
              </a:rPr>
              <a:t>Conception des postes, choix des équipements, choix des méthodes : les trois leviers sont cités par la loi.</a:t>
            </a:r>
          </a:p>
          <a:p>
            <a:pPr lvl="1">
              <a:spcAft>
                <a:spcPts val="700"/>
              </a:spcAft>
            </a:pPr>
            <a:r>
              <a:rPr sz="1050" b="0">
                <a:solidFill>
                  <a:srgbClr val="595959"/>
                </a:solidFill>
                <a:latin typeface="Lato"/>
              </a:rPr>
              <a:t>Le travail monotone et le travail cadencé sont nommés expressément. C'est la base juridique pour porter un sujet d'organisation, pas seulement de matériel.</a:t>
            </a:r>
          </a:p>
        </p:txBody>
      </p:sp>
      <p:grpSp>
        <p:nvGrpSpPr>
          <p:cNvPr id="9070" name="Bloc 2"/>
          <p:cNvGrpSpPr/>
          <p:nvPr/>
        </p:nvGrpSpPr>
        <p:grpSpPr>
          <a:xfrm>
            <a:off x="6802534" y="1920240"/>
            <a:ext cx="4655499" cy="3374136"/>
            <a:chOff x="6802534" y="1920240"/>
            <a:chExt cx="4655499" cy="3374136"/>
          </a:xfrm>
        </p:grpSpPr>
        <p:sp>
          <p:nvSpPr>
            <p:cNvPr id="26" name="Rounded Rectangle 25"/>
            <p:cNvSpPr/>
            <p:nvPr/>
          </p:nvSpPr>
          <p:spPr>
            <a:xfrm>
              <a:off x="6930550" y="2048256"/>
              <a:ext cx="4527483" cy="324612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19.jpeg"/>
            <p:cNvPicPr>
              <a:picLocks noChangeAspect="1"/>
            </p:cNvPicPr>
            <p:nvPr/>
          </p:nvPicPr>
          <p:blipFill>
            <a:blip r:embed="rId4"/>
            <a:srcRect/>
            <a:stretch>
              <a:fillRect/>
            </a:stretch>
          </p:blipFill>
          <p:spPr>
            <a:xfrm>
              <a:off x="6802534" y="1920240"/>
              <a:ext cx="4527483" cy="324612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71" name="Bloc 4"/>
          <p:cNvGrpSpPr/>
          <p:nvPr/>
        </p:nvGrpSpPr>
        <p:grpSpPr>
          <a:xfrm>
            <a:off x="731520" y="5468112"/>
            <a:ext cx="10725912" cy="658368"/>
            <a:chOff x="731520" y="5468112"/>
            <a:chExt cx="10725912" cy="658368"/>
          </a:xfrm>
        </p:grpSpPr>
        <p:sp>
          <p:nvSpPr>
            <p:cNvPr id="24" name="Rounded Rectangle 23"/>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À retenir   c'est l'alinéa le plus détaillé des neuf. Il fonde la compétence du comité sur l'organisation et les méthodes de travail, et pas seulement sur les équipements.</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69"/>
                                        </p:tgtEl>
                                        <p:attrNameLst>
                                          <p:attrName>style.visibility</p:attrName>
                                        </p:attrNameLst>
                                      </p:cBhvr>
                                      <p:to>
                                        <p:strVal val="visible"/>
                                      </p:to>
                                    </p:set>
                                    <p:animEffect transition="in" filter="fade">
                                      <p:cBhvr>
                                        <p:cTn id="7" dur="450"/>
                                        <p:tgtEl>
                                          <p:spTgt spid="90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70"/>
                                        </p:tgtEl>
                                        <p:attrNameLst>
                                          <p:attrName>style.visibility</p:attrName>
                                        </p:attrNameLst>
                                      </p:cBhvr>
                                      <p:to>
                                        <p:strVal val="visible"/>
                                      </p:to>
                                    </p:set>
                                    <p:animEffect transition="in" filter="fade">
                                      <p:cBhvr>
                                        <p:cTn id="12" dur="450"/>
                                        <p:tgtEl>
                                          <p:spTgt spid="907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5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71"/>
                                        </p:tgtEl>
                                        <p:attrNameLst>
                                          <p:attrName>style.visibility</p:attrName>
                                        </p:attrNameLst>
                                      </p:cBhvr>
                                      <p:to>
                                        <p:strVal val="visible"/>
                                      </p:to>
                                    </p:set>
                                    <p:animEffect transition="in" filter="fade">
                                      <p:cBhvr>
                                        <p:cTn id="22" dur="450"/>
                                        <p:tgtEl>
                                          <p:spTgt spid="9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Principe 5 : L'évolution de la technique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53</a:t>
            </a:r>
            <a:endParaRPr lang="en-US" sz="1000" dirty="0"/>
          </a:p>
        </p:txBody>
      </p:sp>
      <p:grpSp>
        <p:nvGrpSpPr>
          <p:cNvPr id="9072" name="Bloc 1"/>
          <p:cNvGrpSpPr/>
          <p:nvPr/>
        </p:nvGrpSpPr>
        <p:grpSpPr>
          <a:xfrm>
            <a:off x="731520" y="1920240"/>
            <a:ext cx="5577840" cy="1234440"/>
            <a:chOff x="731520" y="1920240"/>
            <a:chExt cx="5577840" cy="1234440"/>
          </a:xfrm>
        </p:grpSpPr>
        <p:sp>
          <p:nvSpPr>
            <p:cNvPr id="19" name="Rounded Rectangle 18"/>
            <p:cNvSpPr/>
            <p:nvPr/>
          </p:nvSpPr>
          <p:spPr>
            <a:xfrm>
              <a:off x="731520" y="1920240"/>
              <a:ext cx="5577840" cy="123444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84832"/>
              <a:ext cx="5029200" cy="274320"/>
            </a:xfrm>
            <a:prstGeom prst="rect">
              <a:avLst/>
            </a:prstGeom>
            <a:noFill/>
          </p:spPr>
          <p:txBody>
            <a:bodyPr wrap="square" lIns="0" tIns="0" rIns="0" bIns="0" anchor="t">
              <a:spAutoFit/>
            </a:bodyPr>
            <a:lstStyle/>
            <a:p>
              <a:pPr algn="l"/>
              <a:r>
                <a:rPr sz="1200" b="1" i="0">
                  <a:solidFill>
                    <a:srgbClr val="075767"/>
                  </a:solidFill>
                  <a:latin typeface="Lato"/>
                </a:rPr>
                <a:t>Article L. 4121-2 (code du travail)</a:t>
              </a:r>
            </a:p>
          </p:txBody>
        </p:sp>
        <p:sp>
          <p:nvSpPr>
            <p:cNvPr id="21" name="TextBox 20"/>
            <p:cNvSpPr txBox="1"/>
            <p:nvPr/>
          </p:nvSpPr>
          <p:spPr>
            <a:xfrm>
              <a:off x="1005840" y="2395728"/>
              <a:ext cx="5029200" cy="594360"/>
            </a:xfrm>
            <a:prstGeom prst="rect">
              <a:avLst/>
            </a:prstGeom>
            <a:noFill/>
          </p:spPr>
          <p:txBody>
            <a:bodyPr wrap="square" lIns="0" tIns="0" rIns="0" bIns="0" anchor="t">
              <a:spAutoFit/>
            </a:bodyPr>
            <a:lstStyle/>
            <a:p>
              <a:pPr algn="l"/>
              <a:r>
                <a:rPr sz="1150" b="0" i="1">
                  <a:solidFill>
                    <a:srgbClr val="075767"/>
                  </a:solidFill>
                  <a:latin typeface="Lato"/>
                </a:rPr>
                <a:t>5° Tenir compte de l'état d'évolution de la technique ;</a:t>
              </a:r>
            </a:p>
          </p:txBody>
        </p:sp>
      </p:grpSp>
      <p:sp>
        <p:nvSpPr>
          <p:cNvPr id="22" name="TextBox 21"/>
          <p:cNvSpPr txBox="1"/>
          <p:nvPr/>
        </p:nvSpPr>
        <p:spPr>
          <a:xfrm>
            <a:off x="731520" y="3410712"/>
            <a:ext cx="5577840" cy="1938527"/>
          </a:xfrm>
          <a:prstGeom prst="rect">
            <a:avLst/>
          </a:prstGeom>
          <a:noFill/>
        </p:spPr>
        <p:txBody>
          <a:bodyPr wrap="square" lIns="0" tIns="0" rIns="0" bIns="0">
            <a:spAutoFit/>
          </a:bodyPr>
          <a:lstStyle/>
          <a:p>
            <a:pPr>
              <a:spcAft>
                <a:spcPts val="700"/>
              </a:spcAft>
            </a:pPr>
            <a:r>
              <a:rPr sz="1300" b="1">
                <a:solidFill>
                  <a:srgbClr val="075767"/>
                </a:solidFill>
                <a:latin typeface="Lato"/>
              </a:rPr>
              <a:t>Ce qui était acceptable hier ne l'est plus</a:t>
            </a:r>
          </a:p>
          <a:p>
            <a:pPr lvl="1">
              <a:spcAft>
                <a:spcPts val="700"/>
              </a:spcAft>
            </a:pPr>
            <a:r>
              <a:rPr sz="1250" b="0">
                <a:solidFill>
                  <a:srgbClr val="595959"/>
                </a:solidFill>
                <a:latin typeface="Lato"/>
              </a:rPr>
              <a:t>Dès qu'une solution moins dangereuse existe et qu'elle est disponible sur le marché, le maintien de l'ancienne devient discutable.</a:t>
            </a:r>
          </a:p>
          <a:p>
            <a:pPr lvl="1">
              <a:spcAft>
                <a:spcPts val="700"/>
              </a:spcAft>
            </a:pPr>
            <a:r>
              <a:rPr sz="1250" b="0">
                <a:solidFill>
                  <a:srgbClr val="595959"/>
                </a:solidFill>
                <a:latin typeface="Lato"/>
              </a:rPr>
              <a:t>Sur les photos : le canari du mineur, puis le détecteur de gaz. Même fonction, même risque, un siècle d'écart.</a:t>
            </a:r>
          </a:p>
        </p:txBody>
      </p:sp>
      <p:grpSp>
        <p:nvGrpSpPr>
          <p:cNvPr id="9073" name="Bloc 2"/>
          <p:cNvGrpSpPr/>
          <p:nvPr/>
        </p:nvGrpSpPr>
        <p:grpSpPr>
          <a:xfrm>
            <a:off x="8024614" y="1920240"/>
            <a:ext cx="2211339" cy="1682496"/>
            <a:chOff x="8024614" y="1920240"/>
            <a:chExt cx="2211339" cy="1682496"/>
          </a:xfrm>
        </p:grpSpPr>
        <p:sp>
          <p:nvSpPr>
            <p:cNvPr id="27" name="Rounded Rectangle 26"/>
            <p:cNvSpPr/>
            <p:nvPr/>
          </p:nvSpPr>
          <p:spPr>
            <a:xfrm>
              <a:off x="8152630" y="2048256"/>
              <a:ext cx="2083323" cy="15544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23.jpeg"/>
            <p:cNvPicPr>
              <a:picLocks noChangeAspect="1"/>
            </p:cNvPicPr>
            <p:nvPr/>
          </p:nvPicPr>
          <p:blipFill>
            <a:blip r:embed="rId4"/>
            <a:srcRect/>
            <a:stretch>
              <a:fillRect/>
            </a:stretch>
          </p:blipFill>
          <p:spPr>
            <a:xfrm>
              <a:off x="8024614" y="1920240"/>
              <a:ext cx="2083323" cy="15544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74" name="Bloc 4"/>
          <p:cNvGrpSpPr/>
          <p:nvPr/>
        </p:nvGrpSpPr>
        <p:grpSpPr>
          <a:xfrm>
            <a:off x="8289036" y="3611880"/>
            <a:ext cx="1682496" cy="1682496"/>
            <a:chOff x="8289036" y="3611880"/>
            <a:chExt cx="1682496" cy="1682496"/>
          </a:xfrm>
        </p:grpSpPr>
        <p:sp>
          <p:nvSpPr>
            <p:cNvPr id="28" name="Rounded Rectangle 27"/>
            <p:cNvSpPr/>
            <p:nvPr/>
          </p:nvSpPr>
          <p:spPr>
            <a:xfrm>
              <a:off x="8417052" y="3739896"/>
              <a:ext cx="1554480" cy="15544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image22.jpeg"/>
            <p:cNvPicPr>
              <a:picLocks noChangeAspect="1"/>
            </p:cNvPicPr>
            <p:nvPr/>
          </p:nvPicPr>
          <p:blipFill>
            <a:blip r:embed="rId5"/>
            <a:srcRect/>
            <a:stretch>
              <a:fillRect/>
            </a:stretch>
          </p:blipFill>
          <p:spPr>
            <a:xfrm>
              <a:off x="8289036" y="3611880"/>
              <a:ext cx="1554480" cy="15544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75" name="Bloc 5"/>
          <p:cNvGrpSpPr/>
          <p:nvPr/>
        </p:nvGrpSpPr>
        <p:grpSpPr>
          <a:xfrm>
            <a:off x="731520" y="5468112"/>
            <a:ext cx="10725912" cy="658368"/>
            <a:chOff x="731520" y="5468112"/>
            <a:chExt cx="10725912" cy="658368"/>
          </a:xfrm>
        </p:grpSpPr>
        <p:sp>
          <p:nvSpPr>
            <p:cNvPr id="25" name="Rounded Rectangle 24"/>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À retenir   </a:t>
              </a:r>
              <a:r>
                <a:rPr sz="1150">
                  <a:solidFill>
                    <a:srgbClr val="595959"/>
                  </a:solidFill>
                  <a:latin typeface="Lato"/>
                </a:rPr>
                <a:t>« on a toujours fait comme ça » n'est pas une réponse recevable. Demander quand le choix technique a été réexaminé pour la dernière fois.</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72"/>
                                        </p:tgtEl>
                                        <p:attrNameLst>
                                          <p:attrName>style.visibility</p:attrName>
                                        </p:attrNameLst>
                                      </p:cBhvr>
                                      <p:to>
                                        <p:strVal val="visible"/>
                                      </p:to>
                                    </p:set>
                                    <p:animEffect transition="in" filter="fade">
                                      <p:cBhvr>
                                        <p:cTn id="7" dur="450"/>
                                        <p:tgtEl>
                                          <p:spTgt spid="907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73"/>
                                        </p:tgtEl>
                                        <p:attrNameLst>
                                          <p:attrName>style.visibility</p:attrName>
                                        </p:attrNameLst>
                                      </p:cBhvr>
                                      <p:to>
                                        <p:strVal val="visible"/>
                                      </p:to>
                                    </p:set>
                                    <p:animEffect transition="in" filter="fade">
                                      <p:cBhvr>
                                        <p:cTn id="12" dur="450"/>
                                        <p:tgtEl>
                                          <p:spTgt spid="907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5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74"/>
                                        </p:tgtEl>
                                        <p:attrNameLst>
                                          <p:attrName>style.visibility</p:attrName>
                                        </p:attrNameLst>
                                      </p:cBhvr>
                                      <p:to>
                                        <p:strVal val="visible"/>
                                      </p:to>
                                    </p:set>
                                    <p:animEffect transition="in" filter="fade">
                                      <p:cBhvr>
                                        <p:cTn id="22" dur="450"/>
                                        <p:tgtEl>
                                          <p:spTgt spid="907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075"/>
                                        </p:tgtEl>
                                        <p:attrNameLst>
                                          <p:attrName>style.visibility</p:attrName>
                                        </p:attrNameLst>
                                      </p:cBhvr>
                                      <p:to>
                                        <p:strVal val="visible"/>
                                      </p:to>
                                    </p:set>
                                    <p:animEffect transition="in" filter="fade">
                                      <p:cBhvr>
                                        <p:cTn id="27" dur="450"/>
                                        <p:tgtEl>
                                          <p:spTgt spid="9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800" b="1" kern="0" spc="-150" dirty="0">
                <a:solidFill>
                  <a:srgbClr val="075767"/>
                </a:solidFill>
                <a:latin typeface="Lato" pitchFamily="34" charset="0"/>
                <a:ea typeface="Lato" pitchFamily="34" charset="-122"/>
                <a:cs typeface="Lato" pitchFamily="34" charset="-120"/>
              </a:rPr>
              <a:t>Principe 6 : Remplacer ce qui est dangereux</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54</a:t>
            </a:r>
            <a:endParaRPr lang="en-US" sz="1000" dirty="0"/>
          </a:p>
        </p:txBody>
      </p:sp>
      <p:grpSp>
        <p:nvGrpSpPr>
          <p:cNvPr id="9076" name="Bloc 1"/>
          <p:cNvGrpSpPr/>
          <p:nvPr/>
        </p:nvGrpSpPr>
        <p:grpSpPr>
          <a:xfrm>
            <a:off x="731520" y="1920240"/>
            <a:ext cx="5577840" cy="1234440"/>
            <a:chOff x="731520" y="1920240"/>
            <a:chExt cx="5577840" cy="1234440"/>
          </a:xfrm>
        </p:grpSpPr>
        <p:sp>
          <p:nvSpPr>
            <p:cNvPr id="19" name="Rounded Rectangle 18"/>
            <p:cNvSpPr/>
            <p:nvPr/>
          </p:nvSpPr>
          <p:spPr>
            <a:xfrm>
              <a:off x="731520" y="1920240"/>
              <a:ext cx="5577840" cy="123444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84832"/>
              <a:ext cx="5029200" cy="274320"/>
            </a:xfrm>
            <a:prstGeom prst="rect">
              <a:avLst/>
            </a:prstGeom>
            <a:noFill/>
          </p:spPr>
          <p:txBody>
            <a:bodyPr wrap="square" lIns="0" tIns="0" rIns="0" bIns="0" anchor="t">
              <a:spAutoFit/>
            </a:bodyPr>
            <a:lstStyle/>
            <a:p>
              <a:pPr algn="l"/>
              <a:r>
                <a:rPr sz="1200" b="1" i="0">
                  <a:solidFill>
                    <a:srgbClr val="075767"/>
                  </a:solidFill>
                  <a:latin typeface="Lato"/>
                </a:rPr>
                <a:t>Article L. 4121-2 (code du travail)</a:t>
              </a:r>
            </a:p>
          </p:txBody>
        </p:sp>
        <p:sp>
          <p:nvSpPr>
            <p:cNvPr id="21" name="TextBox 20"/>
            <p:cNvSpPr txBox="1"/>
            <p:nvPr/>
          </p:nvSpPr>
          <p:spPr>
            <a:xfrm>
              <a:off x="1005840" y="2395728"/>
              <a:ext cx="5029200" cy="594360"/>
            </a:xfrm>
            <a:prstGeom prst="rect">
              <a:avLst/>
            </a:prstGeom>
            <a:noFill/>
          </p:spPr>
          <p:txBody>
            <a:bodyPr wrap="square" lIns="0" tIns="0" rIns="0" bIns="0" anchor="t">
              <a:spAutoFit/>
            </a:bodyPr>
            <a:lstStyle/>
            <a:p>
              <a:pPr algn="l"/>
              <a:r>
                <a:rPr sz="1150" b="0" i="1">
                  <a:solidFill>
                    <a:srgbClr val="075767"/>
                  </a:solidFill>
                  <a:latin typeface="Lato"/>
                </a:rPr>
                <a:t>6° Remplacer ce qui est dangereux par ce qui n'est pas dangereux ou par ce qui est moins dangereux ;</a:t>
              </a:r>
            </a:p>
          </p:txBody>
        </p:sp>
      </p:grpSp>
      <p:sp>
        <p:nvSpPr>
          <p:cNvPr id="22" name="TextBox 21"/>
          <p:cNvSpPr txBox="1"/>
          <p:nvPr/>
        </p:nvSpPr>
        <p:spPr>
          <a:xfrm>
            <a:off x="731520" y="3410712"/>
            <a:ext cx="5577840" cy="1938527"/>
          </a:xfrm>
          <a:prstGeom prst="rect">
            <a:avLst/>
          </a:prstGeom>
          <a:noFill/>
        </p:spPr>
        <p:txBody>
          <a:bodyPr wrap="square" lIns="0" tIns="0" rIns="0" bIns="0">
            <a:spAutoFit/>
          </a:bodyPr>
          <a:lstStyle/>
          <a:p>
            <a:pPr>
              <a:spcAft>
                <a:spcPts val="700"/>
              </a:spcAft>
            </a:pPr>
            <a:r>
              <a:rPr sz="1300" b="1">
                <a:solidFill>
                  <a:srgbClr val="075767"/>
                </a:solidFill>
                <a:latin typeface="Lato"/>
              </a:rPr>
              <a:t>La substitution</a:t>
            </a:r>
          </a:p>
          <a:p>
            <a:pPr lvl="1">
              <a:spcAft>
                <a:spcPts val="700"/>
              </a:spcAft>
            </a:pPr>
            <a:r>
              <a:rPr sz="1250" b="0">
                <a:solidFill>
                  <a:srgbClr val="595959"/>
                </a:solidFill>
                <a:latin typeface="Lato"/>
              </a:rPr>
              <a:t>Un produit, un procédé, un équipement. C'est le principe qui structure toute la prévention du risque chimique.</a:t>
            </a:r>
          </a:p>
          <a:p>
            <a:pPr lvl="1">
              <a:spcAft>
                <a:spcPts val="700"/>
              </a:spcAft>
            </a:pPr>
            <a:r>
              <a:rPr sz="1250" b="0">
                <a:solidFill>
                  <a:srgbClr val="595959"/>
                </a:solidFill>
                <a:latin typeface="Lato"/>
              </a:rPr>
              <a:t>Les pictogrammes CLP sont l'entrée la plus simple : à chaque pictogramme sur une fiche de données de sécurité, la question de la substitution doit avoir été posée par écrit.</a:t>
            </a:r>
          </a:p>
        </p:txBody>
      </p:sp>
      <p:grpSp>
        <p:nvGrpSpPr>
          <p:cNvPr id="9077" name="Bloc 2"/>
          <p:cNvGrpSpPr/>
          <p:nvPr/>
        </p:nvGrpSpPr>
        <p:grpSpPr>
          <a:xfrm>
            <a:off x="6675120" y="2204253"/>
            <a:ext cx="4910328" cy="2806110"/>
            <a:chOff x="6675120" y="2204253"/>
            <a:chExt cx="4910328" cy="2806110"/>
          </a:xfrm>
        </p:grpSpPr>
        <p:sp>
          <p:nvSpPr>
            <p:cNvPr id="26" name="Rounded Rectangle 25"/>
            <p:cNvSpPr/>
            <p:nvPr/>
          </p:nvSpPr>
          <p:spPr>
            <a:xfrm>
              <a:off x="6803136" y="2332269"/>
              <a:ext cx="4782312" cy="2678094"/>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24.png"/>
            <p:cNvPicPr>
              <a:picLocks noChangeAspect="1"/>
            </p:cNvPicPr>
            <p:nvPr/>
          </p:nvPicPr>
          <p:blipFill>
            <a:blip r:embed="rId4"/>
            <a:srcRect/>
            <a:stretch>
              <a:fillRect/>
            </a:stretch>
          </p:blipFill>
          <p:spPr>
            <a:xfrm>
              <a:off x="6675120" y="2204253"/>
              <a:ext cx="4782312" cy="2678094"/>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78" name="Bloc 4"/>
          <p:cNvGrpSpPr/>
          <p:nvPr/>
        </p:nvGrpSpPr>
        <p:grpSpPr>
          <a:xfrm>
            <a:off x="731520" y="5468112"/>
            <a:ext cx="10725912" cy="658368"/>
            <a:chOff x="731520" y="5468112"/>
            <a:chExt cx="10725912" cy="658368"/>
          </a:xfrm>
        </p:grpSpPr>
        <p:sp>
          <p:nvSpPr>
            <p:cNvPr id="24" name="Rounded Rectangle 23"/>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À retenir   </a:t>
              </a:r>
              <a:r>
                <a:rPr sz="1150">
                  <a:solidFill>
                    <a:srgbClr val="595959"/>
                  </a:solidFill>
                  <a:latin typeface="Lato"/>
                </a:rPr>
                <a:t>demander la liste des produits classés CMR et, pour chacun, la trace écrite de la recherche de substitution. Elle est obligatoire.</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76"/>
                                        </p:tgtEl>
                                        <p:attrNameLst>
                                          <p:attrName>style.visibility</p:attrName>
                                        </p:attrNameLst>
                                      </p:cBhvr>
                                      <p:to>
                                        <p:strVal val="visible"/>
                                      </p:to>
                                    </p:set>
                                    <p:animEffect transition="in" filter="fade">
                                      <p:cBhvr>
                                        <p:cTn id="7" dur="450"/>
                                        <p:tgtEl>
                                          <p:spTgt spid="90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77"/>
                                        </p:tgtEl>
                                        <p:attrNameLst>
                                          <p:attrName>style.visibility</p:attrName>
                                        </p:attrNameLst>
                                      </p:cBhvr>
                                      <p:to>
                                        <p:strVal val="visible"/>
                                      </p:to>
                                    </p:set>
                                    <p:animEffect transition="in" filter="fade">
                                      <p:cBhvr>
                                        <p:cTn id="12" dur="450"/>
                                        <p:tgtEl>
                                          <p:spTgt spid="90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5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78"/>
                                        </p:tgtEl>
                                        <p:attrNameLst>
                                          <p:attrName>style.visibility</p:attrName>
                                        </p:attrNameLst>
                                      </p:cBhvr>
                                      <p:to>
                                        <p:strVal val="visible"/>
                                      </p:to>
                                    </p:set>
                                    <p:animEffect transition="in" filter="fade">
                                      <p:cBhvr>
                                        <p:cTn id="22" dur="450"/>
                                        <p:tgtEl>
                                          <p:spTgt spid="9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Principe 7 : Planifier la prévention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55</a:t>
            </a:r>
            <a:endParaRPr lang="en-US" sz="1000" dirty="0"/>
          </a:p>
        </p:txBody>
      </p:sp>
      <p:grpSp>
        <p:nvGrpSpPr>
          <p:cNvPr id="9079" name="Bloc 1"/>
          <p:cNvGrpSpPr/>
          <p:nvPr/>
        </p:nvGrpSpPr>
        <p:grpSpPr>
          <a:xfrm>
            <a:off x="731520" y="1920240"/>
            <a:ext cx="5577840" cy="2103120"/>
            <a:chOff x="731520" y="1920240"/>
            <a:chExt cx="5577840" cy="2103120"/>
          </a:xfrm>
        </p:grpSpPr>
        <p:sp>
          <p:nvSpPr>
            <p:cNvPr id="19" name="Rounded Rectangle 18"/>
            <p:cNvSpPr/>
            <p:nvPr/>
          </p:nvSpPr>
          <p:spPr>
            <a:xfrm>
              <a:off x="731520" y="1920240"/>
              <a:ext cx="5577840" cy="210312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84832"/>
              <a:ext cx="5029200" cy="274320"/>
            </a:xfrm>
            <a:prstGeom prst="rect">
              <a:avLst/>
            </a:prstGeom>
            <a:noFill/>
          </p:spPr>
          <p:txBody>
            <a:bodyPr wrap="square" lIns="0" tIns="0" rIns="0" bIns="0" anchor="t">
              <a:spAutoFit/>
            </a:bodyPr>
            <a:lstStyle/>
            <a:p>
              <a:pPr algn="l"/>
              <a:r>
                <a:rPr sz="1200" b="1" i="0">
                  <a:solidFill>
                    <a:srgbClr val="075767"/>
                  </a:solidFill>
                  <a:latin typeface="Lato"/>
                </a:rPr>
                <a:t>Article L. 4121-2 (code du travail)</a:t>
              </a:r>
            </a:p>
          </p:txBody>
        </p:sp>
        <p:sp>
          <p:nvSpPr>
            <p:cNvPr id="21" name="TextBox 20"/>
            <p:cNvSpPr txBox="1"/>
            <p:nvPr/>
          </p:nvSpPr>
          <p:spPr>
            <a:xfrm>
              <a:off x="1005840" y="2395728"/>
              <a:ext cx="5029200" cy="1463039"/>
            </a:xfrm>
            <a:prstGeom prst="rect">
              <a:avLst/>
            </a:prstGeom>
            <a:noFill/>
          </p:spPr>
          <p:txBody>
            <a:bodyPr wrap="square" lIns="0" tIns="0" rIns="0" bIns="0" anchor="t">
              <a:spAutoFit/>
            </a:bodyPr>
            <a:lstStyle/>
            <a:p>
              <a:pPr algn="l"/>
              <a:r>
                <a:rPr sz="1150" b="0" i="1">
                  <a:solidFill>
                    <a:srgbClr val="075767"/>
                  </a:solidFill>
                  <a:latin typeface="Lato"/>
                </a:rPr>
                <a:t>7° Planifier la prévention en y intégrant, dans un ensemble cohérent, la technique, l'organisation du travail, les conditions de travail, les relations sociales et l'influence des facteurs ambiants, notamment les risques liés au harcèlement moral et au harcèlement sexuel [...] ainsi que ceux liés aux agissements sexistes ;</a:t>
              </a:r>
            </a:p>
          </p:txBody>
        </p:sp>
      </p:grpSp>
      <p:sp>
        <p:nvSpPr>
          <p:cNvPr id="22" name="TextBox 21"/>
          <p:cNvSpPr txBox="1"/>
          <p:nvPr/>
        </p:nvSpPr>
        <p:spPr>
          <a:xfrm>
            <a:off x="731520" y="4279392"/>
            <a:ext cx="5577840" cy="1188720"/>
          </a:xfrm>
          <a:prstGeom prst="rect">
            <a:avLst/>
          </a:prstGeom>
          <a:noFill/>
        </p:spPr>
        <p:txBody>
          <a:bodyPr wrap="square" lIns="0" tIns="0" rIns="0" bIns="0">
            <a:spAutoFit/>
          </a:bodyPr>
          <a:lstStyle/>
          <a:p>
            <a:pPr>
              <a:spcAft>
                <a:spcPts val="700"/>
              </a:spcAft>
            </a:pPr>
            <a:r>
              <a:rPr sz="1050" b="1">
                <a:solidFill>
                  <a:srgbClr val="075767"/>
                </a:solidFill>
                <a:latin typeface="Lato"/>
              </a:rPr>
              <a:t>Cinq dimensions, pas une</a:t>
            </a:r>
          </a:p>
          <a:p>
            <a:pPr lvl="1">
              <a:spcAft>
                <a:spcPts val="700"/>
              </a:spcAft>
            </a:pPr>
            <a:r>
              <a:rPr sz="1000" b="0">
                <a:solidFill>
                  <a:srgbClr val="595959"/>
                </a:solidFill>
                <a:latin typeface="Lato"/>
              </a:rPr>
              <a:t>Technique, organisation du travail, conditions de travail, relations sociales, facteurs ambiants. Le harcèlement et les agissements sexistes sont nommés dans le texte.</a:t>
            </a:r>
          </a:p>
          <a:p>
            <a:pPr lvl="1">
              <a:spcAft>
                <a:spcPts val="700"/>
              </a:spcAft>
            </a:pPr>
            <a:r>
              <a:rPr sz="1000" b="0">
                <a:solidFill>
                  <a:srgbClr val="595959"/>
                </a:solidFill>
                <a:latin typeface="Lato"/>
              </a:rPr>
              <a:t>C'est l'article qui fonde le programme annuel de prévention : planifier, c'est écrire qui fait quoi, quand, avec quel budget.</a:t>
            </a:r>
          </a:p>
        </p:txBody>
      </p:sp>
      <p:grpSp>
        <p:nvGrpSpPr>
          <p:cNvPr id="9080" name="Bloc 2"/>
          <p:cNvGrpSpPr/>
          <p:nvPr/>
        </p:nvGrpSpPr>
        <p:grpSpPr>
          <a:xfrm>
            <a:off x="8289036" y="1920240"/>
            <a:ext cx="1682496" cy="1682496"/>
            <a:chOff x="8289036" y="1920240"/>
            <a:chExt cx="1682496" cy="1682496"/>
          </a:xfrm>
        </p:grpSpPr>
        <p:sp>
          <p:nvSpPr>
            <p:cNvPr id="27" name="Rounded Rectangle 26"/>
            <p:cNvSpPr/>
            <p:nvPr/>
          </p:nvSpPr>
          <p:spPr>
            <a:xfrm>
              <a:off x="8417052" y="2048256"/>
              <a:ext cx="1554480" cy="15544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26.png"/>
            <p:cNvPicPr>
              <a:picLocks noChangeAspect="1"/>
            </p:cNvPicPr>
            <p:nvPr/>
          </p:nvPicPr>
          <p:blipFill>
            <a:blip r:embed="rId4"/>
            <a:srcRect/>
            <a:stretch>
              <a:fillRect/>
            </a:stretch>
          </p:blipFill>
          <p:spPr>
            <a:xfrm>
              <a:off x="8289036" y="1920240"/>
              <a:ext cx="1554480" cy="15544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81" name="Bloc 3"/>
          <p:cNvGrpSpPr/>
          <p:nvPr/>
        </p:nvGrpSpPr>
        <p:grpSpPr>
          <a:xfrm>
            <a:off x="8220350" y="3611880"/>
            <a:ext cx="1819868" cy="1682496"/>
            <a:chOff x="8220350" y="3611880"/>
            <a:chExt cx="1819868" cy="1682496"/>
          </a:xfrm>
        </p:grpSpPr>
        <p:sp>
          <p:nvSpPr>
            <p:cNvPr id="28" name="Rounded Rectangle 27"/>
            <p:cNvSpPr/>
            <p:nvPr/>
          </p:nvSpPr>
          <p:spPr>
            <a:xfrm>
              <a:off x="8348366" y="3739896"/>
              <a:ext cx="1691852" cy="15544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image25.jpeg"/>
            <p:cNvPicPr>
              <a:picLocks noChangeAspect="1"/>
            </p:cNvPicPr>
            <p:nvPr/>
          </p:nvPicPr>
          <p:blipFill>
            <a:blip r:embed="rId5"/>
            <a:srcRect/>
            <a:stretch>
              <a:fillRect/>
            </a:stretch>
          </p:blipFill>
          <p:spPr>
            <a:xfrm>
              <a:off x="8220350" y="3611880"/>
              <a:ext cx="1691852" cy="15544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82" name="Bloc 5"/>
          <p:cNvGrpSpPr/>
          <p:nvPr/>
        </p:nvGrpSpPr>
        <p:grpSpPr>
          <a:xfrm>
            <a:off x="731520" y="5468112"/>
            <a:ext cx="10725912" cy="658368"/>
            <a:chOff x="731520" y="5468112"/>
            <a:chExt cx="10725912" cy="658368"/>
          </a:xfrm>
        </p:grpSpPr>
        <p:sp>
          <p:nvSpPr>
            <p:cNvPr id="25" name="Rounded Rectangle 24"/>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À retenir   ce principe s'oppose à une réponse du type « on verra l'an prochain ». Planifier est une obligation, pas une intention.</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79"/>
                                        </p:tgtEl>
                                        <p:attrNameLst>
                                          <p:attrName>style.visibility</p:attrName>
                                        </p:attrNameLst>
                                      </p:cBhvr>
                                      <p:to>
                                        <p:strVal val="visible"/>
                                      </p:to>
                                    </p:set>
                                    <p:animEffect transition="in" filter="fade">
                                      <p:cBhvr>
                                        <p:cTn id="7" dur="450"/>
                                        <p:tgtEl>
                                          <p:spTgt spid="90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80"/>
                                        </p:tgtEl>
                                        <p:attrNameLst>
                                          <p:attrName>style.visibility</p:attrName>
                                        </p:attrNameLst>
                                      </p:cBhvr>
                                      <p:to>
                                        <p:strVal val="visible"/>
                                      </p:to>
                                    </p:set>
                                    <p:animEffect transition="in" filter="fade">
                                      <p:cBhvr>
                                        <p:cTn id="12" dur="450"/>
                                        <p:tgtEl>
                                          <p:spTgt spid="90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81"/>
                                        </p:tgtEl>
                                        <p:attrNameLst>
                                          <p:attrName>style.visibility</p:attrName>
                                        </p:attrNameLst>
                                      </p:cBhvr>
                                      <p:to>
                                        <p:strVal val="visible"/>
                                      </p:to>
                                    </p:set>
                                    <p:animEffect transition="in" filter="fade">
                                      <p:cBhvr>
                                        <p:cTn id="17" dur="450"/>
                                        <p:tgtEl>
                                          <p:spTgt spid="908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5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082"/>
                                        </p:tgtEl>
                                        <p:attrNameLst>
                                          <p:attrName>style.visibility</p:attrName>
                                        </p:attrNameLst>
                                      </p:cBhvr>
                                      <p:to>
                                        <p:strVal val="visible"/>
                                      </p:to>
                                    </p:set>
                                    <p:animEffect transition="in" filter="fade">
                                      <p:cBhvr>
                                        <p:cTn id="27" dur="450"/>
                                        <p:tgtEl>
                                          <p:spTgt spid="9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Principe 8 : La priorité au collectif</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56</a:t>
            </a:r>
            <a:endParaRPr lang="en-US" sz="1000" dirty="0"/>
          </a:p>
        </p:txBody>
      </p:sp>
      <p:grpSp>
        <p:nvGrpSpPr>
          <p:cNvPr id="9083" name="Bloc 1"/>
          <p:cNvGrpSpPr/>
          <p:nvPr/>
        </p:nvGrpSpPr>
        <p:grpSpPr>
          <a:xfrm>
            <a:off x="731520" y="1920240"/>
            <a:ext cx="5577840" cy="1691640"/>
            <a:chOff x="731520" y="1920240"/>
            <a:chExt cx="5577840" cy="1691640"/>
          </a:xfrm>
        </p:grpSpPr>
        <p:sp>
          <p:nvSpPr>
            <p:cNvPr id="19" name="Rounded Rectangle 18"/>
            <p:cNvSpPr/>
            <p:nvPr/>
          </p:nvSpPr>
          <p:spPr>
            <a:xfrm>
              <a:off x="731520" y="1920240"/>
              <a:ext cx="5577840" cy="169164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84832"/>
              <a:ext cx="5029200" cy="274320"/>
            </a:xfrm>
            <a:prstGeom prst="rect">
              <a:avLst/>
            </a:prstGeom>
            <a:noFill/>
          </p:spPr>
          <p:txBody>
            <a:bodyPr wrap="square" lIns="0" tIns="0" rIns="0" bIns="0" anchor="t">
              <a:spAutoFit/>
            </a:bodyPr>
            <a:lstStyle/>
            <a:p>
              <a:pPr algn="l"/>
              <a:r>
                <a:rPr sz="1200" b="1" i="0">
                  <a:solidFill>
                    <a:srgbClr val="075767"/>
                  </a:solidFill>
                  <a:latin typeface="Lato"/>
                </a:rPr>
                <a:t>Article L. 4121-2 (code du travail)</a:t>
              </a:r>
            </a:p>
          </p:txBody>
        </p:sp>
        <p:sp>
          <p:nvSpPr>
            <p:cNvPr id="21" name="TextBox 20"/>
            <p:cNvSpPr txBox="1"/>
            <p:nvPr/>
          </p:nvSpPr>
          <p:spPr>
            <a:xfrm>
              <a:off x="1005840" y="2395728"/>
              <a:ext cx="5029200" cy="1051560"/>
            </a:xfrm>
            <a:prstGeom prst="rect">
              <a:avLst/>
            </a:prstGeom>
            <a:noFill/>
          </p:spPr>
          <p:txBody>
            <a:bodyPr wrap="square" lIns="0" tIns="0" rIns="0" bIns="0" anchor="t">
              <a:spAutoFit/>
            </a:bodyPr>
            <a:lstStyle/>
            <a:p>
              <a:pPr algn="l"/>
              <a:r>
                <a:rPr sz="1150" b="0" i="1">
                  <a:solidFill>
                    <a:srgbClr val="075767"/>
                  </a:solidFill>
                  <a:latin typeface="Lato"/>
                </a:rPr>
                <a:t>8° Prendre des mesures de protection collective en leur donnant la priorité sur les mesures de protection individuelle ;</a:t>
              </a:r>
            </a:p>
          </p:txBody>
        </p:sp>
      </p:grpSp>
      <p:sp>
        <p:nvSpPr>
          <p:cNvPr id="22" name="TextBox 21"/>
          <p:cNvSpPr txBox="1"/>
          <p:nvPr/>
        </p:nvSpPr>
        <p:spPr>
          <a:xfrm>
            <a:off x="731520" y="3867912"/>
            <a:ext cx="5577840" cy="1481327"/>
          </a:xfrm>
          <a:prstGeom prst="rect">
            <a:avLst/>
          </a:prstGeom>
          <a:noFill/>
        </p:spPr>
        <p:txBody>
          <a:bodyPr wrap="square" lIns="0" tIns="0" rIns="0" bIns="0">
            <a:spAutoFit/>
          </a:bodyPr>
          <a:lstStyle/>
          <a:p>
            <a:pPr>
              <a:spcAft>
                <a:spcPts val="700"/>
              </a:spcAft>
            </a:pPr>
            <a:r>
              <a:rPr sz="1300" b="1">
                <a:solidFill>
                  <a:srgbClr val="075767"/>
                </a:solidFill>
                <a:latin typeface="Lato"/>
              </a:rPr>
              <a:t>La priorité est écrite dans la loi</a:t>
            </a:r>
          </a:p>
          <a:p>
            <a:pPr lvl="1">
              <a:spcAft>
                <a:spcPts val="700"/>
              </a:spcAft>
            </a:pPr>
            <a:r>
              <a:rPr sz="1250" b="0">
                <a:solidFill>
                  <a:srgbClr val="595959"/>
                </a:solidFill>
                <a:latin typeface="Lato"/>
              </a:rPr>
              <a:t>Le garde-corps avant le harnais. La ventilation avant le masque. L'EPI ne vient qu'en complément, quand le collectif se révèle insuffisant.</a:t>
            </a:r>
          </a:p>
          <a:p>
            <a:pPr lvl="1">
              <a:spcAft>
                <a:spcPts val="700"/>
              </a:spcAft>
            </a:pPr>
            <a:r>
              <a:rPr sz="1250" b="0">
                <a:solidFill>
                  <a:srgbClr val="595959"/>
                </a:solidFill>
                <a:latin typeface="Lato"/>
              </a:rPr>
              <a:t>Et l'insuffisance du collectif doit être démontrée, pas supposée.</a:t>
            </a:r>
          </a:p>
        </p:txBody>
      </p:sp>
      <p:grpSp>
        <p:nvGrpSpPr>
          <p:cNvPr id="9084" name="Bloc 2"/>
          <p:cNvGrpSpPr/>
          <p:nvPr/>
        </p:nvGrpSpPr>
        <p:grpSpPr>
          <a:xfrm>
            <a:off x="6675120" y="1920240"/>
            <a:ext cx="4910328" cy="3374136"/>
            <a:chOff x="6675120" y="1920240"/>
            <a:chExt cx="4910328" cy="3374136"/>
          </a:xfrm>
        </p:grpSpPr>
        <p:sp>
          <p:nvSpPr>
            <p:cNvPr id="26" name="Rounded Rectangle 25"/>
            <p:cNvSpPr/>
            <p:nvPr/>
          </p:nvSpPr>
          <p:spPr>
            <a:xfrm>
              <a:off x="6803136" y="2048256"/>
              <a:ext cx="4782312" cy="324612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27.jpeg"/>
            <p:cNvPicPr>
              <a:picLocks noChangeAspect="1"/>
            </p:cNvPicPr>
            <p:nvPr/>
          </p:nvPicPr>
          <p:blipFill>
            <a:blip r:embed="rId4"/>
            <a:srcRect l="917" r="917"/>
            <a:stretch>
              <a:fillRect/>
            </a:stretch>
          </p:blipFill>
          <p:spPr>
            <a:xfrm>
              <a:off x="6675120" y="1920240"/>
              <a:ext cx="4782312" cy="324612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85" name="Bloc 4"/>
          <p:cNvGrpSpPr/>
          <p:nvPr/>
        </p:nvGrpSpPr>
        <p:grpSpPr>
          <a:xfrm>
            <a:off x="731520" y="5468112"/>
            <a:ext cx="10725912" cy="658368"/>
            <a:chOff x="731520" y="5468112"/>
            <a:chExt cx="10725912" cy="658368"/>
          </a:xfrm>
        </p:grpSpPr>
        <p:sp>
          <p:nvSpPr>
            <p:cNvPr id="24" name="Rounded Rectangle 23"/>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À retenir   </a:t>
              </a:r>
              <a:r>
                <a:rPr sz="1150">
                  <a:solidFill>
                    <a:srgbClr val="595959"/>
                  </a:solidFill>
                  <a:latin typeface="Lato"/>
                </a:rPr>
                <a:t>face à une mesure proposée, demander à quel principe elle correspond. Si la réponse est « le 8 », demander pourquoi les principes 1 à 7 ont été écartés.</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83"/>
                                        </p:tgtEl>
                                        <p:attrNameLst>
                                          <p:attrName>style.visibility</p:attrName>
                                        </p:attrNameLst>
                                      </p:cBhvr>
                                      <p:to>
                                        <p:strVal val="visible"/>
                                      </p:to>
                                    </p:set>
                                    <p:animEffect transition="in" filter="fade">
                                      <p:cBhvr>
                                        <p:cTn id="7" dur="450"/>
                                        <p:tgtEl>
                                          <p:spTgt spid="90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84"/>
                                        </p:tgtEl>
                                        <p:attrNameLst>
                                          <p:attrName>style.visibility</p:attrName>
                                        </p:attrNameLst>
                                      </p:cBhvr>
                                      <p:to>
                                        <p:strVal val="visible"/>
                                      </p:to>
                                    </p:set>
                                    <p:animEffect transition="in" filter="fade">
                                      <p:cBhvr>
                                        <p:cTn id="12" dur="450"/>
                                        <p:tgtEl>
                                          <p:spTgt spid="90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5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85"/>
                                        </p:tgtEl>
                                        <p:attrNameLst>
                                          <p:attrName>style.visibility</p:attrName>
                                        </p:attrNameLst>
                                      </p:cBhvr>
                                      <p:to>
                                        <p:strVal val="visible"/>
                                      </p:to>
                                    </p:set>
                                    <p:animEffect transition="in" filter="fade">
                                      <p:cBhvr>
                                        <p:cTn id="22" dur="450"/>
                                        <p:tgtEl>
                                          <p:spTgt spid="9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Principe 9 : Les instructions appropriées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57</a:t>
            </a:r>
            <a:endParaRPr lang="en-US" sz="1000" dirty="0"/>
          </a:p>
        </p:txBody>
      </p:sp>
      <p:grpSp>
        <p:nvGrpSpPr>
          <p:cNvPr id="9086" name="Bloc 1"/>
          <p:cNvGrpSpPr/>
          <p:nvPr/>
        </p:nvGrpSpPr>
        <p:grpSpPr>
          <a:xfrm>
            <a:off x="731520" y="1920240"/>
            <a:ext cx="5577840" cy="1234440"/>
            <a:chOff x="731520" y="1920240"/>
            <a:chExt cx="5577840" cy="1234440"/>
          </a:xfrm>
        </p:grpSpPr>
        <p:sp>
          <p:nvSpPr>
            <p:cNvPr id="19" name="Rounded Rectangle 18"/>
            <p:cNvSpPr/>
            <p:nvPr/>
          </p:nvSpPr>
          <p:spPr>
            <a:xfrm>
              <a:off x="731520" y="1920240"/>
              <a:ext cx="5577840" cy="123444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84832"/>
              <a:ext cx="5029200" cy="274320"/>
            </a:xfrm>
            <a:prstGeom prst="rect">
              <a:avLst/>
            </a:prstGeom>
            <a:noFill/>
          </p:spPr>
          <p:txBody>
            <a:bodyPr wrap="square" lIns="0" tIns="0" rIns="0" bIns="0" anchor="t">
              <a:spAutoFit/>
            </a:bodyPr>
            <a:lstStyle/>
            <a:p>
              <a:pPr algn="l"/>
              <a:r>
                <a:rPr sz="1200" b="1" i="0">
                  <a:solidFill>
                    <a:srgbClr val="075767"/>
                  </a:solidFill>
                  <a:latin typeface="Lato"/>
                </a:rPr>
                <a:t>Article L. 4121-2 (code du travail)</a:t>
              </a:r>
            </a:p>
          </p:txBody>
        </p:sp>
        <p:sp>
          <p:nvSpPr>
            <p:cNvPr id="21" name="TextBox 20"/>
            <p:cNvSpPr txBox="1"/>
            <p:nvPr/>
          </p:nvSpPr>
          <p:spPr>
            <a:xfrm>
              <a:off x="1005840" y="2395728"/>
              <a:ext cx="5029200" cy="594360"/>
            </a:xfrm>
            <a:prstGeom prst="rect">
              <a:avLst/>
            </a:prstGeom>
            <a:noFill/>
          </p:spPr>
          <p:txBody>
            <a:bodyPr wrap="square" lIns="0" tIns="0" rIns="0" bIns="0" anchor="t">
              <a:spAutoFit/>
            </a:bodyPr>
            <a:lstStyle/>
            <a:p>
              <a:pPr algn="l"/>
              <a:r>
                <a:rPr sz="1150" b="0" i="1">
                  <a:solidFill>
                    <a:srgbClr val="075767"/>
                  </a:solidFill>
                  <a:latin typeface="Lato"/>
                </a:rPr>
                <a:t>9° Donner les instructions appropriées aux travailleurs.</a:t>
              </a:r>
            </a:p>
          </p:txBody>
        </p:sp>
      </p:grpSp>
      <p:sp>
        <p:nvSpPr>
          <p:cNvPr id="22" name="TextBox 21"/>
          <p:cNvSpPr txBox="1"/>
          <p:nvPr/>
        </p:nvSpPr>
        <p:spPr>
          <a:xfrm>
            <a:off x="731520" y="3410712"/>
            <a:ext cx="5577840" cy="1938527"/>
          </a:xfrm>
          <a:prstGeom prst="rect">
            <a:avLst/>
          </a:prstGeom>
          <a:noFill/>
        </p:spPr>
        <p:txBody>
          <a:bodyPr wrap="square" lIns="0" tIns="0" rIns="0" bIns="0">
            <a:spAutoFit/>
          </a:bodyPr>
          <a:lstStyle/>
          <a:p>
            <a:pPr>
              <a:spcAft>
                <a:spcPts val="700"/>
              </a:spcAft>
            </a:pPr>
            <a:r>
              <a:rPr sz="1300" b="1">
                <a:solidFill>
                  <a:srgbClr val="075767"/>
                </a:solidFill>
                <a:latin typeface="Lato"/>
              </a:rPr>
              <a:t>Informer et former</a:t>
            </a:r>
          </a:p>
          <a:p>
            <a:pPr lvl="1">
              <a:spcAft>
                <a:spcPts val="700"/>
              </a:spcAft>
            </a:pPr>
            <a:r>
              <a:rPr sz="1250" b="0">
                <a:solidFill>
                  <a:srgbClr val="595959"/>
                </a:solidFill>
                <a:latin typeface="Lato"/>
              </a:rPr>
              <a:t>Une consigne comprise vaut mieux qu'une consigne affichée. La preuve de la formation à la sécurité au poste est une pièce que le CSE peut demander.</a:t>
            </a:r>
          </a:p>
          <a:p>
            <a:pPr lvl="1">
              <a:spcAft>
                <a:spcPts val="700"/>
              </a:spcAft>
            </a:pPr>
            <a:r>
              <a:rPr sz="1250" b="0">
                <a:solidFill>
                  <a:srgbClr val="595959"/>
                </a:solidFill>
                <a:latin typeface="Lato"/>
              </a:rPr>
              <a:t>C'est le dernier principe, et c'est celui que les entreprises invoquent en premier. L'ordre n'est pas un hasard.</a:t>
            </a:r>
          </a:p>
        </p:txBody>
      </p:sp>
      <p:grpSp>
        <p:nvGrpSpPr>
          <p:cNvPr id="9087" name="Bloc 2"/>
          <p:cNvGrpSpPr/>
          <p:nvPr/>
        </p:nvGrpSpPr>
        <p:grpSpPr>
          <a:xfrm>
            <a:off x="8133588" y="1920240"/>
            <a:ext cx="1993392" cy="1682496"/>
            <a:chOff x="8133588" y="1920240"/>
            <a:chExt cx="1993392" cy="1682496"/>
          </a:xfrm>
        </p:grpSpPr>
        <p:sp>
          <p:nvSpPr>
            <p:cNvPr id="27" name="Rounded Rectangle 26"/>
            <p:cNvSpPr/>
            <p:nvPr/>
          </p:nvSpPr>
          <p:spPr>
            <a:xfrm>
              <a:off x="8261604" y="2048256"/>
              <a:ext cx="1865376" cy="15544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29.png"/>
            <p:cNvPicPr>
              <a:picLocks noChangeAspect="1"/>
            </p:cNvPicPr>
            <p:nvPr/>
          </p:nvPicPr>
          <p:blipFill>
            <a:blip r:embed="rId4"/>
            <a:srcRect/>
            <a:stretch>
              <a:fillRect/>
            </a:stretch>
          </p:blipFill>
          <p:spPr>
            <a:xfrm>
              <a:off x="8133588" y="1920240"/>
              <a:ext cx="1865376" cy="15544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88" name="Bloc 4"/>
          <p:cNvGrpSpPr/>
          <p:nvPr/>
        </p:nvGrpSpPr>
        <p:grpSpPr>
          <a:xfrm>
            <a:off x="8005667" y="3611880"/>
            <a:ext cx="2249233" cy="1682496"/>
            <a:chOff x="8005667" y="3611880"/>
            <a:chExt cx="2249233" cy="1682496"/>
          </a:xfrm>
        </p:grpSpPr>
        <p:sp>
          <p:nvSpPr>
            <p:cNvPr id="28" name="Rounded Rectangle 27"/>
            <p:cNvSpPr/>
            <p:nvPr/>
          </p:nvSpPr>
          <p:spPr>
            <a:xfrm>
              <a:off x="8133683" y="3739896"/>
              <a:ext cx="2121217" cy="15544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image28.jpeg"/>
            <p:cNvPicPr>
              <a:picLocks noChangeAspect="1"/>
            </p:cNvPicPr>
            <p:nvPr/>
          </p:nvPicPr>
          <p:blipFill>
            <a:blip r:embed="rId5"/>
            <a:srcRect/>
            <a:stretch>
              <a:fillRect/>
            </a:stretch>
          </p:blipFill>
          <p:spPr>
            <a:xfrm>
              <a:off x="8005667" y="3611880"/>
              <a:ext cx="2121217" cy="15544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089" name="Bloc 5"/>
          <p:cNvGrpSpPr/>
          <p:nvPr/>
        </p:nvGrpSpPr>
        <p:grpSpPr>
          <a:xfrm>
            <a:off x="731520" y="5468112"/>
            <a:ext cx="10725912" cy="658368"/>
            <a:chOff x="731520" y="5468112"/>
            <a:chExt cx="10725912" cy="658368"/>
          </a:xfrm>
        </p:grpSpPr>
        <p:sp>
          <p:nvSpPr>
            <p:cNvPr id="25" name="Rounded Rectangle 24"/>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Point de vigilance   </a:t>
              </a:r>
              <a:r>
                <a:rPr sz="1150">
                  <a:solidFill>
                    <a:srgbClr val="595959"/>
                  </a:solidFill>
                  <a:latin typeface="Lato"/>
                </a:rPr>
                <a:t>une consigne affichée dont personne ne connaît l'existence n'est pas une instruction appropriée. Demander comment elle a été transmise, et à qui.</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86"/>
                                        </p:tgtEl>
                                        <p:attrNameLst>
                                          <p:attrName>style.visibility</p:attrName>
                                        </p:attrNameLst>
                                      </p:cBhvr>
                                      <p:to>
                                        <p:strVal val="visible"/>
                                      </p:to>
                                    </p:set>
                                    <p:animEffect transition="in" filter="fade">
                                      <p:cBhvr>
                                        <p:cTn id="7" dur="450"/>
                                        <p:tgtEl>
                                          <p:spTgt spid="90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87"/>
                                        </p:tgtEl>
                                        <p:attrNameLst>
                                          <p:attrName>style.visibility</p:attrName>
                                        </p:attrNameLst>
                                      </p:cBhvr>
                                      <p:to>
                                        <p:strVal val="visible"/>
                                      </p:to>
                                    </p:set>
                                    <p:animEffect transition="in" filter="fade">
                                      <p:cBhvr>
                                        <p:cTn id="12" dur="450"/>
                                        <p:tgtEl>
                                          <p:spTgt spid="908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5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88"/>
                                        </p:tgtEl>
                                        <p:attrNameLst>
                                          <p:attrName>style.visibility</p:attrName>
                                        </p:attrNameLst>
                                      </p:cBhvr>
                                      <p:to>
                                        <p:strVal val="visible"/>
                                      </p:to>
                                    </p:set>
                                    <p:animEffect transition="in" filter="fade">
                                      <p:cBhvr>
                                        <p:cTn id="22" dur="450"/>
                                        <p:tgtEl>
                                          <p:spTgt spid="908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089"/>
                                        </p:tgtEl>
                                        <p:attrNameLst>
                                          <p:attrName>style.visibility</p:attrName>
                                        </p:attrNameLst>
                                      </p:cBhvr>
                                      <p:to>
                                        <p:strVal val="visible"/>
                                      </p:to>
                                    </p:set>
                                    <p:animEffect transition="in" filter="fade">
                                      <p:cBhvr>
                                        <p:cTn id="27" dur="450"/>
                                        <p:tgtEl>
                                          <p:spTgt spid="9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L'article L. 4121-1 en entier</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7" name="Image 1"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58</a:t>
            </a:r>
            <a:endParaRPr lang="en-US" sz="1000" dirty="0"/>
          </a:p>
        </p:txBody>
      </p:sp>
      <p:grpSp>
        <p:nvGrpSpPr>
          <p:cNvPr id="9090" name="Bloc 1"/>
          <p:cNvGrpSpPr/>
          <p:nvPr/>
        </p:nvGrpSpPr>
        <p:grpSpPr>
          <a:xfrm>
            <a:off x="731520" y="1874519"/>
            <a:ext cx="10725912" cy="3200401"/>
            <a:chOff x="731520" y="1874519"/>
            <a:chExt cx="10725912" cy="3200401"/>
          </a:xfrm>
        </p:grpSpPr>
        <p:sp>
          <p:nvSpPr>
            <p:cNvPr id="22" name="Rounded Rectangle 21"/>
            <p:cNvSpPr/>
            <p:nvPr/>
          </p:nvSpPr>
          <p:spPr>
            <a:xfrm>
              <a:off x="731520" y="1874519"/>
              <a:ext cx="10725912" cy="3200401"/>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5840" y="2039112"/>
              <a:ext cx="10177272" cy="274320"/>
            </a:xfrm>
            <a:prstGeom prst="rect">
              <a:avLst/>
            </a:prstGeom>
            <a:noFill/>
          </p:spPr>
          <p:txBody>
            <a:bodyPr wrap="square" lIns="0" tIns="0" rIns="0" bIns="0" anchor="t">
              <a:spAutoFit/>
            </a:bodyPr>
            <a:lstStyle/>
            <a:p>
              <a:pPr algn="l"/>
              <a:r>
                <a:rPr sz="1350" b="1" i="0">
                  <a:solidFill>
                    <a:srgbClr val="075767"/>
                  </a:solidFill>
                  <a:latin typeface="Lato"/>
                </a:rPr>
                <a:t>Article L. 4121-1 (code du travail)</a:t>
              </a:r>
            </a:p>
          </p:txBody>
        </p:sp>
        <p:sp>
          <p:nvSpPr>
            <p:cNvPr id="24" name="TextBox 23"/>
            <p:cNvSpPr txBox="1"/>
            <p:nvPr/>
          </p:nvSpPr>
          <p:spPr>
            <a:xfrm>
              <a:off x="1005840" y="2350008"/>
              <a:ext cx="10177272" cy="2560320"/>
            </a:xfrm>
            <a:prstGeom prst="rect">
              <a:avLst/>
            </a:prstGeom>
            <a:noFill/>
          </p:spPr>
          <p:txBody>
            <a:bodyPr wrap="square" lIns="0" tIns="0" rIns="0" bIns="0" anchor="t">
              <a:spAutoFit/>
            </a:bodyPr>
            <a:lstStyle/>
            <a:p>
              <a:pPr algn="l"/>
              <a:r>
                <a:rPr sz="1250" b="0" i="1">
                  <a:solidFill>
                    <a:srgbClr val="075767"/>
                  </a:solidFill>
                  <a:latin typeface="Lato"/>
                </a:rPr>
                <a:t>L'employeur prend les mesures nécessaires pour assurer la sécurité et protéger la santé physique et mentale des travailleurs.
Ces mesures comprennent :
1° Des actions de prévention des risques professionnels, y compris ceux mentionnés à l'article L. 4161-1 ;
2° Des actions d'information et de formation ;
3° La mise en place d'une organisation et de moyens adaptés.
L'employeur veille à l'adaptation de ces mesures pour tenir compte du changement des circonstances et tendre à l'amélioration des situations existantes.</a:t>
              </a:r>
            </a:p>
          </p:txBody>
        </p:sp>
      </p:grpSp>
      <p:sp>
        <p:nvSpPr>
          <p:cNvPr id="25" name="TextBox 24"/>
          <p:cNvSpPr txBox="1"/>
          <p:nvPr/>
        </p:nvSpPr>
        <p:spPr>
          <a:xfrm>
            <a:off x="731520" y="5074920"/>
            <a:ext cx="10725912" cy="1005840"/>
          </a:xfrm>
          <a:prstGeom prst="rect">
            <a:avLst/>
          </a:prstGeom>
          <a:noFill/>
        </p:spPr>
        <p:txBody>
          <a:bodyPr wrap="square" lIns="0" tIns="0" rIns="0" bIns="0">
            <a:spAutoFit/>
          </a:bodyPr>
          <a:lstStyle/>
          <a:p>
            <a:pPr>
              <a:spcAft>
                <a:spcPts val="700"/>
              </a:spcAft>
            </a:pPr>
            <a:r>
              <a:rPr sz="1250" b="1">
                <a:solidFill>
                  <a:srgbClr val="075767"/>
                </a:solidFill>
                <a:latin typeface="Lato"/>
              </a:rPr>
              <a:t>Trois volets indissociables, et une obligation d'actualisation</a:t>
            </a:r>
          </a:p>
          <a:p>
            <a:pPr lvl="1">
              <a:spcAft>
                <a:spcPts val="700"/>
              </a:spcAft>
            </a:pPr>
            <a:r>
              <a:rPr sz="1200" b="0">
                <a:solidFill>
                  <a:srgbClr val="595959"/>
                </a:solidFill>
                <a:latin typeface="Lato"/>
              </a:rPr>
              <a:t>Prévenir, informer et former, organiser. La santé mentale est visée au même titre que la santé physique : c'est le fondement de la prévention des risques psychosociaux.</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90"/>
                                        </p:tgtEl>
                                        <p:attrNameLst>
                                          <p:attrName>style.visibility</p:attrName>
                                        </p:attrNameLst>
                                      </p:cBhvr>
                                      <p:to>
                                        <p:strVal val="visible"/>
                                      </p:to>
                                    </p:set>
                                    <p:animEffect transition="in" filter="fade">
                                      <p:cBhvr>
                                        <p:cTn id="7" dur="450"/>
                                        <p:tgtEl>
                                          <p:spTgt spid="90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L'article L. 4121-3 en entier</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59</a:t>
            </a:r>
            <a:endParaRPr lang="en-US" sz="1000" dirty="0"/>
          </a:p>
        </p:txBody>
      </p:sp>
      <p:grpSp>
        <p:nvGrpSpPr>
          <p:cNvPr id="9091" name="Bloc 1"/>
          <p:cNvGrpSpPr/>
          <p:nvPr/>
        </p:nvGrpSpPr>
        <p:grpSpPr>
          <a:xfrm>
            <a:off x="731520" y="1874519"/>
            <a:ext cx="5577840" cy="4206240"/>
            <a:chOff x="731520" y="1874519"/>
            <a:chExt cx="5577840" cy="4206240"/>
          </a:xfrm>
        </p:grpSpPr>
        <p:sp>
          <p:nvSpPr>
            <p:cNvPr id="19" name="Rounded Rectangle 18"/>
            <p:cNvSpPr/>
            <p:nvPr/>
          </p:nvSpPr>
          <p:spPr>
            <a:xfrm>
              <a:off x="731520" y="1874519"/>
              <a:ext cx="5577840" cy="420624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39112"/>
              <a:ext cx="5029200" cy="274320"/>
            </a:xfrm>
            <a:prstGeom prst="rect">
              <a:avLst/>
            </a:prstGeom>
            <a:noFill/>
          </p:spPr>
          <p:txBody>
            <a:bodyPr wrap="square" lIns="0" tIns="0" rIns="0" bIns="0" anchor="t">
              <a:spAutoFit/>
            </a:bodyPr>
            <a:lstStyle/>
            <a:p>
              <a:pPr algn="l"/>
              <a:r>
                <a:rPr sz="1100" b="1" i="0">
                  <a:solidFill>
                    <a:srgbClr val="075767"/>
                  </a:solidFill>
                  <a:latin typeface="Lato"/>
                </a:rPr>
                <a:t>Article L. 4121-3 (code du travail)</a:t>
              </a:r>
            </a:p>
          </p:txBody>
        </p:sp>
        <p:sp>
          <p:nvSpPr>
            <p:cNvPr id="21" name="TextBox 20"/>
            <p:cNvSpPr txBox="1"/>
            <p:nvPr/>
          </p:nvSpPr>
          <p:spPr>
            <a:xfrm>
              <a:off x="1005840" y="2350008"/>
              <a:ext cx="5029200" cy="3566159"/>
            </a:xfrm>
            <a:prstGeom prst="rect">
              <a:avLst/>
            </a:prstGeom>
            <a:noFill/>
          </p:spPr>
          <p:txBody>
            <a:bodyPr wrap="square" lIns="0" tIns="0" rIns="0" bIns="0" anchor="t">
              <a:spAutoFit/>
            </a:bodyPr>
            <a:lstStyle/>
            <a:p>
              <a:pPr algn="l"/>
              <a:r>
                <a:rPr sz="1000" b="0" i="1">
                  <a:solidFill>
                    <a:srgbClr val="075767"/>
                  </a:solidFill>
                  <a:latin typeface="Lato"/>
                </a:rPr>
                <a:t>L'employeur, compte tenu de la nature des activités de l'établissement, évalue les risques pour la santé et la sécurité des travailleurs, y compris dans le choix des procédés de fabrication, des équipements de travail, des substances ou préparations chimiques, dans l'aménagement ou le réaménagement des lieux de travail ou des installations, dans l'organisation du travail et dans la définition des postes de travail. Cette évaluation des risques tient compte de l'impact différencié de l'exposition au risque en fonction du sexe.
Apportent leur contribution à l'évaluation des risques professionnels dans l'entreprise :
1° Dans le cadre du dialogue social dans l'entreprise, le comité social et économique et sa commission santé, sécurité et conditions de travail, s'ils existent, en application du 1° de l'article L. 2312-9. Le comité social et économique est consulté sur le document unique d'évaluation des risques professionnels et sur ses mises à jour ;
2° Le ou les salariés mentionnés au premier alinéa du I de l'article L. 4644-1, s'ils ont été désignés ;
3° Le service de prévention et de santé au travail auquel l'employeur adhère.</a:t>
              </a:r>
            </a:p>
          </p:txBody>
        </p:sp>
      </p:grpSp>
      <p:grpSp>
        <p:nvGrpSpPr>
          <p:cNvPr id="9092" name="Bloc 2"/>
          <p:cNvGrpSpPr/>
          <p:nvPr/>
        </p:nvGrpSpPr>
        <p:grpSpPr>
          <a:xfrm>
            <a:off x="6583680" y="1874519"/>
            <a:ext cx="4873752" cy="4206240"/>
            <a:chOff x="6583680" y="1874519"/>
            <a:chExt cx="4873752" cy="4206240"/>
          </a:xfrm>
        </p:grpSpPr>
        <p:sp>
          <p:nvSpPr>
            <p:cNvPr id="22" name="Rounded Rectangle 21"/>
            <p:cNvSpPr/>
            <p:nvPr/>
          </p:nvSpPr>
          <p:spPr>
            <a:xfrm>
              <a:off x="6583680" y="1874519"/>
              <a:ext cx="4873752" cy="420624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0" y="2039112"/>
              <a:ext cx="4325112" cy="274320"/>
            </a:xfrm>
            <a:prstGeom prst="rect">
              <a:avLst/>
            </a:prstGeom>
            <a:noFill/>
          </p:spPr>
          <p:txBody>
            <a:bodyPr wrap="square" lIns="0" tIns="0" rIns="0" bIns="0" anchor="t">
              <a:spAutoFit/>
            </a:bodyPr>
            <a:lstStyle/>
            <a:p>
              <a:pPr algn="l"/>
              <a:r>
                <a:rPr sz="1100" b="1" i="0">
                  <a:solidFill>
                    <a:srgbClr val="075767"/>
                  </a:solidFill>
                  <a:latin typeface="Lato"/>
                </a:rPr>
                <a:t>Article L. 4121-3, suite</a:t>
              </a:r>
            </a:p>
          </p:txBody>
        </p:sp>
        <p:sp>
          <p:nvSpPr>
            <p:cNvPr id="24" name="TextBox 23"/>
            <p:cNvSpPr txBox="1"/>
            <p:nvPr/>
          </p:nvSpPr>
          <p:spPr>
            <a:xfrm>
              <a:off x="6858000" y="2350008"/>
              <a:ext cx="4325112" cy="3566159"/>
            </a:xfrm>
            <a:prstGeom prst="rect">
              <a:avLst/>
            </a:prstGeom>
            <a:noFill/>
          </p:spPr>
          <p:txBody>
            <a:bodyPr wrap="square" lIns="0" tIns="0" rIns="0" bIns="0" anchor="t">
              <a:spAutoFit/>
            </a:bodyPr>
            <a:lstStyle/>
            <a:p>
              <a:pPr algn="l"/>
              <a:r>
                <a:rPr sz="1050" b="0" i="1">
                  <a:solidFill>
                    <a:srgbClr val="075767"/>
                  </a:solidFill>
                  <a:latin typeface="Lato"/>
                </a:rPr>
                <a:t>Pour l'évaluation des risques professionnels, l'employeur peut également solliciter le concours des personnes et organismes mentionnés aux troisième et avant-dernier alinéas du même I.
A la suite de cette évaluation, l'employeur met en œuvre les actions de prévention ainsi que les méthodes de travail et de production garantissant un meilleur niveau de protection de la santé et de la sécurité des travailleurs. Il intègre ces actions et ces méthodes dans l'ensemble des activités de l'établissement et à tous les niveaux de l'encadrement.
Lorsque les documents prévus pour l'application du présent article doivent faire l'objet d'une mise à jour, celle-ci peut être moins fréquente dans les entreprises de moins de onze salariés, sous réserve que soit garanti un niveau équivalent de protection de la santé et de la sécurité des travailleurs, dans des conditions fixées par décret en Conseil d'Etat après avis des organisations professionnelles concernées.</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91"/>
                                        </p:tgtEl>
                                        <p:attrNameLst>
                                          <p:attrName>style.visibility</p:attrName>
                                        </p:attrNameLst>
                                      </p:cBhvr>
                                      <p:to>
                                        <p:strVal val="visible"/>
                                      </p:to>
                                    </p:set>
                                    <p:animEffect transition="in" filter="fade">
                                      <p:cBhvr>
                                        <p:cTn id="7" dur="450"/>
                                        <p:tgtEl>
                                          <p:spTgt spid="90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92"/>
                                        </p:tgtEl>
                                        <p:attrNameLst>
                                          <p:attrName>style.visibility</p:attrName>
                                        </p:attrNameLst>
                                      </p:cBhvr>
                                      <p:to>
                                        <p:strVal val="visible"/>
                                      </p:to>
                                    </p:set>
                                    <p:animEffect transition="in" filter="fade">
                                      <p:cBhvr>
                                        <p:cTn id="12" dur="450"/>
                                        <p:tgtEl>
                                          <p:spTgt spid="9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500" b="1" kern="0" spc="-150" dirty="0">
                <a:solidFill>
                  <a:srgbClr val="075767"/>
                </a:solidFill>
                <a:latin typeface="Lato" pitchFamily="34" charset="0"/>
                <a:ea typeface="Lato" pitchFamily="34" charset="-122"/>
                <a:cs typeface="Lato" pitchFamily="34" charset="-120"/>
              </a:rPr>
              <a:t>Danger, risque, dommage : le vocabulaire commun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Cinq mots que tout le monde emploie et que peu distinguent. Sans eux, aucune analyse d'accident ne tient.</a:t>
            </a:r>
            <a:endParaRPr lang="en-US" sz="1450" dirty="0"/>
          </a:p>
        </p:txBody>
      </p:sp>
      <p:sp>
        <p:nvSpPr>
          <p:cNvPr id="11" name="Text 9"/>
          <p:cNvSpPr txBox="1"/>
          <p:nvPr/>
        </p:nvSpPr>
        <p:spPr>
          <a:xfrm>
            <a:off x="731520" y="2487168"/>
            <a:ext cx="10728655"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050" b="1" dirty="0">
                <a:solidFill>
                  <a:srgbClr val="075767"/>
                </a:solidFill>
                <a:latin typeface="Lato" pitchFamily="34" charset="0"/>
                <a:ea typeface="Lato" pitchFamily="34" charset="-122"/>
                <a:cs typeface="Lato" pitchFamily="34" charset="-120"/>
              </a:rPr>
              <a:t>Le danger</a:t>
            </a:r>
            <a:endParaRPr lang="en-US" sz="1300" dirty="0"/>
          </a:p>
          <a:p>
            <a:pPr marL="406400" lvl="1" indent="-203200">
              <a:lnSpc>
                <a:spcPct val="110000"/>
              </a:lnSpc>
              <a:spcAft>
                <a:spcPts val="700"/>
              </a:spcAft>
              <a:buSzPct val="100000"/>
              <a:buChar char="•"/>
            </a:pPr>
            <a:r>
              <a:rPr lang="en-US" sz="1050" dirty="0">
                <a:solidFill>
                  <a:srgbClr val="595959"/>
                </a:solidFill>
                <a:latin typeface="Lato" pitchFamily="34" charset="0"/>
                <a:ea typeface="Lato" pitchFamily="34" charset="-122"/>
                <a:cs typeface="Lato" pitchFamily="34" charset="-120"/>
              </a:rPr>
              <a:t>Propriété intrinsèque d'un produit, d'un équipement ou d'une situation, susceptible de causer un dommage</a:t>
            </a:r>
            <a:endParaRPr lang="en-US" sz="1300" dirty="0"/>
          </a:p>
          <a:p>
            <a:pPr marL="203200" indent="-203200">
              <a:lnSpc>
                <a:spcPct val="110000"/>
              </a:lnSpc>
              <a:spcAft>
                <a:spcPts val="700"/>
              </a:spcAft>
              <a:buSzPct val="100000"/>
              <a:buChar char="•"/>
            </a:pPr>
            <a:r>
              <a:rPr lang="en-US" sz="1050" b="1" dirty="0">
                <a:solidFill>
                  <a:srgbClr val="075767"/>
                </a:solidFill>
                <a:latin typeface="Lato" pitchFamily="34" charset="0"/>
                <a:ea typeface="Lato" pitchFamily="34" charset="-122"/>
                <a:cs typeface="Lato" pitchFamily="34" charset="-120"/>
              </a:rPr>
              <a:t>Le risque</a:t>
            </a:r>
            <a:endParaRPr lang="en-US" sz="1300" dirty="0"/>
          </a:p>
          <a:p>
            <a:pPr marL="406400" lvl="1" indent="-203200">
              <a:lnSpc>
                <a:spcPct val="110000"/>
              </a:lnSpc>
              <a:spcAft>
                <a:spcPts val="700"/>
              </a:spcAft>
              <a:buSzPct val="100000"/>
              <a:buChar char="•"/>
            </a:pPr>
            <a:r>
              <a:rPr lang="en-US" sz="1050" dirty="0">
                <a:solidFill>
                  <a:srgbClr val="595959"/>
                </a:solidFill>
                <a:latin typeface="Lato" pitchFamily="34" charset="0"/>
                <a:ea typeface="Lato" pitchFamily="34" charset="-122"/>
                <a:cs typeface="Lato" pitchFamily="34" charset="-120"/>
              </a:rPr>
              <a:t>Probabilité d'apparition d'un événement indésirable</a:t>
            </a:r>
            <a:endParaRPr lang="en-US" sz="1300" dirty="0"/>
          </a:p>
          <a:p>
            <a:pPr marL="203200" indent="-203200">
              <a:lnSpc>
                <a:spcPct val="110000"/>
              </a:lnSpc>
              <a:spcAft>
                <a:spcPts val="700"/>
              </a:spcAft>
              <a:buSzPct val="100000"/>
              <a:buChar char="•"/>
            </a:pPr>
            <a:r>
              <a:rPr lang="en-US" sz="1050" b="1" dirty="0">
                <a:solidFill>
                  <a:srgbClr val="075767"/>
                </a:solidFill>
                <a:latin typeface="Lato" pitchFamily="34" charset="0"/>
                <a:ea typeface="Lato" pitchFamily="34" charset="-122"/>
                <a:cs typeface="Lato" pitchFamily="34" charset="-120"/>
              </a:rPr>
              <a:t>La situation dangereuse</a:t>
            </a:r>
            <a:endParaRPr lang="en-US" sz="1300" dirty="0"/>
          </a:p>
          <a:p>
            <a:pPr marL="406400" lvl="1" indent="-203200">
              <a:lnSpc>
                <a:spcPct val="110000"/>
              </a:lnSpc>
              <a:spcAft>
                <a:spcPts val="700"/>
              </a:spcAft>
              <a:buSzPct val="100000"/>
              <a:buChar char="•"/>
            </a:pPr>
            <a:r>
              <a:rPr lang="en-US" sz="1050" dirty="0">
                <a:solidFill>
                  <a:srgbClr val="595959"/>
                </a:solidFill>
                <a:latin typeface="Lato" pitchFamily="34" charset="0"/>
                <a:ea typeface="Lato" pitchFamily="34" charset="-122"/>
                <a:cs typeface="Lato" pitchFamily="34" charset="-120"/>
              </a:rPr>
              <a:t>Situation dans laquelle un individu est exposé à un danger</a:t>
            </a:r>
            <a:endParaRPr lang="en-US" sz="1300" dirty="0"/>
          </a:p>
          <a:p>
            <a:pPr marL="203200" indent="-203200">
              <a:lnSpc>
                <a:spcPct val="110000"/>
              </a:lnSpc>
              <a:spcAft>
                <a:spcPts val="700"/>
              </a:spcAft>
              <a:buSzPct val="100000"/>
              <a:buChar char="•"/>
            </a:pPr>
            <a:r>
              <a:rPr lang="en-US" sz="1050" b="1" dirty="0">
                <a:solidFill>
                  <a:srgbClr val="075767"/>
                </a:solidFill>
                <a:latin typeface="Lato" pitchFamily="34" charset="0"/>
                <a:ea typeface="Lato" pitchFamily="34" charset="-122"/>
                <a:cs typeface="Lato" pitchFamily="34" charset="-120"/>
              </a:rPr>
              <a:t>L'événement déclencheur</a:t>
            </a:r>
            <a:endParaRPr lang="en-US" sz="1300" dirty="0"/>
          </a:p>
          <a:p>
            <a:pPr marL="406400" lvl="1" indent="-203200">
              <a:lnSpc>
                <a:spcPct val="110000"/>
              </a:lnSpc>
              <a:spcAft>
                <a:spcPts val="700"/>
              </a:spcAft>
              <a:buSzPct val="100000"/>
              <a:buChar char="•"/>
            </a:pPr>
            <a:r>
              <a:rPr lang="en-US" sz="1050" dirty="0">
                <a:solidFill>
                  <a:srgbClr val="595959"/>
                </a:solidFill>
                <a:latin typeface="Lato" pitchFamily="34" charset="0"/>
                <a:ea typeface="Lato" pitchFamily="34" charset="-122"/>
                <a:cs typeface="Lato" pitchFamily="34" charset="-120"/>
              </a:rPr>
              <a:t>Ce qui fait basculer la situation dangereuse en accident, par la perte de maîtrise qu'il génère, soudain, ou par exposition longue</a:t>
            </a:r>
            <a:endParaRPr lang="en-US" sz="1300" dirty="0"/>
          </a:p>
          <a:p>
            <a:pPr marL="203200" indent="-203200">
              <a:lnSpc>
                <a:spcPct val="110000"/>
              </a:lnSpc>
              <a:spcAft>
                <a:spcPts val="700"/>
              </a:spcAft>
              <a:buSzPct val="100000"/>
              <a:buChar char="•"/>
            </a:pPr>
            <a:r>
              <a:rPr lang="en-US" sz="1050" b="1" dirty="0">
                <a:solidFill>
                  <a:srgbClr val="075767"/>
                </a:solidFill>
                <a:latin typeface="Lato" pitchFamily="34" charset="0"/>
                <a:ea typeface="Lato" pitchFamily="34" charset="-122"/>
                <a:cs typeface="Lato" pitchFamily="34" charset="-120"/>
              </a:rPr>
              <a:t>Le dommage</a:t>
            </a:r>
            <a:endParaRPr lang="en-US" sz="1300" dirty="0"/>
          </a:p>
          <a:p>
            <a:pPr marL="406400" lvl="1" indent="-203200">
              <a:lnSpc>
                <a:spcPct val="110000"/>
              </a:lnSpc>
              <a:spcAft>
                <a:spcPts val="700"/>
              </a:spcAft>
              <a:buSzPct val="100000"/>
              <a:buChar char="•"/>
            </a:pPr>
            <a:r>
              <a:rPr lang="en-US" sz="1050" dirty="0">
                <a:solidFill>
                  <a:srgbClr val="595959"/>
                </a:solidFill>
                <a:latin typeface="Lato" pitchFamily="34" charset="0"/>
                <a:ea typeface="Lato" pitchFamily="34" charset="-122"/>
                <a:cs typeface="Lato" pitchFamily="34" charset="-120"/>
              </a:rPr>
              <a:t>Le préjudice subi : la lésion (atteinte à la santé) se distingue du dommage matériel</a:t>
            </a:r>
            <a:endParaRPr lang="en-US" sz="1300" dirty="0"/>
          </a:p>
        </p:txBody>
      </p:sp>
      <p:grpSp>
        <p:nvGrpSpPr>
          <p:cNvPr id="9093" name="Bloc 3"/>
          <p:cNvGrpSpPr/>
          <p:nvPr/>
        </p:nvGrpSpPr>
        <p:grpSpPr>
          <a:xfrm>
            <a:off x="731520" y="5248656"/>
            <a:ext cx="10728655" cy="841248"/>
            <a:chOff x="731520" y="5248656"/>
            <a:chExt cx="10728655" cy="841248"/>
          </a:xfrm>
        </p:grpSpPr>
        <p:sp>
          <p:nvSpPr>
            <p:cNvPr id="12" name="Shape 10"/>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test   </a:t>
              </a:r>
              <a:r>
                <a:rPr lang="en-US" sz="1300" dirty="0">
                  <a:solidFill>
                    <a:srgbClr val="075767"/>
                  </a:solidFill>
                  <a:latin typeface="Lato" pitchFamily="34" charset="0"/>
                  <a:ea typeface="Lato" pitchFamily="34" charset="-122"/>
                  <a:cs typeface="Lato" pitchFamily="34" charset="-120"/>
                </a:rPr>
                <a:t>l'électricité est un danger ; une armoire ouverte sous tension est une situation dangereuse ; le geste de l'opérateur est l'événement déclencheur ; la brûlure est le dommage.</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60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93"/>
                                        </p:tgtEl>
                                        <p:attrNameLst>
                                          <p:attrName>style.visibility</p:attrName>
                                        </p:attrNameLst>
                                      </p:cBhvr>
                                      <p:to>
                                        <p:strVal val="visible"/>
                                      </p:to>
                                    </p:set>
                                    <p:animEffect transition="in" filter="fade">
                                      <p:cBhvr>
                                        <p:cTn id="17" dur="450"/>
                                        <p:tgtEl>
                                          <p:spTgt spid="9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mécanisme d'apparition du dommage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sp>
        <p:nvSpPr>
          <p:cNvPr id="10" name="Shape 8"/>
          <p:cNvSpPr/>
          <p:nvPr/>
        </p:nvSpPr>
        <p:spPr>
          <a:xfrm>
            <a:off x="2057400" y="2743200"/>
            <a:ext cx="8076895" cy="0"/>
          </a:xfrm>
          <a:prstGeom prst="line">
            <a:avLst/>
          </a:prstGeom>
          <a:noFill/>
          <a:ln w="25400">
            <a:solidFill>
              <a:srgbClr val="C1D5D9"/>
            </a:solidFill>
            <a:prstDash val="solid"/>
          </a:ln>
        </p:spPr>
        <p:txBody>
          <a:bodyPr/>
          <a:lstStyle/>
          <a:p>
            <a:endParaRPr/>
          </a:p>
        </p:txBody>
      </p:sp>
      <p:grpSp>
        <p:nvGrpSpPr>
          <p:cNvPr id="9094" name="Bloc 1"/>
          <p:cNvGrpSpPr/>
          <p:nvPr/>
        </p:nvGrpSpPr>
        <p:grpSpPr>
          <a:xfrm>
            <a:off x="1691640" y="2377440"/>
            <a:ext cx="731520" cy="731520"/>
            <a:chOff x="1691640" y="2377440"/>
            <a:chExt cx="731520" cy="731520"/>
          </a:xfrm>
        </p:grpSpPr>
        <p:sp>
          <p:nvSpPr>
            <p:cNvPr id="11" name="Shape 9"/>
            <p:cNvSpPr/>
            <p:nvPr/>
          </p:nvSpPr>
          <p:spPr>
            <a:xfrm>
              <a:off x="1691640" y="2377440"/>
              <a:ext cx="731520" cy="731520"/>
            </a:xfrm>
            <a:prstGeom prst="ellipse">
              <a:avLst/>
            </a:prstGeom>
            <a:solidFill>
              <a:srgbClr val="075767"/>
            </a:solidFill>
            <a:ln w="38100">
              <a:solidFill>
                <a:srgbClr val="FFFFFF"/>
              </a:solidFill>
              <a:prstDash val="solid"/>
            </a:ln>
          </p:spPr>
          <p:txBody>
            <a:bodyPr/>
            <a:lstStyle/>
            <a:p>
              <a:endParaRPr/>
            </a:p>
          </p:txBody>
        </p:sp>
        <p:sp>
          <p:nvSpPr>
            <p:cNvPr id="12" name="Text 10"/>
            <p:cNvSpPr txBox="1"/>
            <p:nvPr/>
          </p:nvSpPr>
          <p:spPr>
            <a:xfrm>
              <a:off x="1691640"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1</a:t>
              </a:r>
              <a:endParaRPr lang="en-US" sz="1900" dirty="0"/>
            </a:p>
          </p:txBody>
        </p:sp>
      </p:grpSp>
      <p:sp>
        <p:nvSpPr>
          <p:cNvPr id="13" name="Text 11"/>
          <p:cNvSpPr txBox="1"/>
          <p:nvPr/>
        </p:nvSpPr>
        <p:spPr>
          <a:xfrm>
            <a:off x="777240"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Danger</a:t>
            </a:r>
            <a:endParaRPr lang="en-US" sz="1550" dirty="0"/>
          </a:p>
        </p:txBody>
      </p:sp>
      <p:sp>
        <p:nvSpPr>
          <p:cNvPr id="14" name="Text 12"/>
          <p:cNvSpPr txBox="1"/>
          <p:nvPr/>
        </p:nvSpPr>
        <p:spPr>
          <a:xfrm>
            <a:off x="777240"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Ce qui, par nature, peut causer un dommage</a:t>
            </a:r>
            <a:endParaRPr lang="en-US" sz="1150" dirty="0"/>
          </a:p>
        </p:txBody>
      </p:sp>
      <p:grpSp>
        <p:nvGrpSpPr>
          <p:cNvPr id="9095" name="Bloc 2"/>
          <p:cNvGrpSpPr/>
          <p:nvPr/>
        </p:nvGrpSpPr>
        <p:grpSpPr>
          <a:xfrm>
            <a:off x="4383938" y="2377440"/>
            <a:ext cx="731520" cy="731520"/>
            <a:chOff x="4383938" y="2377440"/>
            <a:chExt cx="731520" cy="731520"/>
          </a:xfrm>
        </p:grpSpPr>
        <p:sp>
          <p:nvSpPr>
            <p:cNvPr id="15" name="Shape 13"/>
            <p:cNvSpPr/>
            <p:nvPr/>
          </p:nvSpPr>
          <p:spPr>
            <a:xfrm>
              <a:off x="4383938" y="2377440"/>
              <a:ext cx="731520" cy="731520"/>
            </a:xfrm>
            <a:prstGeom prst="ellipse">
              <a:avLst/>
            </a:prstGeom>
            <a:solidFill>
              <a:srgbClr val="075767"/>
            </a:solidFill>
            <a:ln w="38100">
              <a:solidFill>
                <a:srgbClr val="FFFFFF"/>
              </a:solidFill>
              <a:prstDash val="solid"/>
            </a:ln>
          </p:spPr>
          <p:txBody>
            <a:bodyPr/>
            <a:lstStyle/>
            <a:p>
              <a:endParaRPr/>
            </a:p>
          </p:txBody>
        </p:sp>
        <p:sp>
          <p:nvSpPr>
            <p:cNvPr id="16" name="Text 14"/>
            <p:cNvSpPr txBox="1"/>
            <p:nvPr/>
          </p:nvSpPr>
          <p:spPr>
            <a:xfrm>
              <a:off x="4383938"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2</a:t>
              </a:r>
              <a:endParaRPr lang="en-US" sz="1900" dirty="0"/>
            </a:p>
          </p:txBody>
        </p:sp>
      </p:grpSp>
      <p:sp>
        <p:nvSpPr>
          <p:cNvPr id="17" name="Text 15"/>
          <p:cNvSpPr txBox="1"/>
          <p:nvPr/>
        </p:nvSpPr>
        <p:spPr>
          <a:xfrm>
            <a:off x="3469538"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Situation dangereuse</a:t>
            </a:r>
            <a:endParaRPr lang="en-US" sz="1550" dirty="0"/>
          </a:p>
        </p:txBody>
      </p:sp>
      <p:sp>
        <p:nvSpPr>
          <p:cNvPr id="18" name="Text 16"/>
          <p:cNvSpPr txBox="1"/>
          <p:nvPr/>
        </p:nvSpPr>
        <p:spPr>
          <a:xfrm>
            <a:off x="3469538"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L'opérateur entre dans la zone d'exposition</a:t>
            </a:r>
            <a:endParaRPr lang="en-US" sz="1150" dirty="0"/>
          </a:p>
        </p:txBody>
      </p:sp>
      <p:grpSp>
        <p:nvGrpSpPr>
          <p:cNvPr id="9096" name="Bloc 3"/>
          <p:cNvGrpSpPr/>
          <p:nvPr/>
        </p:nvGrpSpPr>
        <p:grpSpPr>
          <a:xfrm>
            <a:off x="7076237" y="2377440"/>
            <a:ext cx="731520" cy="731520"/>
            <a:chOff x="7076237" y="2377440"/>
            <a:chExt cx="731520" cy="731520"/>
          </a:xfrm>
        </p:grpSpPr>
        <p:sp>
          <p:nvSpPr>
            <p:cNvPr id="19" name="Shape 17"/>
            <p:cNvSpPr/>
            <p:nvPr/>
          </p:nvSpPr>
          <p:spPr>
            <a:xfrm>
              <a:off x="7076237" y="2377440"/>
              <a:ext cx="731520" cy="731520"/>
            </a:xfrm>
            <a:prstGeom prst="ellipse">
              <a:avLst/>
            </a:prstGeom>
            <a:solidFill>
              <a:srgbClr val="F06C23"/>
            </a:solidFill>
            <a:ln w="38100">
              <a:solidFill>
                <a:srgbClr val="FFFFFF"/>
              </a:solidFill>
              <a:prstDash val="solid"/>
            </a:ln>
          </p:spPr>
          <p:txBody>
            <a:bodyPr/>
            <a:lstStyle/>
            <a:p>
              <a:endParaRPr/>
            </a:p>
          </p:txBody>
        </p:sp>
        <p:sp>
          <p:nvSpPr>
            <p:cNvPr id="20" name="Text 18"/>
            <p:cNvSpPr txBox="1"/>
            <p:nvPr/>
          </p:nvSpPr>
          <p:spPr>
            <a:xfrm>
              <a:off x="7076237"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3</a:t>
              </a:r>
              <a:endParaRPr lang="en-US" sz="1900" dirty="0"/>
            </a:p>
          </p:txBody>
        </p:sp>
      </p:grpSp>
      <p:sp>
        <p:nvSpPr>
          <p:cNvPr id="21" name="Text 19"/>
          <p:cNvSpPr txBox="1"/>
          <p:nvPr/>
        </p:nvSpPr>
        <p:spPr>
          <a:xfrm>
            <a:off x="6161837" y="3273552"/>
            <a:ext cx="2560320" cy="603504"/>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Événement déclencheur</a:t>
            </a:r>
            <a:endParaRPr lang="en-US" sz="1550" dirty="0"/>
          </a:p>
        </p:txBody>
      </p:sp>
      <p:sp>
        <p:nvSpPr>
          <p:cNvPr id="22" name="Text 20"/>
          <p:cNvSpPr txBox="1"/>
          <p:nvPr/>
        </p:nvSpPr>
        <p:spPr>
          <a:xfrm>
            <a:off x="6161837"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La maîtrise de la situation est perdue</a:t>
            </a:r>
            <a:endParaRPr lang="en-US" sz="1150" dirty="0"/>
          </a:p>
        </p:txBody>
      </p:sp>
      <p:grpSp>
        <p:nvGrpSpPr>
          <p:cNvPr id="9097" name="Bloc 4"/>
          <p:cNvGrpSpPr/>
          <p:nvPr/>
        </p:nvGrpSpPr>
        <p:grpSpPr>
          <a:xfrm>
            <a:off x="9768535" y="2377440"/>
            <a:ext cx="731520" cy="731520"/>
            <a:chOff x="9768535" y="2377440"/>
            <a:chExt cx="731520" cy="731520"/>
          </a:xfrm>
        </p:grpSpPr>
        <p:sp>
          <p:nvSpPr>
            <p:cNvPr id="23" name="Shape 21"/>
            <p:cNvSpPr/>
            <p:nvPr/>
          </p:nvSpPr>
          <p:spPr>
            <a:xfrm>
              <a:off x="9768535" y="2377440"/>
              <a:ext cx="731520" cy="731520"/>
            </a:xfrm>
            <a:prstGeom prst="ellipse">
              <a:avLst/>
            </a:prstGeom>
            <a:solidFill>
              <a:srgbClr val="075767"/>
            </a:solidFill>
            <a:ln w="38100">
              <a:solidFill>
                <a:srgbClr val="FFFFFF"/>
              </a:solidFill>
              <a:prstDash val="solid"/>
            </a:ln>
          </p:spPr>
          <p:txBody>
            <a:bodyPr/>
            <a:lstStyle/>
            <a:p>
              <a:endParaRPr/>
            </a:p>
          </p:txBody>
        </p:sp>
        <p:sp>
          <p:nvSpPr>
            <p:cNvPr id="24" name="Text 22"/>
            <p:cNvSpPr txBox="1"/>
            <p:nvPr/>
          </p:nvSpPr>
          <p:spPr>
            <a:xfrm>
              <a:off x="9768535"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4</a:t>
              </a:r>
              <a:endParaRPr lang="en-US" sz="1900" dirty="0"/>
            </a:p>
          </p:txBody>
        </p:sp>
      </p:grpSp>
      <p:sp>
        <p:nvSpPr>
          <p:cNvPr id="25" name="Text 23"/>
          <p:cNvSpPr txBox="1"/>
          <p:nvPr/>
        </p:nvSpPr>
        <p:spPr>
          <a:xfrm>
            <a:off x="8854135"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Dommage</a:t>
            </a:r>
            <a:endParaRPr lang="en-US" sz="1550" dirty="0"/>
          </a:p>
        </p:txBody>
      </p:sp>
      <p:sp>
        <p:nvSpPr>
          <p:cNvPr id="26" name="Text 24"/>
          <p:cNvSpPr txBox="1"/>
          <p:nvPr/>
        </p:nvSpPr>
        <p:spPr>
          <a:xfrm>
            <a:off x="8854135"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La lésion survient</a:t>
            </a:r>
            <a:endParaRPr lang="en-US" sz="1150" dirty="0"/>
          </a:p>
        </p:txBody>
      </p:sp>
      <p:grpSp>
        <p:nvGrpSpPr>
          <p:cNvPr id="9098" name="Bloc 14"/>
          <p:cNvGrpSpPr/>
          <p:nvPr/>
        </p:nvGrpSpPr>
        <p:grpSpPr>
          <a:xfrm>
            <a:off x="731520" y="5248656"/>
            <a:ext cx="10728655" cy="841248"/>
            <a:chOff x="731520" y="5248656"/>
            <a:chExt cx="10728655" cy="841248"/>
          </a:xfrm>
        </p:grpSpPr>
        <p:sp>
          <p:nvSpPr>
            <p:cNvPr id="27" name="Shape 25"/>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28" name="Text 26"/>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principe   </a:t>
              </a:r>
              <a:r>
                <a:rPr lang="en-US" sz="1300" dirty="0">
                  <a:solidFill>
                    <a:srgbClr val="075767"/>
                  </a:solidFill>
                  <a:latin typeface="Lato" pitchFamily="34" charset="0"/>
                  <a:ea typeface="Lato" pitchFamily="34" charset="-122"/>
                  <a:cs typeface="Lato" pitchFamily="34" charset="-120"/>
                </a:rPr>
                <a:t>chaque maillon est un point où l'on peut agir. Plus on intervient tôt dans la chaîne, plus la prévention est efficace.</a:t>
              </a:r>
              <a:endParaRPr lang="en-US" sz="1250" dirty="0"/>
            </a:p>
          </p:txBody>
        </p:sp>
      </p:grpSp>
      <p:pic>
        <p:nvPicPr>
          <p:cNvPr id="29"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30" name="Text 27"/>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31" name="Shape 28"/>
          <p:cNvSpPr/>
          <p:nvPr/>
        </p:nvSpPr>
        <p:spPr>
          <a:xfrm>
            <a:off x="10591495" y="6181344"/>
            <a:ext cx="438912" cy="438912"/>
          </a:xfrm>
          <a:prstGeom prst="ellipse">
            <a:avLst/>
          </a:prstGeom>
          <a:solidFill>
            <a:srgbClr val="F06C23"/>
          </a:solidFill>
          <a:ln/>
        </p:spPr>
        <p:txBody>
          <a:bodyPr/>
          <a:lstStyle/>
          <a:p>
            <a:endParaRPr/>
          </a:p>
        </p:txBody>
      </p:sp>
      <p:sp>
        <p:nvSpPr>
          <p:cNvPr id="32" name="Text 29"/>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33" name="Text 30"/>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61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94"/>
                                        </p:tgtEl>
                                        <p:attrNameLst>
                                          <p:attrName>style.visibility</p:attrName>
                                        </p:attrNameLst>
                                      </p:cBhvr>
                                      <p:to>
                                        <p:strVal val="visible"/>
                                      </p:to>
                                    </p:set>
                                    <p:animEffect transition="in" filter="fade">
                                      <p:cBhvr>
                                        <p:cTn id="7" dur="450"/>
                                        <p:tgtEl>
                                          <p:spTgt spid="90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95"/>
                                        </p:tgtEl>
                                        <p:attrNameLst>
                                          <p:attrName>style.visibility</p:attrName>
                                        </p:attrNameLst>
                                      </p:cBhvr>
                                      <p:to>
                                        <p:strVal val="visible"/>
                                      </p:to>
                                    </p:set>
                                    <p:animEffect transition="in" filter="fade">
                                      <p:cBhvr>
                                        <p:cTn id="12" dur="450"/>
                                        <p:tgtEl>
                                          <p:spTgt spid="90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96"/>
                                        </p:tgtEl>
                                        <p:attrNameLst>
                                          <p:attrName>style.visibility</p:attrName>
                                        </p:attrNameLst>
                                      </p:cBhvr>
                                      <p:to>
                                        <p:strVal val="visible"/>
                                      </p:to>
                                    </p:set>
                                    <p:animEffect transition="in" filter="fade">
                                      <p:cBhvr>
                                        <p:cTn id="17" dur="450"/>
                                        <p:tgtEl>
                                          <p:spTgt spid="909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97"/>
                                        </p:tgtEl>
                                        <p:attrNameLst>
                                          <p:attrName>style.visibility</p:attrName>
                                        </p:attrNameLst>
                                      </p:cBhvr>
                                      <p:to>
                                        <p:strVal val="visible"/>
                                      </p:to>
                                    </p:set>
                                    <p:animEffect transition="in" filter="fade">
                                      <p:cBhvr>
                                        <p:cTn id="22" dur="450"/>
                                        <p:tgtEl>
                                          <p:spTgt spid="909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5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5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45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9098"/>
                                        </p:tgtEl>
                                        <p:attrNameLst>
                                          <p:attrName>style.visibility</p:attrName>
                                        </p:attrNameLst>
                                      </p:cBhvr>
                                      <p:to>
                                        <p:strVal val="visible"/>
                                      </p:to>
                                    </p:set>
                                    <p:animEffect transition="in" filter="fade">
                                      <p:cBhvr>
                                        <p:cTn id="72" dur="450"/>
                                        <p:tgtEl>
                                          <p:spTgt spid="9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Application : construire un MAD</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grpSp>
        <p:nvGrpSpPr>
          <p:cNvPr id="9099" name="Bloc 1"/>
          <p:cNvGrpSpPr/>
          <p:nvPr/>
        </p:nvGrpSpPr>
        <p:grpSpPr>
          <a:xfrm>
            <a:off x="731520" y="1828800"/>
            <a:ext cx="10728655" cy="3977640"/>
            <a:chOff x="731520" y="1828800"/>
            <a:chExt cx="10728655" cy="3977640"/>
          </a:xfrm>
        </p:grpSpPr>
        <p:sp>
          <p:nvSpPr>
            <p:cNvPr id="10" name="Shape 8"/>
            <p:cNvSpPr/>
            <p:nvPr/>
          </p:nvSpPr>
          <p:spPr>
            <a:xfrm>
              <a:off x="731520" y="1828800"/>
              <a:ext cx="10728655" cy="3977640"/>
            </a:xfrm>
            <a:prstGeom prst="roundRect">
              <a:avLst>
                <a:gd name="adj" fmla="val 1379"/>
              </a:avLst>
            </a:prstGeom>
            <a:solidFill>
              <a:srgbClr val="F2F2F2"/>
            </a:solidFill>
            <a:ln/>
          </p:spPr>
          <p:txBody>
            <a:bodyPr/>
            <a:lstStyle/>
            <a:p>
              <a:endParaRPr/>
            </a:p>
          </p:txBody>
        </p:sp>
        <p:sp>
          <p:nvSpPr>
            <p:cNvPr id="11" name="Shape 9"/>
            <p:cNvSpPr/>
            <p:nvPr/>
          </p:nvSpPr>
          <p:spPr>
            <a:xfrm>
              <a:off x="1097280" y="2121408"/>
              <a:ext cx="777240" cy="777240"/>
            </a:xfrm>
            <a:prstGeom prst="ellipse">
              <a:avLst/>
            </a:prstGeom>
            <a:solidFill>
              <a:srgbClr val="F06C23"/>
            </a:solidFill>
            <a:ln/>
          </p:spPr>
          <p:txBody>
            <a:bodyPr/>
            <a:lstStyle/>
            <a:p>
              <a:endParaRPr/>
            </a:p>
          </p:txBody>
        </p:sp>
        <p:pic>
          <p:nvPicPr>
            <p:cNvPr id="12" name="Image 0" descr="/home/claude/tmo/build/ico/equipe-blanc.png"/>
            <p:cNvPicPr>
              <a:picLocks noChangeAspect="1"/>
            </p:cNvPicPr>
            <p:nvPr/>
          </p:nvPicPr>
          <p:blipFill>
            <a:blip r:embed="rId3"/>
            <a:stretch>
              <a:fillRect/>
            </a:stretch>
          </p:blipFill>
          <p:spPr>
            <a:xfrm>
              <a:off x="1299362" y="2323490"/>
              <a:ext cx="373075" cy="373075"/>
            </a:xfrm>
            <a:prstGeom prst="rect">
              <a:avLst/>
            </a:prstGeom>
          </p:spPr>
        </p:pic>
        <p:sp>
          <p:nvSpPr>
            <p:cNvPr id="13" name="Shape 10"/>
            <p:cNvSpPr/>
            <p:nvPr/>
          </p:nvSpPr>
          <p:spPr>
            <a:xfrm>
              <a:off x="8854135" y="2139696"/>
              <a:ext cx="2240280" cy="457200"/>
            </a:xfrm>
            <a:prstGeom prst="roundRect">
              <a:avLst>
                <a:gd name="adj" fmla="val 24000"/>
              </a:avLst>
            </a:prstGeom>
            <a:solidFill>
              <a:srgbClr val="075767"/>
            </a:solidFill>
            <a:ln/>
          </p:spPr>
          <p:txBody>
            <a:bodyPr/>
            <a:lstStyle/>
            <a:p>
              <a:endParaRPr/>
            </a:p>
          </p:txBody>
        </p:sp>
        <p:sp>
          <p:nvSpPr>
            <p:cNvPr id="14" name="Text 11"/>
            <p:cNvSpPr txBox="1"/>
            <p:nvPr/>
          </p:nvSpPr>
          <p:spPr>
            <a:xfrm>
              <a:off x="8854135" y="2139696"/>
              <a:ext cx="22402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Lato" pitchFamily="34" charset="0"/>
                  <a:ea typeface="Lato" pitchFamily="34" charset="-122"/>
                  <a:cs typeface="Lato" pitchFamily="34" charset="-120"/>
                </a:rPr>
                <a:t>10' + 15' de restitution</a:t>
              </a:r>
              <a:endParaRPr lang="en-US" sz="1250" dirty="0"/>
            </a:p>
          </p:txBody>
        </p:sp>
        <p:sp>
          <p:nvSpPr>
            <p:cNvPr id="15" name="Text 12"/>
            <p:cNvSpPr txBox="1"/>
            <p:nvPr/>
          </p:nvSpPr>
          <p:spPr>
            <a:xfrm>
              <a:off x="2103120" y="2084832"/>
              <a:ext cx="4572000" cy="274320"/>
            </a:xfrm>
            <a:prstGeom prst="rect">
              <a:avLst/>
            </a:prstGeom>
            <a:noFill/>
            <a:ln/>
          </p:spPr>
          <p:txBody>
            <a:bodyPr wrap="square" lIns="0" tIns="0" rIns="0" bIns="0" rtlCol="0" anchor="ctr"/>
            <a:lstStyle/>
            <a:p>
              <a:pPr marL="0" indent="0">
                <a:buNone/>
              </a:pPr>
              <a:r>
                <a:rPr lang="en-US" sz="1100" b="1" kern="0" spc="160" dirty="0">
                  <a:solidFill>
                    <a:srgbClr val="C33F14"/>
                  </a:solidFill>
                  <a:latin typeface="Lato" pitchFamily="34" charset="0"/>
                  <a:ea typeface="Lato" pitchFamily="34" charset="-122"/>
                  <a:cs typeface="Lato" pitchFamily="34" charset="-120"/>
                </a:rPr>
                <a:t>EXERCICE</a:t>
              </a:r>
              <a:endParaRPr lang="en-US" sz="1100" dirty="0"/>
            </a:p>
          </p:txBody>
        </p:sp>
        <p:sp>
          <p:nvSpPr>
            <p:cNvPr id="16" name="Text 13"/>
            <p:cNvSpPr txBox="1"/>
            <p:nvPr/>
          </p:nvSpPr>
          <p:spPr>
            <a:xfrm>
              <a:off x="2103120" y="2377440"/>
              <a:ext cx="6522415" cy="658368"/>
            </a:xfrm>
            <a:prstGeom prst="rect">
              <a:avLst/>
            </a:prstGeom>
            <a:noFill/>
            <a:ln/>
          </p:spPr>
          <p:txBody>
            <a:bodyPr wrap="square" lIns="0" tIns="0" rIns="0" bIns="0" rtlCol="0" anchor="t"/>
            <a:lstStyle/>
            <a:p>
              <a:pPr marL="0" indent="0">
                <a:lnSpc>
                  <a:spcPct val="110000"/>
                </a:lnSpc>
                <a:buNone/>
              </a:pPr>
              <a:r>
                <a:rPr lang="en-US" sz="1600" b="1" dirty="0">
                  <a:solidFill>
                    <a:srgbClr val="075767"/>
                  </a:solidFill>
                  <a:latin typeface="Lato" pitchFamily="34" charset="0"/>
                  <a:ea typeface="Lato" pitchFamily="34" charset="-122"/>
                  <a:cs typeface="Lato" pitchFamily="34" charset="-120"/>
                </a:rPr>
                <a:t>À l'aide de la photo d'accident du travail projetée, reconstituez la chaîne.</a:t>
              </a:r>
              <a:endParaRPr lang="en-US" sz="1600" dirty="0"/>
            </a:p>
          </p:txBody>
        </p:sp>
        <p:sp>
          <p:nvSpPr>
            <p:cNvPr id="17" name="Text 14"/>
            <p:cNvSpPr txBox="1"/>
            <p:nvPr/>
          </p:nvSpPr>
          <p:spPr>
            <a:xfrm>
              <a:off x="2103120" y="3127248"/>
              <a:ext cx="8716975" cy="25146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Imaginez le dommage possible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Réalisez le mécanisme d'apparition du dommage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Préconisez deux actions de prévention en vous appuyant sur les neuf principes généraux</a:t>
              </a:r>
              <a:endParaRPr lang="en-US" sz="1400" dirty="0"/>
            </a:p>
          </p:txBody>
        </p:sp>
      </p:grpSp>
      <p:pic>
        <p:nvPicPr>
          <p:cNvPr id="18"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9" name="Text 15"/>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6"/>
          <p:cNvSpPr/>
          <p:nvPr/>
        </p:nvSpPr>
        <p:spPr>
          <a:xfrm>
            <a:off x="10591495" y="6181344"/>
            <a:ext cx="438912" cy="438912"/>
          </a:xfrm>
          <a:prstGeom prst="ellipse">
            <a:avLst/>
          </a:prstGeom>
          <a:solidFill>
            <a:srgbClr val="F06C23"/>
          </a:solidFill>
          <a:ln/>
        </p:spPr>
        <p:txBody>
          <a:bodyPr/>
          <a:lstStyle/>
          <a:p>
            <a:endParaRPr/>
          </a:p>
        </p:txBody>
      </p:sp>
      <p:sp>
        <p:nvSpPr>
          <p:cNvPr id="21" name="Text 17"/>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22" name="Text 18"/>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62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99"/>
                                        </p:tgtEl>
                                        <p:attrNameLst>
                                          <p:attrName>style.visibility</p:attrName>
                                        </p:attrNameLst>
                                      </p:cBhvr>
                                      <p:to>
                                        <p:strVal val="visible"/>
                                      </p:to>
                                    </p:set>
                                    <p:animEffect transition="in" filter="fade">
                                      <p:cBhvr>
                                        <p:cTn id="7" dur="450"/>
                                        <p:tgtEl>
                                          <p:spTgt spid="9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9" name="Rectangle 8"/>
          <p:cNvSpPr/>
          <p:nvPr/>
        </p:nvSpPr>
        <p:spPr>
          <a:xfrm>
            <a:off x="0" y="0"/>
            <a:ext cx="12191695" cy="6858000"/>
          </a:xfrm>
          <a:prstGeom prst="rect">
            <a:avLst/>
          </a:prstGeom>
          <a:solidFill>
            <a:srgbClr val="0757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31.png"/>
          <p:cNvPicPr>
            <a:picLocks noChangeAspect="1"/>
          </p:cNvPicPr>
          <p:nvPr/>
        </p:nvPicPr>
        <p:blipFill>
          <a:blip r:embed="rId3"/>
          <a:srcRect/>
          <a:stretch>
            <a:fillRect/>
          </a:stretch>
        </p:blipFill>
        <p:spPr>
          <a:xfrm>
            <a:off x="1523847" y="0"/>
            <a:ext cx="9144000" cy="6858000"/>
          </a:xfrm>
          <a:prstGeom prst="rect">
            <a:avLst/>
          </a:prstGeom>
        </p:spPr>
      </p:pic>
      <p:sp>
        <p:nvSpPr>
          <p:cNvPr id="3" name="Shape 0"/>
          <p:cNvSpPr/>
          <p:nvPr/>
        </p:nvSpPr>
        <p:spPr>
          <a:xfrm>
            <a:off x="0" y="0"/>
            <a:ext cx="12191695" cy="6858000"/>
          </a:xfrm>
          <a:prstGeom prst="rect">
            <a:avLst/>
          </a:prstGeom>
          <a:solidFill>
            <a:srgbClr val="082A30">
              <a:alpha val="38000"/>
            </a:srgbClr>
          </a:solidFill>
          <a:ln/>
        </p:spPr>
        <p:txBody>
          <a:bodyPr/>
          <a:lstStyle/>
          <a:p>
            <a:endParaRPr/>
          </a:p>
        </p:txBody>
      </p:sp>
      <p:sp>
        <p:nvSpPr>
          <p:cNvPr id="4" name="Shape 1"/>
          <p:cNvSpPr/>
          <p:nvPr/>
        </p:nvSpPr>
        <p:spPr>
          <a:xfrm>
            <a:off x="0" y="4343400"/>
            <a:ext cx="12191695" cy="2514600"/>
          </a:xfrm>
          <a:prstGeom prst="rect">
            <a:avLst/>
          </a:prstGeom>
          <a:solidFill>
            <a:srgbClr val="082A30">
              <a:alpha val="88000"/>
            </a:srgbClr>
          </a:solidFill>
          <a:ln/>
        </p:spPr>
        <p:txBody>
          <a:bodyPr/>
          <a:lstStyle/>
          <a:p>
            <a:endParaRPr/>
          </a:p>
        </p:txBody>
      </p:sp>
      <p:sp>
        <p:nvSpPr>
          <p:cNvPr id="5" name="Text 2"/>
          <p:cNvSpPr txBox="1"/>
          <p:nvPr/>
        </p:nvSpPr>
        <p:spPr>
          <a:xfrm>
            <a:off x="731520" y="4709160"/>
            <a:ext cx="8686800" cy="685800"/>
          </a:xfrm>
          <a:prstGeom prst="rect">
            <a:avLst/>
          </a:prstGeom>
          <a:noFill/>
          <a:ln/>
        </p:spPr>
        <p:txBody>
          <a:bodyPr wrap="square" lIns="0" tIns="0" rIns="0" bIns="0" rtlCol="0" anchor="t"/>
          <a:lstStyle/>
          <a:p>
            <a:pPr marL="0" indent="0">
              <a:buNone/>
            </a:pPr>
            <a:r>
              <a:rPr lang="en-US" sz="3000" b="1" kern="0" spc="-100" dirty="0">
                <a:solidFill>
                  <a:srgbClr val="FFFFFF"/>
                </a:solidFill>
                <a:latin typeface="Lato" pitchFamily="34" charset="0"/>
                <a:ea typeface="Lato" pitchFamily="34" charset="-122"/>
                <a:cs typeface="Lato" pitchFamily="34" charset="-120"/>
              </a:rPr>
              <a:t>Photo de situation nº 1</a:t>
            </a:r>
            <a:endParaRPr lang="en-US" sz="3000" dirty="0"/>
          </a:p>
        </p:txBody>
      </p:sp>
      <p:sp>
        <p:nvSpPr>
          <p:cNvPr id="6" name="Text 3"/>
          <p:cNvSpPr txBox="1"/>
          <p:nvPr/>
        </p:nvSpPr>
        <p:spPr>
          <a:xfrm>
            <a:off x="731520" y="5413248"/>
            <a:ext cx="8961120" cy="731520"/>
          </a:xfrm>
          <a:prstGeom prst="rect">
            <a:avLst/>
          </a:prstGeom>
          <a:noFill/>
          <a:ln/>
        </p:spPr>
        <p:txBody>
          <a:bodyPr wrap="square" lIns="0" tIns="0" rIns="0" bIns="0" rtlCol="0" anchor="t"/>
          <a:lstStyle/>
          <a:p>
            <a:pPr marL="0" indent="0">
              <a:lnSpc>
                <a:spcPct val="110000"/>
              </a:lnSpc>
              <a:buNone/>
            </a:pPr>
            <a:r>
              <a:rPr lang="en-US" sz="1400" dirty="0">
                <a:solidFill>
                  <a:srgbClr val="C1D5D9"/>
                </a:solidFill>
                <a:latin typeface="Lato" pitchFamily="34" charset="0"/>
                <a:ea typeface="Lato" pitchFamily="34" charset="-122"/>
                <a:cs typeface="Lato" pitchFamily="34" charset="-120"/>
              </a:rPr>
              <a:t>Imaginez un dommage, construisez le mécanisme d'apparition du dommage, puis proposez deux actions de prévention rattachées aux neuf principes. 10 minutes de préparation, 15 minutes de restitution.</a:t>
            </a:r>
            <a:endParaRPr lang="en-US" sz="1450" dirty="0"/>
          </a:p>
        </p:txBody>
      </p:sp>
      <p:pic>
        <p:nvPicPr>
          <p:cNvPr id="7" name="Image 1" descr="/home/claude/tmo/build/logo.png"/>
          <p:cNvPicPr>
            <a:picLocks noChangeAspect="1"/>
          </p:cNvPicPr>
          <p:nvPr/>
        </p:nvPicPr>
        <p:blipFill>
          <a:blip r:embed="rId4"/>
          <a:stretch>
            <a:fillRect/>
          </a:stretch>
        </p:blipFill>
        <p:spPr>
          <a:xfrm>
            <a:off x="10893247" y="4892040"/>
            <a:ext cx="566928" cy="566928"/>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9" name="Rectangle 8"/>
          <p:cNvSpPr/>
          <p:nvPr/>
        </p:nvSpPr>
        <p:spPr>
          <a:xfrm>
            <a:off x="0" y="0"/>
            <a:ext cx="12191695" cy="6858000"/>
          </a:xfrm>
          <a:prstGeom prst="rect">
            <a:avLst/>
          </a:prstGeom>
          <a:solidFill>
            <a:srgbClr val="0757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32.jpg"/>
          <p:cNvPicPr>
            <a:picLocks noChangeAspect="1"/>
          </p:cNvPicPr>
          <p:nvPr/>
        </p:nvPicPr>
        <p:blipFill>
          <a:blip r:embed="rId3"/>
          <a:srcRect/>
          <a:stretch>
            <a:fillRect/>
          </a:stretch>
        </p:blipFill>
        <p:spPr>
          <a:xfrm>
            <a:off x="1523847" y="0"/>
            <a:ext cx="9144000" cy="6858000"/>
          </a:xfrm>
          <a:prstGeom prst="rect">
            <a:avLst/>
          </a:prstGeom>
        </p:spPr>
      </p:pic>
      <p:sp>
        <p:nvSpPr>
          <p:cNvPr id="3" name="Shape 0"/>
          <p:cNvSpPr/>
          <p:nvPr/>
        </p:nvSpPr>
        <p:spPr>
          <a:xfrm>
            <a:off x="0" y="0"/>
            <a:ext cx="12191695" cy="6858000"/>
          </a:xfrm>
          <a:prstGeom prst="rect">
            <a:avLst/>
          </a:prstGeom>
          <a:solidFill>
            <a:srgbClr val="082A30">
              <a:alpha val="38000"/>
            </a:srgbClr>
          </a:solidFill>
          <a:ln/>
        </p:spPr>
        <p:txBody>
          <a:bodyPr/>
          <a:lstStyle/>
          <a:p>
            <a:endParaRPr/>
          </a:p>
        </p:txBody>
      </p:sp>
      <p:sp>
        <p:nvSpPr>
          <p:cNvPr id="4" name="Shape 1"/>
          <p:cNvSpPr/>
          <p:nvPr/>
        </p:nvSpPr>
        <p:spPr>
          <a:xfrm>
            <a:off x="0" y="6016752"/>
            <a:ext cx="12191695" cy="841248"/>
          </a:xfrm>
          <a:prstGeom prst="rect">
            <a:avLst/>
          </a:prstGeom>
          <a:solidFill>
            <a:srgbClr val="082A30">
              <a:alpha val="88000"/>
            </a:srgbClr>
          </a:solidFill>
          <a:ln/>
        </p:spPr>
        <p:txBody>
          <a:bodyPr/>
          <a:lstStyle/>
          <a:p>
            <a:endParaRPr/>
          </a:p>
        </p:txBody>
      </p:sp>
      <p:sp>
        <p:nvSpPr>
          <p:cNvPr id="5" name="Text 2"/>
          <p:cNvSpPr txBox="1"/>
          <p:nvPr/>
        </p:nvSpPr>
        <p:spPr>
          <a:xfrm>
            <a:off x="731520" y="6172200"/>
            <a:ext cx="8686800" cy="685800"/>
          </a:xfrm>
          <a:prstGeom prst="rect">
            <a:avLst/>
          </a:prstGeom>
          <a:noFill/>
          <a:ln/>
        </p:spPr>
        <p:txBody>
          <a:bodyPr wrap="square" lIns="0" tIns="0" rIns="0" bIns="0" rtlCol="0" anchor="t"/>
          <a:lstStyle/>
          <a:p>
            <a:pPr marL="0" indent="0">
              <a:buNone/>
            </a:pPr>
            <a:r>
              <a:rPr lang="en-US" sz="3000" b="1" kern="0" spc="-100" dirty="0">
                <a:solidFill>
                  <a:srgbClr val="FFFFFF"/>
                </a:solidFill>
                <a:latin typeface="Lato" pitchFamily="34" charset="0"/>
                <a:ea typeface="Lato" pitchFamily="34" charset="-122"/>
                <a:cs typeface="Lato" pitchFamily="34" charset="-120"/>
              </a:rPr>
              <a:t>Photo de situation nº 2</a:t>
            </a:r>
            <a:endParaRPr lang="en-US" sz="3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L'accident du travail : la définition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Événement soudain qui, quelle qu'en soit la raison, a causé un dommage corporel ou psychologique, et qui est arrivé pendant l'activité professionnelle.</a:t>
            </a:r>
            <a:endParaRPr lang="en-US" sz="1450" dirty="0"/>
          </a:p>
        </p:txBody>
      </p:sp>
      <p:sp>
        <p:nvSpPr>
          <p:cNvPr id="11" name="Text 9"/>
          <p:cNvSpPr txBox="1"/>
          <p:nvPr/>
        </p:nvSpPr>
        <p:spPr>
          <a:xfrm>
            <a:off x="731520" y="2487168"/>
            <a:ext cx="10728655" cy="231343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Deux conditions cumulatives pour la reconnaissance :</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être victime d'un fait accidentel, soudain et imprévu, dans le cadre du travail</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l'accident a causé un dommage physique ou psychologique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L'accident doit être rattaché à un événement survenu sous l'autorité de l'employeur, et daté de manière certaine</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Il est présumé d'origine professionnelle dès lors qu'il se produit dans les locaux de l'entreprise, même pendant une pause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 qualification peut être écartée si le fait accidentel résulte de causes non professionnelles</a:t>
            </a:r>
            <a:endParaRPr lang="en-US" sz="1400" dirty="0"/>
          </a:p>
        </p:txBody>
      </p:sp>
      <p:grpSp>
        <p:nvGrpSpPr>
          <p:cNvPr id="9100" name="Bloc 3"/>
          <p:cNvGrpSpPr/>
          <p:nvPr/>
        </p:nvGrpSpPr>
        <p:grpSpPr>
          <a:xfrm>
            <a:off x="731520" y="4956048"/>
            <a:ext cx="10728655" cy="841248"/>
            <a:chOff x="731520" y="4956048"/>
            <a:chExt cx="10728655" cy="841248"/>
          </a:xfrm>
        </p:grpSpPr>
        <p:sp>
          <p:nvSpPr>
            <p:cNvPr id="12" name="Shape 10"/>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La base légale   </a:t>
              </a:r>
              <a:r>
                <a:rPr lang="en-US" sz="1300" dirty="0">
                  <a:solidFill>
                    <a:srgbClr val="075767"/>
                  </a:solidFill>
                  <a:latin typeface="Lato" pitchFamily="34" charset="0"/>
                  <a:ea typeface="Lato" pitchFamily="34" charset="-122"/>
                  <a:cs typeface="Lato" pitchFamily="34" charset="-120"/>
                </a:rPr>
                <a:t>article L. 411-1 du code de la sécurité sociale, complété par une jurisprudence abondante sur la notion de soudaineté.</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65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00"/>
                                        </p:tgtEl>
                                        <p:attrNameLst>
                                          <p:attrName>style.visibility</p:attrName>
                                        </p:attrNameLst>
                                      </p:cBhvr>
                                      <p:to>
                                        <p:strVal val="visible"/>
                                      </p:to>
                                    </p:set>
                                    <p:animEffect transition="in" filter="fade">
                                      <p:cBhvr>
                                        <p:cTn id="17" dur="450"/>
                                        <p:tgtEl>
                                          <p:spTgt spid="9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quatre niveaux à distinguer</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grpSp>
        <p:nvGrpSpPr>
          <p:cNvPr id="9101" name="Bloc 1"/>
          <p:cNvGrpSpPr/>
          <p:nvPr/>
        </p:nvGrpSpPr>
        <p:grpSpPr>
          <a:xfrm>
            <a:off x="731520" y="1965960"/>
            <a:ext cx="2407844" cy="3108960"/>
            <a:chOff x="731520" y="1965960"/>
            <a:chExt cx="2407844" cy="3108960"/>
          </a:xfrm>
        </p:grpSpPr>
        <p:sp>
          <p:nvSpPr>
            <p:cNvPr id="10" name="Shape 8"/>
            <p:cNvSpPr/>
            <p:nvPr/>
          </p:nvSpPr>
          <p:spPr>
            <a:xfrm>
              <a:off x="731520" y="1965960"/>
              <a:ext cx="2407844" cy="3108960"/>
            </a:xfrm>
            <a:prstGeom prst="roundRect">
              <a:avLst>
                <a:gd name="adj" fmla="val 1899"/>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alert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1859204"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1. Avec arrêt</a:t>
              </a:r>
              <a:endParaRPr lang="en-US" sz="1550" dirty="0"/>
            </a:p>
          </p:txBody>
        </p:sp>
        <p:sp>
          <p:nvSpPr>
            <p:cNvPr id="14" name="Text 11"/>
            <p:cNvSpPr txBox="1"/>
            <p:nvPr/>
          </p:nvSpPr>
          <p:spPr>
            <a:xfrm>
              <a:off x="1005840" y="3611880"/>
              <a:ext cx="1859204"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Le seul niveau qui alimente les statistiques officielles et le taux de cotisation AT/MP.</a:t>
              </a:r>
              <a:endParaRPr lang="en-US" sz="1250" dirty="0"/>
            </a:p>
          </p:txBody>
        </p:sp>
      </p:grpSp>
      <p:grpSp>
        <p:nvGrpSpPr>
          <p:cNvPr id="9102" name="Bloc 2"/>
          <p:cNvGrpSpPr/>
          <p:nvPr/>
        </p:nvGrpSpPr>
        <p:grpSpPr>
          <a:xfrm>
            <a:off x="3505124" y="1965960"/>
            <a:ext cx="2407844" cy="3108960"/>
            <a:chOff x="3505124" y="1965960"/>
            <a:chExt cx="2407844" cy="3108960"/>
          </a:xfrm>
        </p:grpSpPr>
        <p:sp>
          <p:nvSpPr>
            <p:cNvPr id="15" name="Shape 12"/>
            <p:cNvSpPr/>
            <p:nvPr/>
          </p:nvSpPr>
          <p:spPr>
            <a:xfrm>
              <a:off x="3505124" y="1965960"/>
              <a:ext cx="2407844" cy="3108960"/>
            </a:xfrm>
            <a:prstGeom prst="roundRect">
              <a:avLst>
                <a:gd name="adj" fmla="val 1899"/>
              </a:avLst>
            </a:prstGeom>
            <a:solidFill>
              <a:srgbClr val="F2F2F2"/>
            </a:solidFill>
            <a:ln/>
          </p:spPr>
          <p:txBody>
            <a:bodyPr/>
            <a:lstStyle/>
            <a:p>
              <a:endParaRPr/>
            </a:p>
          </p:txBody>
        </p:sp>
        <p:sp>
          <p:nvSpPr>
            <p:cNvPr id="16" name="Shape 13"/>
            <p:cNvSpPr/>
            <p:nvPr/>
          </p:nvSpPr>
          <p:spPr>
            <a:xfrm>
              <a:off x="3779444" y="2240280"/>
              <a:ext cx="731520" cy="731520"/>
            </a:xfrm>
            <a:prstGeom prst="ellipse">
              <a:avLst/>
            </a:prstGeom>
            <a:solidFill>
              <a:srgbClr val="075767"/>
            </a:solidFill>
            <a:ln/>
          </p:spPr>
          <p:txBody>
            <a:bodyPr/>
            <a:lstStyle/>
            <a:p>
              <a:endParaRPr/>
            </a:p>
          </p:txBody>
        </p:sp>
        <p:pic>
          <p:nvPicPr>
            <p:cNvPr id="17" name="Image 1" descr="/home/claude/tmo/build/ico/document-blanc.png"/>
            <p:cNvPicPr>
              <a:picLocks noChangeAspect="1"/>
            </p:cNvPicPr>
            <p:nvPr/>
          </p:nvPicPr>
          <p:blipFill>
            <a:blip r:embed="rId4"/>
            <a:stretch>
              <a:fillRect/>
            </a:stretch>
          </p:blipFill>
          <p:spPr>
            <a:xfrm>
              <a:off x="3969639" y="2430475"/>
              <a:ext cx="351130" cy="351130"/>
            </a:xfrm>
            <a:prstGeom prst="rect">
              <a:avLst/>
            </a:prstGeom>
          </p:spPr>
        </p:pic>
        <p:sp>
          <p:nvSpPr>
            <p:cNvPr id="18" name="Text 14"/>
            <p:cNvSpPr txBox="1"/>
            <p:nvPr/>
          </p:nvSpPr>
          <p:spPr>
            <a:xfrm>
              <a:off x="3779444" y="3108960"/>
              <a:ext cx="1859204"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2. Sans arrêt</a:t>
              </a:r>
              <a:endParaRPr lang="en-US" sz="1550" dirty="0"/>
            </a:p>
          </p:txBody>
        </p:sp>
        <p:sp>
          <p:nvSpPr>
            <p:cNvPr id="19" name="Text 15"/>
            <p:cNvSpPr txBox="1"/>
            <p:nvPr/>
          </p:nvSpPr>
          <p:spPr>
            <a:xfrm>
              <a:off x="3779444" y="3611880"/>
              <a:ext cx="1859204"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Soins sur place ou poste aménagé, sans prescription d'arrêt de travail.</a:t>
              </a:r>
              <a:endParaRPr lang="en-US" sz="1250" dirty="0"/>
            </a:p>
          </p:txBody>
        </p:sp>
      </p:grpSp>
      <p:grpSp>
        <p:nvGrpSpPr>
          <p:cNvPr id="9103" name="Bloc 3"/>
          <p:cNvGrpSpPr/>
          <p:nvPr/>
        </p:nvGrpSpPr>
        <p:grpSpPr>
          <a:xfrm>
            <a:off x="6278728" y="1965960"/>
            <a:ext cx="2407844" cy="3108960"/>
            <a:chOff x="6278728" y="1965960"/>
            <a:chExt cx="2407844" cy="3108960"/>
          </a:xfrm>
        </p:grpSpPr>
        <p:sp>
          <p:nvSpPr>
            <p:cNvPr id="20" name="Shape 16"/>
            <p:cNvSpPr/>
            <p:nvPr/>
          </p:nvSpPr>
          <p:spPr>
            <a:xfrm>
              <a:off x="6278728" y="1965960"/>
              <a:ext cx="2407844" cy="3108960"/>
            </a:xfrm>
            <a:prstGeom prst="roundRect">
              <a:avLst>
                <a:gd name="adj" fmla="val 1899"/>
              </a:avLst>
            </a:prstGeom>
            <a:solidFill>
              <a:srgbClr val="F2F2F2"/>
            </a:solidFill>
            <a:ln/>
          </p:spPr>
          <p:txBody>
            <a:bodyPr/>
            <a:lstStyle/>
            <a:p>
              <a:endParaRPr/>
            </a:p>
          </p:txBody>
        </p:sp>
        <p:sp>
          <p:nvSpPr>
            <p:cNvPr id="21" name="Shape 17"/>
            <p:cNvSpPr/>
            <p:nvPr/>
          </p:nvSpPr>
          <p:spPr>
            <a:xfrm>
              <a:off x="6553048" y="2240280"/>
              <a:ext cx="731520" cy="731520"/>
            </a:xfrm>
            <a:prstGeom prst="ellipse">
              <a:avLst/>
            </a:prstGeom>
            <a:solidFill>
              <a:srgbClr val="075767"/>
            </a:solidFill>
            <a:ln/>
          </p:spPr>
          <p:txBody>
            <a:bodyPr/>
            <a:lstStyle/>
            <a:p>
              <a:endParaRPr/>
            </a:p>
          </p:txBody>
        </p:sp>
        <p:pic>
          <p:nvPicPr>
            <p:cNvPr id="22" name="Image 2" descr="/home/claude/tmo/build/ico/horloge-blanc.png"/>
            <p:cNvPicPr>
              <a:picLocks noChangeAspect="1"/>
            </p:cNvPicPr>
            <p:nvPr/>
          </p:nvPicPr>
          <p:blipFill>
            <a:blip r:embed="rId5"/>
            <a:stretch>
              <a:fillRect/>
            </a:stretch>
          </p:blipFill>
          <p:spPr>
            <a:xfrm>
              <a:off x="6743243" y="2430475"/>
              <a:ext cx="351130" cy="351130"/>
            </a:xfrm>
            <a:prstGeom prst="rect">
              <a:avLst/>
            </a:prstGeom>
          </p:spPr>
        </p:pic>
        <p:sp>
          <p:nvSpPr>
            <p:cNvPr id="23" name="Text 18"/>
            <p:cNvSpPr txBox="1"/>
            <p:nvPr/>
          </p:nvSpPr>
          <p:spPr>
            <a:xfrm>
              <a:off x="6553048" y="3108960"/>
              <a:ext cx="1859204"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3. Bénin</a:t>
              </a:r>
              <a:endParaRPr lang="en-US" sz="1550" dirty="0"/>
            </a:p>
          </p:txBody>
        </p:sp>
        <p:sp>
          <p:nvSpPr>
            <p:cNvPr id="24" name="Text 19"/>
            <p:cNvSpPr txBox="1"/>
            <p:nvPr/>
          </p:nvSpPr>
          <p:spPr>
            <a:xfrm>
              <a:off x="6553048" y="3611880"/>
              <a:ext cx="1859204"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Sans consultation médicale. Inscrit au registre des accidents bénins.</a:t>
              </a:r>
              <a:endParaRPr lang="en-US" sz="1250" dirty="0"/>
            </a:p>
          </p:txBody>
        </p:sp>
      </p:grpSp>
      <p:grpSp>
        <p:nvGrpSpPr>
          <p:cNvPr id="9104" name="Bloc 4"/>
          <p:cNvGrpSpPr/>
          <p:nvPr/>
        </p:nvGrpSpPr>
        <p:grpSpPr>
          <a:xfrm>
            <a:off x="9052331" y="1965960"/>
            <a:ext cx="2407844" cy="3108960"/>
            <a:chOff x="9052331" y="1965960"/>
            <a:chExt cx="2407844" cy="3108960"/>
          </a:xfrm>
        </p:grpSpPr>
        <p:sp>
          <p:nvSpPr>
            <p:cNvPr id="25" name="Shape 20"/>
            <p:cNvSpPr/>
            <p:nvPr/>
          </p:nvSpPr>
          <p:spPr>
            <a:xfrm>
              <a:off x="9052331" y="1965960"/>
              <a:ext cx="2407844" cy="3108960"/>
            </a:xfrm>
            <a:prstGeom prst="roundRect">
              <a:avLst>
                <a:gd name="adj" fmla="val 1899"/>
              </a:avLst>
            </a:prstGeom>
            <a:solidFill>
              <a:srgbClr val="F2F2F2"/>
            </a:solidFill>
            <a:ln/>
          </p:spPr>
          <p:txBody>
            <a:bodyPr/>
            <a:lstStyle/>
            <a:p>
              <a:endParaRPr/>
            </a:p>
          </p:txBody>
        </p:sp>
        <p:sp>
          <p:nvSpPr>
            <p:cNvPr id="26" name="Shape 21"/>
            <p:cNvSpPr/>
            <p:nvPr/>
          </p:nvSpPr>
          <p:spPr>
            <a:xfrm>
              <a:off x="9326651" y="2240280"/>
              <a:ext cx="731520" cy="731520"/>
            </a:xfrm>
            <a:prstGeom prst="ellipse">
              <a:avLst/>
            </a:prstGeom>
            <a:solidFill>
              <a:srgbClr val="075767"/>
            </a:solidFill>
            <a:ln/>
          </p:spPr>
          <p:txBody>
            <a:bodyPr/>
            <a:lstStyle/>
            <a:p>
              <a:endParaRPr/>
            </a:p>
          </p:txBody>
        </p:sp>
        <p:pic>
          <p:nvPicPr>
            <p:cNvPr id="27" name="Image 3" descr="/home/claude/tmo/build/ico/route-blanc.png"/>
            <p:cNvPicPr>
              <a:picLocks noChangeAspect="1"/>
            </p:cNvPicPr>
            <p:nvPr/>
          </p:nvPicPr>
          <p:blipFill>
            <a:blip r:embed="rId6"/>
            <a:stretch>
              <a:fillRect/>
            </a:stretch>
          </p:blipFill>
          <p:spPr>
            <a:xfrm>
              <a:off x="9516847" y="2430475"/>
              <a:ext cx="351130" cy="351130"/>
            </a:xfrm>
            <a:prstGeom prst="rect">
              <a:avLst/>
            </a:prstGeom>
          </p:spPr>
        </p:pic>
        <p:sp>
          <p:nvSpPr>
            <p:cNvPr id="28" name="Text 22"/>
            <p:cNvSpPr txBox="1"/>
            <p:nvPr/>
          </p:nvSpPr>
          <p:spPr>
            <a:xfrm>
              <a:off x="9326651" y="3108960"/>
              <a:ext cx="1859204"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4. De trajet</a:t>
              </a:r>
              <a:endParaRPr lang="en-US" sz="1550" dirty="0"/>
            </a:p>
          </p:txBody>
        </p:sp>
        <p:sp>
          <p:nvSpPr>
            <p:cNvPr id="29" name="Text 23"/>
            <p:cNvSpPr txBox="1"/>
            <p:nvPr/>
          </p:nvSpPr>
          <p:spPr>
            <a:xfrm>
              <a:off x="9326651" y="3611880"/>
              <a:ext cx="1859204"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Entre le domicile et le travail, ou vers le lieu de repas. Régime distinct.</a:t>
              </a:r>
              <a:endParaRPr lang="en-US" sz="1250" dirty="0"/>
            </a:p>
          </p:txBody>
        </p:sp>
      </p:grpSp>
      <p:grpSp>
        <p:nvGrpSpPr>
          <p:cNvPr id="9105" name="Bloc 5"/>
          <p:cNvGrpSpPr/>
          <p:nvPr/>
        </p:nvGrpSpPr>
        <p:grpSpPr>
          <a:xfrm>
            <a:off x="731520" y="5257800"/>
            <a:ext cx="10728655" cy="841248"/>
            <a:chOff x="731520" y="5257800"/>
            <a:chExt cx="10728655" cy="841248"/>
          </a:xfrm>
        </p:grpSpPr>
        <p:sp>
          <p:nvSpPr>
            <p:cNvPr id="30" name="Shape 24"/>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31" name="Text 25"/>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Pourquoi ça compte   </a:t>
              </a:r>
              <a:r>
                <a:rPr lang="en-US" sz="1300" dirty="0">
                  <a:solidFill>
                    <a:srgbClr val="075767"/>
                  </a:solidFill>
                  <a:latin typeface="Lato" pitchFamily="34" charset="0"/>
                  <a:ea typeface="Lato" pitchFamily="34" charset="-122"/>
                  <a:cs typeface="Lato" pitchFamily="34" charset="-120"/>
                </a:rPr>
                <a:t>chaque niveau a son régime, ses obligations de déclaration et ses effets sur les indicateurs. Les confondre, c'est perdre le fil de la sinistralité réelle.</a:t>
              </a:r>
              <a:endParaRPr lang="en-US" sz="1250" dirty="0"/>
            </a:p>
          </p:txBody>
        </p:sp>
      </p:grpSp>
      <p:pic>
        <p:nvPicPr>
          <p:cNvPr id="32" name="Image 4" descr="/home/claude/tmo/build/logo.png"/>
          <p:cNvPicPr>
            <a:picLocks noChangeAspect="1"/>
          </p:cNvPicPr>
          <p:nvPr/>
        </p:nvPicPr>
        <p:blipFill>
          <a:blip r:embed="rId7"/>
          <a:stretch>
            <a:fillRect/>
          </a:stretch>
        </p:blipFill>
        <p:spPr>
          <a:xfrm>
            <a:off x="731520" y="6199632"/>
            <a:ext cx="402336" cy="402336"/>
          </a:xfrm>
          <a:prstGeom prst="rect">
            <a:avLst/>
          </a:prstGeom>
        </p:spPr>
      </p:pic>
      <p:sp>
        <p:nvSpPr>
          <p:cNvPr id="33" name="Text 26"/>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34" name="Shape 27"/>
          <p:cNvSpPr/>
          <p:nvPr/>
        </p:nvSpPr>
        <p:spPr>
          <a:xfrm>
            <a:off x="10591495" y="6181344"/>
            <a:ext cx="438912" cy="438912"/>
          </a:xfrm>
          <a:prstGeom prst="ellipse">
            <a:avLst/>
          </a:prstGeom>
          <a:solidFill>
            <a:srgbClr val="F06C23"/>
          </a:solidFill>
          <a:ln/>
        </p:spPr>
        <p:txBody>
          <a:bodyPr/>
          <a:lstStyle/>
          <a:p>
            <a:endParaRPr/>
          </a:p>
        </p:txBody>
      </p:sp>
      <p:sp>
        <p:nvSpPr>
          <p:cNvPr id="35" name="Text 28"/>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36" name="Text 29"/>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66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01"/>
                                        </p:tgtEl>
                                        <p:attrNameLst>
                                          <p:attrName>style.visibility</p:attrName>
                                        </p:attrNameLst>
                                      </p:cBhvr>
                                      <p:to>
                                        <p:strVal val="visible"/>
                                      </p:to>
                                    </p:set>
                                    <p:animEffect transition="in" filter="fade">
                                      <p:cBhvr>
                                        <p:cTn id="7" dur="450"/>
                                        <p:tgtEl>
                                          <p:spTgt spid="9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02"/>
                                        </p:tgtEl>
                                        <p:attrNameLst>
                                          <p:attrName>style.visibility</p:attrName>
                                        </p:attrNameLst>
                                      </p:cBhvr>
                                      <p:to>
                                        <p:strVal val="visible"/>
                                      </p:to>
                                    </p:set>
                                    <p:animEffect transition="in" filter="fade">
                                      <p:cBhvr>
                                        <p:cTn id="12" dur="450"/>
                                        <p:tgtEl>
                                          <p:spTgt spid="91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03"/>
                                        </p:tgtEl>
                                        <p:attrNameLst>
                                          <p:attrName>style.visibility</p:attrName>
                                        </p:attrNameLst>
                                      </p:cBhvr>
                                      <p:to>
                                        <p:strVal val="visible"/>
                                      </p:to>
                                    </p:set>
                                    <p:animEffect transition="in" filter="fade">
                                      <p:cBhvr>
                                        <p:cTn id="17" dur="450"/>
                                        <p:tgtEl>
                                          <p:spTgt spid="910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04"/>
                                        </p:tgtEl>
                                        <p:attrNameLst>
                                          <p:attrName>style.visibility</p:attrName>
                                        </p:attrNameLst>
                                      </p:cBhvr>
                                      <p:to>
                                        <p:strVal val="visible"/>
                                      </p:to>
                                    </p:set>
                                    <p:animEffect transition="in" filter="fade">
                                      <p:cBhvr>
                                        <p:cTn id="22" dur="450"/>
                                        <p:tgtEl>
                                          <p:spTgt spid="910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105"/>
                                        </p:tgtEl>
                                        <p:attrNameLst>
                                          <p:attrName>style.visibility</p:attrName>
                                        </p:attrNameLst>
                                      </p:cBhvr>
                                      <p:to>
                                        <p:strVal val="visible"/>
                                      </p:to>
                                    </p:set>
                                    <p:animEffect transition="in" filter="fade">
                                      <p:cBhvr>
                                        <p:cTn id="27" dur="450"/>
                                        <p:tgtEl>
                                          <p:spTgt spid="9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Niveau 1 : L'accident avec arrêt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Le médecin prescrit un arrêt de travail. C'est le seul niveau qui compte dans les statistiques officielles.</a:t>
            </a:r>
            <a:endParaRPr lang="en-US" sz="1450" dirty="0"/>
          </a:p>
        </p:txBody>
      </p:sp>
      <p:sp>
        <p:nvSpPr>
          <p:cNvPr id="11" name="Text 9"/>
          <p:cNvSpPr txBox="1"/>
          <p:nvPr/>
        </p:nvSpPr>
        <p:spPr>
          <a:xfrm>
            <a:off x="731520" y="2487168"/>
            <a:ext cx="10728655"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000" b="1" dirty="0">
                <a:solidFill>
                  <a:srgbClr val="075767"/>
                </a:solidFill>
                <a:latin typeface="Lato" pitchFamily="34" charset="0"/>
                <a:ea typeface="Lato" pitchFamily="34" charset="-122"/>
                <a:cs typeface="Lato" pitchFamily="34" charset="-120"/>
              </a:rPr>
              <a:t>Ce qui le caractérise</a:t>
            </a:r>
            <a:endParaRPr lang="en-US" sz="1300" dirty="0"/>
          </a:p>
          <a:p>
            <a:pPr marL="406400" lvl="1" indent="-203200">
              <a:lnSpc>
                <a:spcPct val="110000"/>
              </a:lnSpc>
              <a:spcAft>
                <a:spcPts val="700"/>
              </a:spcAft>
              <a:buSzPct val="100000"/>
              <a:buChar char="•"/>
            </a:pPr>
            <a:r>
              <a:rPr lang="en-US" sz="1000" dirty="0">
                <a:solidFill>
                  <a:srgbClr val="595959"/>
                </a:solidFill>
                <a:latin typeface="Lato" pitchFamily="34" charset="0"/>
                <a:ea typeface="Lato" pitchFamily="34" charset="-122"/>
                <a:cs typeface="Lato" pitchFamily="34" charset="-120"/>
              </a:rPr>
              <a:t>Un fait accidentel, soudain et daté, ayant causé une lésion, suivi d'une prescription d'arrêt de travail</a:t>
            </a:r>
            <a:endParaRPr lang="en-US" sz="1300" dirty="0"/>
          </a:p>
          <a:p>
            <a:pPr marL="406400" lvl="1" indent="-203200">
              <a:lnSpc>
                <a:spcPct val="110000"/>
              </a:lnSpc>
              <a:spcAft>
                <a:spcPts val="700"/>
              </a:spcAft>
              <a:buSzPct val="100000"/>
              <a:buChar char="•"/>
            </a:pPr>
            <a:r>
              <a:rPr lang="en-US" sz="1000" dirty="0">
                <a:solidFill>
                  <a:srgbClr val="595959"/>
                </a:solidFill>
                <a:latin typeface="Lato" pitchFamily="34" charset="0"/>
                <a:ea typeface="Lato" pitchFamily="34" charset="-122"/>
                <a:cs typeface="Lato" pitchFamily="34" charset="-120"/>
              </a:rPr>
              <a:t>Déclaration à la caisse par l'employeur sous 48 heures, hors dimanches et jours fériés ; le salarié dispose de 24 heures pour informer son employeur</a:t>
            </a:r>
            <a:endParaRPr lang="en-US" sz="1300" dirty="0"/>
          </a:p>
          <a:p>
            <a:pPr marL="203200" indent="-203200">
              <a:lnSpc>
                <a:spcPct val="110000"/>
              </a:lnSpc>
              <a:spcAft>
                <a:spcPts val="700"/>
              </a:spcAft>
              <a:buSzPct val="100000"/>
              <a:buChar char="•"/>
            </a:pPr>
            <a:r>
              <a:rPr lang="en-US" sz="1000" b="1" dirty="0">
                <a:solidFill>
                  <a:srgbClr val="075767"/>
                </a:solidFill>
                <a:latin typeface="Lato" pitchFamily="34" charset="0"/>
                <a:ea typeface="Lato" pitchFamily="34" charset="-122"/>
                <a:cs typeface="Lato" pitchFamily="34" charset="-120"/>
              </a:rPr>
              <a:t>Les quatre indicateurs qu'il alimente</a:t>
            </a:r>
            <a:endParaRPr lang="en-US" sz="1300" dirty="0"/>
          </a:p>
          <a:p>
            <a:pPr marL="406400" lvl="1" indent="-203200">
              <a:lnSpc>
                <a:spcPct val="110000"/>
              </a:lnSpc>
              <a:spcAft>
                <a:spcPts val="700"/>
              </a:spcAft>
              <a:buSzPct val="100000"/>
              <a:buChar char="•"/>
            </a:pPr>
            <a:r>
              <a:rPr lang="en-US" sz="1000" dirty="0">
                <a:solidFill>
                  <a:srgbClr val="595959"/>
                </a:solidFill>
                <a:latin typeface="Lato" pitchFamily="34" charset="0"/>
                <a:ea typeface="Lato" pitchFamily="34" charset="-122"/>
                <a:cs typeface="Lato" pitchFamily="34" charset="-120"/>
              </a:rPr>
              <a:t>Indice de fréquence (IF) = nombre d'accidents en premier règlement ÷ effectif salarié × 1 000</a:t>
            </a:r>
            <a:endParaRPr lang="en-US" sz="1300" dirty="0"/>
          </a:p>
          <a:p>
            <a:pPr marL="406400" lvl="1" indent="-203200">
              <a:lnSpc>
                <a:spcPct val="110000"/>
              </a:lnSpc>
              <a:spcAft>
                <a:spcPts val="700"/>
              </a:spcAft>
              <a:buSzPct val="100000"/>
              <a:buChar char="•"/>
            </a:pPr>
            <a:r>
              <a:rPr lang="en-US" sz="1000" dirty="0">
                <a:solidFill>
                  <a:srgbClr val="595959"/>
                </a:solidFill>
                <a:latin typeface="Lato" pitchFamily="34" charset="0"/>
                <a:ea typeface="Lato" pitchFamily="34" charset="-122"/>
                <a:cs typeface="Lato" pitchFamily="34" charset="-120"/>
              </a:rPr>
              <a:t>Taux de fréquence (TF) = nombre d'accidents en premier règlement ÷ heures travaillées × 1 000 000</a:t>
            </a:r>
            <a:endParaRPr lang="en-US" sz="1300" dirty="0"/>
          </a:p>
          <a:p>
            <a:pPr marL="406400" lvl="1" indent="-203200">
              <a:lnSpc>
                <a:spcPct val="110000"/>
              </a:lnSpc>
              <a:spcAft>
                <a:spcPts val="700"/>
              </a:spcAft>
              <a:buSzPct val="100000"/>
              <a:buChar char="•"/>
            </a:pPr>
            <a:r>
              <a:rPr lang="en-US" sz="1000" dirty="0">
                <a:solidFill>
                  <a:srgbClr val="595959"/>
                </a:solidFill>
                <a:latin typeface="Lato" pitchFamily="34" charset="0"/>
                <a:ea typeface="Lato" pitchFamily="34" charset="-122"/>
                <a:cs typeface="Lato" pitchFamily="34" charset="-120"/>
              </a:rPr>
              <a:t>Taux de gravité (TG) = journées perdues par incapacité temporaire ÷ heures travaillées × 1 000</a:t>
            </a:r>
            <a:endParaRPr lang="en-US" sz="1300" dirty="0"/>
          </a:p>
          <a:p>
            <a:pPr marL="406400" lvl="1" indent="-203200">
              <a:lnSpc>
                <a:spcPct val="110000"/>
              </a:lnSpc>
              <a:spcAft>
                <a:spcPts val="700"/>
              </a:spcAft>
              <a:buSzPct val="100000"/>
              <a:buChar char="•"/>
            </a:pPr>
            <a:r>
              <a:rPr lang="en-US" sz="1000" dirty="0">
                <a:solidFill>
                  <a:srgbClr val="595959"/>
                </a:solidFill>
                <a:latin typeface="Lato" pitchFamily="34" charset="0"/>
                <a:ea typeface="Lato" pitchFamily="34" charset="-122"/>
                <a:cs typeface="Lato" pitchFamily="34" charset="-120"/>
              </a:rPr>
              <a:t>Indice de gravité (IG) = somme des taux d'incapacité permanente ÷ heures travaillées × 1 000 000</a:t>
            </a:r>
            <a:endParaRPr lang="en-US" sz="1300" dirty="0"/>
          </a:p>
          <a:p>
            <a:pPr marL="203200" indent="-203200">
              <a:lnSpc>
                <a:spcPct val="110000"/>
              </a:lnSpc>
              <a:spcAft>
                <a:spcPts val="700"/>
              </a:spcAft>
              <a:buSzPct val="100000"/>
              <a:buChar char="•"/>
            </a:pPr>
            <a:r>
              <a:rPr lang="en-US" sz="1000" b="1" dirty="0">
                <a:solidFill>
                  <a:srgbClr val="075767"/>
                </a:solidFill>
                <a:latin typeface="Lato" pitchFamily="34" charset="0"/>
                <a:ea typeface="Lato" pitchFamily="34" charset="-122"/>
                <a:cs typeface="Lato" pitchFamily="34" charset="-120"/>
              </a:rPr>
              <a:t>Ce que le CSE en fait</a:t>
            </a:r>
            <a:endParaRPr lang="en-US" sz="1300" dirty="0"/>
          </a:p>
          <a:p>
            <a:pPr marL="406400" lvl="1" indent="-203200">
              <a:lnSpc>
                <a:spcPct val="110000"/>
              </a:lnSpc>
              <a:spcAft>
                <a:spcPts val="700"/>
              </a:spcAft>
              <a:buSzPct val="100000"/>
              <a:buChar char="•"/>
            </a:pPr>
            <a:r>
              <a:rPr lang="en-US" sz="1000" dirty="0">
                <a:solidFill>
                  <a:srgbClr val="595959"/>
                </a:solidFill>
                <a:latin typeface="Lato" pitchFamily="34" charset="0"/>
                <a:ea typeface="Lato" pitchFamily="34" charset="-122"/>
                <a:cs typeface="Lato" pitchFamily="34" charset="-120"/>
              </a:rPr>
              <a:t>C'est le déclencheur naturel d'une enquête et, s'il est grave, d'une analyse par l'arbre des causes. Il pèse aussi sur le taux de cotisation AT/MP de l'entreprise.</a:t>
            </a:r>
            <a:endParaRPr lang="en-US" sz="1300" dirty="0"/>
          </a:p>
        </p:txBody>
      </p:sp>
      <p:grpSp>
        <p:nvGrpSpPr>
          <p:cNvPr id="9106" name="Bloc 3"/>
          <p:cNvGrpSpPr/>
          <p:nvPr/>
        </p:nvGrpSpPr>
        <p:grpSpPr>
          <a:xfrm>
            <a:off x="731520" y="5248656"/>
            <a:ext cx="10728655" cy="841248"/>
            <a:chOff x="731520" y="5248656"/>
            <a:chExt cx="10728655" cy="841248"/>
          </a:xfrm>
        </p:grpSpPr>
        <p:sp>
          <p:nvSpPr>
            <p:cNvPr id="12" name="Shape 10"/>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À retenir   </a:t>
              </a:r>
              <a:r>
                <a:rPr lang="en-US" sz="1300" dirty="0">
                  <a:solidFill>
                    <a:srgbClr val="075767"/>
                  </a:solidFill>
                  <a:latin typeface="Lato" pitchFamily="34" charset="0"/>
                  <a:ea typeface="Lato" pitchFamily="34" charset="-122"/>
                  <a:cs typeface="Lato" pitchFamily="34" charset="-120"/>
                </a:rPr>
                <a:t>demander la copie de la déclaration d'accident du travail (DAT) et vérifier les réserves émises par l'employeur : elles conditionnent la suite de l'instruction.</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67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06"/>
                                        </p:tgtEl>
                                        <p:attrNameLst>
                                          <p:attrName>style.visibility</p:attrName>
                                        </p:attrNameLst>
                                      </p:cBhvr>
                                      <p:to>
                                        <p:strVal val="visible"/>
                                      </p:to>
                                    </p:set>
                                    <p:animEffect transition="in" filter="fade">
                                      <p:cBhvr>
                                        <p:cTn id="17" dur="450"/>
                                        <p:tgtEl>
                                          <p:spTgt spid="9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Niveau 2 : L'accident sans arrêt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La lésion est constatée médicalement, mais aucun arrêt n'est prescrit, ou un poste aménagé le remplace.</a:t>
            </a:r>
            <a:endParaRPr lang="en-US" sz="1450" dirty="0"/>
          </a:p>
        </p:txBody>
      </p:sp>
      <p:sp>
        <p:nvSpPr>
          <p:cNvPr id="11" name="Text 9"/>
          <p:cNvSpPr txBox="1"/>
          <p:nvPr/>
        </p:nvSpPr>
        <p:spPr>
          <a:xfrm>
            <a:off x="731520" y="2487168"/>
            <a:ext cx="10728655"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250" b="1" dirty="0">
                <a:solidFill>
                  <a:srgbClr val="075767"/>
                </a:solidFill>
                <a:latin typeface="Lato" pitchFamily="34" charset="0"/>
                <a:ea typeface="Lato" pitchFamily="34" charset="-122"/>
                <a:cs typeface="Lato" pitchFamily="34" charset="-120"/>
              </a:rPr>
              <a:t>Ce qui le caractérise</a:t>
            </a:r>
            <a:endParaRPr lang="en-US" sz="13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Soins ou consultation médicale, sans prescription d'arrêt de travail</a:t>
            </a:r>
            <a:endParaRPr lang="en-US" sz="13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La déclaration à la caisse reste obligatoire : ce n'est pas parce qu'il n'y a pas d'arrêt qu'il n'y a pas d'accident</a:t>
            </a:r>
            <a:endParaRPr lang="en-US" sz="13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Souvent, un poste aménagé est proposé en accord avec la médecine du travail</a:t>
            </a:r>
            <a:endParaRPr lang="en-US" sz="1300" dirty="0"/>
          </a:p>
          <a:p>
            <a:pPr marL="203200" indent="-203200">
              <a:lnSpc>
                <a:spcPct val="110000"/>
              </a:lnSpc>
              <a:spcAft>
                <a:spcPts val="700"/>
              </a:spcAft>
              <a:buSzPct val="100000"/>
              <a:buChar char="•"/>
            </a:pPr>
            <a:r>
              <a:rPr lang="en-US" sz="1250" b="1" dirty="0">
                <a:solidFill>
                  <a:srgbClr val="075767"/>
                </a:solidFill>
                <a:latin typeface="Lato" pitchFamily="34" charset="0"/>
                <a:ea typeface="Lato" pitchFamily="34" charset="-122"/>
                <a:cs typeface="Lato" pitchFamily="34" charset="-120"/>
              </a:rPr>
              <a:t>L'incohérence à surveiller</a:t>
            </a:r>
            <a:endParaRPr lang="en-US" sz="13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Un aménagement de poste systématique fait disparaître l'accident des statistiques sans avoir traité le risque</a:t>
            </a:r>
            <a:endParaRPr lang="en-US" sz="13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L'entreprise affiche un taux de fréquence en baisse alors que la sinistralité réelle n'a pas bougé</a:t>
            </a:r>
            <a:endParaRPr lang="en-US" sz="1300" dirty="0"/>
          </a:p>
          <a:p>
            <a:pPr marL="203200" indent="-203200">
              <a:lnSpc>
                <a:spcPct val="110000"/>
              </a:lnSpc>
              <a:spcAft>
                <a:spcPts val="700"/>
              </a:spcAft>
              <a:buSzPct val="100000"/>
              <a:buChar char="•"/>
            </a:pPr>
            <a:r>
              <a:rPr lang="en-US" sz="1250" b="1" dirty="0">
                <a:solidFill>
                  <a:srgbClr val="075767"/>
                </a:solidFill>
                <a:latin typeface="Lato" pitchFamily="34" charset="0"/>
                <a:ea typeface="Lato" pitchFamily="34" charset="-122"/>
                <a:cs typeface="Lato" pitchFamily="34" charset="-120"/>
              </a:rPr>
              <a:t>La parade</a:t>
            </a:r>
            <a:endParaRPr lang="en-US" sz="13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Proposer la création d'un taux de fréquence interne, qui compte tous les accidents déclarés, avec et sans arrêt</a:t>
            </a:r>
            <a:endParaRPr lang="en-US" sz="1300" dirty="0"/>
          </a:p>
        </p:txBody>
      </p:sp>
      <p:grpSp>
        <p:nvGrpSpPr>
          <p:cNvPr id="9107" name="Bloc 3"/>
          <p:cNvGrpSpPr/>
          <p:nvPr/>
        </p:nvGrpSpPr>
        <p:grpSpPr>
          <a:xfrm>
            <a:off x="731520" y="5248656"/>
            <a:ext cx="10728655" cy="841248"/>
            <a:chOff x="731520" y="5248656"/>
            <a:chExt cx="10728655" cy="841248"/>
          </a:xfrm>
        </p:grpSpPr>
        <p:sp>
          <p:nvSpPr>
            <p:cNvPr id="12" name="Shape 10"/>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Point de vigilance   </a:t>
              </a:r>
              <a:r>
                <a:rPr lang="en-US" sz="1300" dirty="0">
                  <a:solidFill>
                    <a:srgbClr val="075767"/>
                  </a:solidFill>
                  <a:latin typeface="Lato" pitchFamily="34" charset="0"/>
                  <a:ea typeface="Lato" pitchFamily="34" charset="-122"/>
                  <a:cs typeface="Lato" pitchFamily="34" charset="-120"/>
                </a:rPr>
                <a:t>un poste aménagé décidé par l'encadrement seul, sans le médecin du travail, n'est pas un aménagement : c'est un contournement.</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68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07"/>
                                        </p:tgtEl>
                                        <p:attrNameLst>
                                          <p:attrName>style.visibility</p:attrName>
                                        </p:attrNameLst>
                                      </p:cBhvr>
                                      <p:to>
                                        <p:strVal val="visible"/>
                                      </p:to>
                                    </p:set>
                                    <p:animEffect transition="in" filter="fade">
                                      <p:cBhvr>
                                        <p:cTn id="17" dur="450"/>
                                        <p:tgtEl>
                                          <p:spTgt spid="9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Niveau 3 : L'accident bénin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Une lésion légère, soignée sur place, sans consultation médicale ni arrêt.</a:t>
            </a:r>
            <a:endParaRPr lang="en-US" sz="1450" dirty="0"/>
          </a:p>
        </p:txBody>
      </p:sp>
      <p:sp>
        <p:nvSpPr>
          <p:cNvPr id="11" name="Text 9"/>
          <p:cNvSpPr txBox="1"/>
          <p:nvPr/>
        </p:nvSpPr>
        <p:spPr>
          <a:xfrm>
            <a:off x="731520" y="2487168"/>
            <a:ext cx="10728655"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050" b="1" dirty="0">
                <a:solidFill>
                  <a:srgbClr val="075767"/>
                </a:solidFill>
                <a:latin typeface="Lato" pitchFamily="34" charset="0"/>
                <a:ea typeface="Lato" pitchFamily="34" charset="-122"/>
                <a:cs typeface="Lato" pitchFamily="34" charset="-120"/>
              </a:rPr>
              <a:t>Ce qui le caractérise</a:t>
            </a:r>
            <a:endParaRPr lang="en-US" sz="1300" dirty="0"/>
          </a:p>
          <a:p>
            <a:pPr marL="406400" lvl="1" indent="-203200">
              <a:lnSpc>
                <a:spcPct val="110000"/>
              </a:lnSpc>
              <a:spcAft>
                <a:spcPts val="700"/>
              </a:spcAft>
              <a:buSzPct val="100000"/>
              <a:buChar char="•"/>
            </a:pPr>
            <a:r>
              <a:rPr lang="en-US" sz="1050" dirty="0">
                <a:solidFill>
                  <a:srgbClr val="595959"/>
                </a:solidFill>
                <a:latin typeface="Lato" pitchFamily="34" charset="0"/>
                <a:ea typeface="Lato" pitchFamily="34" charset="-122"/>
                <a:cs typeface="Lato" pitchFamily="34" charset="-120"/>
              </a:rPr>
              <a:t>Une écorchure, un choc léger, une projection dans l'œil sans suite, soignés par le sauveteur secouriste du travail ou à l'infirmerie</a:t>
            </a:r>
            <a:endParaRPr lang="en-US" sz="1300" dirty="0"/>
          </a:p>
          <a:p>
            <a:pPr marL="406400" lvl="1" indent="-203200">
              <a:lnSpc>
                <a:spcPct val="110000"/>
              </a:lnSpc>
              <a:spcAft>
                <a:spcPts val="700"/>
              </a:spcAft>
              <a:buSzPct val="100000"/>
              <a:buChar char="•"/>
            </a:pPr>
            <a:r>
              <a:rPr lang="en-US" sz="1050" dirty="0">
                <a:solidFill>
                  <a:srgbClr val="595959"/>
                </a:solidFill>
                <a:latin typeface="Lato" pitchFamily="34" charset="0"/>
                <a:ea typeface="Lato" pitchFamily="34" charset="-122"/>
                <a:cs typeface="Lato" pitchFamily="34" charset="-120"/>
              </a:rPr>
              <a:t>Il s'inscrit au registre des accidents bénins, à la place d'une déclaration à la caisse</a:t>
            </a:r>
            <a:endParaRPr lang="en-US" sz="1300" dirty="0"/>
          </a:p>
          <a:p>
            <a:pPr marL="203200" indent="-203200">
              <a:lnSpc>
                <a:spcPct val="110000"/>
              </a:lnSpc>
              <a:spcAft>
                <a:spcPts val="700"/>
              </a:spcAft>
              <a:buSzPct val="100000"/>
              <a:buChar char="•"/>
            </a:pPr>
            <a:r>
              <a:rPr lang="en-US" sz="1050" b="1" dirty="0">
                <a:solidFill>
                  <a:srgbClr val="075767"/>
                </a:solidFill>
                <a:latin typeface="Lato" pitchFamily="34" charset="0"/>
                <a:ea typeface="Lato" pitchFamily="34" charset="-122"/>
                <a:cs typeface="Lato" pitchFamily="34" charset="-120"/>
              </a:rPr>
              <a:t>Les conditions du registre</a:t>
            </a:r>
            <a:endParaRPr lang="en-US" sz="1300" dirty="0"/>
          </a:p>
          <a:p>
            <a:pPr marL="406400" lvl="1" indent="-203200">
              <a:lnSpc>
                <a:spcPct val="110000"/>
              </a:lnSpc>
              <a:spcAft>
                <a:spcPts val="700"/>
              </a:spcAft>
              <a:buSzPct val="100000"/>
              <a:buChar char="•"/>
            </a:pPr>
            <a:r>
              <a:rPr lang="en-US" sz="1050" dirty="0">
                <a:solidFill>
                  <a:srgbClr val="595959"/>
                </a:solidFill>
                <a:latin typeface="Lato" pitchFamily="34" charset="0"/>
                <a:ea typeface="Lato" pitchFamily="34" charset="-122"/>
                <a:cs typeface="Lato" pitchFamily="34" charset="-120"/>
              </a:rPr>
              <a:t>L'entreprise doit disposer d'un poste de secours d'urgence et d'un infirmier ou d'un salarié formé au secourisme</a:t>
            </a:r>
            <a:endParaRPr lang="en-US" sz="1300" dirty="0"/>
          </a:p>
          <a:p>
            <a:pPr marL="406400" lvl="1" indent="-203200">
              <a:lnSpc>
                <a:spcPct val="110000"/>
              </a:lnSpc>
              <a:spcAft>
                <a:spcPts val="700"/>
              </a:spcAft>
              <a:buSzPct val="100000"/>
              <a:buChar char="•"/>
            </a:pPr>
            <a:r>
              <a:rPr lang="en-US" sz="1050" dirty="0">
                <a:solidFill>
                  <a:srgbClr val="595959"/>
                </a:solidFill>
                <a:latin typeface="Lato" pitchFamily="34" charset="0"/>
                <a:ea typeface="Lato" pitchFamily="34" charset="-122"/>
                <a:cs typeface="Lato" pitchFamily="34" charset="-120"/>
              </a:rPr>
              <a:t>Le CSE doit être informé de la tenue du registre, c'est une obligation, pas une courtoisie</a:t>
            </a:r>
            <a:endParaRPr lang="en-US" sz="1300" dirty="0"/>
          </a:p>
          <a:p>
            <a:pPr marL="406400" lvl="1" indent="-203200">
              <a:lnSpc>
                <a:spcPct val="110000"/>
              </a:lnSpc>
              <a:spcAft>
                <a:spcPts val="700"/>
              </a:spcAft>
              <a:buSzPct val="100000"/>
              <a:buChar char="•"/>
            </a:pPr>
            <a:r>
              <a:rPr lang="en-US" sz="1050" dirty="0">
                <a:solidFill>
                  <a:srgbClr val="595959"/>
                </a:solidFill>
                <a:latin typeface="Lato" pitchFamily="34" charset="0"/>
                <a:ea typeface="Lato" pitchFamily="34" charset="-122"/>
                <a:cs typeface="Lato" pitchFamily="34" charset="-120"/>
              </a:rPr>
              <a:t>L'inscription se fait dans les 48 heures, hors dimanches et jours fériés</a:t>
            </a:r>
            <a:endParaRPr lang="en-US" sz="1300" dirty="0"/>
          </a:p>
          <a:p>
            <a:pPr marL="203200" indent="-203200">
              <a:lnSpc>
                <a:spcPct val="110000"/>
              </a:lnSpc>
              <a:spcAft>
                <a:spcPts val="700"/>
              </a:spcAft>
              <a:buSzPct val="100000"/>
              <a:buChar char="•"/>
            </a:pPr>
            <a:r>
              <a:rPr lang="en-US" sz="1050" b="1" dirty="0">
                <a:solidFill>
                  <a:srgbClr val="075767"/>
                </a:solidFill>
                <a:latin typeface="Lato" pitchFamily="34" charset="0"/>
                <a:ea typeface="Lato" pitchFamily="34" charset="-122"/>
                <a:cs typeface="Lato" pitchFamily="34" charset="-120"/>
              </a:rPr>
              <a:t>Pourquoi il compte</a:t>
            </a:r>
            <a:endParaRPr lang="en-US" sz="1300" dirty="0"/>
          </a:p>
          <a:p>
            <a:pPr marL="406400" lvl="1" indent="-203200">
              <a:lnSpc>
                <a:spcPct val="110000"/>
              </a:lnSpc>
              <a:spcAft>
                <a:spcPts val="700"/>
              </a:spcAft>
              <a:buSzPct val="100000"/>
              <a:buChar char="•"/>
            </a:pPr>
            <a:r>
              <a:rPr lang="en-US" sz="1050" dirty="0">
                <a:solidFill>
                  <a:srgbClr val="595959"/>
                </a:solidFill>
                <a:latin typeface="Lato" pitchFamily="34" charset="0"/>
                <a:ea typeface="Lato" pitchFamily="34" charset="-122"/>
                <a:cs typeface="Lato" pitchFamily="34" charset="-120"/>
              </a:rPr>
              <a:t>Ce sont les signaux faibles : dix accidents bénins au même poste annoncent l'accident grave</a:t>
            </a:r>
            <a:endParaRPr lang="en-US" sz="1300" dirty="0"/>
          </a:p>
          <a:p>
            <a:pPr marL="406400" lvl="1" indent="-203200">
              <a:lnSpc>
                <a:spcPct val="110000"/>
              </a:lnSpc>
              <a:spcAft>
                <a:spcPts val="700"/>
              </a:spcAft>
              <a:buSzPct val="100000"/>
              <a:buChar char="•"/>
            </a:pPr>
            <a:r>
              <a:rPr lang="en-US" sz="1050" dirty="0">
                <a:solidFill>
                  <a:srgbClr val="595959"/>
                </a:solidFill>
                <a:latin typeface="Lato" pitchFamily="34" charset="0"/>
                <a:ea typeface="Lato" pitchFamily="34" charset="-122"/>
                <a:cs typeface="Lato" pitchFamily="34" charset="-120"/>
              </a:rPr>
              <a:t>Si une complication survient, l'inscription au registre vaut déclaration et préserve les droits du salarié</a:t>
            </a:r>
            <a:endParaRPr lang="en-US" sz="1300" dirty="0"/>
          </a:p>
        </p:txBody>
      </p:sp>
      <p:grpSp>
        <p:nvGrpSpPr>
          <p:cNvPr id="9108" name="Bloc 3"/>
          <p:cNvGrpSpPr/>
          <p:nvPr/>
        </p:nvGrpSpPr>
        <p:grpSpPr>
          <a:xfrm>
            <a:off x="731520" y="5248656"/>
            <a:ext cx="10728655" cy="841248"/>
            <a:chOff x="731520" y="5248656"/>
            <a:chExt cx="10728655" cy="841248"/>
          </a:xfrm>
        </p:grpSpPr>
        <p:sp>
          <p:nvSpPr>
            <p:cNvPr id="12" name="Shape 10"/>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Ce que le CSE demande   l'accès au registre des accidents bénins et son analyse en réunion. C'est la source d'information la plus négligée de l'entreprise.</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69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08"/>
                                        </p:tgtEl>
                                        <p:attrNameLst>
                                          <p:attrName>style.visibility</p:attrName>
                                        </p:attrNameLst>
                                      </p:cBhvr>
                                      <p:to>
                                        <p:strVal val="visible"/>
                                      </p:to>
                                    </p:set>
                                    <p:animEffect transition="in" filter="fade">
                                      <p:cBhvr>
                                        <p:cTn id="17" dur="450"/>
                                        <p:tgtEl>
                                          <p:spTgt spid="9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Niveau 4 : L'accident de trajet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Il survient sur le parcours aller-retour entre la résidence et le lieu de travail, ou vers le lieu habituel des repas.</a:t>
            </a:r>
            <a:endParaRPr lang="en-US" sz="1450" dirty="0"/>
          </a:p>
        </p:txBody>
      </p:sp>
      <p:sp>
        <p:nvSpPr>
          <p:cNvPr id="11" name="Text 9"/>
          <p:cNvSpPr txBox="1"/>
          <p:nvPr/>
        </p:nvSpPr>
        <p:spPr>
          <a:xfrm>
            <a:off x="731520" y="2487168"/>
            <a:ext cx="10728655"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250" b="1" dirty="0">
                <a:solidFill>
                  <a:srgbClr val="075767"/>
                </a:solidFill>
                <a:latin typeface="Lato" pitchFamily="34" charset="0"/>
                <a:ea typeface="Lato" pitchFamily="34" charset="-122"/>
                <a:cs typeface="Lato" pitchFamily="34" charset="-120"/>
              </a:rPr>
              <a:t>Ce qui le caractérise</a:t>
            </a:r>
            <a:endParaRPr lang="en-US" sz="13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Le trajet doit être le plus direct, sauf détour rendu nécessaire par un covoiturage régulier ou les nécessités de la vie courante</a:t>
            </a:r>
            <a:endParaRPr lang="en-US" sz="13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Il n'est pas interrompu ou détourné pour un motif dicté par l'intérêt personnel</a:t>
            </a:r>
            <a:endParaRPr lang="en-US" sz="1300" dirty="0"/>
          </a:p>
          <a:p>
            <a:pPr marL="203200" indent="-203200">
              <a:lnSpc>
                <a:spcPct val="110000"/>
              </a:lnSpc>
              <a:spcAft>
                <a:spcPts val="700"/>
              </a:spcAft>
              <a:buSzPct val="100000"/>
              <a:buChar char="•"/>
            </a:pPr>
            <a:r>
              <a:rPr lang="en-US" sz="1250" b="1" dirty="0">
                <a:solidFill>
                  <a:srgbClr val="075767"/>
                </a:solidFill>
                <a:latin typeface="Lato" pitchFamily="34" charset="0"/>
                <a:ea typeface="Lato" pitchFamily="34" charset="-122"/>
                <a:cs typeface="Lato" pitchFamily="34" charset="-120"/>
              </a:rPr>
              <a:t>Ce qui le distingue</a:t>
            </a:r>
            <a:endParaRPr lang="en-US" sz="13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Il n'ouvre pas la protection contre le licenciement dont bénéficie l'accident du travail</a:t>
            </a:r>
            <a:endParaRPr lang="en-US" sz="13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Il ne pèse pas de la même manière sur le taux de cotisation de l'entreprise</a:t>
            </a:r>
            <a:endParaRPr lang="en-US" sz="13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La faute inexcusable n'est pas invocable dans le cadre du trajet</a:t>
            </a:r>
            <a:endParaRPr lang="en-US" sz="1300" dirty="0"/>
          </a:p>
          <a:p>
            <a:pPr marL="203200" indent="-203200">
              <a:lnSpc>
                <a:spcPct val="110000"/>
              </a:lnSpc>
              <a:spcAft>
                <a:spcPts val="700"/>
              </a:spcAft>
              <a:buSzPct val="100000"/>
              <a:buChar char="•"/>
            </a:pPr>
            <a:r>
              <a:rPr lang="en-US" sz="1250" b="1" dirty="0">
                <a:solidFill>
                  <a:srgbClr val="075767"/>
                </a:solidFill>
                <a:latin typeface="Lato" pitchFamily="34" charset="0"/>
                <a:ea typeface="Lato" pitchFamily="34" charset="-122"/>
                <a:cs typeface="Lato" pitchFamily="34" charset="-120"/>
              </a:rPr>
              <a:t>À ne pas confondre</a:t>
            </a:r>
            <a:endParaRPr lang="en-US" sz="1300" dirty="0"/>
          </a:p>
          <a:p>
            <a:pPr marL="406400" lvl="1" indent="-203200">
              <a:lnSpc>
                <a:spcPct val="110000"/>
              </a:lnSpc>
              <a:spcAft>
                <a:spcPts val="700"/>
              </a:spcAft>
              <a:buSzPct val="100000"/>
              <a:buChar char="•"/>
            </a:pPr>
            <a:r>
              <a:rPr lang="en-US" sz="1250" dirty="0">
                <a:solidFill>
                  <a:srgbClr val="595959"/>
                </a:solidFill>
                <a:latin typeface="Lato" pitchFamily="34" charset="0"/>
                <a:ea typeface="Lato" pitchFamily="34" charset="-122"/>
                <a:cs typeface="Lato" pitchFamily="34" charset="-120"/>
              </a:rPr>
              <a:t>L'accident de mission (un déplacement professionnel pour le compte de l'employeur) est un accident du travail à part entière</a:t>
            </a:r>
            <a:endParaRPr lang="en-US" sz="1300" dirty="0"/>
          </a:p>
        </p:txBody>
      </p:sp>
      <p:grpSp>
        <p:nvGrpSpPr>
          <p:cNvPr id="9109" name="Bloc 3"/>
          <p:cNvGrpSpPr/>
          <p:nvPr/>
        </p:nvGrpSpPr>
        <p:grpSpPr>
          <a:xfrm>
            <a:off x="731520" y="5248656"/>
            <a:ext cx="10728655" cy="841248"/>
            <a:chOff x="731520" y="5248656"/>
            <a:chExt cx="10728655" cy="841248"/>
          </a:xfrm>
        </p:grpSpPr>
        <p:sp>
          <p:nvSpPr>
            <p:cNvPr id="12" name="Shape 10"/>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sujet à porter   </a:t>
              </a:r>
              <a:r>
                <a:rPr lang="en-US" sz="1300" dirty="0">
                  <a:solidFill>
                    <a:srgbClr val="075767"/>
                  </a:solidFill>
                  <a:latin typeface="Lato" pitchFamily="34" charset="0"/>
                  <a:ea typeface="Lato" pitchFamily="34" charset="-122"/>
                  <a:cs typeface="Lato" pitchFamily="34" charset="-120"/>
                </a:rPr>
                <a:t>le risque routier est la première cause d'accident mortel du travail. Trajet et mission relèvent tous deux de la prévention du CSE, même si leurs régimes diffèrent.</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70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09"/>
                                        </p:tgtEl>
                                        <p:attrNameLst>
                                          <p:attrName>style.visibility</p:attrName>
                                        </p:attrNameLst>
                                      </p:cBhvr>
                                      <p:to>
                                        <p:strVal val="visible"/>
                                      </p:to>
                                    </p:set>
                                    <p:animEffect transition="in" filter="fade">
                                      <p:cBhvr>
                                        <p:cTn id="17" dur="450"/>
                                        <p:tgtEl>
                                          <p:spTgt spid="9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quatre indicateurs à connaître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0725912" cy="2834640"/>
        </p:xfrm>
        <a:graphic>
          <a:graphicData uri="http://schemas.openxmlformats.org/drawingml/2006/table">
            <a:tbl>
              <a:tblPr/>
              <a:tblGrid>
                <a:gridCol w="292608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2862072">
                  <a:extLst>
                    <a:ext uri="{9D8B030D-6E8A-4147-A177-3AD203B41FA5}">
                      <a16:colId xmlns:a16="http://schemas.microsoft.com/office/drawing/2014/main" val="20002"/>
                    </a:ext>
                  </a:extLst>
                </a:gridCol>
              </a:tblGrid>
              <a:tr h="566928">
                <a:tc>
                  <a:txBody>
                    <a:bodyPr/>
                    <a:lstStyle/>
                    <a:p>
                      <a:pPr marL="0" indent="0">
                        <a:buNone/>
                      </a:pPr>
                      <a:r>
                        <a:rPr lang="en-US" sz="1250" b="1" dirty="0">
                          <a:solidFill>
                            <a:srgbClr val="FFFFFF"/>
                          </a:solidFill>
                          <a:latin typeface="Lato" pitchFamily="34" charset="0"/>
                          <a:ea typeface="Lato" pitchFamily="34" charset="-122"/>
                          <a:cs typeface="Lato" pitchFamily="34" charset="-120"/>
                        </a:rPr>
                        <a:t>Indicateur</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Formule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Ce qu'il mesure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Indice de fréquence (IF)</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(accidents en 1ᵉʳ règlement ÷ effectif) × 1 000</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Le nombre d'accidents pour 1 000 salariés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Taux de fréquence (TF)</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(accidents en 1ᵉʳ règlement ÷ heures travaillées) × 1 000 000</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Le nombre d'accidents par million d'heures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Taux de gravité (TG)</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(journées perdues ÷ heures travaillées) × 1 000</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Le poids en jours d'arrêt</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Indice de gravité (IG)</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(somme des taux d'IP ÷ heures travaillées) × 1 000 000</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La gravité des séquelles durables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11" name="Text 8"/>
          <p:cNvSpPr txBox="1"/>
          <p:nvPr/>
        </p:nvSpPr>
        <p:spPr>
          <a:xfrm>
            <a:off x="731520" y="5623560"/>
            <a:ext cx="10728655" cy="365760"/>
          </a:xfrm>
          <a:prstGeom prst="rect">
            <a:avLst/>
          </a:prstGeom>
          <a:noFill/>
          <a:ln/>
        </p:spPr>
        <p:txBody>
          <a:bodyPr wrap="square" lIns="0" tIns="0" rIns="0" bIns="0" rtlCol="0" anchor="t"/>
          <a:lstStyle/>
          <a:p>
            <a:pPr marL="0" indent="0">
              <a:buNone/>
            </a:pPr>
            <a:r>
              <a:rPr lang="en-US" sz="1000" i="1" dirty="0">
                <a:solidFill>
                  <a:srgbClr val="595959"/>
                </a:solidFill>
                <a:latin typeface="Lato" pitchFamily="34" charset="0"/>
                <a:ea typeface="Lato" pitchFamily="34" charset="-122"/>
                <a:cs typeface="Lato" pitchFamily="34" charset="-120"/>
              </a:rPr>
              <a:t>Demander ces quatre indicateurs sur trois ans : la tendance dit davantage que la valeur d'une année.</a:t>
            </a:r>
            <a:endParaRPr lang="en-US" sz="10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71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45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 maladie professionnelle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grpSp>
        <p:nvGrpSpPr>
          <p:cNvPr id="9110"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461-1 (code de la sécurité sociale)</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Une maladie professionnelle est la conséquence directe de l'exposition d'un travailleur à un risque physique, chimique ou biologique, ou résulte des conditions dans lesquelles il exerce son activité professionnelle.</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6015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Reconnaissance par tableau : la maladie doit figurer dans l'un des 102 tableaux annexés au code de la sécurité sociale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Trois conditions cumulatives : la désignation de la maladie, le délai de prise en charge, et la liste limitative des travaux</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Si les trois conditions sont réunies, l'origine professionnelle est présumée, le salarié n'a rien à prouver</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Liste des tableaux : inrs.fr, rubrique « tableaux des maladies professionnelles »</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72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10"/>
                                        </p:tgtEl>
                                        <p:attrNameLst>
                                          <p:attrName>style.visibility</p:attrName>
                                        </p:attrNameLst>
                                      </p:cBhvr>
                                      <p:to>
                                        <p:strVal val="visible"/>
                                      </p:to>
                                    </p:set>
                                    <p:animEffect transition="in" filter="fade">
                                      <p:cBhvr>
                                        <p:cTn id="7" dur="450"/>
                                        <p:tgtEl>
                                          <p:spTgt spid="91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700" b="1" kern="0" spc="-150" dirty="0">
                <a:solidFill>
                  <a:srgbClr val="075767"/>
                </a:solidFill>
                <a:latin typeface="Lato" pitchFamily="34" charset="0"/>
                <a:ea typeface="Lato" pitchFamily="34" charset="-122"/>
                <a:cs typeface="Lato" pitchFamily="34" charset="-120"/>
              </a:rPr>
              <a:t>Lire un tableau : exemple du tableau 57 (TMS)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0725912" cy="1809496"/>
        </p:xfrm>
        <a:graphic>
          <a:graphicData uri="http://schemas.openxmlformats.org/drawingml/2006/table">
            <a:tbl>
              <a:tblPr/>
              <a:tblGrid>
                <a:gridCol w="38404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566928">
                <a:tc>
                  <a:txBody>
                    <a:bodyPr/>
                    <a:lstStyle/>
                    <a:p>
                      <a:pPr marL="0" indent="0">
                        <a:buNone/>
                      </a:pPr>
                      <a:r>
                        <a:rPr lang="en-US" sz="1250" b="1" dirty="0">
                          <a:solidFill>
                            <a:srgbClr val="FFFFFF"/>
                          </a:solidFill>
                          <a:latin typeface="Lato" pitchFamily="34" charset="0"/>
                          <a:ea typeface="Lato" pitchFamily="34" charset="-122"/>
                          <a:cs typeface="Lato" pitchFamily="34" charset="-120"/>
                        </a:rPr>
                        <a:t>Désignation de la maladie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Délai de prise en charge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Travaux susceptibles de la provoquer</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A : Épaule : rupture partielle ou transfixiante de la coiffe des rotateurs, objectivée par IRM</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1 an, sous réserve d'une exposition d'un an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Maintien de l'épaule sans soutien en abduction : ≥ 60° pendant 2 h/jour cumulées, ou ≥ 90° pendant 1 h/jour</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C : Poignet, main et doigt : syndrome du canal carpien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30 jours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Mouvements répétés ou prolongés d'extension du poignet, préhension de la main, appui carpien ou pression prolongée sur le talon de la main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bl>
          </a:graphicData>
        </a:graphic>
      </p:graphicFrame>
      <p:sp>
        <p:nvSpPr>
          <p:cNvPr id="11" name="Text 8"/>
          <p:cNvSpPr txBox="1"/>
          <p:nvPr/>
        </p:nvSpPr>
        <p:spPr>
          <a:xfrm>
            <a:off x="731520" y="5623560"/>
            <a:ext cx="10728655" cy="365760"/>
          </a:xfrm>
          <a:prstGeom prst="rect">
            <a:avLst/>
          </a:prstGeom>
          <a:noFill/>
          <a:ln/>
        </p:spPr>
        <p:txBody>
          <a:bodyPr wrap="square" lIns="0" tIns="0" rIns="0" bIns="0" rtlCol="0" anchor="t"/>
          <a:lstStyle/>
          <a:p>
            <a:pPr marL="0" indent="0">
              <a:buNone/>
            </a:pPr>
            <a:r>
              <a:rPr lang="en-US" sz="1000" i="1" dirty="0">
                <a:solidFill>
                  <a:srgbClr val="595959"/>
                </a:solidFill>
                <a:latin typeface="Lato" pitchFamily="34" charset="0"/>
                <a:ea typeface="Lato" pitchFamily="34" charset="-122"/>
                <a:cs typeface="Lato" pitchFamily="34" charset="-120"/>
              </a:rPr>
              <a:t>Les trois colonnes sont cumulatives : une seule qui manque, et la présomption tombe.</a:t>
            </a:r>
            <a:endParaRPr lang="en-US" sz="10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73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45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 maladie à caractère professionnel</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grpSp>
        <p:nvGrpSpPr>
          <p:cNvPr id="9111" name="Bloc 1"/>
          <p:cNvGrpSpPr/>
          <p:nvPr/>
        </p:nvGrpSpPr>
        <p:grpSpPr>
          <a:xfrm>
            <a:off x="731520" y="1828800"/>
            <a:ext cx="6263640" cy="1590690"/>
            <a:chOff x="731520" y="1828800"/>
            <a:chExt cx="6263640" cy="1590690"/>
          </a:xfrm>
        </p:grpSpPr>
        <p:sp>
          <p:nvSpPr>
            <p:cNvPr id="10" name="Shape 8"/>
            <p:cNvSpPr/>
            <p:nvPr/>
          </p:nvSpPr>
          <p:spPr>
            <a:xfrm>
              <a:off x="731520" y="1828800"/>
              <a:ext cx="6263640" cy="1590690"/>
            </a:xfrm>
            <a:prstGeom prst="roundRect">
              <a:avLst>
                <a:gd name="adj" fmla="val 3333"/>
              </a:avLst>
            </a:prstGeom>
            <a:solidFill>
              <a:srgbClr val="FCEDE6"/>
            </a:solidFill>
            <a:ln/>
          </p:spPr>
          <p:txBody>
            <a:bodyPr/>
            <a:lstStyle/>
            <a:p>
              <a:endParaRPr/>
            </a:p>
          </p:txBody>
        </p:sp>
        <p:sp>
          <p:nvSpPr>
            <p:cNvPr id="11" name="Shape 9"/>
            <p:cNvSpPr/>
            <p:nvPr/>
          </p:nvSpPr>
          <p:spPr>
            <a:xfrm>
              <a:off x="987552" y="2103120"/>
              <a:ext cx="777240" cy="777240"/>
            </a:xfrm>
            <a:prstGeom prst="ellipse">
              <a:avLst/>
            </a:prstGeom>
            <a:solidFill>
              <a:srgbClr val="F06C23"/>
            </a:solidFill>
            <a:ln/>
          </p:spPr>
          <p:txBody>
            <a:bodyPr/>
            <a:lstStyle/>
            <a:p>
              <a:endParaRPr/>
            </a:p>
          </p:txBody>
        </p:sp>
        <p:pic>
          <p:nvPicPr>
            <p:cNvPr id="12" name="Image 0" descr="/home/claude/tmo/build/ico/alerte-blanc.png"/>
            <p:cNvPicPr>
              <a:picLocks noChangeAspect="1"/>
            </p:cNvPicPr>
            <p:nvPr/>
          </p:nvPicPr>
          <p:blipFill>
            <a:blip r:embed="rId3"/>
            <a:stretch>
              <a:fillRect/>
            </a:stretch>
          </p:blipFill>
          <p:spPr>
            <a:xfrm>
              <a:off x="1189634" y="2305202"/>
              <a:ext cx="373075" cy="373075"/>
            </a:xfrm>
            <a:prstGeom prst="rect">
              <a:avLst/>
            </a:prstGeom>
          </p:spPr>
        </p:pic>
        <p:sp>
          <p:nvSpPr>
            <p:cNvPr id="13" name="Text 10"/>
            <p:cNvSpPr txBox="1"/>
            <p:nvPr/>
          </p:nvSpPr>
          <p:spPr>
            <a:xfrm>
              <a:off x="1965960" y="1993392"/>
              <a:ext cx="4754880" cy="320040"/>
            </a:xfrm>
            <a:prstGeom prst="rect">
              <a:avLst/>
            </a:prstGeom>
            <a:noFill/>
            <a:ln/>
          </p:spPr>
          <p:txBody>
            <a:bodyPr wrap="square" lIns="0" tIns="0" rIns="0" bIns="0" rtlCol="0" anchor="t"/>
            <a:lstStyle/>
            <a:p>
              <a:pPr marL="0" indent="0">
                <a:buNone/>
              </a:pPr>
              <a:r>
                <a:rPr lang="en-US" sz="1350" b="1" dirty="0">
                  <a:solidFill>
                    <a:srgbClr val="C33F14"/>
                  </a:solidFill>
                  <a:latin typeface="Lato" pitchFamily="34" charset="0"/>
                  <a:ea typeface="Lato" pitchFamily="34" charset="-122"/>
                  <a:cs typeface="Lato" pitchFamily="34" charset="-120"/>
                </a:rPr>
                <a:t>Hors tableau : la voie complémentaire</a:t>
              </a:r>
              <a:endParaRPr lang="en-US" sz="1350" dirty="0"/>
            </a:p>
          </p:txBody>
        </p:sp>
        <p:sp>
          <p:nvSpPr>
            <p:cNvPr id="14" name="Text 11"/>
            <p:cNvSpPr txBox="1"/>
            <p:nvPr/>
          </p:nvSpPr>
          <p:spPr>
            <a:xfrm>
              <a:off x="1965960" y="2340864"/>
              <a:ext cx="4754880" cy="996330"/>
            </a:xfrm>
            <a:prstGeom prst="rect">
              <a:avLst/>
            </a:prstGeom>
            <a:noFill/>
            <a:ln/>
          </p:spPr>
          <p:txBody>
            <a:bodyPr wrap="square" lIns="0" tIns="0" rIns="0" bIns="0" rtlCol="0" anchor="t"/>
            <a:lstStyle/>
            <a:p>
              <a:pPr marL="0" indent="0">
                <a:lnSpc>
                  <a:spcPct val="110000"/>
                </a:lnSpc>
                <a:buNone/>
              </a:pPr>
              <a:r>
                <a:rPr lang="en-US" sz="1350" dirty="0">
                  <a:solidFill>
                    <a:srgbClr val="075767"/>
                  </a:solidFill>
                  <a:latin typeface="Lato" pitchFamily="34" charset="0"/>
                  <a:ea typeface="Lato" pitchFamily="34" charset="-122"/>
                  <a:cs typeface="Lato" pitchFamily="34" charset="-120"/>
                </a:rPr>
                <a:t>Une maladie reconnue par un médecin mais absente des tableaux peut être reconnue, burn-out, anxiété généralisée, dépression sévère, syndrome post-traumatique.</a:t>
              </a:r>
              <a:endParaRPr lang="en-US" sz="1350" dirty="0"/>
            </a:p>
          </p:txBody>
        </p:sp>
      </p:grpSp>
      <p:sp>
        <p:nvSpPr>
          <p:cNvPr id="15" name="Text 12"/>
          <p:cNvSpPr txBox="1"/>
          <p:nvPr/>
        </p:nvSpPr>
        <p:spPr>
          <a:xfrm>
            <a:off x="731520" y="3429000"/>
            <a:ext cx="6263640" cy="2400076"/>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Deux conditions d'accès au système complémentaire :</a:t>
            </a:r>
            <a:endParaRPr lang="en-US" sz="1350" dirty="0"/>
          </a:p>
          <a:p>
            <a:pPr marL="406400" lvl="1"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décès de la personne, ou taux d'incapacité permanente prévisible d'au moins 25 %</a:t>
            </a:r>
            <a:endParaRPr lang="en-US" sz="1350" dirty="0"/>
          </a:p>
          <a:p>
            <a:pPr marL="406400" lvl="1"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lien direct et essentiel avec le travail habituel de la victime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dossier est instruit par le comité régional de reconnaissance des maladies professionnelles (CRRMP)</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taux de 25 % est le principal verrou : il écarte la majorité des demandes pour épuisement professionnel</a:t>
            </a:r>
            <a:endParaRPr lang="en-US" sz="1350" dirty="0"/>
          </a:p>
        </p:txBody>
      </p:sp>
      <p:grpSp>
        <p:nvGrpSpPr>
          <p:cNvPr id="9112" name="Bloc 2"/>
          <p:cNvGrpSpPr/>
          <p:nvPr/>
        </p:nvGrpSpPr>
        <p:grpSpPr>
          <a:xfrm>
            <a:off x="7452360" y="1828800"/>
            <a:ext cx="4105656" cy="3099816"/>
            <a:chOff x="7452360" y="1828800"/>
            <a:chExt cx="4105656" cy="3099816"/>
          </a:xfrm>
        </p:grpSpPr>
        <p:sp>
          <p:nvSpPr>
            <p:cNvPr id="23" name="Rounded Rectangle 22"/>
            <p:cNvSpPr/>
            <p:nvPr/>
          </p:nvSpPr>
          <p:spPr>
            <a:xfrm>
              <a:off x="7580376" y="1956816"/>
              <a:ext cx="3977640" cy="297180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Image 1" descr="/home/claude/tmo/build/photos/p13.jpg"/>
            <p:cNvPicPr>
              <a:picLocks noChangeAspect="1"/>
            </p:cNvPicPr>
            <p:nvPr/>
          </p:nvPicPr>
          <p:blipFill>
            <a:blip r:embed="rId4"/>
            <a:srcRect/>
            <a:stretch/>
          </p:blipFill>
          <p:spPr>
            <a:xfrm>
              <a:off x="7452360" y="1828800"/>
              <a:ext cx="3977640" cy="2971800"/>
            </a:xfrm>
            <a:prstGeom prst="roundRect">
              <a:avLst>
                <a:gd name="adj" fmla="val 2200"/>
              </a:avLst>
            </a:prstGeom>
            <a:effectLst>
              <a:outerShdw blurRad="190500" dist="38100" dir="5400000" rotWithShape="0">
                <a:srgbClr val="075767">
                  <a:alpha val="22000"/>
                </a:srgbClr>
              </a:outerShdw>
              <a:softEdge rad="32004"/>
            </a:effectLst>
          </p:spPr>
        </p:pic>
      </p:grpSp>
      <p:sp>
        <p:nvSpPr>
          <p:cNvPr id="17" name="Text 13"/>
          <p:cNvSpPr txBox="1"/>
          <p:nvPr/>
        </p:nvSpPr>
        <p:spPr>
          <a:xfrm>
            <a:off x="7452360" y="4873752"/>
            <a:ext cx="39776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La reconnaissance hors tableau reste rare, mais la demande, elle, est toujours recevable.</a:t>
            </a:r>
            <a:endParaRPr lang="en-US" sz="950" dirty="0"/>
          </a:p>
        </p:txBody>
      </p:sp>
      <p:pic>
        <p:nvPicPr>
          <p:cNvPr id="18" name="Image 2"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9"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5"/>
          <p:cNvSpPr/>
          <p:nvPr/>
        </p:nvSpPr>
        <p:spPr>
          <a:xfrm>
            <a:off x="10591495" y="6181344"/>
            <a:ext cx="438912" cy="438912"/>
          </a:xfrm>
          <a:prstGeom prst="ellipse">
            <a:avLst/>
          </a:prstGeom>
          <a:solidFill>
            <a:srgbClr val="F06C23"/>
          </a:solidFill>
          <a:ln/>
        </p:spPr>
        <p:txBody>
          <a:bodyPr/>
          <a:lstStyle/>
          <a:p>
            <a:endParaRPr/>
          </a:p>
        </p:txBody>
      </p:sp>
      <p:sp>
        <p:nvSpPr>
          <p:cNvPr id="21"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22"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74</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11"/>
                                        </p:tgtEl>
                                        <p:attrNameLst>
                                          <p:attrName>style.visibility</p:attrName>
                                        </p:attrNameLst>
                                      </p:cBhvr>
                                      <p:to>
                                        <p:strVal val="visible"/>
                                      </p:to>
                                    </p:set>
                                    <p:animEffect transition="in" filter="fade">
                                      <p:cBhvr>
                                        <p:cTn id="7" dur="450"/>
                                        <p:tgtEl>
                                          <p:spTgt spid="91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12"/>
                                        </p:tgtEl>
                                        <p:attrNameLst>
                                          <p:attrName>style.visibility</p:attrName>
                                        </p:attrNameLst>
                                      </p:cBhvr>
                                      <p:to>
                                        <p:strVal val="visible"/>
                                      </p:to>
                                    </p:set>
                                    <p:animEffect transition="in" filter="fade">
                                      <p:cBhvr>
                                        <p:cTn id="12" dur="450"/>
                                        <p:tgtEl>
                                          <p:spTgt spid="91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 faute inexcusable de l'employeur</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grpSp>
        <p:nvGrpSpPr>
          <p:cNvPr id="9113"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452-1 (code de la sécurité sociale)</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Le manquement de l'employeur à son obligation de sécurité a le caractère d'une faute inexcusable lorsque l'employeur avait ou aurait dû avoir conscience du danger auquel était exposé le salarié, et qu'il n'a pas pris les mesures nécessaires pour l'en préserver.</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4173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Deux conditions cumulatives, issues des arrêts « amiante » de 2002 :</a:t>
            </a:r>
            <a:endParaRPr lang="en-US" sz="1350" dirty="0"/>
          </a:p>
          <a:p>
            <a:pPr marL="406400" lvl="1"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condition abstraite : l'employeur avait ou aurait dû avoir conscience du danger</a:t>
            </a:r>
            <a:endParaRPr lang="en-US" sz="1350" dirty="0"/>
          </a:p>
          <a:p>
            <a:pPr marL="406400" lvl="1"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condition concrète : il n'a pas pris les mesures nécessaires pour en préserver le salarié</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La faute inexcusable ne se présume pas : c'est à la victime de prouver les deux conditions</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75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13"/>
                                        </p:tgtEl>
                                        <p:attrNameLst>
                                          <p:attrName>style.visibility</p:attrName>
                                        </p:attrNameLst>
                                      </p:cBhvr>
                                      <p:to>
                                        <p:strVal val="visible"/>
                                      </p:to>
                                    </p:set>
                                    <p:animEffect transition="in" filter="fade">
                                      <p:cBhvr>
                                        <p:cTn id="7" dur="450"/>
                                        <p:tgtEl>
                                          <p:spTgt spid="91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Reconnaître la faute inexcusable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grpSp>
        <p:nvGrpSpPr>
          <p:cNvPr id="9114" name="Bloc 1"/>
          <p:cNvGrpSpPr/>
          <p:nvPr/>
        </p:nvGrpSpPr>
        <p:grpSpPr>
          <a:xfrm>
            <a:off x="731520" y="1828800"/>
            <a:ext cx="6035040" cy="3977640"/>
            <a:chOff x="731520" y="1828800"/>
            <a:chExt cx="6035040" cy="3977640"/>
          </a:xfrm>
        </p:grpSpPr>
        <p:sp>
          <p:nvSpPr>
            <p:cNvPr id="10" name="Text 8"/>
            <p:cNvSpPr txBox="1"/>
            <p:nvPr/>
          </p:nvSpPr>
          <p:spPr>
            <a:xfrm>
              <a:off x="731520" y="1828800"/>
              <a:ext cx="6035040" cy="1234440"/>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Le manquement est révélé par un accident du travail ou une maladie professionnelle. C'est une faute contractuelle.</a:t>
              </a:r>
              <a:endParaRPr lang="en-US" sz="1450" dirty="0"/>
            </a:p>
          </p:txBody>
        </p:sp>
        <p:sp>
          <p:nvSpPr>
            <p:cNvPr id="11" name="Text 9"/>
            <p:cNvSpPr txBox="1"/>
            <p:nvPr/>
          </p:nvSpPr>
          <p:spPr>
            <a:xfrm>
              <a:off x="731520" y="2487168"/>
              <a:ext cx="6035040"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Deux voies de reconnaissance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 voie amiable, par conciliation avec la caisse de sécurité sociale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 décision d'une juridiction de sécurité sociale</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Ce que la reconnaissance ouvre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une majoration de la rente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 réparation des préjudices personnels non couverts par le régime forfaitaire</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Prescription : deux ans</a:t>
              </a:r>
              <a:endParaRPr lang="en-US" sz="1400" dirty="0"/>
            </a:p>
          </p:txBody>
        </p:sp>
      </p:grpSp>
      <p:grpSp>
        <p:nvGrpSpPr>
          <p:cNvPr id="9115" name="Bloc 2"/>
          <p:cNvGrpSpPr/>
          <p:nvPr/>
        </p:nvGrpSpPr>
        <p:grpSpPr>
          <a:xfrm>
            <a:off x="7223760" y="1828800"/>
            <a:ext cx="4334256" cy="3282696"/>
            <a:chOff x="7223760" y="1828800"/>
            <a:chExt cx="4334256" cy="3282696"/>
          </a:xfrm>
        </p:grpSpPr>
        <p:sp>
          <p:nvSpPr>
            <p:cNvPr id="19" name="Rounded Rectangle 18"/>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14.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sp>
        <p:nvSpPr>
          <p:cNvPr id="13" name="Text 10"/>
          <p:cNvSpPr txBox="1"/>
          <p:nvPr/>
        </p:nvSpPr>
        <p:spPr>
          <a:xfrm>
            <a:off x="7223760" y="5632704"/>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Deux ans : le délai court vite quand le salarié est en arrêt long.</a:t>
            </a:r>
            <a:endParaRPr lang="en-US" sz="950" dirty="0"/>
          </a:p>
        </p:txBody>
      </p:sp>
      <p:pic>
        <p:nvPicPr>
          <p:cNvPr id="14"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5"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2"/>
          <p:cNvSpPr/>
          <p:nvPr/>
        </p:nvSpPr>
        <p:spPr>
          <a:xfrm>
            <a:off x="10591495" y="6181344"/>
            <a:ext cx="438912" cy="438912"/>
          </a:xfrm>
          <a:prstGeom prst="ellipse">
            <a:avLst/>
          </a:prstGeom>
          <a:solidFill>
            <a:srgbClr val="F06C23"/>
          </a:solidFill>
          <a:ln/>
        </p:spPr>
        <p:txBody>
          <a:bodyPr/>
          <a:lstStyle/>
          <a:p>
            <a:endParaRPr/>
          </a:p>
        </p:txBody>
      </p:sp>
      <p:sp>
        <p:nvSpPr>
          <p:cNvPr id="17"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76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14"/>
                                        </p:tgtEl>
                                        <p:attrNameLst>
                                          <p:attrName>style.visibility</p:attrName>
                                        </p:attrNameLst>
                                      </p:cBhvr>
                                      <p:to>
                                        <p:strVal val="visible"/>
                                      </p:to>
                                    </p:set>
                                    <p:animEffect transition="in" filter="fade">
                                      <p:cBhvr>
                                        <p:cTn id="7" dur="450"/>
                                        <p:tgtEl>
                                          <p:spTgt spid="91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15"/>
                                        </p:tgtEl>
                                        <p:attrNameLst>
                                          <p:attrName>style.visibility</p:attrName>
                                        </p:attrNameLst>
                                      </p:cBhvr>
                                      <p:to>
                                        <p:strVal val="visible"/>
                                      </p:to>
                                    </p:set>
                                    <p:animEffect transition="in" filter="fade">
                                      <p:cBhvr>
                                        <p:cTn id="12" dur="450"/>
                                        <p:tgtEl>
                                          <p:spTgt spid="91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900" b="1" kern="0" spc="-150" dirty="0">
                <a:solidFill>
                  <a:srgbClr val="075767"/>
                </a:solidFill>
                <a:latin typeface="Lato" pitchFamily="34" charset="0"/>
                <a:ea typeface="Lato" pitchFamily="34" charset="-122"/>
                <a:cs typeface="Lato" pitchFamily="34" charset="-120"/>
              </a:rPr>
              <a:t>Le rôle des élus dans une faute inexcusable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L'élu n'est pas partie à la procédure, mais il détient souvent les pièces qui la font gagner.</a:t>
            </a:r>
            <a:endParaRPr lang="en-US" sz="1450" dirty="0"/>
          </a:p>
        </p:txBody>
      </p:sp>
      <p:sp>
        <p:nvSpPr>
          <p:cNvPr id="11" name="Text 9"/>
          <p:cNvSpPr txBox="1"/>
          <p:nvPr/>
        </p:nvSpPr>
        <p:spPr>
          <a:xfrm>
            <a:off x="731520" y="2487168"/>
            <a:ext cx="10728655"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Accompagner le salarié : recueillir les témoignages, éclaircir la situation, photographier les lieux</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Ce que le salarié doit prouver :</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l'existence du danger</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l'absence de mesures de prévention</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 défaut d'évaluation des risques</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la tolérance d'une pratique dangereuse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 lien de causalité entre la faute et la survenance de l'accident</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Deux cas où la preuve n'est pas nécessaire :</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absence de formation renforcée à la sécurité pour un salarié en CDD ou en intérim</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danger préalablement signalé à l'employeur</a:t>
            </a:r>
            <a:endParaRPr lang="en-US" sz="13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1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1"/>
          <p:cNvSpPr/>
          <p:nvPr/>
        </p:nvSpPr>
        <p:spPr>
          <a:xfrm>
            <a:off x="10591495" y="6181344"/>
            <a:ext cx="438912" cy="438912"/>
          </a:xfrm>
          <a:prstGeom prst="ellipse">
            <a:avLst/>
          </a:prstGeom>
          <a:solidFill>
            <a:srgbClr val="F06C23"/>
          </a:solidFill>
          <a:ln/>
        </p:spPr>
        <p:txBody>
          <a:bodyPr/>
          <a:lstStyle/>
          <a:p>
            <a:endParaRPr/>
          </a:p>
        </p:txBody>
      </p:sp>
      <p:sp>
        <p:nvSpPr>
          <p:cNvPr id="15" name="Text 1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6" name="Text 1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77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 procédure d'indemnisation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sp>
        <p:nvSpPr>
          <p:cNvPr id="10" name="Text 8"/>
          <p:cNvSpPr txBox="1"/>
          <p:nvPr/>
        </p:nvSpPr>
        <p:spPr>
          <a:xfrm>
            <a:off x="731520" y="1828800"/>
            <a:ext cx="10728655" cy="29718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 sécurité sociale fait l'avance des frais au salarié</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Elle facture ensuite l'employeur pour le remboursement des préjudices</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L'employeur doit rembourser la caisse en une seule fois</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En cas de défaillance, les fonds peuvent être recherchés sur le patrimoine personnel du dirigeant</a:t>
            </a:r>
            <a:endParaRPr lang="en-US" sz="1400" dirty="0"/>
          </a:p>
        </p:txBody>
      </p:sp>
      <p:grpSp>
        <p:nvGrpSpPr>
          <p:cNvPr id="9116" name="Bloc 2"/>
          <p:cNvGrpSpPr/>
          <p:nvPr/>
        </p:nvGrpSpPr>
        <p:grpSpPr>
          <a:xfrm>
            <a:off x="731520" y="4956048"/>
            <a:ext cx="10728655" cy="841248"/>
            <a:chOff x="731520" y="4956048"/>
            <a:chExt cx="10728655" cy="841248"/>
          </a:xfrm>
        </p:grpSpPr>
        <p:sp>
          <p:nvSpPr>
            <p:cNvPr id="11" name="Shape 9"/>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2" name="Text 10"/>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Ce que ça change   </a:t>
              </a:r>
              <a:r>
                <a:rPr lang="en-US" sz="1300" dirty="0">
                  <a:solidFill>
                    <a:srgbClr val="075767"/>
                  </a:solidFill>
                  <a:latin typeface="Lato" pitchFamily="34" charset="0"/>
                  <a:ea typeface="Lato" pitchFamily="34" charset="-122"/>
                  <a:cs typeface="Lato" pitchFamily="34" charset="-120"/>
                </a:rPr>
                <a:t>le salarié n'attend pas l'issue de la procédure pour être indemnisé : c'est la caisse qui porte le risque, puis se retourne contre l'employeur.</a:t>
              </a:r>
              <a:endParaRPr lang="en-US" sz="1250" dirty="0"/>
            </a:p>
          </p:txBody>
        </p:sp>
      </p:grpSp>
      <p:pic>
        <p:nvPicPr>
          <p:cNvPr id="13"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4"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5" name="Shape 12"/>
          <p:cNvSpPr/>
          <p:nvPr/>
        </p:nvSpPr>
        <p:spPr>
          <a:xfrm>
            <a:off x="10591495" y="6181344"/>
            <a:ext cx="438912" cy="438912"/>
          </a:xfrm>
          <a:prstGeom prst="ellipse">
            <a:avLst/>
          </a:prstGeom>
          <a:solidFill>
            <a:srgbClr val="F06C23"/>
          </a:solidFill>
          <a:ln/>
        </p:spPr>
        <p:txBody>
          <a:bodyPr/>
          <a:lstStyle/>
          <a:p>
            <a:endParaRPr/>
          </a:p>
        </p:txBody>
      </p:sp>
      <p:sp>
        <p:nvSpPr>
          <p:cNvPr id="16"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7"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78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16"/>
                                        </p:tgtEl>
                                        <p:attrNameLst>
                                          <p:attrName>style.visibility</p:attrName>
                                        </p:attrNameLst>
                                      </p:cBhvr>
                                      <p:to>
                                        <p:strVal val="visible"/>
                                      </p:to>
                                    </p:set>
                                    <p:animEffect transition="in" filter="fade">
                                      <p:cBhvr>
                                        <p:cTn id="12" dur="450"/>
                                        <p:tgtEl>
                                          <p:spTgt spid="9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800" b="1" kern="0" spc="-150" dirty="0">
                <a:solidFill>
                  <a:srgbClr val="075767"/>
                </a:solidFill>
                <a:latin typeface="Lato" pitchFamily="34" charset="0"/>
                <a:ea typeface="Lato" pitchFamily="34" charset="-122"/>
                <a:cs typeface="Lato" pitchFamily="34" charset="-120"/>
              </a:rPr>
              <a:t>Ce que la faute inexcusable change, en euros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graphicFrame>
        <p:nvGraphicFramePr>
          <p:cNvPr id="63" name="Table 0"/>
          <p:cNvGraphicFramePr>
            <a:graphicFrameLocks noGrp="1"/>
          </p:cNvGraphicFramePr>
          <p:nvPr>
            <p:extLst>
              <p:ext uri="{D42A27DB-BD31-4B8C-83A1-F6EECF244321}">
                <p14:modId xmlns:p14="http://schemas.microsoft.com/office/powerpoint/2010/main" val="1469730611"/>
              </p:ext>
            </p:extLst>
          </p:nvPr>
        </p:nvGraphicFramePr>
        <p:xfrm>
          <a:off x="731520" y="1920240"/>
          <a:ext cx="10725912" cy="2834640"/>
        </p:xfrm>
        <a:graphic>
          <a:graphicData uri="http://schemas.openxmlformats.org/drawingml/2006/table">
            <a:tbl>
              <a:tblPr/>
              <a:tblGrid>
                <a:gridCol w="29260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566928">
                <a:tc>
                  <a:txBody>
                    <a:bodyPr/>
                    <a:lstStyle/>
                    <a:p>
                      <a:pPr marL="0" indent="0">
                        <a:buNone/>
                      </a:pPr>
                      <a:r>
                        <a:rPr lang="en-US" sz="1250" b="1" dirty="0">
                          <a:solidFill>
                            <a:srgbClr val="FFFFFF"/>
                          </a:solidFill>
                          <a:latin typeface="Lato" pitchFamily="34" charset="0"/>
                          <a:ea typeface="Lato" pitchFamily="34" charset="-122"/>
                          <a:cs typeface="Lato" pitchFamily="34" charset="-120"/>
                        </a:rPr>
                        <a:t>Indicateur</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Sans reconnaissance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Avec reconnaissance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Taux utile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15 % ÷ 2 = 7,5 %</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7,5 % + majoration = 15 %</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Rente annuelle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1 980 € par an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3 960 € par an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Versement</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495 € par trimestre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330 € par mois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Préjudices personnels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Non indemnisés (régime forfaitaire)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À </a:t>
                      </a:r>
                      <a:r>
                        <a:rPr lang="en-US" sz="1200" dirty="0" err="1">
                          <a:solidFill>
                            <a:srgbClr val="C33F14"/>
                          </a:solidFill>
                          <a:latin typeface="Lato" pitchFamily="34" charset="0"/>
                          <a:ea typeface="Lato" pitchFamily="34" charset="-122"/>
                          <a:cs typeface="Lato" pitchFamily="34" charset="-120"/>
                        </a:rPr>
                        <a:t>définir</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11" name="Text 8"/>
          <p:cNvSpPr txBox="1"/>
          <p:nvPr/>
        </p:nvSpPr>
        <p:spPr>
          <a:xfrm>
            <a:off x="731520" y="5623560"/>
            <a:ext cx="10728655" cy="365760"/>
          </a:xfrm>
          <a:prstGeom prst="rect">
            <a:avLst/>
          </a:prstGeom>
          <a:noFill/>
          <a:ln/>
        </p:spPr>
        <p:txBody>
          <a:bodyPr wrap="square" lIns="0" tIns="0" rIns="0" bIns="0" rtlCol="0" anchor="t"/>
          <a:lstStyle/>
          <a:p>
            <a:pPr marL="0" indent="0">
              <a:buNone/>
            </a:pPr>
            <a:r>
              <a:rPr lang="en-US" sz="1000" i="1" dirty="0">
                <a:solidFill>
                  <a:srgbClr val="595959"/>
                </a:solidFill>
                <a:latin typeface="Lato" pitchFamily="34" charset="0"/>
                <a:ea typeface="Lato" pitchFamily="34" charset="-122"/>
                <a:cs typeface="Lato" pitchFamily="34" charset="-120"/>
              </a:rPr>
              <a:t>Hypothèse : IPP 15 %, salarié à 1 800 € net par mois, salaire annuel de référence 26 400 € brut. Articles L. 434-2 (taux utile), L. 452-2 (majoration) et L. 452-3 (préjudices complémentaires) du code de la sécurité sociale.</a:t>
            </a:r>
            <a:endParaRPr lang="en-US" sz="10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79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45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Vérifions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 réglementation SSCT</a:t>
            </a:r>
            <a:endParaRPr lang="en-US" sz="1400" dirty="0"/>
          </a:p>
        </p:txBody>
      </p:sp>
      <p:sp>
        <p:nvSpPr>
          <p:cNvPr id="10" name="Text 8"/>
          <p:cNvSpPr txBox="1"/>
          <p:nvPr/>
        </p:nvSpPr>
        <p:spPr>
          <a:xfrm>
            <a:off x="731520" y="1828800"/>
            <a:ext cx="10728655" cy="868680"/>
          </a:xfrm>
          <a:prstGeom prst="rect">
            <a:avLst/>
          </a:prstGeom>
          <a:noFill/>
          <a:ln/>
        </p:spPr>
        <p:txBody>
          <a:bodyPr wrap="square" lIns="0" tIns="0" rIns="0" bIns="0" rtlCol="0" anchor="t"/>
          <a:lstStyle/>
          <a:p>
            <a:pPr marL="0" indent="0">
              <a:lnSpc>
                <a:spcPct val="110000"/>
              </a:lnSpc>
              <a:buNone/>
            </a:pPr>
            <a:r>
              <a:rPr lang="en-US" sz="2100" b="1" kern="0" spc="-50" dirty="0">
                <a:solidFill>
                  <a:srgbClr val="075767"/>
                </a:solidFill>
                <a:latin typeface="Lato" pitchFamily="34" charset="0"/>
                <a:ea typeface="Lato" pitchFamily="34" charset="-122"/>
                <a:cs typeface="Lato" pitchFamily="34" charset="-120"/>
              </a:rPr>
              <a:t>Un salarié se blesse dans les locaux de l'entreprise pendant sa pause déjeuner. Que se passe-t-il ?</a:t>
            </a:r>
            <a:endParaRPr lang="en-US" sz="2100" dirty="0"/>
          </a:p>
        </p:txBody>
      </p:sp>
      <p:grpSp>
        <p:nvGrpSpPr>
          <p:cNvPr id="9117" name="Bloc 2"/>
          <p:cNvGrpSpPr/>
          <p:nvPr/>
        </p:nvGrpSpPr>
        <p:grpSpPr>
          <a:xfrm>
            <a:off x="731520" y="2971800"/>
            <a:ext cx="3332378" cy="1874520"/>
            <a:chOff x="731520" y="2971800"/>
            <a:chExt cx="3332378" cy="1874520"/>
          </a:xfrm>
        </p:grpSpPr>
        <p:sp>
          <p:nvSpPr>
            <p:cNvPr id="11" name="Shape 9"/>
            <p:cNvSpPr/>
            <p:nvPr/>
          </p:nvSpPr>
          <p:spPr>
            <a:xfrm>
              <a:off x="731520" y="2971800"/>
              <a:ext cx="3332378" cy="1874520"/>
            </a:xfrm>
            <a:prstGeom prst="roundRect">
              <a:avLst>
                <a:gd name="adj" fmla="val 2439"/>
              </a:avLst>
            </a:prstGeom>
            <a:solidFill>
              <a:srgbClr val="FFFFFF"/>
            </a:solidFill>
            <a:ln w="19050">
              <a:solidFill>
                <a:srgbClr val="C1D5D9"/>
              </a:solidFill>
              <a:prstDash val="solid"/>
            </a:ln>
          </p:spPr>
          <p:txBody>
            <a:bodyPr/>
            <a:lstStyle/>
            <a:p>
              <a:endParaRPr/>
            </a:p>
          </p:txBody>
        </p:sp>
        <p:sp>
          <p:nvSpPr>
            <p:cNvPr id="12" name="Shape 10"/>
            <p:cNvSpPr/>
            <p:nvPr/>
          </p:nvSpPr>
          <p:spPr>
            <a:xfrm>
              <a:off x="1005840" y="3246120"/>
              <a:ext cx="548640" cy="548640"/>
            </a:xfrm>
            <a:prstGeom prst="ellipse">
              <a:avLst/>
            </a:prstGeom>
            <a:solidFill>
              <a:srgbClr val="075767"/>
            </a:solidFill>
            <a:ln/>
          </p:spPr>
          <p:txBody>
            <a:bodyPr/>
            <a:lstStyle/>
            <a:p>
              <a:endParaRPr/>
            </a:p>
          </p:txBody>
        </p:sp>
        <p:sp>
          <p:nvSpPr>
            <p:cNvPr id="13" name="Text 11"/>
            <p:cNvSpPr txBox="1"/>
            <p:nvPr/>
          </p:nvSpPr>
          <p:spPr>
            <a:xfrm>
              <a:off x="1005840" y="324612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Lato" pitchFamily="34" charset="0"/>
                  <a:ea typeface="Lato" pitchFamily="34" charset="-122"/>
                  <a:cs typeface="Lato" pitchFamily="34" charset="-120"/>
                </a:rPr>
                <a:t>A</a:t>
              </a:r>
              <a:endParaRPr lang="en-US" sz="1500" dirty="0"/>
            </a:p>
          </p:txBody>
        </p:sp>
        <p:sp>
          <p:nvSpPr>
            <p:cNvPr id="14" name="Text 12"/>
            <p:cNvSpPr txBox="1"/>
            <p:nvPr/>
          </p:nvSpPr>
          <p:spPr>
            <a:xfrm>
              <a:off x="1005840" y="3950208"/>
              <a:ext cx="2783738" cy="777240"/>
            </a:xfrm>
            <a:prstGeom prst="rect">
              <a:avLst/>
            </a:prstGeom>
            <a:noFill/>
            <a:ln/>
          </p:spPr>
          <p:txBody>
            <a:bodyPr wrap="square" lIns="0" tIns="0" rIns="0" bIns="0" rtlCol="0" anchor="t"/>
            <a:lstStyle/>
            <a:p>
              <a:pPr marL="0" indent="0">
                <a:lnSpc>
                  <a:spcPct val="110000"/>
                </a:lnSpc>
                <a:buNone/>
              </a:pPr>
              <a:r>
                <a:rPr lang="en-US" sz="1400" dirty="0">
                  <a:solidFill>
                    <a:srgbClr val="075767"/>
                  </a:solidFill>
                  <a:latin typeface="Lato" pitchFamily="34" charset="0"/>
                  <a:ea typeface="Lato" pitchFamily="34" charset="-122"/>
                  <a:cs typeface="Lato" pitchFamily="34" charset="-120"/>
                </a:rPr>
                <a:t>L'accident est présumé d'origine professionnelle</a:t>
              </a:r>
              <a:endParaRPr lang="en-US" sz="1400" dirty="0"/>
            </a:p>
          </p:txBody>
        </p:sp>
      </p:grpSp>
      <p:grpSp>
        <p:nvGrpSpPr>
          <p:cNvPr id="9118" name="Bloc 3"/>
          <p:cNvGrpSpPr/>
          <p:nvPr/>
        </p:nvGrpSpPr>
        <p:grpSpPr>
          <a:xfrm>
            <a:off x="4429658" y="2971800"/>
            <a:ext cx="3332378" cy="1874520"/>
            <a:chOff x="4429658" y="2971800"/>
            <a:chExt cx="3332378" cy="1874520"/>
          </a:xfrm>
        </p:grpSpPr>
        <p:sp>
          <p:nvSpPr>
            <p:cNvPr id="15" name="Shape 13"/>
            <p:cNvSpPr/>
            <p:nvPr/>
          </p:nvSpPr>
          <p:spPr>
            <a:xfrm>
              <a:off x="4429658" y="2971800"/>
              <a:ext cx="3332378" cy="1874520"/>
            </a:xfrm>
            <a:prstGeom prst="roundRect">
              <a:avLst>
                <a:gd name="adj" fmla="val 2439"/>
              </a:avLst>
            </a:prstGeom>
            <a:solidFill>
              <a:srgbClr val="FFFFFF"/>
            </a:solidFill>
            <a:ln w="19050">
              <a:solidFill>
                <a:srgbClr val="C1D5D9"/>
              </a:solidFill>
              <a:prstDash val="solid"/>
            </a:ln>
          </p:spPr>
          <p:txBody>
            <a:bodyPr/>
            <a:lstStyle/>
            <a:p>
              <a:endParaRPr/>
            </a:p>
          </p:txBody>
        </p:sp>
        <p:sp>
          <p:nvSpPr>
            <p:cNvPr id="16" name="Shape 14"/>
            <p:cNvSpPr/>
            <p:nvPr/>
          </p:nvSpPr>
          <p:spPr>
            <a:xfrm>
              <a:off x="4703978" y="3246120"/>
              <a:ext cx="548640" cy="548640"/>
            </a:xfrm>
            <a:prstGeom prst="ellipse">
              <a:avLst/>
            </a:prstGeom>
            <a:solidFill>
              <a:srgbClr val="075767"/>
            </a:solidFill>
            <a:ln/>
          </p:spPr>
          <p:txBody>
            <a:bodyPr/>
            <a:lstStyle/>
            <a:p>
              <a:endParaRPr/>
            </a:p>
          </p:txBody>
        </p:sp>
        <p:sp>
          <p:nvSpPr>
            <p:cNvPr id="17" name="Text 15"/>
            <p:cNvSpPr txBox="1"/>
            <p:nvPr/>
          </p:nvSpPr>
          <p:spPr>
            <a:xfrm>
              <a:off x="4703978" y="324612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Lato" pitchFamily="34" charset="0"/>
                  <a:ea typeface="Lato" pitchFamily="34" charset="-122"/>
                  <a:cs typeface="Lato" pitchFamily="34" charset="-120"/>
                </a:rPr>
                <a:t>B</a:t>
              </a:r>
              <a:endParaRPr lang="en-US" sz="1500" dirty="0"/>
            </a:p>
          </p:txBody>
        </p:sp>
        <p:sp>
          <p:nvSpPr>
            <p:cNvPr id="18" name="Text 16"/>
            <p:cNvSpPr txBox="1"/>
            <p:nvPr/>
          </p:nvSpPr>
          <p:spPr>
            <a:xfrm>
              <a:off x="4703978" y="3950208"/>
              <a:ext cx="2783738" cy="777240"/>
            </a:xfrm>
            <a:prstGeom prst="rect">
              <a:avLst/>
            </a:prstGeom>
            <a:noFill/>
            <a:ln/>
          </p:spPr>
          <p:txBody>
            <a:bodyPr wrap="square" lIns="0" tIns="0" rIns="0" bIns="0" rtlCol="0" anchor="t"/>
            <a:lstStyle/>
            <a:p>
              <a:pPr marL="0" indent="0">
                <a:lnSpc>
                  <a:spcPct val="110000"/>
                </a:lnSpc>
                <a:buNone/>
              </a:pPr>
              <a:r>
                <a:rPr lang="en-US" sz="1400" dirty="0">
                  <a:solidFill>
                    <a:srgbClr val="075767"/>
                  </a:solidFill>
                  <a:latin typeface="Lato" pitchFamily="34" charset="0"/>
                  <a:ea typeface="Lato" pitchFamily="34" charset="-122"/>
                  <a:cs typeface="Lato" pitchFamily="34" charset="-120"/>
                </a:rPr>
                <a:t>Ce n'est pas un accident du travail, il était en pause</a:t>
              </a:r>
              <a:endParaRPr lang="en-US" sz="1400" dirty="0"/>
            </a:p>
          </p:txBody>
        </p:sp>
      </p:grpSp>
      <p:grpSp>
        <p:nvGrpSpPr>
          <p:cNvPr id="9119" name="Bloc 4"/>
          <p:cNvGrpSpPr/>
          <p:nvPr/>
        </p:nvGrpSpPr>
        <p:grpSpPr>
          <a:xfrm>
            <a:off x="8127797" y="2971800"/>
            <a:ext cx="3332378" cy="1874520"/>
            <a:chOff x="8127797" y="2971800"/>
            <a:chExt cx="3332378" cy="1874520"/>
          </a:xfrm>
        </p:grpSpPr>
        <p:sp>
          <p:nvSpPr>
            <p:cNvPr id="19" name="Shape 17"/>
            <p:cNvSpPr/>
            <p:nvPr/>
          </p:nvSpPr>
          <p:spPr>
            <a:xfrm>
              <a:off x="8127797" y="2971800"/>
              <a:ext cx="3332378" cy="1874520"/>
            </a:xfrm>
            <a:prstGeom prst="roundRect">
              <a:avLst>
                <a:gd name="adj" fmla="val 2439"/>
              </a:avLst>
            </a:prstGeom>
            <a:solidFill>
              <a:srgbClr val="FFFFFF"/>
            </a:solidFill>
            <a:ln w="19050">
              <a:solidFill>
                <a:srgbClr val="C1D5D9"/>
              </a:solidFill>
              <a:prstDash val="solid"/>
            </a:ln>
          </p:spPr>
          <p:txBody>
            <a:bodyPr/>
            <a:lstStyle/>
            <a:p>
              <a:endParaRPr/>
            </a:p>
          </p:txBody>
        </p:sp>
        <p:sp>
          <p:nvSpPr>
            <p:cNvPr id="20" name="Shape 18"/>
            <p:cNvSpPr/>
            <p:nvPr/>
          </p:nvSpPr>
          <p:spPr>
            <a:xfrm>
              <a:off x="8402117" y="3246120"/>
              <a:ext cx="548640" cy="548640"/>
            </a:xfrm>
            <a:prstGeom prst="ellipse">
              <a:avLst/>
            </a:prstGeom>
            <a:solidFill>
              <a:srgbClr val="075767"/>
            </a:solidFill>
            <a:ln/>
          </p:spPr>
          <p:txBody>
            <a:bodyPr/>
            <a:lstStyle/>
            <a:p>
              <a:endParaRPr/>
            </a:p>
          </p:txBody>
        </p:sp>
        <p:sp>
          <p:nvSpPr>
            <p:cNvPr id="21" name="Text 19"/>
            <p:cNvSpPr txBox="1"/>
            <p:nvPr/>
          </p:nvSpPr>
          <p:spPr>
            <a:xfrm>
              <a:off x="8402117" y="324612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Lato" pitchFamily="34" charset="0"/>
                  <a:ea typeface="Lato" pitchFamily="34" charset="-122"/>
                  <a:cs typeface="Lato" pitchFamily="34" charset="-120"/>
                </a:rPr>
                <a:t>C</a:t>
              </a:r>
              <a:endParaRPr lang="en-US" sz="1500" dirty="0"/>
            </a:p>
          </p:txBody>
        </p:sp>
        <p:sp>
          <p:nvSpPr>
            <p:cNvPr id="22" name="Text 20"/>
            <p:cNvSpPr txBox="1"/>
            <p:nvPr/>
          </p:nvSpPr>
          <p:spPr>
            <a:xfrm>
              <a:off x="8402117" y="3950208"/>
              <a:ext cx="2783738" cy="777240"/>
            </a:xfrm>
            <a:prstGeom prst="rect">
              <a:avLst/>
            </a:prstGeom>
            <a:noFill/>
            <a:ln/>
          </p:spPr>
          <p:txBody>
            <a:bodyPr wrap="square" lIns="0" tIns="0" rIns="0" bIns="0" rtlCol="0" anchor="t"/>
            <a:lstStyle/>
            <a:p>
              <a:pPr marL="0" indent="0">
                <a:lnSpc>
                  <a:spcPct val="110000"/>
                </a:lnSpc>
                <a:buNone/>
              </a:pPr>
              <a:r>
                <a:rPr lang="en-US" sz="1400" dirty="0">
                  <a:solidFill>
                    <a:srgbClr val="075767"/>
                  </a:solidFill>
                  <a:latin typeface="Lato" pitchFamily="34" charset="0"/>
                  <a:ea typeface="Lato" pitchFamily="34" charset="-122"/>
                  <a:cs typeface="Lato" pitchFamily="34" charset="-120"/>
                </a:rPr>
                <a:t>C'est un accident de trajet</a:t>
              </a:r>
              <a:endParaRPr lang="en-US" sz="1400" dirty="0"/>
            </a:p>
          </p:txBody>
        </p:sp>
      </p:grpSp>
      <p:sp>
        <p:nvSpPr>
          <p:cNvPr id="23" name="Text 21"/>
          <p:cNvSpPr txBox="1"/>
          <p:nvPr/>
        </p:nvSpPr>
        <p:spPr>
          <a:xfrm>
            <a:off x="731520" y="5029200"/>
            <a:ext cx="10728655" cy="640080"/>
          </a:xfrm>
          <a:prstGeom prst="rect">
            <a:avLst/>
          </a:prstGeom>
          <a:noFill/>
          <a:ln/>
        </p:spPr>
        <p:txBody>
          <a:bodyPr wrap="square" lIns="0" tIns="0" rIns="0" bIns="0" rtlCol="0" anchor="t"/>
          <a:lstStyle/>
          <a:p>
            <a:pPr marL="0" indent="0">
              <a:lnSpc>
                <a:spcPct val="110000"/>
              </a:lnSpc>
              <a:buNone/>
            </a:pPr>
            <a:r>
              <a:rPr lang="en-US" sz="1250" i="1" dirty="0">
                <a:solidFill>
                  <a:srgbClr val="595959"/>
                </a:solidFill>
                <a:latin typeface="Lato" pitchFamily="34" charset="0"/>
                <a:ea typeface="Lato" pitchFamily="34" charset="-122"/>
                <a:cs typeface="Lato" pitchFamily="34" charset="-120"/>
              </a:rPr>
              <a:t>Une seule réponse est exacte.</a:t>
            </a:r>
            <a:endParaRPr lang="en-US" sz="1250" dirty="0"/>
          </a:p>
        </p:txBody>
      </p:sp>
      <p:pic>
        <p:nvPicPr>
          <p:cNvPr id="2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25"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6" name="Shape 23"/>
          <p:cNvSpPr/>
          <p:nvPr/>
        </p:nvSpPr>
        <p:spPr>
          <a:xfrm>
            <a:off x="10591495" y="6181344"/>
            <a:ext cx="438912" cy="438912"/>
          </a:xfrm>
          <a:prstGeom prst="ellipse">
            <a:avLst/>
          </a:prstGeom>
          <a:solidFill>
            <a:srgbClr val="F06C23"/>
          </a:solidFill>
          <a:ln/>
        </p:spPr>
        <p:txBody>
          <a:bodyPr/>
          <a:lstStyle/>
          <a:p>
            <a:endParaRPr/>
          </a:p>
        </p:txBody>
      </p:sp>
      <p:sp>
        <p:nvSpPr>
          <p:cNvPr id="27"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28"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80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17"/>
                                        </p:tgtEl>
                                        <p:attrNameLst>
                                          <p:attrName>style.visibility</p:attrName>
                                        </p:attrNameLst>
                                      </p:cBhvr>
                                      <p:to>
                                        <p:strVal val="visible"/>
                                      </p:to>
                                    </p:set>
                                    <p:animEffect transition="in" filter="fade">
                                      <p:cBhvr>
                                        <p:cTn id="12" dur="450"/>
                                        <p:tgtEl>
                                          <p:spTgt spid="91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18"/>
                                        </p:tgtEl>
                                        <p:attrNameLst>
                                          <p:attrName>style.visibility</p:attrName>
                                        </p:attrNameLst>
                                      </p:cBhvr>
                                      <p:to>
                                        <p:strVal val="visible"/>
                                      </p:to>
                                    </p:set>
                                    <p:animEffect transition="in" filter="fade">
                                      <p:cBhvr>
                                        <p:cTn id="17" dur="450"/>
                                        <p:tgtEl>
                                          <p:spTgt spid="91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19"/>
                                        </p:tgtEl>
                                        <p:attrNameLst>
                                          <p:attrName>style.visibility</p:attrName>
                                        </p:attrNameLst>
                                      </p:cBhvr>
                                      <p:to>
                                        <p:strVal val="visible"/>
                                      </p:to>
                                    </p:set>
                                    <p:animEffect transition="in" filter="fade">
                                      <p:cBhvr>
                                        <p:cTn id="22" dur="450"/>
                                        <p:tgtEl>
                                          <p:spTgt spid="91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name="Slide 64">
    <p:bg>
      <p:bgPr>
        <a:solidFill>
          <a:srgbClr val="075767"/>
        </a:solidFill>
        <a:effectLst/>
      </p:bgPr>
    </p:bg>
    <p:spTree>
      <p:nvGrpSpPr>
        <p:cNvPr id="1" name=""/>
        <p:cNvGrpSpPr/>
        <p:nvPr/>
      </p:nvGrpSpPr>
      <p:grpSpPr>
        <a:xfrm>
          <a:off x="0" y="0"/>
          <a:ext cx="0" cy="0"/>
          <a:chOff x="0" y="0"/>
          <a:chExt cx="0" cy="0"/>
        </a:xfrm>
      </p:grpSpPr>
      <p:sp>
        <p:nvSpPr>
          <p:cNvPr id="2" name="Shape 0"/>
          <p:cNvSpPr/>
          <p:nvPr/>
        </p:nvSpPr>
        <p:spPr>
          <a:xfrm rot="420000">
            <a:off x="5760720" y="-3749040"/>
            <a:ext cx="10972800" cy="8229600"/>
          </a:xfrm>
          <a:prstGeom prst="ellipse">
            <a:avLst/>
          </a:prstGeom>
          <a:solidFill>
            <a:srgbClr val="0A6C78"/>
          </a:solidFill>
          <a:ln/>
        </p:spPr>
        <p:txBody>
          <a:bodyPr/>
          <a:lstStyle/>
          <a:p>
            <a:endParaRPr/>
          </a:p>
        </p:txBody>
      </p:sp>
      <p:sp>
        <p:nvSpPr>
          <p:cNvPr id="3" name="Shape 1"/>
          <p:cNvSpPr/>
          <p:nvPr/>
        </p:nvSpPr>
        <p:spPr>
          <a:xfrm>
            <a:off x="868680" y="5788152"/>
            <a:ext cx="274320" cy="274320"/>
          </a:xfrm>
          <a:prstGeom prst="ellipse">
            <a:avLst/>
          </a:prstGeom>
          <a:solidFill>
            <a:srgbClr val="F06C23"/>
          </a:solidFill>
          <a:ln/>
        </p:spPr>
        <p:txBody>
          <a:bodyPr/>
          <a:lstStyle/>
          <a:p>
            <a:endParaRPr/>
          </a:p>
        </p:txBody>
      </p:sp>
      <p:sp>
        <p:nvSpPr>
          <p:cNvPr id="4" name="Shape 2"/>
          <p:cNvSpPr/>
          <p:nvPr/>
        </p:nvSpPr>
        <p:spPr>
          <a:xfrm>
            <a:off x="1353312" y="5943600"/>
            <a:ext cx="146304" cy="146304"/>
          </a:xfrm>
          <a:prstGeom prst="ellipse">
            <a:avLst/>
          </a:prstGeom>
          <a:solidFill>
            <a:srgbClr val="C1D5D9"/>
          </a:solidFill>
          <a:ln/>
        </p:spPr>
        <p:txBody>
          <a:bodyPr/>
          <a:lstStyle/>
          <a:p>
            <a:endParaRPr/>
          </a:p>
        </p:txBody>
      </p:sp>
      <p:sp>
        <p:nvSpPr>
          <p:cNvPr id="5" name="Shape 3"/>
          <p:cNvSpPr/>
          <p:nvPr/>
        </p:nvSpPr>
        <p:spPr>
          <a:xfrm>
            <a:off x="1645920" y="5650992"/>
            <a:ext cx="100584" cy="100584"/>
          </a:xfrm>
          <a:prstGeom prst="ellipse">
            <a:avLst/>
          </a:prstGeom>
          <a:solidFill>
            <a:srgbClr val="C1D5D9"/>
          </a:solidFill>
          <a:ln/>
        </p:spPr>
        <p:txBody>
          <a:bodyPr/>
          <a:lstStyle/>
          <a:p>
            <a:endParaRPr/>
          </a:p>
        </p:txBody>
      </p:sp>
      <p:sp>
        <p:nvSpPr>
          <p:cNvPr id="6" name="Text 4"/>
          <p:cNvSpPr txBox="1"/>
          <p:nvPr/>
        </p:nvSpPr>
        <p:spPr>
          <a:xfrm>
            <a:off x="822960" y="1325880"/>
            <a:ext cx="2377440" cy="1691640"/>
          </a:xfrm>
          <a:prstGeom prst="rect">
            <a:avLst/>
          </a:prstGeom>
          <a:noFill/>
          <a:ln/>
        </p:spPr>
        <p:txBody>
          <a:bodyPr wrap="square" lIns="0" tIns="0" rIns="0" bIns="0" rtlCol="0" anchor="t"/>
          <a:lstStyle/>
          <a:p>
            <a:pPr marL="0" indent="0">
              <a:buNone/>
            </a:pPr>
            <a:r>
              <a:rPr lang="en-US" sz="9600" b="1" kern="0" spc="-300" dirty="0">
                <a:solidFill>
                  <a:srgbClr val="F58B60"/>
                </a:solidFill>
                <a:latin typeface="Lato" pitchFamily="34" charset="0"/>
                <a:ea typeface="Lato" pitchFamily="34" charset="-122"/>
                <a:cs typeface="Lato" pitchFamily="34" charset="-120"/>
              </a:rPr>
              <a:t>04</a:t>
            </a:r>
            <a:endParaRPr lang="en-US" sz="9600" dirty="0"/>
          </a:p>
        </p:txBody>
      </p:sp>
      <p:sp>
        <p:nvSpPr>
          <p:cNvPr id="7" name="Text 5"/>
          <p:cNvSpPr txBox="1"/>
          <p:nvPr/>
        </p:nvSpPr>
        <p:spPr>
          <a:xfrm>
            <a:off x="868680" y="3017520"/>
            <a:ext cx="5303520" cy="1536192"/>
          </a:xfrm>
          <a:prstGeom prst="rect">
            <a:avLst/>
          </a:prstGeom>
          <a:noFill/>
          <a:ln/>
        </p:spPr>
        <p:txBody>
          <a:bodyPr wrap="square" lIns="0" tIns="0" rIns="0" bIns="0" rtlCol="0" anchor="t"/>
          <a:lstStyle/>
          <a:p>
            <a:pPr marL="0" indent="0">
              <a:buNone/>
            </a:pPr>
            <a:r>
              <a:rPr lang="en-US" sz="3400" b="1" kern="0" spc="-150" dirty="0">
                <a:solidFill>
                  <a:srgbClr val="FFFFFF"/>
                </a:solidFill>
                <a:latin typeface="Lato" pitchFamily="34" charset="0"/>
                <a:ea typeface="Lato" pitchFamily="34" charset="-122"/>
                <a:cs typeface="Lato" pitchFamily="34" charset="-120"/>
              </a:rPr>
              <a:t>Les acteurs</a:t>
            </a:r>
            <a:endParaRPr lang="en-US" sz="3400" dirty="0"/>
          </a:p>
          <a:p>
            <a:pPr marL="0" indent="0">
              <a:buNone/>
            </a:pPr>
            <a:r>
              <a:rPr lang="en-US" sz="3400" b="1" kern="0" spc="-150" dirty="0">
                <a:solidFill>
                  <a:srgbClr val="FFFFFF"/>
                </a:solidFill>
                <a:latin typeface="Lato" pitchFamily="34" charset="0"/>
                <a:ea typeface="Lato" pitchFamily="34" charset="-122"/>
                <a:cs typeface="Lato" pitchFamily="34" charset="-120"/>
              </a:rPr>
              <a:t>de la prévention</a:t>
            </a:r>
            <a:endParaRPr lang="en-US" sz="3400" dirty="0"/>
          </a:p>
        </p:txBody>
      </p:sp>
      <p:sp>
        <p:nvSpPr>
          <p:cNvPr id="8" name="Text 6"/>
          <p:cNvSpPr txBox="1"/>
          <p:nvPr/>
        </p:nvSpPr>
        <p:spPr>
          <a:xfrm>
            <a:off x="868680" y="4023360"/>
            <a:ext cx="5029200" cy="914400"/>
          </a:xfrm>
          <a:prstGeom prst="rect">
            <a:avLst/>
          </a:prstGeom>
          <a:noFill/>
          <a:ln/>
        </p:spPr>
        <p:txBody>
          <a:bodyPr wrap="square" lIns="0" tIns="0" rIns="0" bIns="0" rtlCol="0" anchor="t"/>
          <a:lstStyle/>
          <a:p>
            <a:pPr marL="0" indent="0">
              <a:lnSpc>
                <a:spcPct val="115000"/>
              </a:lnSpc>
              <a:buNone/>
            </a:pPr>
            <a:r>
              <a:rPr lang="en-US" sz="1500" dirty="0">
                <a:solidFill>
                  <a:srgbClr val="C1D5D9"/>
                </a:solidFill>
                <a:latin typeface="Lato" pitchFamily="34" charset="0"/>
                <a:ea typeface="Lato" pitchFamily="34" charset="-122"/>
                <a:cs typeface="Lato" pitchFamily="34" charset="-120"/>
              </a:rPr>
              <a:t>Qui fait quoi, qui peut quoi, et qui l'élu peut appeler en renfort.</a:t>
            </a:r>
            <a:endParaRPr lang="en-US" sz="1500" dirty="0"/>
          </a:p>
        </p:txBody>
      </p:sp>
      <p:sp>
        <p:nvSpPr>
          <p:cNvPr id="12" name="Rounded Rectangle 11"/>
          <p:cNvSpPr/>
          <p:nvPr/>
        </p:nvSpPr>
        <p:spPr>
          <a:xfrm>
            <a:off x="6711696" y="1316736"/>
            <a:ext cx="4892040" cy="448056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mage 0" descr="/home/claude/tmo/build/photos/p15.jpg"/>
          <p:cNvPicPr>
            <a:picLocks noChangeAspect="1"/>
          </p:cNvPicPr>
          <p:nvPr/>
        </p:nvPicPr>
        <p:blipFill>
          <a:blip r:embed="rId3"/>
          <a:srcRect/>
          <a:stretch/>
        </p:blipFill>
        <p:spPr>
          <a:xfrm>
            <a:off x="6583680" y="1188720"/>
            <a:ext cx="4892040" cy="4480560"/>
          </a:xfrm>
          <a:prstGeom prst="roundRect">
            <a:avLst>
              <a:gd name="adj" fmla="val 2200"/>
            </a:avLst>
          </a:prstGeom>
          <a:effectLst>
            <a:outerShdw blurRad="190500" dist="38100" dir="5400000" rotWithShape="0">
              <a:srgbClr val="075767">
                <a:alpha val="22000"/>
              </a:srgbClr>
            </a:outerShdw>
            <a:softEdge rad="32004"/>
          </a:effectLst>
        </p:spPr>
      </p:pic>
      <p:sp>
        <p:nvSpPr>
          <p:cNvPr id="10" name="Shape 7"/>
          <p:cNvSpPr/>
          <p:nvPr/>
        </p:nvSpPr>
        <p:spPr>
          <a:xfrm>
            <a:off x="10929823" y="6071616"/>
            <a:ext cx="603504" cy="603504"/>
          </a:xfrm>
          <a:prstGeom prst="ellipse">
            <a:avLst/>
          </a:prstGeom>
          <a:solidFill>
            <a:srgbClr val="FFFFFF"/>
          </a:solidFill>
          <a:ln/>
        </p:spPr>
        <p:txBody>
          <a:bodyPr/>
          <a:lstStyle/>
          <a:p>
            <a:endParaRPr/>
          </a:p>
        </p:txBody>
      </p:sp>
      <p:pic>
        <p:nvPicPr>
          <p:cNvPr id="11" name="Image 1" descr="/home/claude/tmo/build/logo.png"/>
          <p:cNvPicPr>
            <a:picLocks noChangeAspect="1"/>
          </p:cNvPicPr>
          <p:nvPr/>
        </p:nvPicPr>
        <p:blipFill>
          <a:blip r:embed="rId4"/>
          <a:stretch>
            <a:fillRect/>
          </a:stretch>
        </p:blipFill>
        <p:spPr>
          <a:xfrm>
            <a:off x="10957255" y="6099048"/>
            <a:ext cx="548640" cy="548640"/>
          </a:xfrm>
          <a:prstGeom prst="rect">
            <a:avLst/>
          </a:prstGeom>
        </p:spPr>
      </p:pic>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700" b="1" kern="0" spc="-150" dirty="0">
                <a:solidFill>
                  <a:srgbClr val="075767"/>
                </a:solidFill>
                <a:latin typeface="Lato" pitchFamily="34" charset="0"/>
                <a:ea typeface="Lato" pitchFamily="34" charset="-122"/>
                <a:cs typeface="Lato" pitchFamily="34" charset="-120"/>
              </a:rPr>
              <a:t>Le service de prévention et de santé au travail</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acteurs de la prévention</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Trois missions, dont une que les élus sous-utilisent largement : le conseil.</a:t>
            </a:r>
            <a:endParaRPr lang="en-US" sz="1450" dirty="0"/>
          </a:p>
        </p:txBody>
      </p:sp>
      <p:sp>
        <p:nvSpPr>
          <p:cNvPr id="11" name="Text 9"/>
          <p:cNvSpPr txBox="1"/>
          <p:nvPr/>
        </p:nvSpPr>
        <p:spPr>
          <a:xfrm>
            <a:off x="731520" y="2487168"/>
            <a:ext cx="10728655"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Conduire des actions de santé au travail</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Préserver la santé physique et mentale des travailleurs tout au long de leur parcours professionnel</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Conseiller les employeurs, les travailleurs et leurs représentants</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Éviter ou diminuer les risques professionnels et améliorer les conditions de travail</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Prévenir la consommation d'alcool et de drogue sur le lieu de travail</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Prévenir le harcèlement sexuel ou moral, la pénibilité et la désinsertion professionnelle</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Assurer le suivi médical et la traçabilité des expositions</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Contribuer à la veille sanitaire</a:t>
            </a:r>
            <a:endParaRPr lang="en-US" sz="1300" dirty="0"/>
          </a:p>
        </p:txBody>
      </p:sp>
      <p:grpSp>
        <p:nvGrpSpPr>
          <p:cNvPr id="9120" name="Bloc 3"/>
          <p:cNvGrpSpPr/>
          <p:nvPr/>
        </p:nvGrpSpPr>
        <p:grpSpPr>
          <a:xfrm>
            <a:off x="731520" y="5248656"/>
            <a:ext cx="10728655" cy="841248"/>
            <a:chOff x="731520" y="5248656"/>
            <a:chExt cx="10728655" cy="841248"/>
          </a:xfrm>
        </p:grpSpPr>
        <p:sp>
          <p:nvSpPr>
            <p:cNvPr id="12" name="Shape 10"/>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levier   </a:t>
              </a:r>
              <a:r>
                <a:rPr lang="en-US" sz="1300" dirty="0">
                  <a:solidFill>
                    <a:srgbClr val="075767"/>
                  </a:solidFill>
                  <a:latin typeface="Lato" pitchFamily="34" charset="0"/>
                  <a:ea typeface="Lato" pitchFamily="34" charset="-122"/>
                  <a:cs typeface="Lato" pitchFamily="34" charset="-120"/>
                </a:rPr>
                <a:t>le médecin du travail siège à la CSSCT avec voix consultative. Un élu peut le solliciter directement, sans passer par l'employeur.</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04</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82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20"/>
                                        </p:tgtEl>
                                        <p:attrNameLst>
                                          <p:attrName>style.visibility</p:attrName>
                                        </p:attrNameLst>
                                      </p:cBhvr>
                                      <p:to>
                                        <p:strVal val="visible"/>
                                      </p:to>
                                    </p:set>
                                    <p:animEffect transition="in" filter="fade">
                                      <p:cBhvr>
                                        <p:cTn id="17" dur="450"/>
                                        <p:tgtEl>
                                          <p:spTgt spid="9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deux corps de contrôle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acteurs de la prévention</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L'agent de contrôle de la DREETS</a:t>
            </a:r>
            <a:endParaRPr lang="en-US" sz="1700" dirty="0"/>
          </a:p>
        </p:txBody>
      </p:sp>
      <p:sp>
        <p:nvSpPr>
          <p:cNvPr id="11" name="Text 9"/>
          <p:cNvSpPr txBox="1"/>
          <p:nvPr/>
        </p:nvSpPr>
        <p:spPr>
          <a:xfrm>
            <a:off x="731520" y="2331720"/>
            <a:ext cx="4983480" cy="34747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Missions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Faciliter le dialogue social dans l'entreprise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Assurer le respect du droit du travail</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Moyens d'action</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Observations, mise en demeure, demande de mise en conformité</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Procès-verbal pour infraction pénale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Saisine du juge des référés pour suspension d'activité</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Arrêt temporaire de travaux en cas de danger grave et imminent</a:t>
            </a:r>
            <a:endParaRPr lang="en-US" sz="1350" dirty="0"/>
          </a:p>
        </p:txBody>
      </p:sp>
      <p:sp>
        <p:nvSpPr>
          <p:cNvPr id="12" name="Text 10"/>
          <p:cNvSpPr txBox="1"/>
          <p:nvPr/>
        </p:nvSpPr>
        <p:spPr>
          <a:xfrm>
            <a:off x="630936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L'agent de la CARSAT</a:t>
            </a:r>
            <a:endParaRPr lang="en-US" sz="1700" dirty="0"/>
          </a:p>
        </p:txBody>
      </p:sp>
      <p:sp>
        <p:nvSpPr>
          <p:cNvPr id="13" name="Text 11"/>
          <p:cNvSpPr txBox="1"/>
          <p:nvPr/>
        </p:nvSpPr>
        <p:spPr>
          <a:xfrm>
            <a:off x="6309360" y="2331720"/>
            <a:ext cx="4983480" cy="34747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Missions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Réduire le nombre et la gravité des accidents et des maladies professionnelles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Améliorer les conditions de travail par la prévention</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Moyens d'action</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Analyser la pertinence des actions de prévention</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Injonction, puis majoration de la cotisation AT/MP</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+ 25 % minimum, porté à + 50 % après six mois et + 200 % au bout d'un an</a:t>
            </a:r>
            <a:endParaRPr lang="en-US" sz="135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04</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83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que fait vraiment la Carsat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acteurs de la prévention</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84</a:t>
            </a:r>
            <a:endParaRPr lang="en-US" sz="1000" dirty="0"/>
          </a:p>
        </p:txBody>
      </p:sp>
      <p:sp>
        <p:nvSpPr>
          <p:cNvPr id="19" name="TextBox 18"/>
          <p:cNvSpPr txBox="1"/>
          <p:nvPr/>
        </p:nvSpPr>
        <p:spPr>
          <a:xfrm>
            <a:off x="731520" y="1874519"/>
            <a:ext cx="5212080" cy="3474720"/>
          </a:xfrm>
          <a:prstGeom prst="rect">
            <a:avLst/>
          </a:prstGeom>
          <a:noFill/>
        </p:spPr>
        <p:txBody>
          <a:bodyPr wrap="square" lIns="0" tIns="0" rIns="0" bIns="0">
            <a:spAutoFit/>
          </a:bodyPr>
          <a:lstStyle/>
          <a:p>
            <a:pPr>
              <a:spcAft>
                <a:spcPts val="700"/>
              </a:spcAft>
            </a:pPr>
            <a:r>
              <a:rPr sz="1250" b="1">
                <a:solidFill>
                  <a:srgbClr val="075767"/>
                </a:solidFill>
                <a:latin typeface="Lato"/>
              </a:rPr>
              <a:t>Trois métiers dans une seule caisse</a:t>
            </a:r>
          </a:p>
          <a:p>
            <a:pPr lvl="1">
              <a:spcAft>
                <a:spcPts val="700"/>
              </a:spcAft>
            </a:pPr>
            <a:r>
              <a:rPr sz="1200" b="0">
                <a:solidFill>
                  <a:srgbClr val="595959"/>
                </a:solidFill>
                <a:latin typeface="Lato"/>
              </a:rPr>
              <a:t>Tarifer. Elle calcule le taux de cotisation AT/MP de chaque établissement à partir de sa sinistralité réelle des trois dernières années. C'est le seul organisme dont les décisions se lisent directement sur le compte de résultat.</a:t>
            </a:r>
          </a:p>
          <a:p>
            <a:pPr lvl="1">
              <a:spcAft>
                <a:spcPts val="700"/>
              </a:spcAft>
            </a:pPr>
            <a:r>
              <a:rPr sz="1200" b="0">
                <a:solidFill>
                  <a:srgbClr val="595959"/>
                </a:solidFill>
                <a:latin typeface="Lato"/>
              </a:rPr>
              <a:t>Contrôler. Ses contrôleurs de sécurité et ingénieurs-conseils ont accès aux locaux, peuvent prescrire par injonction, et faire majorer la cotisation si l'injonction n'est pas suivie.</a:t>
            </a:r>
          </a:p>
          <a:p>
            <a:pPr lvl="1">
              <a:spcAft>
                <a:spcPts val="700"/>
              </a:spcAft>
            </a:pPr>
            <a:r>
              <a:rPr sz="1200" b="0">
                <a:solidFill>
                  <a:srgbClr val="595959"/>
                </a:solidFill>
                <a:latin typeface="Lato"/>
              </a:rPr>
              <a:t>Financer. Elle distribue les aides de la branche AT/MP aux entreprises qui investissent en prévention. C'est le volet que les élus connaissent le moins.</a:t>
            </a:r>
          </a:p>
        </p:txBody>
      </p:sp>
      <p:sp>
        <p:nvSpPr>
          <p:cNvPr id="20" name="TextBox 19"/>
          <p:cNvSpPr txBox="1"/>
          <p:nvPr/>
        </p:nvSpPr>
        <p:spPr>
          <a:xfrm>
            <a:off x="6263640" y="1874519"/>
            <a:ext cx="5193792" cy="3474720"/>
          </a:xfrm>
          <a:prstGeom prst="rect">
            <a:avLst/>
          </a:prstGeom>
          <a:noFill/>
        </p:spPr>
        <p:txBody>
          <a:bodyPr wrap="square" lIns="0" tIns="0" rIns="0" bIns="0">
            <a:spAutoFit/>
          </a:bodyPr>
          <a:lstStyle/>
          <a:p>
            <a:pPr>
              <a:spcAft>
                <a:spcPts val="700"/>
              </a:spcAft>
            </a:pPr>
            <a:r>
              <a:rPr sz="1250" b="1">
                <a:solidFill>
                  <a:srgbClr val="075767"/>
                </a:solidFill>
                <a:latin typeface="Lato"/>
              </a:rPr>
              <a:t>Ce qu'un élu peut lui demander</a:t>
            </a:r>
          </a:p>
          <a:p>
            <a:pPr lvl="1">
              <a:spcAft>
                <a:spcPts val="700"/>
              </a:spcAft>
            </a:pPr>
            <a:r>
              <a:rPr sz="1200" b="0">
                <a:solidFill>
                  <a:srgbClr val="595959"/>
                </a:solidFill>
                <a:latin typeface="Lato"/>
              </a:rPr>
              <a:t>Le compte AT/MP de l'établissement : sinistralité, taux notifié, historique. Il est accessible à l'employeur sur net-entreprises.fr, et rien n'interdit au CSE d'en demander communication en séance.</a:t>
            </a:r>
          </a:p>
          <a:p>
            <a:pPr lvl="1">
              <a:spcAft>
                <a:spcPts val="700"/>
              </a:spcAft>
            </a:pPr>
            <a:r>
              <a:rPr sz="1200" b="0">
                <a:solidFill>
                  <a:srgbClr val="595959"/>
                </a:solidFill>
                <a:latin typeface="Lato"/>
              </a:rPr>
              <a:t>La venue du contrôleur de sécurité. La Carsat peut être saisie par un membre du CSE, et elle assiste de droit à la réunion d'urgence en cas de divergence sur un danger grave et imminent (article L. 4132-3, code du travail).</a:t>
            </a:r>
          </a:p>
          <a:p>
            <a:pPr lvl="1">
              <a:spcAft>
                <a:spcPts val="700"/>
              </a:spcAft>
            </a:pPr>
            <a:r>
              <a:rPr sz="1200" b="0">
                <a:solidFill>
                  <a:srgbClr val="595959"/>
                </a:solidFill>
                <a:latin typeface="Lato"/>
              </a:rPr>
              <a:t>Les statistiques du secteur, qui permettent de situer l'entreprise par rapport aux autres du même code risque.</a:t>
            </a:r>
          </a:p>
        </p:txBody>
      </p:sp>
      <p:grpSp>
        <p:nvGrpSpPr>
          <p:cNvPr id="9121" name="Bloc 3"/>
          <p:cNvGrpSpPr/>
          <p:nvPr/>
        </p:nvGrpSpPr>
        <p:grpSpPr>
          <a:xfrm>
            <a:off x="731520" y="5468112"/>
            <a:ext cx="10725912" cy="658368"/>
            <a:chOff x="731520" y="5468112"/>
            <a:chExt cx="10725912" cy="658368"/>
          </a:xfrm>
        </p:grpSpPr>
        <p:sp>
          <p:nvSpPr>
            <p:cNvPr id="21" name="Rounded Rectangle 20"/>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À retenir   le taux de cotisation AT/MP est un chiffre de gestion. Le porter en réunion déplace le sujet de la santé vers le compte de résultat.</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5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21"/>
                                        </p:tgtEl>
                                        <p:attrNameLst>
                                          <p:attrName>style.visibility</p:attrName>
                                        </p:attrNameLst>
                                      </p:cBhvr>
                                      <p:to>
                                        <p:strVal val="visible"/>
                                      </p:to>
                                    </p:set>
                                    <p:animEffect transition="in" filter="fade">
                                      <p:cBhvr>
                                        <p:cTn id="17" dur="450"/>
                                        <p:tgtEl>
                                          <p:spTgt spid="9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aides financières de la Carsat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acteurs de la prévention</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85</a:t>
            </a:r>
            <a:endParaRPr lang="en-US" sz="1000" dirty="0"/>
          </a:p>
        </p:txBody>
      </p:sp>
      <p:sp>
        <p:nvSpPr>
          <p:cNvPr id="19" name="TextBox 18"/>
          <p:cNvSpPr txBox="1"/>
          <p:nvPr/>
        </p:nvSpPr>
        <p:spPr>
          <a:xfrm>
            <a:off x="731520" y="1874519"/>
            <a:ext cx="5212080" cy="3474720"/>
          </a:xfrm>
          <a:prstGeom prst="rect">
            <a:avLst/>
          </a:prstGeom>
          <a:noFill/>
        </p:spPr>
        <p:txBody>
          <a:bodyPr wrap="square" lIns="0" tIns="0" rIns="0" bIns="0">
            <a:spAutoFit/>
          </a:bodyPr>
          <a:lstStyle/>
          <a:p>
            <a:pPr>
              <a:spcAft>
                <a:spcPts val="700"/>
              </a:spcAft>
            </a:pPr>
            <a:r>
              <a:rPr sz="1200" b="1">
                <a:solidFill>
                  <a:srgbClr val="075767"/>
                </a:solidFill>
                <a:latin typeface="Lato"/>
              </a:rPr>
              <a:t>La subvention « prévention des risques ergonomiques » (FIPU)</a:t>
            </a:r>
          </a:p>
          <a:p>
            <a:pPr lvl="1">
              <a:spcAft>
                <a:spcPts val="700"/>
              </a:spcAft>
            </a:pPr>
            <a:r>
              <a:rPr sz="1150" b="0">
                <a:solidFill>
                  <a:srgbClr val="595959"/>
                </a:solidFill>
                <a:latin typeface="Lato"/>
              </a:rPr>
              <a:t>Créée par la loi du 14 avril 2023. Ouverte à toutes les entreprises du régime général, sans condition d'effectif.</a:t>
            </a:r>
          </a:p>
          <a:p>
            <a:pPr lvl="1">
              <a:spcAft>
                <a:spcPts val="700"/>
              </a:spcAft>
            </a:pPr>
            <a:r>
              <a:rPr sz="1150" b="0">
                <a:solidFill>
                  <a:srgbClr val="595959"/>
                </a:solidFill>
                <a:latin typeface="Lato"/>
              </a:rPr>
              <a:t>70 % de l'investissement hors taxes. Plafonds cumulés sur 2024-2027, par usage : 25 000 € pour les actions de prévention (diagnostics, formations et équipements confondus), 25 000 € pour la sensibilisation, 25 000 € pour les aménagements de poste, et un forfait de 8 235 € pour le salaire d'un préventeur.</a:t>
            </a:r>
          </a:p>
          <a:p>
            <a:pPr lvl="1">
              <a:spcAft>
                <a:spcPts val="700"/>
              </a:spcAft>
            </a:pPr>
            <a:r>
              <a:rPr sz="1150" b="0">
                <a:solidFill>
                  <a:srgbClr val="595959"/>
                </a:solidFill>
                <a:latin typeface="Lato"/>
              </a:rPr>
              <a:t>Cumul maximal : 75 000 € par entreprise de moins de 200 salariés.</a:t>
            </a:r>
          </a:p>
          <a:p>
            <a:pPr>
              <a:spcAft>
                <a:spcPts val="700"/>
              </a:spcAft>
            </a:pPr>
            <a:r>
              <a:rPr sz="1200" b="1">
                <a:solidFill>
                  <a:srgbClr val="075767"/>
                </a:solidFill>
                <a:latin typeface="Lato"/>
              </a:rPr>
              <a:t>Les subventions Prévention TPE</a:t>
            </a:r>
          </a:p>
          <a:p>
            <a:pPr lvl="1">
              <a:spcAft>
                <a:spcPts val="700"/>
              </a:spcAft>
            </a:pPr>
            <a:r>
              <a:rPr sz="1150" b="0">
                <a:solidFill>
                  <a:srgbClr val="595959"/>
                </a:solidFill>
                <a:latin typeface="Lato"/>
              </a:rPr>
              <a:t>Réservées aux entreprises de moins de 50 salariés : chutes, risques chimiques, construction, formation, RPS. De 50 à 199 salariés, le levier est le contrat de prévention négocié avec la caisse.</a:t>
            </a:r>
          </a:p>
        </p:txBody>
      </p:sp>
      <p:sp>
        <p:nvSpPr>
          <p:cNvPr id="20" name="TextBox 19"/>
          <p:cNvSpPr txBox="1"/>
          <p:nvPr/>
        </p:nvSpPr>
        <p:spPr>
          <a:xfrm>
            <a:off x="6263640" y="1874519"/>
            <a:ext cx="5193792" cy="3474720"/>
          </a:xfrm>
          <a:prstGeom prst="rect">
            <a:avLst/>
          </a:prstGeom>
          <a:noFill/>
        </p:spPr>
        <p:txBody>
          <a:bodyPr wrap="square" lIns="0" tIns="0" rIns="0" bIns="0">
            <a:spAutoFit/>
          </a:bodyPr>
          <a:lstStyle/>
          <a:p>
            <a:pPr>
              <a:spcAft>
                <a:spcPts val="700"/>
              </a:spcAft>
            </a:pPr>
            <a:r>
              <a:rPr sz="1200" b="1">
                <a:solidFill>
                  <a:srgbClr val="075767"/>
                </a:solidFill>
                <a:latin typeface="Lato"/>
              </a:rPr>
              <a:t>Les conditions, et les pièges</a:t>
            </a:r>
          </a:p>
          <a:p>
            <a:pPr lvl="1">
              <a:spcAft>
                <a:spcPts val="700"/>
              </a:spcAft>
            </a:pPr>
            <a:r>
              <a:rPr sz="1150" b="0">
                <a:solidFill>
                  <a:srgbClr val="595959"/>
                </a:solidFill>
                <a:latin typeface="Lato"/>
              </a:rPr>
              <a:t>Un DUERP réalisé et mis à jour depuis moins d'un an est une condition d'éligibilité. C'est l'argument le plus direct pour obtenir sa mise à jour.</a:t>
            </a:r>
          </a:p>
          <a:p>
            <a:pPr lvl="1">
              <a:spcAft>
                <a:spcPts val="700"/>
              </a:spcAft>
            </a:pPr>
            <a:r>
              <a:rPr sz="1150" b="0">
                <a:solidFill>
                  <a:srgbClr val="595959"/>
                </a:solidFill>
                <a:latin typeface="Lato"/>
              </a:rPr>
              <a:t>Être à jour de ses cotisations, adhérer à un service de prévention et de santé au travail, et ne pas avoir de contrat de prévention en cours : les deux ne se cumulent pas.</a:t>
            </a:r>
          </a:p>
          <a:p>
            <a:pPr lvl="1">
              <a:spcAft>
                <a:spcPts val="700"/>
              </a:spcAft>
            </a:pPr>
            <a:r>
              <a:rPr sz="1150" b="0">
                <a:solidFill>
                  <a:srgbClr val="595959"/>
                </a:solidFill>
                <a:latin typeface="Lato"/>
              </a:rPr>
              <a:t>Remboursement a posteriori, sur facture acquittée, sans accord préalable. Un prix « après subvention » annoncé par un fournisseur n'est jamais un prix d'achat.</a:t>
            </a:r>
          </a:p>
          <a:p>
            <a:pPr lvl="1">
              <a:spcAft>
                <a:spcPts val="700"/>
              </a:spcAft>
            </a:pPr>
            <a:r>
              <a:rPr sz="1150" b="0">
                <a:solidFill>
                  <a:srgbClr val="595959"/>
                </a:solidFill>
                <a:latin typeface="Lato"/>
              </a:rPr>
              <a:t>Matériel neuf uniquement, avec attestation du fournisseur de conformité au cahier des charges technique. À exiger par écrit avant de commander.</a:t>
            </a:r>
          </a:p>
          <a:p>
            <a:pPr lvl="1">
              <a:spcAft>
                <a:spcPts val="700"/>
              </a:spcAft>
            </a:pPr>
            <a:r>
              <a:rPr sz="1150" b="0">
                <a:solidFill>
                  <a:srgbClr val="595959"/>
                </a:solidFill>
                <a:latin typeface="Lato"/>
              </a:rPr>
              <a:t>Exercice budgétaire annuel : facture de l'année en cours, dépôt avant le 31 décembre.</a:t>
            </a:r>
          </a:p>
        </p:txBody>
      </p:sp>
      <p:grpSp>
        <p:nvGrpSpPr>
          <p:cNvPr id="9122" name="Bloc 3"/>
          <p:cNvGrpSpPr/>
          <p:nvPr/>
        </p:nvGrpSpPr>
        <p:grpSpPr>
          <a:xfrm>
            <a:off x="731520" y="5468112"/>
            <a:ext cx="10725912" cy="658368"/>
            <a:chOff x="731520" y="5468112"/>
            <a:chExt cx="10725912" cy="658368"/>
          </a:xfrm>
        </p:grpSpPr>
        <p:sp>
          <p:nvSpPr>
            <p:cNvPr id="21" name="Rounded Rectangle 20"/>
            <p:cNvSpPr/>
            <p:nvPr/>
          </p:nvSpPr>
          <p:spPr>
            <a:xfrm>
              <a:off x="731520" y="5468112"/>
              <a:ext cx="10725912" cy="65836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4128" y="5468112"/>
              <a:ext cx="10140696" cy="658368"/>
            </a:xfrm>
            <a:prstGeom prst="rect">
              <a:avLst/>
            </a:prstGeom>
            <a:noFill/>
          </p:spPr>
          <p:txBody>
            <a:bodyPr wrap="square" lIns="0" rIns="0" anchor="ctr">
              <a:spAutoFit/>
            </a:bodyPr>
            <a:lstStyle/>
            <a:p>
              <a:r>
                <a:rPr sz="1150" b="1">
                  <a:solidFill>
                    <a:srgbClr val="C33F14"/>
                  </a:solidFill>
                  <a:latin typeface="Lato"/>
                </a:rPr>
                <a:t>L'intérêt pour le CSE   </a:t>
              </a:r>
              <a:r>
                <a:rPr sz="1150">
                  <a:solidFill>
                    <a:srgbClr val="595959"/>
                  </a:solidFill>
                  <a:latin typeface="Lato"/>
                </a:rPr>
                <a:t>l'enveloppe 2026 est de 200 M€ et reste très peu consommée. Quand une direction répond « pas de budget » à une demande de prévention, demander si la subvention a été instruite, et faire inscrire la réponse au procès-verbal.</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5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22"/>
                                        </p:tgtEl>
                                        <p:attrNameLst>
                                          <p:attrName>style.visibility</p:attrName>
                                        </p:attrNameLst>
                                      </p:cBhvr>
                                      <p:to>
                                        <p:strVal val="visible"/>
                                      </p:to>
                                    </p:set>
                                    <p:animEffect transition="in" filter="fade">
                                      <p:cBhvr>
                                        <p:cTn id="17" dur="450"/>
                                        <p:tgtEl>
                                          <p:spTgt spid="9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ressources externes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acteurs de la prévention</a:t>
            </a:r>
            <a:endParaRPr lang="en-US" sz="1400" dirty="0"/>
          </a:p>
        </p:txBody>
      </p:sp>
      <p:grpSp>
        <p:nvGrpSpPr>
          <p:cNvPr id="9123" name="Bloc 1"/>
          <p:cNvGrpSpPr/>
          <p:nvPr/>
        </p:nvGrpSpPr>
        <p:grpSpPr>
          <a:xfrm>
            <a:off x="731520" y="1965960"/>
            <a:ext cx="3332378" cy="3108960"/>
            <a:chOff x="731520" y="1965960"/>
            <a:chExt cx="3332378" cy="3108960"/>
          </a:xfrm>
        </p:grpSpPr>
        <p:sp>
          <p:nvSpPr>
            <p:cNvPr id="10" name="Shape 8"/>
            <p:cNvSpPr/>
            <p:nvPr/>
          </p:nvSpPr>
          <p:spPr>
            <a:xfrm>
              <a:off x="731520" y="1965960"/>
              <a:ext cx="3332378" cy="3108960"/>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ide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INRS</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Institut national de recherche et de sécurité. Brochures, outils d'évaluation, formations, base des tableaux de maladies professionnelles.</a:t>
              </a:r>
              <a:endParaRPr lang="en-US" sz="1250" dirty="0"/>
            </a:p>
          </p:txBody>
        </p:sp>
      </p:grpSp>
      <p:grpSp>
        <p:nvGrpSpPr>
          <p:cNvPr id="9124"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equipe-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ANACT / ARACT</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Agence nationale pour l'amélioration des conditions de travail. Méthodes, accompagnement de projets, réseau régional.</a:t>
              </a:r>
              <a:endParaRPr lang="en-US" sz="1250" dirty="0"/>
            </a:p>
          </p:txBody>
        </p:sp>
      </p:grpSp>
      <p:grpSp>
        <p:nvGrpSpPr>
          <p:cNvPr id="9125" name="Bloc 3"/>
          <p:cNvGrpSpPr/>
          <p:nvPr/>
        </p:nvGrpSpPr>
        <p:grpSpPr>
          <a:xfrm>
            <a:off x="8127797" y="1965960"/>
            <a:ext cx="3332378" cy="3108960"/>
            <a:chOff x="8127797" y="1965960"/>
            <a:chExt cx="3332378" cy="3108960"/>
          </a:xfrm>
        </p:grpSpPr>
        <p:sp>
          <p:nvSpPr>
            <p:cNvPr id="20" name="Shape 16"/>
            <p:cNvSpPr/>
            <p:nvPr/>
          </p:nvSpPr>
          <p:spPr>
            <a:xfrm>
              <a:off x="8127797" y="1965960"/>
              <a:ext cx="3332378" cy="3108960"/>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bouclier-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OPPBTP</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Organisme professionnel de prévention du bâtiment et des travaux publics. Conseil de terrain, outils métier.</a:t>
              </a:r>
              <a:endParaRPr lang="en-US" sz="1250" dirty="0"/>
            </a:p>
          </p:txBody>
        </p:sp>
      </p:grpSp>
      <p:grpSp>
        <p:nvGrpSpPr>
          <p:cNvPr id="9126" name="Bloc 4"/>
          <p:cNvGrpSpPr/>
          <p:nvPr/>
        </p:nvGrpSpPr>
        <p:grpSpPr>
          <a:xfrm>
            <a:off x="731520" y="5257800"/>
            <a:ext cx="10728655" cy="841248"/>
            <a:chOff x="731520" y="5257800"/>
            <a:chExt cx="10728655" cy="841248"/>
          </a:xfrm>
        </p:grpSpPr>
        <p:sp>
          <p:nvSpPr>
            <p:cNvPr id="25" name="Shape 20"/>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26" name="Text 21"/>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À connaître aussi   </a:t>
              </a:r>
              <a:r>
                <a:rPr lang="en-US" sz="1300" dirty="0">
                  <a:solidFill>
                    <a:srgbClr val="075767"/>
                  </a:solidFill>
                  <a:latin typeface="Lato" pitchFamily="34" charset="0"/>
                  <a:ea typeface="Lato" pitchFamily="34" charset="-122"/>
                  <a:cs typeface="Lato" pitchFamily="34" charset="-120"/>
                </a:rPr>
                <a:t>l'IPRP (intervenant en prévention des risques professionnels) peut être mobilisé par l'employeur, sur avis du CSE.</a:t>
              </a:r>
              <a:endParaRPr lang="en-US" sz="1250" dirty="0"/>
            </a:p>
          </p:txBody>
        </p:sp>
      </p:grpSp>
      <p:pic>
        <p:nvPicPr>
          <p:cNvPr id="27"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8"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9" name="Shape 23"/>
          <p:cNvSpPr/>
          <p:nvPr/>
        </p:nvSpPr>
        <p:spPr>
          <a:xfrm>
            <a:off x="10591495" y="6181344"/>
            <a:ext cx="438912" cy="438912"/>
          </a:xfrm>
          <a:prstGeom prst="ellipse">
            <a:avLst/>
          </a:prstGeom>
          <a:solidFill>
            <a:srgbClr val="F06C23"/>
          </a:solidFill>
          <a:ln/>
        </p:spPr>
        <p:txBody>
          <a:bodyPr/>
          <a:lstStyle/>
          <a:p>
            <a:endParaRPr/>
          </a:p>
        </p:txBody>
      </p:sp>
      <p:sp>
        <p:nvSpPr>
          <p:cNvPr id="30"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04</a:t>
            </a:r>
            <a:endParaRPr lang="en-US" sz="1100" dirty="0"/>
          </a:p>
        </p:txBody>
      </p:sp>
      <p:sp>
        <p:nvSpPr>
          <p:cNvPr id="31"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86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23"/>
                                        </p:tgtEl>
                                        <p:attrNameLst>
                                          <p:attrName>style.visibility</p:attrName>
                                        </p:attrNameLst>
                                      </p:cBhvr>
                                      <p:to>
                                        <p:strVal val="visible"/>
                                      </p:to>
                                    </p:set>
                                    <p:animEffect transition="in" filter="fade">
                                      <p:cBhvr>
                                        <p:cTn id="7" dur="450"/>
                                        <p:tgtEl>
                                          <p:spTgt spid="91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24"/>
                                        </p:tgtEl>
                                        <p:attrNameLst>
                                          <p:attrName>style.visibility</p:attrName>
                                        </p:attrNameLst>
                                      </p:cBhvr>
                                      <p:to>
                                        <p:strVal val="visible"/>
                                      </p:to>
                                    </p:set>
                                    <p:animEffect transition="in" filter="fade">
                                      <p:cBhvr>
                                        <p:cTn id="12" dur="450"/>
                                        <p:tgtEl>
                                          <p:spTgt spid="91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25"/>
                                        </p:tgtEl>
                                        <p:attrNameLst>
                                          <p:attrName>style.visibility</p:attrName>
                                        </p:attrNameLst>
                                      </p:cBhvr>
                                      <p:to>
                                        <p:strVal val="visible"/>
                                      </p:to>
                                    </p:set>
                                    <p:animEffect transition="in" filter="fade">
                                      <p:cBhvr>
                                        <p:cTn id="17" dur="450"/>
                                        <p:tgtEl>
                                          <p:spTgt spid="91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26"/>
                                        </p:tgtEl>
                                        <p:attrNameLst>
                                          <p:attrName>style.visibility</p:attrName>
                                        </p:attrNameLst>
                                      </p:cBhvr>
                                      <p:to>
                                        <p:strVal val="visible"/>
                                      </p:to>
                                    </p:set>
                                    <p:animEffect transition="in" filter="fade">
                                      <p:cBhvr>
                                        <p:cTn id="22" dur="450"/>
                                        <p:tgtEl>
                                          <p:spTgt spid="9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Découverte de l'INRS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acteurs de la prévention</a:t>
            </a:r>
            <a:endParaRPr lang="en-US" sz="1400" dirty="0"/>
          </a:p>
        </p:txBody>
      </p:sp>
      <p:grpSp>
        <p:nvGrpSpPr>
          <p:cNvPr id="9127" name="Bloc 1"/>
          <p:cNvGrpSpPr/>
          <p:nvPr/>
        </p:nvGrpSpPr>
        <p:grpSpPr>
          <a:xfrm>
            <a:off x="731520" y="1828800"/>
            <a:ext cx="10728655" cy="3977640"/>
            <a:chOff x="731520" y="1828800"/>
            <a:chExt cx="10728655" cy="3977640"/>
          </a:xfrm>
        </p:grpSpPr>
        <p:sp>
          <p:nvSpPr>
            <p:cNvPr id="10" name="Shape 8"/>
            <p:cNvSpPr/>
            <p:nvPr/>
          </p:nvSpPr>
          <p:spPr>
            <a:xfrm>
              <a:off x="731520" y="1828800"/>
              <a:ext cx="10728655" cy="3977640"/>
            </a:xfrm>
            <a:prstGeom prst="roundRect">
              <a:avLst>
                <a:gd name="adj" fmla="val 1379"/>
              </a:avLst>
            </a:prstGeom>
            <a:solidFill>
              <a:srgbClr val="F2F2F2"/>
            </a:solidFill>
            <a:ln/>
          </p:spPr>
          <p:txBody>
            <a:bodyPr/>
            <a:lstStyle/>
            <a:p>
              <a:endParaRPr/>
            </a:p>
          </p:txBody>
        </p:sp>
        <p:sp>
          <p:nvSpPr>
            <p:cNvPr id="11" name="Shape 9"/>
            <p:cNvSpPr/>
            <p:nvPr/>
          </p:nvSpPr>
          <p:spPr>
            <a:xfrm>
              <a:off x="1097280" y="2121408"/>
              <a:ext cx="777240" cy="777240"/>
            </a:xfrm>
            <a:prstGeom prst="ellipse">
              <a:avLst/>
            </a:prstGeom>
            <a:solidFill>
              <a:srgbClr val="F06C23"/>
            </a:solidFill>
            <a:ln/>
          </p:spPr>
          <p:txBody>
            <a:bodyPr/>
            <a:lstStyle/>
            <a:p>
              <a:endParaRPr/>
            </a:p>
          </p:txBody>
        </p:sp>
        <p:pic>
          <p:nvPicPr>
            <p:cNvPr id="12" name="Image 0" descr="/home/claude/tmo/build/ico/equipe-blanc.png"/>
            <p:cNvPicPr>
              <a:picLocks noChangeAspect="1"/>
            </p:cNvPicPr>
            <p:nvPr/>
          </p:nvPicPr>
          <p:blipFill>
            <a:blip r:embed="rId3"/>
            <a:stretch>
              <a:fillRect/>
            </a:stretch>
          </p:blipFill>
          <p:spPr>
            <a:xfrm>
              <a:off x="1299362" y="2323490"/>
              <a:ext cx="373075" cy="373075"/>
            </a:xfrm>
            <a:prstGeom prst="rect">
              <a:avLst/>
            </a:prstGeom>
          </p:spPr>
        </p:pic>
        <p:sp>
          <p:nvSpPr>
            <p:cNvPr id="13" name="Shape 10"/>
            <p:cNvSpPr/>
            <p:nvPr/>
          </p:nvSpPr>
          <p:spPr>
            <a:xfrm>
              <a:off x="8854135" y="2139696"/>
              <a:ext cx="2240280" cy="457200"/>
            </a:xfrm>
            <a:prstGeom prst="roundRect">
              <a:avLst>
                <a:gd name="adj" fmla="val 24000"/>
              </a:avLst>
            </a:prstGeom>
            <a:solidFill>
              <a:srgbClr val="075767"/>
            </a:solidFill>
            <a:ln/>
          </p:spPr>
          <p:txBody>
            <a:bodyPr/>
            <a:lstStyle/>
            <a:p>
              <a:endParaRPr/>
            </a:p>
          </p:txBody>
        </p:sp>
        <p:sp>
          <p:nvSpPr>
            <p:cNvPr id="14" name="Text 11"/>
            <p:cNvSpPr txBox="1"/>
            <p:nvPr/>
          </p:nvSpPr>
          <p:spPr>
            <a:xfrm>
              <a:off x="8854135" y="2139696"/>
              <a:ext cx="22402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Lato" pitchFamily="34" charset="0"/>
                  <a:ea typeface="Lato" pitchFamily="34" charset="-122"/>
                  <a:cs typeface="Lato" pitchFamily="34" charset="-120"/>
                </a:rPr>
                <a:t>15' de recherche</a:t>
              </a:r>
              <a:endParaRPr lang="en-US" sz="1250" dirty="0"/>
            </a:p>
          </p:txBody>
        </p:sp>
        <p:sp>
          <p:nvSpPr>
            <p:cNvPr id="15" name="Text 12"/>
            <p:cNvSpPr txBox="1"/>
            <p:nvPr/>
          </p:nvSpPr>
          <p:spPr>
            <a:xfrm>
              <a:off x="2103120" y="2084832"/>
              <a:ext cx="4572000" cy="274320"/>
            </a:xfrm>
            <a:prstGeom prst="rect">
              <a:avLst/>
            </a:prstGeom>
            <a:noFill/>
            <a:ln/>
          </p:spPr>
          <p:txBody>
            <a:bodyPr wrap="square" lIns="0" tIns="0" rIns="0" bIns="0" rtlCol="0" anchor="ctr"/>
            <a:lstStyle/>
            <a:p>
              <a:pPr marL="0" indent="0">
                <a:buNone/>
              </a:pPr>
              <a:r>
                <a:rPr lang="en-US" sz="1100" b="1" kern="0" spc="160" dirty="0">
                  <a:solidFill>
                    <a:srgbClr val="C33F14"/>
                  </a:solidFill>
                  <a:latin typeface="Lato" pitchFamily="34" charset="0"/>
                  <a:ea typeface="Lato" pitchFamily="34" charset="-122"/>
                  <a:cs typeface="Lato" pitchFamily="34" charset="-120"/>
                </a:rPr>
                <a:t>EXERCICE</a:t>
              </a:r>
              <a:endParaRPr lang="en-US" sz="1100" dirty="0"/>
            </a:p>
          </p:txBody>
        </p:sp>
        <p:sp>
          <p:nvSpPr>
            <p:cNvPr id="16" name="Text 13"/>
            <p:cNvSpPr txBox="1"/>
            <p:nvPr/>
          </p:nvSpPr>
          <p:spPr>
            <a:xfrm>
              <a:off x="2103120" y="2377440"/>
              <a:ext cx="6522415" cy="658368"/>
            </a:xfrm>
            <a:prstGeom prst="rect">
              <a:avLst/>
            </a:prstGeom>
            <a:noFill/>
            <a:ln/>
          </p:spPr>
          <p:txBody>
            <a:bodyPr wrap="square" lIns="0" tIns="0" rIns="0" bIns="0" rtlCol="0" anchor="t"/>
            <a:lstStyle/>
            <a:p>
              <a:pPr marL="0" indent="0">
                <a:lnSpc>
                  <a:spcPct val="110000"/>
                </a:lnSpc>
                <a:buNone/>
              </a:pPr>
              <a:r>
                <a:rPr lang="en-US" sz="1600" b="1" dirty="0">
                  <a:solidFill>
                    <a:srgbClr val="075767"/>
                  </a:solidFill>
                  <a:latin typeface="Lato" pitchFamily="34" charset="0"/>
                  <a:ea typeface="Lato" pitchFamily="34" charset="-122"/>
                  <a:cs typeface="Lato" pitchFamily="34" charset="-120"/>
                </a:rPr>
                <a:t>En trois groupes, cherchez sur inrs.fr de quoi répondre à ces deux situations.</a:t>
              </a:r>
              <a:endParaRPr lang="en-US" sz="1600" dirty="0"/>
            </a:p>
          </p:txBody>
        </p:sp>
        <p:sp>
          <p:nvSpPr>
            <p:cNvPr id="17" name="Text 14"/>
            <p:cNvSpPr txBox="1"/>
            <p:nvPr/>
          </p:nvSpPr>
          <p:spPr>
            <a:xfrm>
              <a:off x="2103120" y="3127248"/>
              <a:ext cx="8716975" cy="25146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Situation 1 : Un salarié se plaint de fortes douleurs au cou lors de l'utilisation de son ordinateur et de maux de tête le soir. Le niveau sonore dans l'open space est de 64 dB(A).</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Situation 2 : Après la mise en place du télétravail, un point de suivi est prévu en CSSCT. Quelles préconisations d'action de prévention apporter ?</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Pour chaque situation : la brochure INRS utile, les deux préconisations retenues, et le principe général de prévention correspondant</a:t>
              </a:r>
              <a:endParaRPr lang="en-US" sz="1400" dirty="0"/>
            </a:p>
          </p:txBody>
        </p:sp>
      </p:grpSp>
      <p:pic>
        <p:nvPicPr>
          <p:cNvPr id="18"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9" name="Text 15"/>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6"/>
          <p:cNvSpPr/>
          <p:nvPr/>
        </p:nvSpPr>
        <p:spPr>
          <a:xfrm>
            <a:off x="10591495" y="6181344"/>
            <a:ext cx="438912" cy="438912"/>
          </a:xfrm>
          <a:prstGeom prst="ellipse">
            <a:avLst/>
          </a:prstGeom>
          <a:solidFill>
            <a:srgbClr val="F06C23"/>
          </a:solidFill>
          <a:ln/>
        </p:spPr>
        <p:txBody>
          <a:bodyPr/>
          <a:lstStyle/>
          <a:p>
            <a:endParaRPr/>
          </a:p>
        </p:txBody>
      </p:sp>
      <p:sp>
        <p:nvSpPr>
          <p:cNvPr id="21" name="Text 17"/>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04</a:t>
            </a:r>
            <a:endParaRPr lang="en-US" sz="1100" dirty="0"/>
          </a:p>
        </p:txBody>
      </p:sp>
      <p:sp>
        <p:nvSpPr>
          <p:cNvPr id="22" name="Text 18"/>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87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27"/>
                                        </p:tgtEl>
                                        <p:attrNameLst>
                                          <p:attrName>style.visibility</p:attrName>
                                        </p:attrNameLst>
                                      </p:cBhvr>
                                      <p:to>
                                        <p:strVal val="visible"/>
                                      </p:to>
                                    </p:set>
                                    <p:animEffect transition="in" filter="fade">
                                      <p:cBhvr>
                                        <p:cTn id="7" dur="450"/>
                                        <p:tgtEl>
                                          <p:spTgt spid="9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name="Slide 69">
    <p:bg>
      <p:bgPr>
        <a:solidFill>
          <a:srgbClr val="075767"/>
        </a:solidFill>
        <a:effectLst/>
      </p:bgPr>
    </p:bg>
    <p:spTree>
      <p:nvGrpSpPr>
        <p:cNvPr id="1" name=""/>
        <p:cNvGrpSpPr/>
        <p:nvPr/>
      </p:nvGrpSpPr>
      <p:grpSpPr>
        <a:xfrm>
          <a:off x="0" y="0"/>
          <a:ext cx="0" cy="0"/>
          <a:chOff x="0" y="0"/>
          <a:chExt cx="0" cy="0"/>
        </a:xfrm>
      </p:grpSpPr>
      <p:sp>
        <p:nvSpPr>
          <p:cNvPr id="2" name="Shape 0"/>
          <p:cNvSpPr/>
          <p:nvPr/>
        </p:nvSpPr>
        <p:spPr>
          <a:xfrm rot="420000">
            <a:off x="5760720" y="-3749040"/>
            <a:ext cx="10972800" cy="8229600"/>
          </a:xfrm>
          <a:prstGeom prst="ellipse">
            <a:avLst/>
          </a:prstGeom>
          <a:solidFill>
            <a:srgbClr val="0A6C78"/>
          </a:solidFill>
          <a:ln/>
        </p:spPr>
        <p:txBody>
          <a:bodyPr/>
          <a:lstStyle/>
          <a:p>
            <a:endParaRPr/>
          </a:p>
        </p:txBody>
      </p:sp>
      <p:sp>
        <p:nvSpPr>
          <p:cNvPr id="3" name="Shape 1"/>
          <p:cNvSpPr/>
          <p:nvPr/>
        </p:nvSpPr>
        <p:spPr>
          <a:xfrm>
            <a:off x="868680" y="5788152"/>
            <a:ext cx="274320" cy="274320"/>
          </a:xfrm>
          <a:prstGeom prst="ellipse">
            <a:avLst/>
          </a:prstGeom>
          <a:solidFill>
            <a:srgbClr val="F06C23"/>
          </a:solidFill>
          <a:ln/>
        </p:spPr>
        <p:txBody>
          <a:bodyPr/>
          <a:lstStyle/>
          <a:p>
            <a:endParaRPr/>
          </a:p>
        </p:txBody>
      </p:sp>
      <p:sp>
        <p:nvSpPr>
          <p:cNvPr id="4" name="Shape 2"/>
          <p:cNvSpPr/>
          <p:nvPr/>
        </p:nvSpPr>
        <p:spPr>
          <a:xfrm>
            <a:off x="1353312" y="5943600"/>
            <a:ext cx="146304" cy="146304"/>
          </a:xfrm>
          <a:prstGeom prst="ellipse">
            <a:avLst/>
          </a:prstGeom>
          <a:solidFill>
            <a:srgbClr val="C1D5D9"/>
          </a:solidFill>
          <a:ln/>
        </p:spPr>
        <p:txBody>
          <a:bodyPr/>
          <a:lstStyle/>
          <a:p>
            <a:endParaRPr/>
          </a:p>
        </p:txBody>
      </p:sp>
      <p:sp>
        <p:nvSpPr>
          <p:cNvPr id="5" name="Shape 3"/>
          <p:cNvSpPr/>
          <p:nvPr/>
        </p:nvSpPr>
        <p:spPr>
          <a:xfrm>
            <a:off x="1645920" y="5650992"/>
            <a:ext cx="100584" cy="100584"/>
          </a:xfrm>
          <a:prstGeom prst="ellipse">
            <a:avLst/>
          </a:prstGeom>
          <a:solidFill>
            <a:srgbClr val="C1D5D9"/>
          </a:solidFill>
          <a:ln/>
        </p:spPr>
        <p:txBody>
          <a:bodyPr/>
          <a:lstStyle/>
          <a:p>
            <a:endParaRPr/>
          </a:p>
        </p:txBody>
      </p:sp>
      <p:sp>
        <p:nvSpPr>
          <p:cNvPr id="6" name="Text 4"/>
          <p:cNvSpPr txBox="1"/>
          <p:nvPr/>
        </p:nvSpPr>
        <p:spPr>
          <a:xfrm>
            <a:off x="822960" y="1325880"/>
            <a:ext cx="2377440" cy="1691640"/>
          </a:xfrm>
          <a:prstGeom prst="rect">
            <a:avLst/>
          </a:prstGeom>
          <a:noFill/>
          <a:ln/>
        </p:spPr>
        <p:txBody>
          <a:bodyPr wrap="square" lIns="0" tIns="0" rIns="0" bIns="0" rtlCol="0" anchor="t"/>
          <a:lstStyle/>
          <a:p>
            <a:pPr marL="0" indent="0">
              <a:buNone/>
            </a:pPr>
            <a:r>
              <a:rPr lang="en-US" sz="9600" b="1" kern="0" spc="-300" dirty="0">
                <a:solidFill>
                  <a:srgbClr val="F58B60"/>
                </a:solidFill>
                <a:latin typeface="Lato" pitchFamily="34" charset="0"/>
                <a:ea typeface="Lato" pitchFamily="34" charset="-122"/>
                <a:cs typeface="Lato" pitchFamily="34" charset="-120"/>
              </a:rPr>
              <a:t>05</a:t>
            </a:r>
            <a:endParaRPr lang="en-US" sz="9600" dirty="0"/>
          </a:p>
        </p:txBody>
      </p:sp>
      <p:sp>
        <p:nvSpPr>
          <p:cNvPr id="7" name="Text 5"/>
          <p:cNvSpPr txBox="1"/>
          <p:nvPr/>
        </p:nvSpPr>
        <p:spPr>
          <a:xfrm>
            <a:off x="868680" y="3017520"/>
            <a:ext cx="5303520" cy="1536192"/>
          </a:xfrm>
          <a:prstGeom prst="rect">
            <a:avLst/>
          </a:prstGeom>
          <a:noFill/>
          <a:ln/>
        </p:spPr>
        <p:txBody>
          <a:bodyPr wrap="square" lIns="0" tIns="0" rIns="0" bIns="0" rtlCol="0" anchor="t"/>
          <a:lstStyle/>
          <a:p>
            <a:pPr marL="0" indent="0">
              <a:buNone/>
            </a:pPr>
            <a:r>
              <a:rPr lang="en-US" sz="3400" b="1" kern="0" spc="-150" dirty="0">
                <a:solidFill>
                  <a:srgbClr val="FFFFFF"/>
                </a:solidFill>
                <a:latin typeface="Lato" pitchFamily="34" charset="0"/>
                <a:ea typeface="Lato" pitchFamily="34" charset="-122"/>
                <a:cs typeface="Lato" pitchFamily="34" charset="-120"/>
              </a:rPr>
              <a:t>Le document</a:t>
            </a:r>
            <a:endParaRPr lang="en-US" sz="3400" dirty="0"/>
          </a:p>
          <a:p>
            <a:pPr marL="0" indent="0">
              <a:buNone/>
            </a:pPr>
            <a:r>
              <a:rPr lang="en-US" sz="3400" b="1" kern="0" spc="-150" dirty="0">
                <a:solidFill>
                  <a:srgbClr val="FFFFFF"/>
                </a:solidFill>
                <a:latin typeface="Lato" pitchFamily="34" charset="0"/>
                <a:ea typeface="Lato" pitchFamily="34" charset="-122"/>
                <a:cs typeface="Lato" pitchFamily="34" charset="-120"/>
              </a:rPr>
              <a:t>unique</a:t>
            </a:r>
            <a:endParaRPr lang="en-US" sz="3400" dirty="0"/>
          </a:p>
        </p:txBody>
      </p:sp>
      <p:sp>
        <p:nvSpPr>
          <p:cNvPr id="8" name="Text 6"/>
          <p:cNvSpPr txBox="1"/>
          <p:nvPr/>
        </p:nvSpPr>
        <p:spPr>
          <a:xfrm>
            <a:off x="868680" y="4023360"/>
            <a:ext cx="5029200" cy="914400"/>
          </a:xfrm>
          <a:prstGeom prst="rect">
            <a:avLst/>
          </a:prstGeom>
          <a:noFill/>
          <a:ln/>
        </p:spPr>
        <p:txBody>
          <a:bodyPr wrap="square" lIns="0" tIns="0" rIns="0" bIns="0" rtlCol="0" anchor="t"/>
          <a:lstStyle/>
          <a:p>
            <a:pPr marL="0" indent="0">
              <a:lnSpc>
                <a:spcPct val="115000"/>
              </a:lnSpc>
              <a:buNone/>
            </a:pPr>
            <a:r>
              <a:rPr lang="en-US" sz="1500" dirty="0">
                <a:solidFill>
                  <a:srgbClr val="C1D5D9"/>
                </a:solidFill>
                <a:latin typeface="Lato" pitchFamily="34" charset="0"/>
                <a:ea typeface="Lato" pitchFamily="34" charset="-122"/>
                <a:cs typeface="Lato" pitchFamily="34" charset="-120"/>
              </a:rPr>
              <a:t>Le document unique et le programme annuel : les deux leviers sur lesquels le CSE dispose d'une prise réelle.</a:t>
            </a:r>
            <a:endParaRPr lang="en-US" sz="1500" dirty="0"/>
          </a:p>
        </p:txBody>
      </p:sp>
      <p:sp>
        <p:nvSpPr>
          <p:cNvPr id="12" name="Rounded Rectangle 11"/>
          <p:cNvSpPr/>
          <p:nvPr/>
        </p:nvSpPr>
        <p:spPr>
          <a:xfrm>
            <a:off x="6711696" y="1316736"/>
            <a:ext cx="4892040" cy="448056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mage 0" descr="/home/claude/tmo/build/photos/p16.jpg"/>
          <p:cNvPicPr>
            <a:picLocks noChangeAspect="1"/>
          </p:cNvPicPr>
          <p:nvPr/>
        </p:nvPicPr>
        <p:blipFill>
          <a:blip r:embed="rId3"/>
          <a:srcRect/>
          <a:stretch/>
        </p:blipFill>
        <p:spPr>
          <a:xfrm>
            <a:off x="6583680" y="1188720"/>
            <a:ext cx="4892040" cy="4480560"/>
          </a:xfrm>
          <a:prstGeom prst="roundRect">
            <a:avLst>
              <a:gd name="adj" fmla="val 2200"/>
            </a:avLst>
          </a:prstGeom>
          <a:effectLst>
            <a:outerShdw blurRad="190500" dist="38100" dir="5400000" rotWithShape="0">
              <a:srgbClr val="075767">
                <a:alpha val="22000"/>
              </a:srgbClr>
            </a:outerShdw>
            <a:softEdge rad="32004"/>
          </a:effectLst>
        </p:spPr>
      </p:pic>
      <p:sp>
        <p:nvSpPr>
          <p:cNvPr id="10" name="Shape 7"/>
          <p:cNvSpPr/>
          <p:nvPr/>
        </p:nvSpPr>
        <p:spPr>
          <a:xfrm>
            <a:off x="10929823" y="6071616"/>
            <a:ext cx="603504" cy="603504"/>
          </a:xfrm>
          <a:prstGeom prst="ellipse">
            <a:avLst/>
          </a:prstGeom>
          <a:solidFill>
            <a:srgbClr val="FFFFFF"/>
          </a:solidFill>
          <a:ln/>
        </p:spPr>
        <p:txBody>
          <a:bodyPr/>
          <a:lstStyle/>
          <a:p>
            <a:endParaRPr/>
          </a:p>
        </p:txBody>
      </p:sp>
      <p:pic>
        <p:nvPicPr>
          <p:cNvPr id="11" name="Image 1" descr="/home/claude/tmo/build/logo.png"/>
          <p:cNvPicPr>
            <a:picLocks noChangeAspect="1"/>
          </p:cNvPicPr>
          <p:nvPr/>
        </p:nvPicPr>
        <p:blipFill>
          <a:blip r:embed="rId4"/>
          <a:stretch>
            <a:fillRect/>
          </a:stretch>
        </p:blipFill>
        <p:spPr>
          <a:xfrm>
            <a:off x="10957255" y="6099048"/>
            <a:ext cx="548640" cy="548640"/>
          </a:xfrm>
          <a:prstGeom prst="rect">
            <a:avLst/>
          </a:prstGeom>
        </p:spPr>
      </p:pic>
    </p:spTree>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 forme du DUERP</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Aucune forme n'est imposée par la loi. Ce sont des préconisations INRS, pas un modèle réglementaire.</a:t>
            </a:r>
            <a:endParaRPr lang="en-US" sz="1450" dirty="0"/>
          </a:p>
        </p:txBody>
      </p:sp>
      <p:sp>
        <p:nvSpPr>
          <p:cNvPr id="11" name="Text 9"/>
          <p:cNvSpPr txBox="1"/>
          <p:nvPr/>
        </p:nvSpPr>
        <p:spPr>
          <a:xfrm>
            <a:off x="731520" y="2487168"/>
            <a:ext cx="6035040"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Support libre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Tableur, logiciel dédié, document papier, l'important est l'usage qui en est fait</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Accessible à tous, de manière permanente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Un DUERP dans le bureau du directeur, sous clé, ne remplit pas son office</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Un support unique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Regrouper sur un seul support le résultat de l'évaluation des risques professionnels, de manière pratique</a:t>
            </a:r>
            <a:endParaRPr lang="en-US" sz="1400" dirty="0"/>
          </a:p>
        </p:txBody>
      </p:sp>
      <p:grpSp>
        <p:nvGrpSpPr>
          <p:cNvPr id="9128" name="Bloc 2"/>
          <p:cNvGrpSpPr/>
          <p:nvPr/>
        </p:nvGrpSpPr>
        <p:grpSpPr>
          <a:xfrm>
            <a:off x="7223760" y="1828800"/>
            <a:ext cx="4334256" cy="3282696"/>
            <a:chOff x="7223760" y="1828800"/>
            <a:chExt cx="4334256" cy="3282696"/>
          </a:xfrm>
        </p:grpSpPr>
        <p:sp>
          <p:nvSpPr>
            <p:cNvPr id="21" name="Rounded Rectangle 20"/>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17.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129" name="Bloc 4"/>
          <p:cNvGrpSpPr/>
          <p:nvPr/>
        </p:nvGrpSpPr>
        <p:grpSpPr>
          <a:xfrm>
            <a:off x="731520" y="5248656"/>
            <a:ext cx="10728655" cy="841248"/>
            <a:chOff x="731520" y="5248656"/>
            <a:chExt cx="10728655" cy="841248"/>
          </a:xfrm>
        </p:grpSpPr>
        <p:sp>
          <p:nvSpPr>
            <p:cNvPr id="13" name="Text 10"/>
            <p:cNvSpPr txBox="1"/>
            <p:nvPr/>
          </p:nvSpPr>
          <p:spPr>
            <a:xfrm>
              <a:off x="7223760" y="5349240"/>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Un DUERP qui n'est jamais ouvert n'évalue rien.</a:t>
              </a:r>
              <a:endParaRPr lang="en-US" sz="950" dirty="0"/>
            </a:p>
          </p:txBody>
        </p:sp>
        <p:sp>
          <p:nvSpPr>
            <p:cNvPr id="14" name="Shape 11"/>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5" name="Text 12"/>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premier test   </a:t>
              </a:r>
              <a:r>
                <a:rPr lang="en-US" sz="1300" dirty="0">
                  <a:solidFill>
                    <a:srgbClr val="075767"/>
                  </a:solidFill>
                  <a:latin typeface="Lato" pitchFamily="34" charset="0"/>
                  <a:ea typeface="Lato" pitchFamily="34" charset="-122"/>
                  <a:cs typeface="Lato" pitchFamily="34" charset="-120"/>
                </a:rPr>
                <a:t>demander en réunion où se trouve le DUERP et qui y a accès. La réponse renseigne davantage que sa lecture.</a:t>
              </a:r>
              <a:endParaRPr lang="en-US" sz="1250" dirty="0"/>
            </a:p>
          </p:txBody>
        </p:sp>
      </p:gr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89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28"/>
                                        </p:tgtEl>
                                        <p:attrNameLst>
                                          <p:attrName>style.visibility</p:attrName>
                                        </p:attrNameLst>
                                      </p:cBhvr>
                                      <p:to>
                                        <p:strVal val="visible"/>
                                      </p:to>
                                    </p:set>
                                    <p:animEffect transition="in" filter="fade">
                                      <p:cBhvr>
                                        <p:cTn id="12" dur="450"/>
                                        <p:tgtEl>
                                          <p:spTgt spid="91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29"/>
                                        </p:tgtEl>
                                        <p:attrNameLst>
                                          <p:attrName>style.visibility</p:attrName>
                                        </p:attrNameLst>
                                      </p:cBhvr>
                                      <p:to>
                                        <p:strVal val="visible"/>
                                      </p:to>
                                    </p:set>
                                    <p:animEffect transition="in" filter="fade">
                                      <p:cBhvr>
                                        <p:cTn id="22" dur="450"/>
                                        <p:tgtEl>
                                          <p:spTgt spid="9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que la loi du 2 août 2021 a changé</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grpSp>
        <p:nvGrpSpPr>
          <p:cNvPr id="9130"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4121-3-1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Le document unique d'évaluation des risques professionnels répertorie l'ensemble des risques professionnels auxquels sont exposés les travailleurs et assure la traçabilité collective de ces expositions.</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6015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Conservation pendant au moins quarante ans, dans ses versions successives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Tenu à la disposition des travailleurs, des anciens travailleurs et de toute personne justifiant d'un intérêt à y accéder</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Dépôt dématérialisé sur un portail numérique (application depuis juillet 2023)</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Obligation d'associer le CSE, le service de prévention et de santé au travail et les autres acteurs de la prévention (article L. 4121-3)</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90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30"/>
                                        </p:tgtEl>
                                        <p:attrNameLst>
                                          <p:attrName>style.visibility</p:attrName>
                                        </p:attrNameLst>
                                      </p:cBhvr>
                                      <p:to>
                                        <p:strVal val="visible"/>
                                      </p:to>
                                    </p:set>
                                    <p:animEffect transition="in" filter="fade">
                                      <p:cBhvr>
                                        <p:cTn id="7" dur="450"/>
                                        <p:tgtEl>
                                          <p:spTgt spid="91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contenu du DUERP</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Une obligation réglementaire : retranscrire le résultat de l'évaluation des risques professionnels.</a:t>
            </a:r>
            <a:endParaRPr lang="en-US" sz="1450" dirty="0"/>
          </a:p>
        </p:txBody>
      </p:sp>
      <p:sp>
        <p:nvSpPr>
          <p:cNvPr id="11" name="Text 9"/>
          <p:cNvSpPr txBox="1"/>
          <p:nvPr/>
        </p:nvSpPr>
        <p:spPr>
          <a:xfrm>
            <a:off x="731520" y="2487168"/>
            <a:ext cx="10728655"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Identifier les dangers</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Ce qui, par nature, peut causer un dommage</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Analyser les risques</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Les conditions d'exposition, la probabilité, la gravité</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Refléter le travail réel</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Pas le travail prescrit, pas la fiche de poste, ce que les salariés font vraiment</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Être réalisé par unité de travail</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Découpage géographique, par métier, ou par degré d'autonomie</a:t>
            </a:r>
            <a:endParaRPr lang="en-US" sz="1300" dirty="0"/>
          </a:p>
        </p:txBody>
      </p:sp>
      <p:grpSp>
        <p:nvGrpSpPr>
          <p:cNvPr id="9131" name="Bloc 3"/>
          <p:cNvGrpSpPr/>
          <p:nvPr/>
        </p:nvGrpSpPr>
        <p:grpSpPr>
          <a:xfrm>
            <a:off x="731520" y="5248656"/>
            <a:ext cx="10728655" cy="841248"/>
            <a:chOff x="731520" y="5248656"/>
            <a:chExt cx="10728655" cy="841248"/>
          </a:xfrm>
        </p:grpSpPr>
        <p:sp>
          <p:nvSpPr>
            <p:cNvPr id="12" name="Shape 10"/>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L'angle d'attaque du CSE   </a:t>
              </a:r>
              <a:r>
                <a:rPr lang="en-US" sz="1300" dirty="0">
                  <a:solidFill>
                    <a:srgbClr val="075767"/>
                  </a:solidFill>
                  <a:latin typeface="Lato" pitchFamily="34" charset="0"/>
                  <a:ea typeface="Lato" pitchFamily="34" charset="-122"/>
                  <a:cs typeface="Lato" pitchFamily="34" charset="-120"/>
                </a:rPr>
                <a:t>« le DUERP reflète-t-il le travail réel ? » est la question la plus efficace, parce qu'elle est la plus difficile à esquiver.</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91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31"/>
                                        </p:tgtEl>
                                        <p:attrNameLst>
                                          <p:attrName>style.visibility</p:attrName>
                                        </p:attrNameLst>
                                      </p:cBhvr>
                                      <p:to>
                                        <p:strVal val="visible"/>
                                      </p:to>
                                    </p:set>
                                    <p:animEffect transition="in" filter="fade">
                                      <p:cBhvr>
                                        <p:cTn id="17" dur="450"/>
                                        <p:tgtEl>
                                          <p:spTgt spid="9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Quand le DUERP doit être mis à jour</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Trois cas d'obligation (circulaire DRT n° 2002-6 du 18 avril 2002).</a:t>
            </a:r>
            <a:endParaRPr lang="en-US" sz="1450" dirty="0"/>
          </a:p>
        </p:txBody>
      </p:sp>
      <p:sp>
        <p:nvSpPr>
          <p:cNvPr id="11" name="Text 9"/>
          <p:cNvSpPr txBox="1"/>
          <p:nvPr/>
        </p:nvSpPr>
        <p:spPr>
          <a:xfrm>
            <a:off x="731520" y="2487168"/>
            <a:ext cx="10728655" cy="231343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Chaque année, au minimum</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Sauf entreprises de moins de onze salariés, sous réserve d'un niveau équivalent de protection</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Lors de toute décision d'aménagement important</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Nouveaux procédés, nouveaux outils</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Changement d'organisation du travail : plan de continuité, plan de reprise, réorganisation de service</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Lorsqu'une information complémentaire est recueillie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Situation dangereuse signalée · retour d'expérience · accident du travail · nouveau danger identifié</a:t>
            </a:r>
            <a:endParaRPr lang="en-US" sz="1400" dirty="0"/>
          </a:p>
        </p:txBody>
      </p:sp>
      <p:grpSp>
        <p:nvGrpSpPr>
          <p:cNvPr id="9132" name="Bloc 3"/>
          <p:cNvGrpSpPr/>
          <p:nvPr/>
        </p:nvGrpSpPr>
        <p:grpSpPr>
          <a:xfrm>
            <a:off x="731520" y="4956048"/>
            <a:ext cx="10728655" cy="841248"/>
            <a:chOff x="731520" y="4956048"/>
            <a:chExt cx="10728655" cy="841248"/>
          </a:xfrm>
        </p:grpSpPr>
        <p:sp>
          <p:nvSpPr>
            <p:cNvPr id="12" name="Shape 10"/>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À retenir   après chaque accident, la question se pose en réunion : le document unique a-t-il été mis à jour ? Le troisième cas est une obligation, pas une bonne pratique.</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92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32"/>
                                        </p:tgtEl>
                                        <p:attrNameLst>
                                          <p:attrName>style.visibility</p:attrName>
                                        </p:attrNameLst>
                                      </p:cBhvr>
                                      <p:to>
                                        <p:strVal val="visible"/>
                                      </p:to>
                                    </p:set>
                                    <p:animEffect transition="in" filter="fade">
                                      <p:cBhvr>
                                        <p:cTn id="17" dur="450"/>
                                        <p:tgtEl>
                                          <p:spTgt spid="9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À quoi servent les indicateurs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sp>
        <p:nvSpPr>
          <p:cNvPr id="10" name="Text 8"/>
          <p:cNvSpPr txBox="1"/>
          <p:nvPr/>
        </p:nvSpPr>
        <p:spPr>
          <a:xfrm>
            <a:off x="731520" y="1828800"/>
            <a:ext cx="10728655" cy="29718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Permettre une cotation objective, comparable dans le temps</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Permettre une comparaison factuelle entre les risques</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Réaliser une hiérarchisation des risques</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Construire un plan d'action en fonction de cette hiérarchisation</a:t>
            </a:r>
            <a:endParaRPr lang="en-US" sz="1400" dirty="0"/>
          </a:p>
        </p:txBody>
      </p:sp>
      <p:grpSp>
        <p:nvGrpSpPr>
          <p:cNvPr id="9133" name="Bloc 2"/>
          <p:cNvGrpSpPr/>
          <p:nvPr/>
        </p:nvGrpSpPr>
        <p:grpSpPr>
          <a:xfrm>
            <a:off x="731520" y="4956048"/>
            <a:ext cx="10728655" cy="841248"/>
            <a:chOff x="731520" y="4956048"/>
            <a:chExt cx="10728655" cy="841248"/>
          </a:xfrm>
        </p:grpSpPr>
        <p:sp>
          <p:nvSpPr>
            <p:cNvPr id="11" name="Shape 9"/>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2" name="Text 10"/>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principe   </a:t>
              </a:r>
              <a:r>
                <a:rPr lang="en-US" sz="1300" dirty="0">
                  <a:solidFill>
                    <a:srgbClr val="075767"/>
                  </a:solidFill>
                  <a:latin typeface="Lato" pitchFamily="34" charset="0"/>
                  <a:ea typeface="Lato" pitchFamily="34" charset="-122"/>
                  <a:cs typeface="Lato" pitchFamily="34" charset="-120"/>
                </a:rPr>
                <a:t>niveau de risque = gravité × fréquence. Tout le reste (efficacité des mesures, protection existante) vient pondérer ce produit.</a:t>
              </a:r>
              <a:endParaRPr lang="en-US" sz="1250" dirty="0"/>
            </a:p>
          </p:txBody>
        </p:sp>
      </p:grpSp>
      <p:pic>
        <p:nvPicPr>
          <p:cNvPr id="13"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4"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5" name="Shape 12"/>
          <p:cNvSpPr/>
          <p:nvPr/>
        </p:nvSpPr>
        <p:spPr>
          <a:xfrm>
            <a:off x="10591495" y="6181344"/>
            <a:ext cx="438912" cy="438912"/>
          </a:xfrm>
          <a:prstGeom prst="ellipse">
            <a:avLst/>
          </a:prstGeom>
          <a:solidFill>
            <a:srgbClr val="F06C23"/>
          </a:solidFill>
          <a:ln/>
        </p:spPr>
        <p:txBody>
          <a:bodyPr/>
          <a:lstStyle/>
          <a:p>
            <a:endParaRPr/>
          </a:p>
        </p:txBody>
      </p:sp>
      <p:sp>
        <p:nvSpPr>
          <p:cNvPr id="16"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17"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93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33"/>
                                        </p:tgtEl>
                                        <p:attrNameLst>
                                          <p:attrName>style.visibility</p:attrName>
                                        </p:attrNameLst>
                                      </p:cBhvr>
                                      <p:to>
                                        <p:strVal val="visible"/>
                                      </p:to>
                                    </p:set>
                                    <p:animEffect transition="in" filter="fade">
                                      <p:cBhvr>
                                        <p:cTn id="12" dur="450"/>
                                        <p:tgtEl>
                                          <p:spTgt spid="9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L'occurrence : de quoi parle-t-on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Avant de coter, il faut s'accorder sur ce que l'on mesure. C'est sur ce point que les commissions perdent le plus de temps.</a:t>
            </a:r>
            <a:endParaRPr lang="en-US" sz="1450" dirty="0"/>
          </a:p>
        </p:txBody>
      </p:sp>
      <p:sp>
        <p:nvSpPr>
          <p:cNvPr id="11" name="Text 9"/>
          <p:cNvSpPr txBox="1"/>
          <p:nvPr/>
        </p:nvSpPr>
        <p:spPr>
          <a:xfrm>
            <a:off x="731520" y="2487168"/>
            <a:ext cx="10728655"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L'occurrence, c'est la probabilité que l'événement redouté se produise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Elle dépend de deux choses : combien de fois le salarié est exposé, et à quel point la situation est maîtrisée</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En pratique, on la cote par la fréquence d'exposition</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C'est la donnée la plus objective et la plus facile à vérifier sur le terrain : elle se compte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 degré de maîtrise, lui, est repris plus loin dans la cotation des moyens de prévention</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L'erreur à éviter</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Coter l'occurrence en tenant déjà compte des protections en place : le risque brut serait alors déjà minoré, et on ne verrait plus l'effet de la prévention</a:t>
            </a:r>
            <a:endParaRPr lang="en-US" sz="1400" dirty="0"/>
          </a:p>
        </p:txBody>
      </p:sp>
      <p:grpSp>
        <p:nvGrpSpPr>
          <p:cNvPr id="9134" name="Bloc 3"/>
          <p:cNvGrpSpPr/>
          <p:nvPr/>
        </p:nvGrpSpPr>
        <p:grpSpPr>
          <a:xfrm>
            <a:off x="731520" y="5248656"/>
            <a:ext cx="10728655" cy="841248"/>
            <a:chOff x="731520" y="5248656"/>
            <a:chExt cx="10728655" cy="841248"/>
          </a:xfrm>
        </p:grpSpPr>
        <p:sp>
          <p:nvSpPr>
            <p:cNvPr id="12" name="Shape 10"/>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La règle   </a:t>
              </a:r>
              <a:r>
                <a:rPr lang="en-US" sz="1300" dirty="0">
                  <a:solidFill>
                    <a:srgbClr val="075767"/>
                  </a:solidFill>
                  <a:latin typeface="Lato" pitchFamily="34" charset="0"/>
                  <a:ea typeface="Lato" pitchFamily="34" charset="-122"/>
                  <a:cs typeface="Lato" pitchFamily="34" charset="-120"/>
                </a:rPr>
                <a:t>fréquence et gravité se cotent sur le risque brut, comme s'il n'y avait aucune protection. Les mesures de prévention se cotent séparément, ensuite.</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94</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34"/>
                                        </p:tgtEl>
                                        <p:attrNameLst>
                                          <p:attrName>style.visibility</p:attrName>
                                        </p:attrNameLst>
                                      </p:cBhvr>
                                      <p:to>
                                        <p:strVal val="visible"/>
                                      </p:to>
                                    </p:set>
                                    <p:animEffect transition="in" filter="fade">
                                      <p:cBhvr>
                                        <p:cTn id="17" dur="450"/>
                                        <p:tgtEl>
                                          <p:spTgt spid="9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Coter la fréquence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0725912" cy="3401568"/>
        </p:xfrm>
        <a:graphic>
          <a:graphicData uri="http://schemas.openxmlformats.org/drawingml/2006/table">
            <a:tbl>
              <a:tblPr/>
              <a:tblGrid>
                <a:gridCol w="14630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6153912">
                  <a:extLst>
                    <a:ext uri="{9D8B030D-6E8A-4147-A177-3AD203B41FA5}">
                      <a16:colId xmlns:a16="http://schemas.microsoft.com/office/drawing/2014/main" val="20002"/>
                    </a:ext>
                  </a:extLst>
                </a:gridCol>
              </a:tblGrid>
              <a:tr h="566928">
                <a:tc>
                  <a:txBody>
                    <a:bodyPr/>
                    <a:lstStyle/>
                    <a:p>
                      <a:pPr marL="0" indent="0">
                        <a:buNone/>
                      </a:pPr>
                      <a:r>
                        <a:rPr lang="en-US" sz="1250" b="1" dirty="0">
                          <a:solidFill>
                            <a:srgbClr val="FFFFFF"/>
                          </a:solidFill>
                          <a:latin typeface="Lato" pitchFamily="34" charset="0"/>
                          <a:ea typeface="Lato" pitchFamily="34" charset="-122"/>
                          <a:cs typeface="Lato" pitchFamily="34" charset="-120"/>
                        </a:rPr>
                        <a:t>Niveau</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Occurrence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Repère d'exposition</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1</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Très rare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Moins d'une fois par an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2</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Rare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Quelques fois par an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4</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Occasionnelle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Quelques fois par mois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8</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Fréquente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Quelques fois par semaine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16</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Permanente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Plusieurs fois par jour, ou en continu</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8"/>
          <p:cNvSpPr txBox="1"/>
          <p:nvPr/>
        </p:nvSpPr>
        <p:spPr>
          <a:xfrm>
            <a:off x="731520" y="5623560"/>
            <a:ext cx="10728655" cy="365760"/>
          </a:xfrm>
          <a:prstGeom prst="rect">
            <a:avLst/>
          </a:prstGeom>
          <a:noFill/>
          <a:ln/>
        </p:spPr>
        <p:txBody>
          <a:bodyPr wrap="square" lIns="0" tIns="0" rIns="0" bIns="0" rtlCol="0" anchor="t"/>
          <a:lstStyle/>
          <a:p>
            <a:pPr marL="0" indent="0">
              <a:buNone/>
            </a:pPr>
            <a:r>
              <a:rPr lang="en-US" sz="1000" i="1" dirty="0">
                <a:solidFill>
                  <a:srgbClr val="595959"/>
                </a:solidFill>
                <a:latin typeface="Lato" pitchFamily="34" charset="0"/>
                <a:ea typeface="Lato" pitchFamily="34" charset="-122"/>
                <a:cs typeface="Lato" pitchFamily="34" charset="-120"/>
              </a:rPr>
              <a:t>Échelle géométrique : chaque niveau double le précédent, pour que l'écart entre « rare » et « permanent » se voie dans le résultat.</a:t>
            </a:r>
            <a:endParaRPr lang="en-US" sz="10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95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45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Coter la gravité</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0725912" cy="3401568"/>
        </p:xfrm>
        <a:graphic>
          <a:graphicData uri="http://schemas.openxmlformats.org/drawingml/2006/table">
            <a:tbl>
              <a:tblPr/>
              <a:tblGrid>
                <a:gridCol w="14630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6153912">
                  <a:extLst>
                    <a:ext uri="{9D8B030D-6E8A-4147-A177-3AD203B41FA5}">
                      <a16:colId xmlns:a16="http://schemas.microsoft.com/office/drawing/2014/main" val="20002"/>
                    </a:ext>
                  </a:extLst>
                </a:gridCol>
              </a:tblGrid>
              <a:tr h="566928">
                <a:tc>
                  <a:txBody>
                    <a:bodyPr/>
                    <a:lstStyle/>
                    <a:p>
                      <a:pPr marL="0" indent="0">
                        <a:buNone/>
                      </a:pPr>
                      <a:r>
                        <a:rPr lang="en-US" sz="1250" b="1" dirty="0">
                          <a:solidFill>
                            <a:srgbClr val="FFFFFF"/>
                          </a:solidFill>
                          <a:latin typeface="Lato" pitchFamily="34" charset="0"/>
                          <a:ea typeface="Lato" pitchFamily="34" charset="-122"/>
                          <a:cs typeface="Lato" pitchFamily="34" charset="-120"/>
                        </a:rPr>
                        <a:t>Niveau</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Gravité</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Conséquence pour le salarié</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1</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Bénigne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Sans arrêt, soin sur place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2</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Modérée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Arrêt de courte durée, sans séquelle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4</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Sérieuse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Arrêt long, sans incapacité permanente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8</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Grave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Incapacité permanente partielle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16</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Très grave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Décès ou invalidité majeure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8"/>
          <p:cNvSpPr txBox="1"/>
          <p:nvPr/>
        </p:nvSpPr>
        <p:spPr>
          <a:xfrm>
            <a:off x="731520" y="5623560"/>
            <a:ext cx="10728655" cy="365760"/>
          </a:xfrm>
          <a:prstGeom prst="rect">
            <a:avLst/>
          </a:prstGeom>
          <a:noFill/>
          <a:ln/>
        </p:spPr>
        <p:txBody>
          <a:bodyPr wrap="square" lIns="0" tIns="0" rIns="0" bIns="0" rtlCol="0" anchor="t"/>
          <a:lstStyle/>
          <a:p>
            <a:pPr marL="0" indent="0">
              <a:buNone/>
            </a:pPr>
            <a:r>
              <a:rPr lang="en-US" sz="1000" i="1" dirty="0">
                <a:solidFill>
                  <a:srgbClr val="595959"/>
                </a:solidFill>
                <a:latin typeface="Lato" pitchFamily="34" charset="0"/>
                <a:ea typeface="Lato" pitchFamily="34" charset="-122"/>
                <a:cs typeface="Lato" pitchFamily="34" charset="-120"/>
              </a:rPr>
              <a:t>La gravité se cote sur le dommage le plus probable, pas sur le pire imaginable, sinon tous les risques finissent à 16.</a:t>
            </a:r>
            <a:endParaRPr lang="en-US" sz="10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96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45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De la criticité au niveau de risque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sp>
        <p:nvSpPr>
          <p:cNvPr id="10" name="Text 8"/>
          <p:cNvSpPr txBox="1"/>
          <p:nvPr/>
        </p:nvSpPr>
        <p:spPr>
          <a:xfrm>
            <a:off x="731520" y="2103120"/>
            <a:ext cx="3576218" cy="1188720"/>
          </a:xfrm>
          <a:prstGeom prst="rect">
            <a:avLst/>
          </a:prstGeom>
          <a:noFill/>
          <a:ln/>
        </p:spPr>
        <p:txBody>
          <a:bodyPr wrap="square" lIns="0" tIns="0" rIns="0" bIns="0" rtlCol="0" anchor="ctr"/>
          <a:lstStyle/>
          <a:p>
            <a:pPr marL="0" indent="0" algn="ctr">
              <a:buNone/>
            </a:pPr>
            <a:r>
              <a:rPr lang="en-US" sz="6400" b="1" kern="0" spc="-200" dirty="0">
                <a:solidFill>
                  <a:srgbClr val="075767"/>
                </a:solidFill>
                <a:latin typeface="Lato" pitchFamily="34" charset="0"/>
                <a:ea typeface="Lato" pitchFamily="34" charset="-122"/>
                <a:cs typeface="Lato" pitchFamily="34" charset="-120"/>
              </a:rPr>
              <a:t>F × G</a:t>
            </a:r>
            <a:endParaRPr lang="en-US" sz="6400" dirty="0"/>
          </a:p>
        </p:txBody>
      </p:sp>
      <p:sp>
        <p:nvSpPr>
          <p:cNvPr id="11" name="Text 9"/>
          <p:cNvSpPr txBox="1"/>
          <p:nvPr/>
        </p:nvSpPr>
        <p:spPr>
          <a:xfrm>
            <a:off x="731520" y="3337560"/>
            <a:ext cx="3576218" cy="365760"/>
          </a:xfrm>
          <a:prstGeom prst="rect">
            <a:avLst/>
          </a:prstGeom>
          <a:noFill/>
          <a:ln/>
        </p:spPr>
        <p:txBody>
          <a:bodyPr wrap="square" lIns="0" tIns="0" rIns="0" bIns="0" rtlCol="0" anchor="t"/>
          <a:lstStyle/>
          <a:p>
            <a:pPr marL="0" indent="0" algn="ctr">
              <a:buNone/>
            </a:pPr>
            <a:r>
              <a:rPr lang="en-US" sz="1600" b="1" dirty="0">
                <a:solidFill>
                  <a:srgbClr val="075767"/>
                </a:solidFill>
                <a:latin typeface="Lato" pitchFamily="34" charset="0"/>
                <a:ea typeface="Lato" pitchFamily="34" charset="-122"/>
                <a:cs typeface="Lato" pitchFamily="34" charset="-120"/>
              </a:rPr>
              <a:t>Criticité</a:t>
            </a:r>
            <a:endParaRPr lang="en-US" sz="1600" dirty="0"/>
          </a:p>
        </p:txBody>
      </p:sp>
      <p:sp>
        <p:nvSpPr>
          <p:cNvPr id="12" name="Text 10"/>
          <p:cNvSpPr txBox="1"/>
          <p:nvPr/>
        </p:nvSpPr>
        <p:spPr>
          <a:xfrm>
            <a:off x="960120" y="3730752"/>
            <a:ext cx="3119018" cy="822960"/>
          </a:xfrm>
          <a:prstGeom prst="rect">
            <a:avLst/>
          </a:prstGeom>
          <a:noFill/>
          <a:ln/>
        </p:spPr>
        <p:txBody>
          <a:bodyPr wrap="square" lIns="0" tIns="0" rIns="0" bIns="0" rtlCol="0" anchor="t"/>
          <a:lstStyle/>
          <a:p>
            <a:pPr marL="0" indent="0" algn="ctr">
              <a:buNone/>
            </a:pPr>
            <a:r>
              <a:rPr lang="en-US" sz="1200" dirty="0">
                <a:solidFill>
                  <a:srgbClr val="595959"/>
                </a:solidFill>
                <a:latin typeface="Lato" pitchFamily="34" charset="0"/>
                <a:ea typeface="Lato" pitchFamily="34" charset="-122"/>
                <a:cs typeface="Lato" pitchFamily="34" charset="-120"/>
              </a:rPr>
              <a:t>Fréquence multipliée par gravité, avant toute mesure de prévention</a:t>
            </a:r>
            <a:endParaRPr lang="en-US" sz="1200" dirty="0"/>
          </a:p>
        </p:txBody>
      </p:sp>
      <p:sp>
        <p:nvSpPr>
          <p:cNvPr id="13" name="Text 11"/>
          <p:cNvSpPr txBox="1"/>
          <p:nvPr/>
        </p:nvSpPr>
        <p:spPr>
          <a:xfrm>
            <a:off x="4307738" y="2103120"/>
            <a:ext cx="3576218" cy="1188720"/>
          </a:xfrm>
          <a:prstGeom prst="rect">
            <a:avLst/>
          </a:prstGeom>
          <a:noFill/>
          <a:ln/>
        </p:spPr>
        <p:txBody>
          <a:bodyPr wrap="square" lIns="0" tIns="0" rIns="0" bIns="0" rtlCol="0" anchor="ctr"/>
          <a:lstStyle/>
          <a:p>
            <a:pPr marL="0" indent="0" algn="ctr">
              <a:buNone/>
            </a:pPr>
            <a:r>
              <a:rPr lang="en-US" sz="6400" b="1" kern="0" spc="-200" dirty="0">
                <a:solidFill>
                  <a:srgbClr val="075767"/>
                </a:solidFill>
                <a:latin typeface="Lato" pitchFamily="34" charset="0"/>
                <a:ea typeface="Lato" pitchFamily="34" charset="-122"/>
                <a:cs typeface="Lato" pitchFamily="34" charset="-120"/>
              </a:rPr>
              <a:t>T × E</a:t>
            </a:r>
            <a:endParaRPr lang="en-US" sz="6400" dirty="0"/>
          </a:p>
        </p:txBody>
      </p:sp>
      <p:sp>
        <p:nvSpPr>
          <p:cNvPr id="14" name="Text 12"/>
          <p:cNvSpPr txBox="1"/>
          <p:nvPr/>
        </p:nvSpPr>
        <p:spPr>
          <a:xfrm>
            <a:off x="4307738" y="3337560"/>
            <a:ext cx="3576218" cy="365760"/>
          </a:xfrm>
          <a:prstGeom prst="rect">
            <a:avLst/>
          </a:prstGeom>
          <a:noFill/>
          <a:ln/>
        </p:spPr>
        <p:txBody>
          <a:bodyPr wrap="square" lIns="0" tIns="0" rIns="0" bIns="0" rtlCol="0" anchor="t"/>
          <a:lstStyle/>
          <a:p>
            <a:pPr marL="0" indent="0" algn="ctr">
              <a:buNone/>
            </a:pPr>
            <a:r>
              <a:rPr lang="en-US" sz="1600" b="1" dirty="0">
                <a:solidFill>
                  <a:srgbClr val="075767"/>
                </a:solidFill>
                <a:latin typeface="Lato" pitchFamily="34" charset="0"/>
                <a:ea typeface="Lato" pitchFamily="34" charset="-122"/>
                <a:cs typeface="Lato" pitchFamily="34" charset="-120"/>
              </a:rPr>
              <a:t>Protection</a:t>
            </a:r>
            <a:endParaRPr lang="en-US" sz="1600" dirty="0"/>
          </a:p>
        </p:txBody>
      </p:sp>
      <p:sp>
        <p:nvSpPr>
          <p:cNvPr id="15" name="Text 13"/>
          <p:cNvSpPr txBox="1"/>
          <p:nvPr/>
        </p:nvSpPr>
        <p:spPr>
          <a:xfrm>
            <a:off x="4536338" y="3730752"/>
            <a:ext cx="3119018" cy="822960"/>
          </a:xfrm>
          <a:prstGeom prst="rect">
            <a:avLst/>
          </a:prstGeom>
          <a:noFill/>
          <a:ln/>
        </p:spPr>
        <p:txBody>
          <a:bodyPr wrap="square" lIns="0" tIns="0" rIns="0" bIns="0" rtlCol="0" anchor="t"/>
          <a:lstStyle/>
          <a:p>
            <a:pPr marL="0" indent="0" algn="ctr">
              <a:buNone/>
            </a:pPr>
            <a:r>
              <a:rPr lang="en-US" sz="1200" dirty="0">
                <a:solidFill>
                  <a:srgbClr val="595959"/>
                </a:solidFill>
                <a:latin typeface="Lato" pitchFamily="34" charset="0"/>
                <a:ea typeface="Lato" pitchFamily="34" charset="-122"/>
                <a:cs typeface="Lato" pitchFamily="34" charset="-120"/>
              </a:rPr>
              <a:t>Type de moyens multiplié par leur efficacité réelle</a:t>
            </a:r>
            <a:endParaRPr lang="en-US" sz="1200" dirty="0"/>
          </a:p>
        </p:txBody>
      </p:sp>
      <p:sp>
        <p:nvSpPr>
          <p:cNvPr id="16" name="Text 14"/>
          <p:cNvSpPr txBox="1"/>
          <p:nvPr/>
        </p:nvSpPr>
        <p:spPr>
          <a:xfrm>
            <a:off x="7883957" y="2103120"/>
            <a:ext cx="3576218" cy="1188720"/>
          </a:xfrm>
          <a:prstGeom prst="rect">
            <a:avLst/>
          </a:prstGeom>
          <a:noFill/>
          <a:ln/>
        </p:spPr>
        <p:txBody>
          <a:bodyPr wrap="square" lIns="0" tIns="0" rIns="0" bIns="0" rtlCol="0" anchor="ctr"/>
          <a:lstStyle/>
          <a:p>
            <a:pPr marL="0" indent="0" algn="ctr">
              <a:buNone/>
            </a:pPr>
            <a:r>
              <a:rPr lang="en-US" sz="6400" b="1" kern="0" spc="-200" dirty="0">
                <a:solidFill>
                  <a:srgbClr val="C33F14"/>
                </a:solidFill>
                <a:latin typeface="Lato" pitchFamily="34" charset="0"/>
                <a:ea typeface="Lato" pitchFamily="34" charset="-122"/>
                <a:cs typeface="Lato" pitchFamily="34" charset="-120"/>
              </a:rPr>
              <a:t>÷</a:t>
            </a:r>
            <a:endParaRPr lang="en-US" sz="6400" dirty="0"/>
          </a:p>
        </p:txBody>
      </p:sp>
      <p:sp>
        <p:nvSpPr>
          <p:cNvPr id="17" name="Text 15"/>
          <p:cNvSpPr txBox="1"/>
          <p:nvPr/>
        </p:nvSpPr>
        <p:spPr>
          <a:xfrm>
            <a:off x="7883957" y="3337560"/>
            <a:ext cx="3576218" cy="365760"/>
          </a:xfrm>
          <a:prstGeom prst="rect">
            <a:avLst/>
          </a:prstGeom>
          <a:noFill/>
          <a:ln/>
        </p:spPr>
        <p:txBody>
          <a:bodyPr wrap="square" lIns="0" tIns="0" rIns="0" bIns="0" rtlCol="0" anchor="t"/>
          <a:lstStyle/>
          <a:p>
            <a:pPr marL="0" indent="0" algn="ctr">
              <a:buNone/>
            </a:pPr>
            <a:r>
              <a:rPr lang="en-US" sz="1600" b="1" dirty="0">
                <a:solidFill>
                  <a:srgbClr val="075767"/>
                </a:solidFill>
                <a:latin typeface="Lato" pitchFamily="34" charset="0"/>
                <a:ea typeface="Lato" pitchFamily="34" charset="-122"/>
                <a:cs typeface="Lato" pitchFamily="34" charset="-120"/>
              </a:rPr>
              <a:t>Niveau de risque</a:t>
            </a:r>
            <a:endParaRPr lang="en-US" sz="1600" dirty="0"/>
          </a:p>
        </p:txBody>
      </p:sp>
      <p:sp>
        <p:nvSpPr>
          <p:cNvPr id="18" name="Text 16"/>
          <p:cNvSpPr txBox="1"/>
          <p:nvPr/>
        </p:nvSpPr>
        <p:spPr>
          <a:xfrm>
            <a:off x="8112557" y="3730752"/>
            <a:ext cx="3119018" cy="822960"/>
          </a:xfrm>
          <a:prstGeom prst="rect">
            <a:avLst/>
          </a:prstGeom>
          <a:noFill/>
          <a:ln/>
        </p:spPr>
        <p:txBody>
          <a:bodyPr wrap="square" lIns="0" tIns="0" rIns="0" bIns="0" rtlCol="0" anchor="t"/>
          <a:lstStyle/>
          <a:p>
            <a:pPr marL="0" indent="0" algn="ctr">
              <a:buNone/>
            </a:pPr>
            <a:r>
              <a:rPr lang="en-US" sz="1200" dirty="0">
                <a:solidFill>
                  <a:srgbClr val="595959"/>
                </a:solidFill>
                <a:latin typeface="Lato" pitchFamily="34" charset="0"/>
                <a:ea typeface="Lato" pitchFamily="34" charset="-122"/>
                <a:cs typeface="Lato" pitchFamily="34" charset="-120"/>
              </a:rPr>
              <a:t>Criticité divisée par le niveau de protection</a:t>
            </a:r>
            <a:endParaRPr lang="en-US" sz="1200" dirty="0"/>
          </a:p>
        </p:txBody>
      </p:sp>
      <p:grpSp>
        <p:nvGrpSpPr>
          <p:cNvPr id="9135" name="Bloc 10"/>
          <p:cNvGrpSpPr/>
          <p:nvPr/>
        </p:nvGrpSpPr>
        <p:grpSpPr>
          <a:xfrm>
            <a:off x="731520" y="5074920"/>
            <a:ext cx="10728655" cy="841248"/>
            <a:chOff x="731520" y="5074920"/>
            <a:chExt cx="10728655" cy="841248"/>
          </a:xfrm>
        </p:grpSpPr>
        <p:sp>
          <p:nvSpPr>
            <p:cNvPr id="19" name="Shape 17"/>
            <p:cNvSpPr/>
            <p:nvPr/>
          </p:nvSpPr>
          <p:spPr>
            <a:xfrm>
              <a:off x="731520" y="5074920"/>
              <a:ext cx="10728655" cy="841248"/>
            </a:xfrm>
            <a:prstGeom prst="roundRect">
              <a:avLst>
                <a:gd name="adj" fmla="val 6522"/>
              </a:avLst>
            </a:prstGeom>
            <a:solidFill>
              <a:srgbClr val="D7E8EB"/>
            </a:solidFill>
            <a:ln/>
          </p:spPr>
          <p:txBody>
            <a:bodyPr/>
            <a:lstStyle/>
            <a:p>
              <a:endParaRPr/>
            </a:p>
          </p:txBody>
        </p:sp>
        <p:sp>
          <p:nvSpPr>
            <p:cNvPr id="20" name="Text 18"/>
            <p:cNvSpPr txBox="1"/>
            <p:nvPr/>
          </p:nvSpPr>
          <p:spPr>
            <a:xfrm>
              <a:off x="1024128" y="507492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L'idée   </a:t>
              </a:r>
              <a:r>
                <a:rPr lang="en-US" sz="1300" dirty="0">
                  <a:solidFill>
                    <a:srgbClr val="075767"/>
                  </a:solidFill>
                  <a:latin typeface="Lato" pitchFamily="34" charset="0"/>
                  <a:ea typeface="Lato" pitchFamily="34" charset="-122"/>
                  <a:cs typeface="Lato" pitchFamily="34" charset="-120"/>
                </a:rPr>
                <a:t>une mesure de prévention ne fait pas disparaître le risque : elle divise sa criticité. Plus la mesure est complète et efficace, plus le diviseur est grand.</a:t>
              </a:r>
              <a:endParaRPr lang="en-US" sz="1250" dirty="0"/>
            </a:p>
          </p:txBody>
        </p:sp>
      </p:grpSp>
      <p:pic>
        <p:nvPicPr>
          <p:cNvPr id="21"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22" name="Text 1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3" name="Shape 20"/>
          <p:cNvSpPr/>
          <p:nvPr/>
        </p:nvSpPr>
        <p:spPr>
          <a:xfrm>
            <a:off x="10591495" y="6181344"/>
            <a:ext cx="438912" cy="438912"/>
          </a:xfrm>
          <a:prstGeom prst="ellipse">
            <a:avLst/>
          </a:prstGeom>
          <a:solidFill>
            <a:srgbClr val="F06C23"/>
          </a:solidFill>
          <a:ln/>
        </p:spPr>
        <p:txBody>
          <a:bodyPr/>
          <a:lstStyle/>
          <a:p>
            <a:endParaRPr/>
          </a:p>
        </p:txBody>
      </p:sp>
      <p:sp>
        <p:nvSpPr>
          <p:cNvPr id="24" name="Text 2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25" name="Text 2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97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135"/>
                                        </p:tgtEl>
                                        <p:attrNameLst>
                                          <p:attrName>style.visibility</p:attrName>
                                        </p:attrNameLst>
                                      </p:cBhvr>
                                      <p:to>
                                        <p:strVal val="visible"/>
                                      </p:to>
                                    </p:set>
                                    <p:animEffect transition="in" filter="fade">
                                      <p:cBhvr>
                                        <p:cTn id="52" dur="450"/>
                                        <p:tgtEl>
                                          <p:spTgt spid="9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Un DUERP réel, arrêté à la criticité</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98</a:t>
            </a:r>
            <a:endParaRPr lang="en-US" sz="1000" dirty="0"/>
          </a:p>
        </p:txBody>
      </p:sp>
      <p:graphicFrame>
        <p:nvGraphicFramePr>
          <p:cNvPr id="17" name="Table 16"/>
          <p:cNvGraphicFramePr>
            <a:graphicFrameLocks noGrp="1"/>
          </p:cNvGraphicFramePr>
          <p:nvPr/>
        </p:nvGraphicFramePr>
        <p:xfrm>
          <a:off x="731520" y="2084831"/>
          <a:ext cx="10725912" cy="2889504"/>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749808">
                  <a:extLst>
                    <a:ext uri="{9D8B030D-6E8A-4147-A177-3AD203B41FA5}">
                      <a16:colId xmlns:a16="http://schemas.microsoft.com/office/drawing/2014/main" val="20001"/>
                    </a:ext>
                  </a:extLst>
                </a:gridCol>
                <a:gridCol w="566928">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86384">
                  <a:extLst>
                    <a:ext uri="{9D8B030D-6E8A-4147-A177-3AD203B41FA5}">
                      <a16:colId xmlns:a16="http://schemas.microsoft.com/office/drawing/2014/main" val="20004"/>
                    </a:ext>
                  </a:extLst>
                </a:gridCol>
                <a:gridCol w="804672">
                  <a:extLst>
                    <a:ext uri="{9D8B030D-6E8A-4147-A177-3AD203B41FA5}">
                      <a16:colId xmlns:a16="http://schemas.microsoft.com/office/drawing/2014/main" val="20005"/>
                    </a:ext>
                  </a:extLst>
                </a:gridCol>
                <a:gridCol w="411480">
                  <a:extLst>
                    <a:ext uri="{9D8B030D-6E8A-4147-A177-3AD203B41FA5}">
                      <a16:colId xmlns:a16="http://schemas.microsoft.com/office/drawing/2014/main" val="20006"/>
                    </a:ext>
                  </a:extLst>
                </a:gridCol>
                <a:gridCol w="384048">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1325880">
                  <a:extLst>
                    <a:ext uri="{9D8B030D-6E8A-4147-A177-3AD203B41FA5}">
                      <a16:colId xmlns:a16="http://schemas.microsoft.com/office/drawing/2014/main" val="20009"/>
                    </a:ext>
                  </a:extLst>
                </a:gridCol>
                <a:gridCol w="530352">
                  <a:extLst>
                    <a:ext uri="{9D8B030D-6E8A-4147-A177-3AD203B41FA5}">
                      <a16:colId xmlns:a16="http://schemas.microsoft.com/office/drawing/2014/main" val="20010"/>
                    </a:ext>
                  </a:extLst>
                </a:gridCol>
                <a:gridCol w="475488">
                  <a:extLst>
                    <a:ext uri="{9D8B030D-6E8A-4147-A177-3AD203B41FA5}">
                      <a16:colId xmlns:a16="http://schemas.microsoft.com/office/drawing/2014/main" val="20011"/>
                    </a:ext>
                  </a:extLst>
                </a:gridCol>
                <a:gridCol w="548640">
                  <a:extLst>
                    <a:ext uri="{9D8B030D-6E8A-4147-A177-3AD203B41FA5}">
                      <a16:colId xmlns:a16="http://schemas.microsoft.com/office/drawing/2014/main" val="20012"/>
                    </a:ext>
                  </a:extLst>
                </a:gridCol>
                <a:gridCol w="548640">
                  <a:extLst>
                    <a:ext uri="{9D8B030D-6E8A-4147-A177-3AD203B41FA5}">
                      <a16:colId xmlns:a16="http://schemas.microsoft.com/office/drawing/2014/main" val="20013"/>
                    </a:ext>
                  </a:extLst>
                </a:gridCol>
                <a:gridCol w="1307592">
                  <a:extLst>
                    <a:ext uri="{9D8B030D-6E8A-4147-A177-3AD203B41FA5}">
                      <a16:colId xmlns:a16="http://schemas.microsoft.com/office/drawing/2014/main" val="20014"/>
                    </a:ext>
                  </a:extLst>
                </a:gridCol>
              </a:tblGrid>
              <a:tr h="640080">
                <a:tc>
                  <a:txBody>
                    <a:bodyPr/>
                    <a:lstStyle/>
                    <a:p>
                      <a:pPr algn="ctr"/>
                      <a:r>
                        <a:rPr sz="750" b="1">
                          <a:solidFill>
                            <a:srgbClr val="FFFFFF"/>
                          </a:solidFill>
                          <a:latin typeface="Lato"/>
                        </a:rPr>
                        <a:t>Famille de risque</a:t>
                      </a:r>
                    </a:p>
                  </a:txBody>
                  <a:tcPr marL="27432" marR="27432" marT="18288" marB="18288" anchor="ctr">
                    <a:solidFill>
                      <a:srgbClr val="075767"/>
                    </a:solidFill>
                  </a:tcPr>
                </a:tc>
                <a:tc>
                  <a:txBody>
                    <a:bodyPr/>
                    <a:lstStyle/>
                    <a:p>
                      <a:pPr algn="ctr"/>
                      <a:r>
                        <a:rPr sz="750" b="1">
                          <a:solidFill>
                            <a:srgbClr val="FFFFFF"/>
                          </a:solidFill>
                          <a:latin typeface="Lato"/>
                        </a:rPr>
                        <a:t>Danger</a:t>
                      </a:r>
                    </a:p>
                  </a:txBody>
                  <a:tcPr marL="27432" marR="27432" marT="18288" marB="18288" anchor="ctr">
                    <a:solidFill>
                      <a:srgbClr val="075767"/>
                    </a:solidFill>
                  </a:tcPr>
                </a:tc>
                <a:tc>
                  <a:txBody>
                    <a:bodyPr/>
                    <a:lstStyle/>
                    <a:p>
                      <a:pPr algn="ctr"/>
                      <a:r>
                        <a:rPr sz="750" b="1">
                          <a:solidFill>
                            <a:srgbClr val="FFFFFF"/>
                          </a:solidFill>
                          <a:latin typeface="Lato"/>
                        </a:rPr>
                        <a:t>Unité de travail</a:t>
                      </a:r>
                    </a:p>
                  </a:txBody>
                  <a:tcPr marL="27432" marR="27432" marT="18288" marB="18288" anchor="ctr">
                    <a:solidFill>
                      <a:srgbClr val="075767"/>
                    </a:solidFill>
                  </a:tcPr>
                </a:tc>
                <a:tc>
                  <a:txBody>
                    <a:bodyPr/>
                    <a:lstStyle/>
                    <a:p>
                      <a:pPr algn="ctr"/>
                      <a:r>
                        <a:rPr sz="750" b="1">
                          <a:solidFill>
                            <a:srgbClr val="FFFFFF"/>
                          </a:solidFill>
                          <a:latin typeface="Lato"/>
                        </a:rPr>
                        <a:t>Circonstance d'exposition</a:t>
                      </a:r>
                    </a:p>
                  </a:txBody>
                  <a:tcPr marL="27432" marR="27432" marT="18288" marB="18288" anchor="ctr">
                    <a:solidFill>
                      <a:srgbClr val="075767"/>
                    </a:solidFill>
                  </a:tcPr>
                </a:tc>
                <a:tc>
                  <a:txBody>
                    <a:bodyPr/>
                    <a:lstStyle/>
                    <a:p>
                      <a:pPr algn="ctr"/>
                      <a:r>
                        <a:rPr sz="750" b="1">
                          <a:solidFill>
                            <a:srgbClr val="FFFFFF"/>
                          </a:solidFill>
                          <a:latin typeface="Lato"/>
                        </a:rPr>
                        <a:t>Lieu d'exposition</a:t>
                      </a:r>
                    </a:p>
                  </a:txBody>
                  <a:tcPr marL="27432" marR="27432" marT="18288" marB="18288" anchor="ctr">
                    <a:solidFill>
                      <a:srgbClr val="075767"/>
                    </a:solidFill>
                  </a:tcPr>
                </a:tc>
                <a:tc>
                  <a:txBody>
                    <a:bodyPr/>
                    <a:lstStyle/>
                    <a:p>
                      <a:pPr algn="ctr"/>
                      <a:r>
                        <a:rPr sz="750" b="1">
                          <a:solidFill>
                            <a:srgbClr val="FFFFFF"/>
                          </a:solidFill>
                          <a:latin typeface="Lato"/>
                        </a:rPr>
                        <a:t>Dommage possible</a:t>
                      </a:r>
                    </a:p>
                  </a:txBody>
                  <a:tcPr marL="27432" marR="27432" marT="18288" marB="18288" anchor="ctr">
                    <a:solidFill>
                      <a:srgbClr val="075767"/>
                    </a:solidFill>
                  </a:tcPr>
                </a:tc>
                <a:tc>
                  <a:txBody>
                    <a:bodyPr/>
                    <a:lstStyle/>
                    <a:p>
                      <a:pPr algn="ctr"/>
                      <a:r>
                        <a:rPr sz="750" b="1">
                          <a:solidFill>
                            <a:srgbClr val="FFFFFF"/>
                          </a:solidFill>
                          <a:latin typeface="Lato"/>
                        </a:rPr>
                        <a:t>Fréq.</a:t>
                      </a:r>
                    </a:p>
                  </a:txBody>
                  <a:tcPr marL="27432" marR="27432" marT="18288" marB="18288" anchor="ctr">
                    <a:solidFill>
                      <a:srgbClr val="075767"/>
                    </a:solidFill>
                  </a:tcPr>
                </a:tc>
                <a:tc>
                  <a:txBody>
                    <a:bodyPr/>
                    <a:lstStyle/>
                    <a:p>
                      <a:pPr algn="ctr"/>
                      <a:r>
                        <a:rPr sz="750" b="1">
                          <a:solidFill>
                            <a:srgbClr val="FFFFFF"/>
                          </a:solidFill>
                          <a:latin typeface="Lato"/>
                        </a:rPr>
                        <a:t>Grav.</a:t>
                      </a:r>
                    </a:p>
                  </a:txBody>
                  <a:tcPr marL="27432" marR="27432" marT="18288" marB="18288" anchor="ctr">
                    <a:solidFill>
                      <a:srgbClr val="075767"/>
                    </a:solidFill>
                  </a:tcPr>
                </a:tc>
                <a:tc>
                  <a:txBody>
                    <a:bodyPr/>
                    <a:lstStyle/>
                    <a:p>
                      <a:pPr algn="ctr"/>
                      <a:r>
                        <a:rPr sz="750" b="1">
                          <a:solidFill>
                            <a:srgbClr val="FFFFFF"/>
                          </a:solidFill>
                          <a:latin typeface="Lato"/>
                        </a:rPr>
                        <a:t>Critic.</a:t>
                      </a:r>
                    </a:p>
                  </a:txBody>
                  <a:tcPr marL="27432" marR="27432" marT="18288" marB="18288" anchor="ctr">
                    <a:solidFill>
                      <a:srgbClr val="075767"/>
                    </a:solidFill>
                  </a:tcPr>
                </a:tc>
                <a:tc>
                  <a:txBody>
                    <a:bodyPr/>
                    <a:lstStyle/>
                    <a:p>
                      <a:pPr algn="ctr"/>
                      <a:r>
                        <a:rPr sz="750" b="1">
                          <a:solidFill>
                            <a:srgbClr val="FFFFFF"/>
                          </a:solidFill>
                          <a:latin typeface="Lato"/>
                        </a:rPr>
                        <a:t>Moyens de prévention en place</a:t>
                      </a:r>
                    </a:p>
                  </a:txBody>
                  <a:tcPr marL="27432" marR="27432" marT="18288" marB="18288" anchor="ctr">
                    <a:solidFill>
                      <a:srgbClr val="075767"/>
                    </a:solidFill>
                  </a:tcPr>
                </a:tc>
                <a:tc>
                  <a:txBody>
                    <a:bodyPr/>
                    <a:lstStyle/>
                    <a:p>
                      <a:pPr algn="ctr"/>
                      <a:r>
                        <a:rPr sz="750" b="1">
                          <a:solidFill>
                            <a:srgbClr val="FFFFFF"/>
                          </a:solidFill>
                          <a:latin typeface="Lato"/>
                        </a:rPr>
                        <a:t>Type de moyens</a:t>
                      </a:r>
                    </a:p>
                  </a:txBody>
                  <a:tcPr marL="27432" marR="27432" marT="18288" marB="18288" anchor="ctr">
                    <a:solidFill>
                      <a:srgbClr val="075767"/>
                    </a:solidFill>
                  </a:tcPr>
                </a:tc>
                <a:tc>
                  <a:txBody>
                    <a:bodyPr/>
                    <a:lstStyle/>
                    <a:p>
                      <a:pPr algn="ctr"/>
                      <a:r>
                        <a:rPr sz="750" b="1">
                          <a:solidFill>
                            <a:srgbClr val="FFFFFF"/>
                          </a:solidFill>
                          <a:latin typeface="Lato"/>
                        </a:rPr>
                        <a:t>Efficacité</a:t>
                      </a:r>
                    </a:p>
                  </a:txBody>
                  <a:tcPr marL="27432" marR="27432" marT="18288" marB="18288" anchor="ctr">
                    <a:solidFill>
                      <a:srgbClr val="075767"/>
                    </a:solidFill>
                  </a:tcPr>
                </a:tc>
                <a:tc>
                  <a:txBody>
                    <a:bodyPr/>
                    <a:lstStyle/>
                    <a:p>
                      <a:pPr algn="ctr"/>
                      <a:r>
                        <a:rPr sz="750" b="1">
                          <a:solidFill>
                            <a:srgbClr val="FFFFFF"/>
                          </a:solidFill>
                          <a:latin typeface="Lato"/>
                        </a:rPr>
                        <a:t>Niv. de protection</a:t>
                      </a:r>
                    </a:p>
                  </a:txBody>
                  <a:tcPr marL="27432" marR="27432" marT="18288" marB="18288" anchor="ctr">
                    <a:solidFill>
                      <a:srgbClr val="075767"/>
                    </a:solidFill>
                  </a:tcPr>
                </a:tc>
                <a:tc>
                  <a:txBody>
                    <a:bodyPr/>
                    <a:lstStyle/>
                    <a:p>
                      <a:pPr algn="ctr"/>
                      <a:r>
                        <a:rPr sz="750" b="1">
                          <a:solidFill>
                            <a:srgbClr val="FFFFFF"/>
                          </a:solidFill>
                          <a:latin typeface="Lato"/>
                        </a:rPr>
                        <a:t>Niv. de risque</a:t>
                      </a:r>
                    </a:p>
                  </a:txBody>
                  <a:tcPr marL="27432" marR="27432" marT="18288" marB="18288" anchor="ctr">
                    <a:solidFill>
                      <a:srgbClr val="075767"/>
                    </a:solidFill>
                  </a:tcPr>
                </a:tc>
                <a:tc>
                  <a:txBody>
                    <a:bodyPr/>
                    <a:lstStyle/>
                    <a:p>
                      <a:pPr algn="ctr"/>
                      <a:r>
                        <a:rPr sz="750" b="1">
                          <a:solidFill>
                            <a:srgbClr val="FFFFFF"/>
                          </a:solidFill>
                          <a:latin typeface="Lato"/>
                        </a:rPr>
                        <a:t>Actions à mettre en place</a:t>
                      </a:r>
                    </a:p>
                  </a:txBody>
                  <a:tcPr marL="27432" marR="27432" marT="18288" marB="18288" anchor="ctr">
                    <a:solidFill>
                      <a:srgbClr val="075767"/>
                    </a:solidFill>
                  </a:tcPr>
                </a:tc>
                <a:extLst>
                  <a:ext uri="{0D108BD9-81ED-4DB2-BD59-A6C34878D82A}">
                    <a16:rowId xmlns:a16="http://schemas.microsoft.com/office/drawing/2014/main" val="10000"/>
                  </a:ext>
                </a:extLst>
              </a:tr>
              <a:tr h="749808">
                <a:tc>
                  <a:txBody>
                    <a:bodyPr/>
                    <a:lstStyle/>
                    <a:p>
                      <a:pPr algn="l"/>
                      <a:r>
                        <a:rPr sz="750">
                          <a:solidFill>
                            <a:srgbClr val="595959"/>
                          </a:solidFill>
                          <a:latin typeface="Lato"/>
                        </a:rPr>
                        <a:t>09 Risques liés aux équipements de travail</a:t>
                      </a:r>
                    </a:p>
                  </a:txBody>
                  <a:tcPr marL="27432" marR="27432" marT="18288" marB="18288" anchor="ctr">
                    <a:solidFill>
                      <a:srgbClr val="E8F4F5"/>
                    </a:solidFill>
                  </a:tcPr>
                </a:tc>
                <a:tc>
                  <a:txBody>
                    <a:bodyPr/>
                    <a:lstStyle/>
                    <a:p>
                      <a:pPr algn="l"/>
                      <a:r>
                        <a:rPr sz="750">
                          <a:solidFill>
                            <a:srgbClr val="595959"/>
                          </a:solidFill>
                          <a:latin typeface="Lato"/>
                        </a:rPr>
                        <a:t>Matériel bureautique : souris</a:t>
                      </a:r>
                    </a:p>
                  </a:txBody>
                  <a:tcPr marL="27432" marR="27432" marT="18288" marB="18288" anchor="ctr">
                    <a:solidFill>
                      <a:srgbClr val="E8F4F5"/>
                    </a:solidFill>
                  </a:tcPr>
                </a:tc>
                <a:tc>
                  <a:txBody>
                    <a:bodyPr/>
                    <a:lstStyle/>
                    <a:p>
                      <a:pPr algn="l"/>
                      <a:r>
                        <a:rPr sz="750">
                          <a:solidFill>
                            <a:srgbClr val="595959"/>
                          </a:solidFill>
                          <a:latin typeface="Lato"/>
                        </a:rPr>
                        <a:t>Bureau</a:t>
                      </a:r>
                    </a:p>
                  </a:txBody>
                  <a:tcPr marL="27432" marR="27432" marT="18288" marB="18288" anchor="ctr">
                    <a:solidFill>
                      <a:srgbClr val="E8F4F5"/>
                    </a:solidFill>
                  </a:tcPr>
                </a:tc>
                <a:tc>
                  <a:txBody>
                    <a:bodyPr/>
                    <a:lstStyle/>
                    <a:p>
                      <a:pPr algn="l"/>
                      <a:r>
                        <a:rPr sz="750">
                          <a:solidFill>
                            <a:srgbClr val="595959"/>
                          </a:solidFill>
                          <a:latin typeface="Lato"/>
                        </a:rPr>
                        <a:t>Utilisation de la souris</a:t>
                      </a:r>
                    </a:p>
                  </a:txBody>
                  <a:tcPr marL="27432" marR="27432" marT="18288" marB="18288" anchor="ctr">
                    <a:solidFill>
                      <a:srgbClr val="E8F4F5"/>
                    </a:solidFill>
                  </a:tcPr>
                </a:tc>
                <a:tc>
                  <a:txBody>
                    <a:bodyPr/>
                    <a:lstStyle/>
                    <a:p>
                      <a:pPr algn="l"/>
                      <a:r>
                        <a:rPr sz="750">
                          <a:solidFill>
                            <a:srgbClr val="595959"/>
                          </a:solidFill>
                          <a:latin typeface="Lato"/>
                        </a:rPr>
                        <a:t>Open space service Lyon</a:t>
                      </a:r>
                    </a:p>
                  </a:txBody>
                  <a:tcPr marL="27432" marR="27432" marT="18288" marB="18288" anchor="ctr">
                    <a:solidFill>
                      <a:srgbClr val="E8F4F5"/>
                    </a:solidFill>
                  </a:tcPr>
                </a:tc>
                <a:tc>
                  <a:txBody>
                    <a:bodyPr/>
                    <a:lstStyle/>
                    <a:p>
                      <a:pPr algn="l"/>
                      <a:r>
                        <a:rPr sz="750">
                          <a:solidFill>
                            <a:srgbClr val="595959"/>
                          </a:solidFill>
                          <a:latin typeface="Lato"/>
                        </a:rPr>
                        <a:t>TMS, canal carpien</a:t>
                      </a:r>
                    </a:p>
                  </a:txBody>
                  <a:tcPr marL="27432" marR="27432" marT="18288" marB="18288" anchor="ctr">
                    <a:solidFill>
                      <a:srgbClr val="E8F4F5"/>
                    </a:solidFill>
                  </a:tcPr>
                </a:tc>
                <a:tc>
                  <a:txBody>
                    <a:bodyPr/>
                    <a:lstStyle/>
                    <a:p>
                      <a:pPr algn="ctr"/>
                      <a:r>
                        <a:rPr sz="750">
                          <a:solidFill>
                            <a:srgbClr val="595959"/>
                          </a:solidFill>
                          <a:latin typeface="Lato"/>
                        </a:rPr>
                        <a:t>16</a:t>
                      </a:r>
                    </a:p>
                  </a:txBody>
                  <a:tcPr marL="27432" marR="27432" marT="18288" marB="18288" anchor="ctr">
                    <a:solidFill>
                      <a:srgbClr val="E8F4F5"/>
                    </a:solidFill>
                  </a:tcPr>
                </a:tc>
                <a:tc>
                  <a:txBody>
                    <a:bodyPr/>
                    <a:lstStyle/>
                    <a:p>
                      <a:pPr algn="ctr"/>
                      <a:r>
                        <a:rPr sz="750">
                          <a:solidFill>
                            <a:srgbClr val="595959"/>
                          </a:solidFill>
                          <a:latin typeface="Lato"/>
                        </a:rPr>
                        <a:t>8</a:t>
                      </a:r>
                    </a:p>
                  </a:txBody>
                  <a:tcPr marL="27432" marR="27432" marT="18288" marB="18288" anchor="ctr">
                    <a:solidFill>
                      <a:srgbClr val="E8F4F5"/>
                    </a:solidFill>
                  </a:tcPr>
                </a:tc>
                <a:tc>
                  <a:txBody>
                    <a:bodyPr/>
                    <a:lstStyle/>
                    <a:p>
                      <a:pPr algn="ctr"/>
                      <a:r>
                        <a:rPr sz="750" b="1">
                          <a:solidFill>
                            <a:srgbClr val="075767"/>
                          </a:solidFill>
                          <a:latin typeface="Lato"/>
                        </a:rPr>
                        <a:t>128</a:t>
                      </a:r>
                    </a:p>
                  </a:txBody>
                  <a:tcPr marL="27432" marR="27432" marT="18288" marB="18288" anchor="ctr">
                    <a:solidFill>
                      <a:srgbClr val="E8F4F5"/>
                    </a:solidFill>
                  </a:tcPr>
                </a:tc>
                <a:tc>
                  <a:txBody>
                    <a:bodyPr/>
                    <a:lstStyle/>
                    <a:p>
                      <a:pPr algn="l"/>
                      <a:r>
                        <a:rPr sz="750">
                          <a:solidFill>
                            <a:srgbClr val="595959"/>
                          </a:solidFill>
                          <a:latin typeface="Lato"/>
                        </a:rPr>
                        <a:t>Mise à disposition d'un tapis et d'une souris ergonomiques</a:t>
                      </a:r>
                    </a:p>
                  </a:txBody>
                  <a:tcPr marL="27432" marR="27432" marT="18288" marB="18288" anchor="ctr">
                    <a:solidFill>
                      <a:srgbClr val="E8F4F5"/>
                    </a:solidFill>
                  </a:tcPr>
                </a:tc>
                <a:tc>
                  <a:txBody>
                    <a:bodyPr/>
                    <a:lstStyle/>
                    <a:p>
                      <a:pPr algn="ctr"/>
                      <a:r>
                        <a:rPr sz="750">
                          <a:solidFill>
                            <a:srgbClr val="595959"/>
                          </a:solidFill>
                          <a:latin typeface="Lato"/>
                        </a:rPr>
                        <a:t>2</a:t>
                      </a:r>
                    </a:p>
                  </a:txBody>
                  <a:tcPr marL="27432" marR="27432" marT="18288" marB="18288" anchor="ctr">
                    <a:solidFill>
                      <a:srgbClr val="E8F4F5"/>
                    </a:solidFill>
                  </a:tcPr>
                </a:tc>
                <a:tc>
                  <a:txBody>
                    <a:bodyPr/>
                    <a:lstStyle/>
                    <a:p>
                      <a:pPr algn="ctr"/>
                      <a:r>
                        <a:rPr sz="750">
                          <a:solidFill>
                            <a:srgbClr val="595959"/>
                          </a:solidFill>
                          <a:latin typeface="Lato"/>
                        </a:rPr>
                        <a:t>2</a:t>
                      </a:r>
                    </a:p>
                  </a:txBody>
                  <a:tcPr marL="27432" marR="27432" marT="18288" marB="18288" anchor="ctr">
                    <a:solidFill>
                      <a:srgbClr val="E8F4F5"/>
                    </a:solidFill>
                  </a:tcPr>
                </a:tc>
                <a:tc>
                  <a:txBody>
                    <a:bodyPr/>
                    <a:lstStyle/>
                    <a:p>
                      <a:pPr algn="ctr"/>
                      <a:r>
                        <a:rPr sz="750">
                          <a:solidFill>
                            <a:srgbClr val="595959"/>
                          </a:solidFill>
                          <a:latin typeface="Lato"/>
                        </a:rPr>
                        <a:t>4</a:t>
                      </a:r>
                    </a:p>
                  </a:txBody>
                  <a:tcPr marL="27432" marR="27432" marT="18288" marB="18288" anchor="ctr">
                    <a:solidFill>
                      <a:srgbClr val="E8F4F5"/>
                    </a:solidFill>
                  </a:tcPr>
                </a:tc>
                <a:tc>
                  <a:txBody>
                    <a:bodyPr/>
                    <a:lstStyle/>
                    <a:p>
                      <a:pPr algn="ctr"/>
                      <a:r>
                        <a:rPr sz="750" b="1">
                          <a:solidFill>
                            <a:srgbClr val="075767"/>
                          </a:solidFill>
                          <a:latin typeface="Lato"/>
                        </a:rPr>
                        <a:t>32</a:t>
                      </a:r>
                    </a:p>
                  </a:txBody>
                  <a:tcPr marL="27432" marR="27432" marT="18288" marB="18288" anchor="ctr">
                    <a:solidFill>
                      <a:srgbClr val="E8F4F5"/>
                    </a:solidFill>
                  </a:tcPr>
                </a:tc>
                <a:tc>
                  <a:txBody>
                    <a:bodyPr/>
                    <a:lstStyle/>
                    <a:p>
                      <a:pPr algn="l"/>
                      <a:r>
                        <a:rPr sz="750">
                          <a:solidFill>
                            <a:srgbClr val="595959"/>
                          </a:solidFill>
                          <a:latin typeface="Lato"/>
                        </a:rPr>
                        <a:t>Réaliser un test d'alternance d'activité de travail</a:t>
                      </a:r>
                    </a:p>
                  </a:txBody>
                  <a:tcPr marL="27432" marR="27432" marT="18288" marB="18288" anchor="ctr">
                    <a:solidFill>
                      <a:srgbClr val="E8F4F5"/>
                    </a:solidFill>
                  </a:tcPr>
                </a:tc>
                <a:extLst>
                  <a:ext uri="{0D108BD9-81ED-4DB2-BD59-A6C34878D82A}">
                    <a16:rowId xmlns:a16="http://schemas.microsoft.com/office/drawing/2014/main" val="10001"/>
                  </a:ext>
                </a:extLst>
              </a:tr>
              <a:tr h="749808">
                <a:tc>
                  <a:txBody>
                    <a:bodyPr/>
                    <a:lstStyle/>
                    <a:p>
                      <a:pPr algn="l"/>
                      <a:r>
                        <a:rPr sz="750">
                          <a:solidFill>
                            <a:srgbClr val="595959"/>
                          </a:solidFill>
                          <a:latin typeface="Lato"/>
                        </a:rPr>
                        <a:t>09 Risques liés aux équipements de travail</a:t>
                      </a:r>
                    </a:p>
                  </a:txBody>
                  <a:tcPr marL="27432" marR="27432" marT="18288" marB="18288" anchor="ctr">
                    <a:solidFill>
                      <a:srgbClr val="FFFFFF"/>
                    </a:solidFill>
                  </a:tcPr>
                </a:tc>
                <a:tc>
                  <a:txBody>
                    <a:bodyPr/>
                    <a:lstStyle/>
                    <a:p>
                      <a:pPr algn="l"/>
                      <a:r>
                        <a:rPr sz="750">
                          <a:solidFill>
                            <a:srgbClr val="595959"/>
                          </a:solidFill>
                          <a:latin typeface="Lato"/>
                        </a:rPr>
                        <a:t>Utilisation du siège de bureau</a:t>
                      </a:r>
                    </a:p>
                  </a:txBody>
                  <a:tcPr marL="27432" marR="27432" marT="18288" marB="18288" anchor="ctr">
                    <a:solidFill>
                      <a:srgbClr val="FFFFFF"/>
                    </a:solidFill>
                  </a:tcPr>
                </a:tc>
                <a:tc>
                  <a:txBody>
                    <a:bodyPr/>
                    <a:lstStyle/>
                    <a:p>
                      <a:pPr algn="l"/>
                      <a:r>
                        <a:rPr sz="750">
                          <a:solidFill>
                            <a:srgbClr val="595959"/>
                          </a:solidFill>
                          <a:latin typeface="Lato"/>
                        </a:rPr>
                        <a:t>Bureau</a:t>
                      </a:r>
                    </a:p>
                  </a:txBody>
                  <a:tcPr marL="27432" marR="27432" marT="18288" marB="18288" anchor="ctr">
                    <a:solidFill>
                      <a:srgbClr val="FFFFFF"/>
                    </a:solidFill>
                  </a:tcPr>
                </a:tc>
                <a:tc>
                  <a:txBody>
                    <a:bodyPr/>
                    <a:lstStyle/>
                    <a:p>
                      <a:pPr algn="l"/>
                      <a:r>
                        <a:rPr sz="750">
                          <a:solidFill>
                            <a:srgbClr val="595959"/>
                          </a:solidFill>
                          <a:latin typeface="Lato"/>
                        </a:rPr>
                        <a:t>Posture contraignante, siège inadapté</a:t>
                      </a:r>
                    </a:p>
                  </a:txBody>
                  <a:tcPr marL="27432" marR="27432" marT="18288" marB="18288" anchor="ctr">
                    <a:solidFill>
                      <a:srgbClr val="FFFFFF"/>
                    </a:solidFill>
                  </a:tcPr>
                </a:tc>
                <a:tc>
                  <a:txBody>
                    <a:bodyPr/>
                    <a:lstStyle/>
                    <a:p>
                      <a:pPr algn="l"/>
                      <a:r>
                        <a:rPr sz="750">
                          <a:solidFill>
                            <a:srgbClr val="595959"/>
                          </a:solidFill>
                          <a:latin typeface="Lato"/>
                        </a:rPr>
                        <a:t>Open space service Lyon</a:t>
                      </a:r>
                    </a:p>
                  </a:txBody>
                  <a:tcPr marL="27432" marR="27432" marT="18288" marB="18288" anchor="ctr">
                    <a:solidFill>
                      <a:srgbClr val="FFFFFF"/>
                    </a:solidFill>
                  </a:tcPr>
                </a:tc>
                <a:tc>
                  <a:txBody>
                    <a:bodyPr/>
                    <a:lstStyle/>
                    <a:p>
                      <a:pPr algn="l"/>
                      <a:r>
                        <a:rPr sz="750">
                          <a:solidFill>
                            <a:srgbClr val="595959"/>
                          </a:solidFill>
                          <a:latin typeface="Lato"/>
                        </a:rPr>
                        <a:t>TMS, douleurs lombaires</a:t>
                      </a:r>
                    </a:p>
                  </a:txBody>
                  <a:tcPr marL="27432" marR="27432" marT="18288" marB="18288" anchor="ctr">
                    <a:solidFill>
                      <a:srgbClr val="FFFFFF"/>
                    </a:solidFill>
                  </a:tcPr>
                </a:tc>
                <a:tc>
                  <a:txBody>
                    <a:bodyPr/>
                    <a:lstStyle/>
                    <a:p>
                      <a:pPr algn="ctr"/>
                      <a:r>
                        <a:rPr sz="750">
                          <a:solidFill>
                            <a:srgbClr val="595959"/>
                          </a:solidFill>
                          <a:latin typeface="Lato"/>
                        </a:rPr>
                        <a:t>16</a:t>
                      </a:r>
                    </a:p>
                  </a:txBody>
                  <a:tcPr marL="27432" marR="27432" marT="18288" marB="18288" anchor="ctr">
                    <a:solidFill>
                      <a:srgbClr val="FFFFFF"/>
                    </a:solidFill>
                  </a:tcPr>
                </a:tc>
                <a:tc>
                  <a:txBody>
                    <a:bodyPr/>
                    <a:lstStyle/>
                    <a:p>
                      <a:pPr algn="ctr"/>
                      <a:r>
                        <a:rPr sz="750">
                          <a:solidFill>
                            <a:srgbClr val="595959"/>
                          </a:solidFill>
                          <a:latin typeface="Lato"/>
                        </a:rPr>
                        <a:t>8</a:t>
                      </a:r>
                    </a:p>
                  </a:txBody>
                  <a:tcPr marL="27432" marR="27432" marT="18288" marB="18288" anchor="ctr">
                    <a:solidFill>
                      <a:srgbClr val="FFFFFF"/>
                    </a:solidFill>
                  </a:tcPr>
                </a:tc>
                <a:tc>
                  <a:txBody>
                    <a:bodyPr/>
                    <a:lstStyle/>
                    <a:p>
                      <a:pPr algn="ctr"/>
                      <a:r>
                        <a:rPr sz="750" b="1">
                          <a:solidFill>
                            <a:srgbClr val="075767"/>
                          </a:solidFill>
                          <a:latin typeface="Lato"/>
                        </a:rPr>
                        <a:t>128</a:t>
                      </a:r>
                    </a:p>
                  </a:txBody>
                  <a:tcPr marL="27432" marR="27432" marT="18288" marB="18288" anchor="ctr">
                    <a:solidFill>
                      <a:srgbClr val="FFFFFF"/>
                    </a:solidFill>
                  </a:tcPr>
                </a:tc>
                <a:tc>
                  <a:txBody>
                    <a:bodyPr/>
                    <a:lstStyle/>
                    <a:p>
                      <a:pPr algn="l"/>
                      <a:r>
                        <a:rPr sz="750">
                          <a:solidFill>
                            <a:srgbClr val="595959"/>
                          </a:solidFill>
                          <a:latin typeface="Lato"/>
                        </a:rPr>
                        <a:t>Mise à disposition d'un siège ergonomique réglable</a:t>
                      </a:r>
                    </a:p>
                  </a:txBody>
                  <a:tcPr marL="27432" marR="27432" marT="18288" marB="18288" anchor="ctr">
                    <a:solidFill>
                      <a:srgbClr val="FFFFFF"/>
                    </a:solidFill>
                  </a:tcPr>
                </a:tc>
                <a:tc>
                  <a:txBody>
                    <a:bodyPr/>
                    <a:lstStyle/>
                    <a:p>
                      <a:pPr algn="ctr"/>
                      <a:r>
                        <a:rPr sz="750">
                          <a:solidFill>
                            <a:srgbClr val="595959"/>
                          </a:solidFill>
                          <a:latin typeface="Lato"/>
                        </a:rPr>
                        <a:t>3</a:t>
                      </a:r>
                    </a:p>
                  </a:txBody>
                  <a:tcPr marL="27432" marR="27432" marT="18288" marB="18288" anchor="ctr">
                    <a:solidFill>
                      <a:srgbClr val="FFFFFF"/>
                    </a:solidFill>
                  </a:tcPr>
                </a:tc>
                <a:tc>
                  <a:txBody>
                    <a:bodyPr/>
                    <a:lstStyle/>
                    <a:p>
                      <a:pPr algn="ctr"/>
                      <a:r>
                        <a:rPr sz="750">
                          <a:solidFill>
                            <a:srgbClr val="595959"/>
                          </a:solidFill>
                          <a:latin typeface="Lato"/>
                        </a:rPr>
                        <a:t>2</a:t>
                      </a:r>
                    </a:p>
                  </a:txBody>
                  <a:tcPr marL="27432" marR="27432" marT="18288" marB="18288" anchor="ctr">
                    <a:solidFill>
                      <a:srgbClr val="FFFFFF"/>
                    </a:solidFill>
                  </a:tcPr>
                </a:tc>
                <a:tc>
                  <a:txBody>
                    <a:bodyPr/>
                    <a:lstStyle/>
                    <a:p>
                      <a:pPr algn="ctr"/>
                      <a:r>
                        <a:rPr sz="750">
                          <a:solidFill>
                            <a:srgbClr val="595959"/>
                          </a:solidFill>
                          <a:latin typeface="Lato"/>
                        </a:rPr>
                        <a:t>6</a:t>
                      </a:r>
                    </a:p>
                  </a:txBody>
                  <a:tcPr marL="27432" marR="27432" marT="18288" marB="18288" anchor="ctr">
                    <a:solidFill>
                      <a:srgbClr val="FFFFFF"/>
                    </a:solidFill>
                  </a:tcPr>
                </a:tc>
                <a:tc>
                  <a:txBody>
                    <a:bodyPr/>
                    <a:lstStyle/>
                    <a:p>
                      <a:pPr algn="ctr"/>
                      <a:r>
                        <a:rPr sz="750" b="1">
                          <a:solidFill>
                            <a:srgbClr val="075767"/>
                          </a:solidFill>
                          <a:latin typeface="Lato"/>
                        </a:rPr>
                        <a:t>21,3</a:t>
                      </a:r>
                    </a:p>
                  </a:txBody>
                  <a:tcPr marL="27432" marR="27432" marT="18288" marB="18288" anchor="ctr">
                    <a:solidFill>
                      <a:srgbClr val="FFFFFF"/>
                    </a:solidFill>
                  </a:tcPr>
                </a:tc>
                <a:tc>
                  <a:txBody>
                    <a:bodyPr/>
                    <a:lstStyle/>
                    <a:p>
                      <a:pPr algn="l"/>
                      <a:r>
                        <a:rPr sz="750">
                          <a:solidFill>
                            <a:srgbClr val="595959"/>
                          </a:solidFill>
                          <a:latin typeface="Lato"/>
                        </a:rPr>
                        <a:t>Voir pour un repose-pied</a:t>
                      </a:r>
                    </a:p>
                  </a:txBody>
                  <a:tcPr marL="27432" marR="27432" marT="18288" marB="18288" anchor="ctr">
                    <a:solidFill>
                      <a:srgbClr val="FFFFFF"/>
                    </a:solidFill>
                  </a:tcPr>
                </a:tc>
                <a:extLst>
                  <a:ext uri="{0D108BD9-81ED-4DB2-BD59-A6C34878D82A}">
                    <a16:rowId xmlns:a16="http://schemas.microsoft.com/office/drawing/2014/main" val="10002"/>
                  </a:ext>
                </a:extLst>
              </a:tr>
              <a:tr h="749808">
                <a:tc>
                  <a:txBody>
                    <a:bodyPr/>
                    <a:lstStyle/>
                    <a:p>
                      <a:pPr algn="l"/>
                      <a:r>
                        <a:rPr sz="750">
                          <a:solidFill>
                            <a:srgbClr val="595959"/>
                          </a:solidFill>
                          <a:latin typeface="Lato"/>
                        </a:rPr>
                        <a:t>15 Risques liés aux ambiances lumineuses</a:t>
                      </a:r>
                    </a:p>
                  </a:txBody>
                  <a:tcPr marL="27432" marR="27432" marT="18288" marB="18288" anchor="ctr">
                    <a:solidFill>
                      <a:srgbClr val="E8F4F5"/>
                    </a:solidFill>
                  </a:tcPr>
                </a:tc>
                <a:tc>
                  <a:txBody>
                    <a:bodyPr/>
                    <a:lstStyle/>
                    <a:p>
                      <a:pPr algn="l"/>
                      <a:r>
                        <a:rPr sz="750">
                          <a:solidFill>
                            <a:srgbClr val="595959"/>
                          </a:solidFill>
                          <a:latin typeface="Lato"/>
                        </a:rPr>
                        <a:t>Luminosité</a:t>
                      </a:r>
                    </a:p>
                  </a:txBody>
                  <a:tcPr marL="27432" marR="27432" marT="18288" marB="18288" anchor="ctr">
                    <a:solidFill>
                      <a:srgbClr val="E8F4F5"/>
                    </a:solidFill>
                  </a:tcPr>
                </a:tc>
                <a:tc>
                  <a:txBody>
                    <a:bodyPr/>
                    <a:lstStyle/>
                    <a:p>
                      <a:pPr algn="l"/>
                      <a:r>
                        <a:rPr sz="750">
                          <a:solidFill>
                            <a:srgbClr val="595959"/>
                          </a:solidFill>
                          <a:latin typeface="Lato"/>
                        </a:rPr>
                        <a:t>Bureau</a:t>
                      </a:r>
                    </a:p>
                  </a:txBody>
                  <a:tcPr marL="27432" marR="27432" marT="18288" marB="18288" anchor="ctr">
                    <a:solidFill>
                      <a:srgbClr val="E8F4F5"/>
                    </a:solidFill>
                  </a:tcPr>
                </a:tc>
                <a:tc>
                  <a:txBody>
                    <a:bodyPr/>
                    <a:lstStyle/>
                    <a:p>
                      <a:pPr algn="l"/>
                      <a:r>
                        <a:rPr sz="750">
                          <a:solidFill>
                            <a:srgbClr val="595959"/>
                          </a:solidFill>
                          <a:latin typeface="Lato"/>
                        </a:rPr>
                        <a:t>Faible et forte luminosité</a:t>
                      </a:r>
                    </a:p>
                  </a:txBody>
                  <a:tcPr marL="27432" marR="27432" marT="18288" marB="18288" anchor="ctr">
                    <a:solidFill>
                      <a:srgbClr val="E8F4F5"/>
                    </a:solidFill>
                  </a:tcPr>
                </a:tc>
                <a:tc>
                  <a:txBody>
                    <a:bodyPr/>
                    <a:lstStyle/>
                    <a:p>
                      <a:pPr algn="l"/>
                      <a:r>
                        <a:rPr sz="750">
                          <a:solidFill>
                            <a:srgbClr val="595959"/>
                          </a:solidFill>
                          <a:latin typeface="Lato"/>
                        </a:rPr>
                        <a:t>Open space service Lyon</a:t>
                      </a:r>
                    </a:p>
                  </a:txBody>
                  <a:tcPr marL="27432" marR="27432" marT="18288" marB="18288" anchor="ctr">
                    <a:solidFill>
                      <a:srgbClr val="E8F4F5"/>
                    </a:solidFill>
                  </a:tcPr>
                </a:tc>
                <a:tc>
                  <a:txBody>
                    <a:bodyPr/>
                    <a:lstStyle/>
                    <a:p>
                      <a:pPr algn="l"/>
                      <a:r>
                        <a:rPr sz="750">
                          <a:solidFill>
                            <a:srgbClr val="595959"/>
                          </a:solidFill>
                          <a:latin typeface="Lato"/>
                        </a:rPr>
                        <a:t>Fatigue visuelle</a:t>
                      </a:r>
                    </a:p>
                  </a:txBody>
                  <a:tcPr marL="27432" marR="27432" marT="18288" marB="18288" anchor="ctr">
                    <a:solidFill>
                      <a:srgbClr val="E8F4F5"/>
                    </a:solidFill>
                  </a:tcPr>
                </a:tc>
                <a:tc>
                  <a:txBody>
                    <a:bodyPr/>
                    <a:lstStyle/>
                    <a:p>
                      <a:pPr algn="ctr"/>
                      <a:r>
                        <a:rPr sz="750">
                          <a:solidFill>
                            <a:srgbClr val="595959"/>
                          </a:solidFill>
                          <a:latin typeface="Lato"/>
                        </a:rPr>
                        <a:t>16</a:t>
                      </a:r>
                    </a:p>
                  </a:txBody>
                  <a:tcPr marL="27432" marR="27432" marT="18288" marB="18288" anchor="ctr">
                    <a:solidFill>
                      <a:srgbClr val="E8F4F5"/>
                    </a:solidFill>
                  </a:tcPr>
                </a:tc>
                <a:tc>
                  <a:txBody>
                    <a:bodyPr/>
                    <a:lstStyle/>
                    <a:p>
                      <a:pPr algn="ctr"/>
                      <a:r>
                        <a:rPr sz="750">
                          <a:solidFill>
                            <a:srgbClr val="595959"/>
                          </a:solidFill>
                          <a:latin typeface="Lato"/>
                        </a:rPr>
                        <a:t>4</a:t>
                      </a:r>
                    </a:p>
                  </a:txBody>
                  <a:tcPr marL="27432" marR="27432" marT="18288" marB="18288" anchor="ctr">
                    <a:solidFill>
                      <a:srgbClr val="E8F4F5"/>
                    </a:solidFill>
                  </a:tcPr>
                </a:tc>
                <a:tc>
                  <a:txBody>
                    <a:bodyPr/>
                    <a:lstStyle/>
                    <a:p>
                      <a:pPr algn="ctr"/>
                      <a:r>
                        <a:rPr sz="750" b="1">
                          <a:solidFill>
                            <a:srgbClr val="075767"/>
                          </a:solidFill>
                          <a:latin typeface="Lato"/>
                        </a:rPr>
                        <a:t>64</a:t>
                      </a:r>
                    </a:p>
                  </a:txBody>
                  <a:tcPr marL="27432" marR="27432" marT="18288" marB="18288" anchor="ctr">
                    <a:solidFill>
                      <a:srgbClr val="E8F4F5"/>
                    </a:solidFill>
                  </a:tcPr>
                </a:tc>
                <a:tc>
                  <a:txBody>
                    <a:bodyPr/>
                    <a:lstStyle/>
                    <a:p>
                      <a:pPr algn="l"/>
                      <a:r>
                        <a:rPr sz="750">
                          <a:solidFill>
                            <a:srgbClr val="595959"/>
                          </a:solidFill>
                          <a:latin typeface="Lato"/>
                        </a:rPr>
                        <a:t>Lumière naturelle et artificielle (néon)</a:t>
                      </a:r>
                    </a:p>
                  </a:txBody>
                  <a:tcPr marL="27432" marR="27432" marT="18288" marB="18288" anchor="ctr">
                    <a:solidFill>
                      <a:srgbClr val="E8F4F5"/>
                    </a:solidFill>
                  </a:tcPr>
                </a:tc>
                <a:tc>
                  <a:txBody>
                    <a:bodyPr/>
                    <a:lstStyle/>
                    <a:p>
                      <a:pPr algn="ctr"/>
                      <a:r>
                        <a:rPr sz="750">
                          <a:solidFill>
                            <a:srgbClr val="595959"/>
                          </a:solidFill>
                          <a:latin typeface="Lato"/>
                        </a:rPr>
                        <a:t>3</a:t>
                      </a:r>
                    </a:p>
                  </a:txBody>
                  <a:tcPr marL="27432" marR="27432" marT="18288" marB="18288" anchor="ctr">
                    <a:solidFill>
                      <a:srgbClr val="E8F4F5"/>
                    </a:solidFill>
                  </a:tcPr>
                </a:tc>
                <a:tc>
                  <a:txBody>
                    <a:bodyPr/>
                    <a:lstStyle/>
                    <a:p>
                      <a:pPr algn="ctr"/>
                      <a:r>
                        <a:rPr sz="750">
                          <a:solidFill>
                            <a:srgbClr val="595959"/>
                          </a:solidFill>
                          <a:latin typeface="Lato"/>
                        </a:rPr>
                        <a:t>3</a:t>
                      </a:r>
                    </a:p>
                  </a:txBody>
                  <a:tcPr marL="27432" marR="27432" marT="18288" marB="18288" anchor="ctr">
                    <a:solidFill>
                      <a:srgbClr val="E8F4F5"/>
                    </a:solidFill>
                  </a:tcPr>
                </a:tc>
                <a:tc>
                  <a:txBody>
                    <a:bodyPr/>
                    <a:lstStyle/>
                    <a:p>
                      <a:pPr algn="ctr"/>
                      <a:r>
                        <a:rPr sz="750">
                          <a:solidFill>
                            <a:srgbClr val="595959"/>
                          </a:solidFill>
                          <a:latin typeface="Lato"/>
                        </a:rPr>
                        <a:t>9</a:t>
                      </a:r>
                    </a:p>
                  </a:txBody>
                  <a:tcPr marL="27432" marR="27432" marT="18288" marB="18288" anchor="ctr">
                    <a:solidFill>
                      <a:srgbClr val="E8F4F5"/>
                    </a:solidFill>
                  </a:tcPr>
                </a:tc>
                <a:tc>
                  <a:txBody>
                    <a:bodyPr/>
                    <a:lstStyle/>
                    <a:p>
                      <a:pPr algn="ctr"/>
                      <a:r>
                        <a:rPr sz="750" b="1">
                          <a:solidFill>
                            <a:srgbClr val="075767"/>
                          </a:solidFill>
                          <a:latin typeface="Lato"/>
                        </a:rPr>
                        <a:t>7,1</a:t>
                      </a:r>
                    </a:p>
                  </a:txBody>
                  <a:tcPr marL="27432" marR="27432" marT="18288" marB="18288" anchor="ctr">
                    <a:solidFill>
                      <a:srgbClr val="E8F4F5"/>
                    </a:solidFill>
                  </a:tcPr>
                </a:tc>
                <a:tc>
                  <a:txBody>
                    <a:bodyPr/>
                    <a:lstStyle/>
                    <a:p>
                      <a:pPr algn="l"/>
                      <a:r>
                        <a:rPr sz="750">
                          <a:solidFill>
                            <a:srgbClr val="595959"/>
                          </a:solidFill>
                          <a:latin typeface="Lato"/>
                        </a:rPr>
                        <a:t>Vigilance sur les locaux aveugles</a:t>
                      </a:r>
                    </a:p>
                  </a:txBody>
                  <a:tcPr marL="27432" marR="27432" marT="18288" marB="18288" anchor="ctr">
                    <a:solidFill>
                      <a:srgbClr val="E8F4F5"/>
                    </a:solidFill>
                  </a:tcPr>
                </a:tc>
                <a:extLst>
                  <a:ext uri="{0D108BD9-81ED-4DB2-BD59-A6C34878D82A}">
                    <a16:rowId xmlns:a16="http://schemas.microsoft.com/office/drawing/2014/main" val="10003"/>
                  </a:ext>
                </a:extLst>
              </a:tr>
            </a:tbl>
          </a:graphicData>
        </a:graphic>
      </p:graphicFrame>
      <p:sp>
        <p:nvSpPr>
          <p:cNvPr id="18" name="Rectangle 17"/>
          <p:cNvSpPr/>
          <p:nvPr/>
        </p:nvSpPr>
        <p:spPr>
          <a:xfrm>
            <a:off x="8046720" y="2084831"/>
            <a:ext cx="3410712" cy="2889504"/>
          </a:xfrm>
          <a:prstGeom prst="rect">
            <a:avLst/>
          </a:prstGeom>
          <a:solidFill>
            <a:srgbClr val="FFFFFF"/>
          </a:solidFill>
          <a:ln w="12700">
            <a:solidFill>
              <a:srgbClr val="45818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45818D"/>
                </a:solidFill>
                <a:latin typeface="Lato"/>
              </a:rPr>
              <a:t>L'évaluation du risque résiduel</a:t>
            </a:r>
          </a:p>
        </p:txBody>
      </p:sp>
      <p:sp>
        <p:nvSpPr>
          <p:cNvPr id="19" name="TextBox 18"/>
          <p:cNvSpPr txBox="1"/>
          <p:nvPr/>
        </p:nvSpPr>
        <p:spPr>
          <a:xfrm>
            <a:off x="731520" y="5138928"/>
            <a:ext cx="10725912" cy="502920"/>
          </a:xfrm>
          <a:prstGeom prst="rect">
            <a:avLst/>
          </a:prstGeom>
          <a:noFill/>
        </p:spPr>
        <p:txBody>
          <a:bodyPr wrap="square" lIns="0" tIns="0" rIns="0" bIns="0" anchor="t">
            <a:spAutoFit/>
          </a:bodyPr>
          <a:lstStyle/>
          <a:p>
            <a:pPr algn="l"/>
            <a:r>
              <a:rPr sz="1250" b="1" i="0">
                <a:solidFill>
                  <a:srgbClr val="075767"/>
                </a:solidFill>
                <a:latin typeface="Lato"/>
              </a:rPr>
              <a:t>Le document unique tel qu'il sort dans la plupart des entreprises : on s'arrête à la criticité. Deux risques sur trois sont à 128. Par lequel commence-t-on ?</a:t>
            </a:r>
          </a:p>
        </p:txBody>
      </p:sp>
      <p:grpSp>
        <p:nvGrpSpPr>
          <p:cNvPr id="9136" name="Bloc 3"/>
          <p:cNvGrpSpPr/>
          <p:nvPr/>
        </p:nvGrpSpPr>
        <p:grpSpPr>
          <a:xfrm>
            <a:off x="731520" y="5532120"/>
            <a:ext cx="10725912" cy="566928"/>
            <a:chOff x="731520" y="5532120"/>
            <a:chExt cx="10725912" cy="566928"/>
          </a:xfrm>
        </p:grpSpPr>
        <p:sp>
          <p:nvSpPr>
            <p:cNvPr id="20" name="Rounded Rectangle 19"/>
            <p:cNvSpPr/>
            <p:nvPr/>
          </p:nvSpPr>
          <p:spPr>
            <a:xfrm>
              <a:off x="731520" y="5532120"/>
              <a:ext cx="10725912" cy="56692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4128" y="5532120"/>
              <a:ext cx="10140696" cy="566928"/>
            </a:xfrm>
            <a:prstGeom prst="rect">
              <a:avLst/>
            </a:prstGeom>
            <a:noFill/>
          </p:spPr>
          <p:txBody>
            <a:bodyPr wrap="square" lIns="0" rIns="0" anchor="ctr">
              <a:spAutoFit/>
            </a:bodyPr>
            <a:lstStyle/>
            <a:p>
              <a:r>
                <a:rPr sz="1150" b="1">
                  <a:solidFill>
                    <a:srgbClr val="C33F14"/>
                  </a:solidFill>
                  <a:latin typeface="Lato"/>
                </a:rPr>
                <a:t>La limite de ce tableau   arrêté à la criticité, il ne permet pas de désigner le risque sur lequel porter l'effort en priorité.</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5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5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36"/>
                                        </p:tgtEl>
                                        <p:attrNameLst>
                                          <p:attrName>style.visibility</p:attrName>
                                        </p:attrNameLst>
                                      </p:cBhvr>
                                      <p:to>
                                        <p:strVal val="visible"/>
                                      </p:to>
                                    </p:set>
                                    <p:animEffect transition="in" filter="fade">
                                      <p:cBhvr>
                                        <p:cTn id="17" dur="450"/>
                                        <p:tgtEl>
                                          <p:spTgt spid="9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que ce tableau ne permet pas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grpSp>
        <p:nvGrpSpPr>
          <p:cNvPr id="9137" name="Bloc 1"/>
          <p:cNvGrpSpPr/>
          <p:nvPr/>
        </p:nvGrpSpPr>
        <p:grpSpPr>
          <a:xfrm>
            <a:off x="731520" y="1828800"/>
            <a:ext cx="10728655" cy="1371600"/>
            <a:chOff x="731520" y="1828800"/>
            <a:chExt cx="10728655" cy="1371600"/>
          </a:xfrm>
        </p:grpSpPr>
        <p:sp>
          <p:nvSpPr>
            <p:cNvPr id="10" name="Shape 8"/>
            <p:cNvSpPr/>
            <p:nvPr/>
          </p:nvSpPr>
          <p:spPr>
            <a:xfrm>
              <a:off x="731520" y="1828800"/>
              <a:ext cx="10728655" cy="1371600"/>
            </a:xfrm>
            <a:prstGeom prst="roundRect">
              <a:avLst>
                <a:gd name="adj" fmla="val 3333"/>
              </a:avLst>
            </a:prstGeom>
            <a:solidFill>
              <a:srgbClr val="FCEDE6"/>
            </a:solidFill>
            <a:ln/>
          </p:spPr>
          <p:txBody>
            <a:bodyPr/>
            <a:lstStyle/>
            <a:p>
              <a:endParaRPr/>
            </a:p>
          </p:txBody>
        </p:sp>
        <p:sp>
          <p:nvSpPr>
            <p:cNvPr id="11" name="Shape 9"/>
            <p:cNvSpPr/>
            <p:nvPr/>
          </p:nvSpPr>
          <p:spPr>
            <a:xfrm>
              <a:off x="987552" y="2103120"/>
              <a:ext cx="777240" cy="777240"/>
            </a:xfrm>
            <a:prstGeom prst="ellipse">
              <a:avLst/>
            </a:prstGeom>
            <a:solidFill>
              <a:srgbClr val="F06C23"/>
            </a:solidFill>
            <a:ln/>
          </p:spPr>
          <p:txBody>
            <a:bodyPr/>
            <a:lstStyle/>
            <a:p>
              <a:endParaRPr/>
            </a:p>
          </p:txBody>
        </p:sp>
        <p:pic>
          <p:nvPicPr>
            <p:cNvPr id="12" name="Image 0" descr="/home/claude/tmo/build/ico/alerte-blanc.png"/>
            <p:cNvPicPr>
              <a:picLocks noChangeAspect="1"/>
            </p:cNvPicPr>
            <p:nvPr/>
          </p:nvPicPr>
          <p:blipFill>
            <a:blip r:embed="rId3"/>
            <a:stretch>
              <a:fillRect/>
            </a:stretch>
          </p:blipFill>
          <p:spPr>
            <a:xfrm>
              <a:off x="1189634" y="2305202"/>
              <a:ext cx="373075" cy="373075"/>
            </a:xfrm>
            <a:prstGeom prst="rect">
              <a:avLst/>
            </a:prstGeom>
          </p:spPr>
        </p:pic>
        <p:sp>
          <p:nvSpPr>
            <p:cNvPr id="13" name="Text 10"/>
            <p:cNvSpPr txBox="1"/>
            <p:nvPr/>
          </p:nvSpPr>
          <p:spPr>
            <a:xfrm>
              <a:off x="1965960" y="1993392"/>
              <a:ext cx="9219895" cy="320040"/>
            </a:xfrm>
            <a:prstGeom prst="rect">
              <a:avLst/>
            </a:prstGeom>
            <a:noFill/>
            <a:ln/>
          </p:spPr>
          <p:txBody>
            <a:bodyPr wrap="square" lIns="0" tIns="0" rIns="0" bIns="0" rtlCol="0" anchor="t"/>
            <a:lstStyle/>
            <a:p>
              <a:pPr marL="0" indent="0">
                <a:buNone/>
              </a:pPr>
              <a:r>
                <a:rPr lang="en-US" sz="1350" b="1" dirty="0">
                  <a:solidFill>
                    <a:srgbClr val="C33F14"/>
                  </a:solidFill>
                  <a:latin typeface="Lato" pitchFamily="34" charset="0"/>
                  <a:ea typeface="Lato" pitchFamily="34" charset="-122"/>
                  <a:cs typeface="Lato" pitchFamily="34" charset="-120"/>
                </a:rPr>
                <a:t>Un DUERP arrêté à la criticité brute est inexploitable</a:t>
              </a:r>
              <a:endParaRPr lang="en-US" sz="1350" dirty="0"/>
            </a:p>
          </p:txBody>
        </p:sp>
        <p:sp>
          <p:nvSpPr>
            <p:cNvPr id="14" name="Text 11"/>
            <p:cNvSpPr txBox="1"/>
            <p:nvPr/>
          </p:nvSpPr>
          <p:spPr>
            <a:xfrm>
              <a:off x="1965960" y="2340864"/>
              <a:ext cx="9219895" cy="777240"/>
            </a:xfrm>
            <a:prstGeom prst="rect">
              <a:avLst/>
            </a:prstGeom>
            <a:noFill/>
            <a:ln/>
          </p:spPr>
          <p:txBody>
            <a:bodyPr wrap="square" lIns="0" tIns="0" rIns="0" bIns="0" rtlCol="0" anchor="t"/>
            <a:lstStyle/>
            <a:p>
              <a:pPr marL="0" indent="0">
                <a:lnSpc>
                  <a:spcPct val="110000"/>
                </a:lnSpc>
                <a:buNone/>
              </a:pPr>
              <a:r>
                <a:rPr lang="en-US" sz="1350" dirty="0">
                  <a:solidFill>
                    <a:srgbClr val="075767"/>
                  </a:solidFill>
                  <a:latin typeface="Lato" pitchFamily="34" charset="0"/>
                  <a:ea typeface="Lato" pitchFamily="34" charset="-122"/>
                  <a:cs typeface="Lato" pitchFamily="34" charset="-120"/>
                </a:rPr>
                <a:t>Il classe les risques, mais il ne dit rien de ce qui a déjà été fait, ni de ce qu'il reste à faire.</a:t>
              </a:r>
              <a:endParaRPr lang="en-US" sz="1350" dirty="0"/>
            </a:p>
          </p:txBody>
        </p:sp>
      </p:grpSp>
      <p:sp>
        <p:nvSpPr>
          <p:cNvPr id="15" name="Text 12"/>
          <p:cNvSpPr txBox="1"/>
          <p:nvPr/>
        </p:nvSpPr>
        <p:spPr>
          <a:xfrm>
            <a:off x="731520" y="3429000"/>
            <a:ext cx="10728655" cy="22860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Deux risques à criticité égale ne demandent pas le même effort : l'un est peut-être déjà bien protégé, l'autre pas du tout</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Le risque brut ne bouge quasiment jamais : une souris reste une souris, une charge reste une charge</a:t>
            </a:r>
            <a:endParaRPr lang="en-US" sz="1350" dirty="0"/>
          </a:p>
          <a:p>
            <a:pPr marL="406400" lvl="1"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D'une année sur l'autre, le tableau est donc identique, et il donne l'impression que rien ne progresse</a:t>
            </a:r>
            <a:endParaRPr lang="en-US" sz="1350" dirty="0"/>
          </a:p>
          <a:p>
            <a:pPr marL="406400" lvl="1"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Les élus ne disposent d'aucun argument chiffré pour demander le renforcement d'une mesure plutôt qu'une autre</a:t>
            </a:r>
            <a:endParaRPr lang="en-US" sz="1350" dirty="0"/>
          </a:p>
        </p:txBody>
      </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99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37"/>
                                        </p:tgtEl>
                                        <p:attrNameLst>
                                          <p:attrName>style.visibility</p:attrName>
                                        </p:attrNameLst>
                                      </p:cBhvr>
                                      <p:to>
                                        <p:strVal val="visible"/>
                                      </p:to>
                                    </p:set>
                                    <p:animEffect transition="in" filter="fade">
                                      <p:cBhvr>
                                        <p:cTn id="7" dur="450"/>
                                        <p:tgtEl>
                                          <p:spTgt spid="91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700" b="1" kern="0" spc="-150" dirty="0">
                <a:solidFill>
                  <a:srgbClr val="075767"/>
                </a:solidFill>
                <a:latin typeface="Lato" pitchFamily="34" charset="0"/>
                <a:ea typeface="Lato" pitchFamily="34" charset="-122"/>
                <a:cs typeface="Lato" pitchFamily="34" charset="-120"/>
              </a:rPr>
              <a:t>Coter la pertinence des actions de prévention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Le type de moyens (O, T, H)</a:t>
            </a:r>
            <a:endParaRPr lang="en-US" sz="1700" dirty="0"/>
          </a:p>
        </p:txBody>
      </p:sp>
      <p:sp>
        <p:nvSpPr>
          <p:cNvPr id="11" name="Text 9"/>
          <p:cNvSpPr txBox="1"/>
          <p:nvPr/>
        </p:nvSpPr>
        <p:spPr>
          <a:xfrm>
            <a:off x="73152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O + T + H → 4</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Organisationnel, technique et humain réunis</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Deux des trois → 3</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Un seul des trois → 2</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Inexistant → 1</a:t>
            </a:r>
            <a:endParaRPr lang="en-US" sz="1350" dirty="0"/>
          </a:p>
        </p:txBody>
      </p:sp>
      <p:sp>
        <p:nvSpPr>
          <p:cNvPr id="12" name="Text 10"/>
          <p:cNvSpPr txBox="1"/>
          <p:nvPr/>
        </p:nvSpPr>
        <p:spPr>
          <a:xfrm>
            <a:off x="630936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L'efficacité constatée</a:t>
            </a:r>
            <a:endParaRPr lang="en-US" sz="1700" dirty="0"/>
          </a:p>
        </p:txBody>
      </p:sp>
      <p:sp>
        <p:nvSpPr>
          <p:cNvPr id="13" name="Text 11"/>
          <p:cNvSpPr txBox="1"/>
          <p:nvPr/>
        </p:nvSpPr>
        <p:spPr>
          <a:xfrm>
            <a:off x="630936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Efficace → 3</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La mesure fait ce qu'on attend d'elle, et elle est utilisée</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Peu efficace → 2</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La mesure existe mais est contournée ou partielle</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Inopérant → 1</a:t>
            </a:r>
            <a:endParaRPr lang="en-US" sz="1350" dirty="0"/>
          </a:p>
        </p:txBody>
      </p:sp>
      <p:grpSp>
        <p:nvGrpSpPr>
          <p:cNvPr id="9138" name="Bloc 5"/>
          <p:cNvGrpSpPr/>
          <p:nvPr/>
        </p:nvGrpSpPr>
        <p:grpSpPr>
          <a:xfrm>
            <a:off x="731520" y="4956048"/>
            <a:ext cx="10728655" cy="841248"/>
            <a:chOff x="731520" y="4956048"/>
            <a:chExt cx="10728655" cy="841248"/>
          </a:xfrm>
        </p:grpSpPr>
        <p:sp>
          <p:nvSpPr>
            <p:cNvPr id="14" name="Shape 12"/>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5" name="Text 13"/>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Point de vigilance   </a:t>
              </a:r>
              <a:r>
                <a:rPr lang="en-US" sz="1300" dirty="0">
                  <a:solidFill>
                    <a:srgbClr val="075767"/>
                  </a:solidFill>
                  <a:latin typeface="Lato" pitchFamily="34" charset="0"/>
                  <a:ea typeface="Lato" pitchFamily="34" charset="-122"/>
                  <a:cs typeface="Lato" pitchFamily="34" charset="-120"/>
                </a:rPr>
                <a:t>l'efficacité se constate sur le terrain, pas sur le papier. C'est exactement ce que l'inspection CSSCT permet de vérifier.</a:t>
              </a:r>
              <a:endParaRPr lang="en-US" sz="1250" dirty="0"/>
            </a:p>
          </p:txBody>
        </p:sp>
      </p:grpSp>
      <p:pic>
        <p:nvPicPr>
          <p:cNvPr id="16"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7"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5"/>
          <p:cNvSpPr/>
          <p:nvPr/>
        </p:nvSpPr>
        <p:spPr>
          <a:xfrm>
            <a:off x="10591495" y="6181344"/>
            <a:ext cx="438912" cy="438912"/>
          </a:xfrm>
          <a:prstGeom prst="ellipse">
            <a:avLst/>
          </a:prstGeom>
          <a:solidFill>
            <a:srgbClr val="F06C23"/>
          </a:solidFill>
          <a:ln/>
        </p:spPr>
        <p:txBody>
          <a:bodyPr/>
          <a:lstStyle/>
          <a:p>
            <a:endParaRPr/>
          </a:p>
        </p:txBody>
      </p:sp>
      <p:sp>
        <p:nvSpPr>
          <p:cNvPr id="19"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20"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100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138"/>
                                        </p:tgtEl>
                                        <p:attrNameLst>
                                          <p:attrName>style.visibility</p:attrName>
                                        </p:attrNameLst>
                                      </p:cBhvr>
                                      <p:to>
                                        <p:strVal val="visible"/>
                                      </p:to>
                                    </p:set>
                                    <p:animEffect transition="in" filter="fade">
                                      <p:cBhvr>
                                        <p:cTn id="27" dur="450"/>
                                        <p:tgtEl>
                                          <p:spTgt spid="9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même DUERP, avec le risque résiduel</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101</a:t>
            </a:r>
            <a:endParaRPr lang="en-US" sz="1000" dirty="0"/>
          </a:p>
        </p:txBody>
      </p:sp>
      <p:graphicFrame>
        <p:nvGraphicFramePr>
          <p:cNvPr id="17" name="Table 16"/>
          <p:cNvGraphicFramePr>
            <a:graphicFrameLocks noGrp="1"/>
          </p:cNvGraphicFramePr>
          <p:nvPr/>
        </p:nvGraphicFramePr>
        <p:xfrm>
          <a:off x="731520" y="2084831"/>
          <a:ext cx="10725912" cy="2889504"/>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749808">
                  <a:extLst>
                    <a:ext uri="{9D8B030D-6E8A-4147-A177-3AD203B41FA5}">
                      <a16:colId xmlns:a16="http://schemas.microsoft.com/office/drawing/2014/main" val="20001"/>
                    </a:ext>
                  </a:extLst>
                </a:gridCol>
                <a:gridCol w="566928">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86384">
                  <a:extLst>
                    <a:ext uri="{9D8B030D-6E8A-4147-A177-3AD203B41FA5}">
                      <a16:colId xmlns:a16="http://schemas.microsoft.com/office/drawing/2014/main" val="20004"/>
                    </a:ext>
                  </a:extLst>
                </a:gridCol>
                <a:gridCol w="804672">
                  <a:extLst>
                    <a:ext uri="{9D8B030D-6E8A-4147-A177-3AD203B41FA5}">
                      <a16:colId xmlns:a16="http://schemas.microsoft.com/office/drawing/2014/main" val="20005"/>
                    </a:ext>
                  </a:extLst>
                </a:gridCol>
                <a:gridCol w="411480">
                  <a:extLst>
                    <a:ext uri="{9D8B030D-6E8A-4147-A177-3AD203B41FA5}">
                      <a16:colId xmlns:a16="http://schemas.microsoft.com/office/drawing/2014/main" val="20006"/>
                    </a:ext>
                  </a:extLst>
                </a:gridCol>
                <a:gridCol w="384048">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1325880">
                  <a:extLst>
                    <a:ext uri="{9D8B030D-6E8A-4147-A177-3AD203B41FA5}">
                      <a16:colId xmlns:a16="http://schemas.microsoft.com/office/drawing/2014/main" val="20009"/>
                    </a:ext>
                  </a:extLst>
                </a:gridCol>
                <a:gridCol w="530352">
                  <a:extLst>
                    <a:ext uri="{9D8B030D-6E8A-4147-A177-3AD203B41FA5}">
                      <a16:colId xmlns:a16="http://schemas.microsoft.com/office/drawing/2014/main" val="20010"/>
                    </a:ext>
                  </a:extLst>
                </a:gridCol>
                <a:gridCol w="475488">
                  <a:extLst>
                    <a:ext uri="{9D8B030D-6E8A-4147-A177-3AD203B41FA5}">
                      <a16:colId xmlns:a16="http://schemas.microsoft.com/office/drawing/2014/main" val="20011"/>
                    </a:ext>
                  </a:extLst>
                </a:gridCol>
                <a:gridCol w="548640">
                  <a:extLst>
                    <a:ext uri="{9D8B030D-6E8A-4147-A177-3AD203B41FA5}">
                      <a16:colId xmlns:a16="http://schemas.microsoft.com/office/drawing/2014/main" val="20012"/>
                    </a:ext>
                  </a:extLst>
                </a:gridCol>
                <a:gridCol w="548640">
                  <a:extLst>
                    <a:ext uri="{9D8B030D-6E8A-4147-A177-3AD203B41FA5}">
                      <a16:colId xmlns:a16="http://schemas.microsoft.com/office/drawing/2014/main" val="20013"/>
                    </a:ext>
                  </a:extLst>
                </a:gridCol>
                <a:gridCol w="1307592">
                  <a:extLst>
                    <a:ext uri="{9D8B030D-6E8A-4147-A177-3AD203B41FA5}">
                      <a16:colId xmlns:a16="http://schemas.microsoft.com/office/drawing/2014/main" val="20014"/>
                    </a:ext>
                  </a:extLst>
                </a:gridCol>
              </a:tblGrid>
              <a:tr h="640080">
                <a:tc>
                  <a:txBody>
                    <a:bodyPr/>
                    <a:lstStyle/>
                    <a:p>
                      <a:pPr algn="ctr"/>
                      <a:r>
                        <a:rPr sz="750" b="1">
                          <a:solidFill>
                            <a:srgbClr val="FFFFFF"/>
                          </a:solidFill>
                          <a:latin typeface="Lato"/>
                        </a:rPr>
                        <a:t>Famille de risque</a:t>
                      </a:r>
                    </a:p>
                  </a:txBody>
                  <a:tcPr marL="27432" marR="27432" marT="18288" marB="18288" anchor="ctr">
                    <a:solidFill>
                      <a:srgbClr val="075767"/>
                    </a:solidFill>
                  </a:tcPr>
                </a:tc>
                <a:tc>
                  <a:txBody>
                    <a:bodyPr/>
                    <a:lstStyle/>
                    <a:p>
                      <a:pPr algn="ctr"/>
                      <a:r>
                        <a:rPr sz="750" b="1">
                          <a:solidFill>
                            <a:srgbClr val="FFFFFF"/>
                          </a:solidFill>
                          <a:latin typeface="Lato"/>
                        </a:rPr>
                        <a:t>Danger</a:t>
                      </a:r>
                    </a:p>
                  </a:txBody>
                  <a:tcPr marL="27432" marR="27432" marT="18288" marB="18288" anchor="ctr">
                    <a:solidFill>
                      <a:srgbClr val="075767"/>
                    </a:solidFill>
                  </a:tcPr>
                </a:tc>
                <a:tc>
                  <a:txBody>
                    <a:bodyPr/>
                    <a:lstStyle/>
                    <a:p>
                      <a:pPr algn="ctr"/>
                      <a:r>
                        <a:rPr sz="750" b="1">
                          <a:solidFill>
                            <a:srgbClr val="FFFFFF"/>
                          </a:solidFill>
                          <a:latin typeface="Lato"/>
                        </a:rPr>
                        <a:t>Unité de travail</a:t>
                      </a:r>
                    </a:p>
                  </a:txBody>
                  <a:tcPr marL="27432" marR="27432" marT="18288" marB="18288" anchor="ctr">
                    <a:solidFill>
                      <a:srgbClr val="075767"/>
                    </a:solidFill>
                  </a:tcPr>
                </a:tc>
                <a:tc>
                  <a:txBody>
                    <a:bodyPr/>
                    <a:lstStyle/>
                    <a:p>
                      <a:pPr algn="ctr"/>
                      <a:r>
                        <a:rPr sz="750" b="1">
                          <a:solidFill>
                            <a:srgbClr val="FFFFFF"/>
                          </a:solidFill>
                          <a:latin typeface="Lato"/>
                        </a:rPr>
                        <a:t>Circonstance d'exposition</a:t>
                      </a:r>
                    </a:p>
                  </a:txBody>
                  <a:tcPr marL="27432" marR="27432" marT="18288" marB="18288" anchor="ctr">
                    <a:solidFill>
                      <a:srgbClr val="075767"/>
                    </a:solidFill>
                  </a:tcPr>
                </a:tc>
                <a:tc>
                  <a:txBody>
                    <a:bodyPr/>
                    <a:lstStyle/>
                    <a:p>
                      <a:pPr algn="ctr"/>
                      <a:r>
                        <a:rPr sz="750" b="1">
                          <a:solidFill>
                            <a:srgbClr val="FFFFFF"/>
                          </a:solidFill>
                          <a:latin typeface="Lato"/>
                        </a:rPr>
                        <a:t>Lieu d'exposition</a:t>
                      </a:r>
                    </a:p>
                  </a:txBody>
                  <a:tcPr marL="27432" marR="27432" marT="18288" marB="18288" anchor="ctr">
                    <a:solidFill>
                      <a:srgbClr val="075767"/>
                    </a:solidFill>
                  </a:tcPr>
                </a:tc>
                <a:tc>
                  <a:txBody>
                    <a:bodyPr/>
                    <a:lstStyle/>
                    <a:p>
                      <a:pPr algn="ctr"/>
                      <a:r>
                        <a:rPr sz="750" b="1">
                          <a:solidFill>
                            <a:srgbClr val="FFFFFF"/>
                          </a:solidFill>
                          <a:latin typeface="Lato"/>
                        </a:rPr>
                        <a:t>Dommage possible</a:t>
                      </a:r>
                    </a:p>
                  </a:txBody>
                  <a:tcPr marL="27432" marR="27432" marT="18288" marB="18288" anchor="ctr">
                    <a:solidFill>
                      <a:srgbClr val="075767"/>
                    </a:solidFill>
                  </a:tcPr>
                </a:tc>
                <a:tc>
                  <a:txBody>
                    <a:bodyPr/>
                    <a:lstStyle/>
                    <a:p>
                      <a:pPr algn="ctr"/>
                      <a:r>
                        <a:rPr sz="750" b="1">
                          <a:solidFill>
                            <a:srgbClr val="FFFFFF"/>
                          </a:solidFill>
                          <a:latin typeface="Lato"/>
                        </a:rPr>
                        <a:t>Fréq.</a:t>
                      </a:r>
                    </a:p>
                  </a:txBody>
                  <a:tcPr marL="27432" marR="27432" marT="18288" marB="18288" anchor="ctr">
                    <a:solidFill>
                      <a:srgbClr val="075767"/>
                    </a:solidFill>
                  </a:tcPr>
                </a:tc>
                <a:tc>
                  <a:txBody>
                    <a:bodyPr/>
                    <a:lstStyle/>
                    <a:p>
                      <a:pPr algn="ctr"/>
                      <a:r>
                        <a:rPr sz="750" b="1">
                          <a:solidFill>
                            <a:srgbClr val="FFFFFF"/>
                          </a:solidFill>
                          <a:latin typeface="Lato"/>
                        </a:rPr>
                        <a:t>Grav.</a:t>
                      </a:r>
                    </a:p>
                  </a:txBody>
                  <a:tcPr marL="27432" marR="27432" marT="18288" marB="18288" anchor="ctr">
                    <a:solidFill>
                      <a:srgbClr val="075767"/>
                    </a:solidFill>
                  </a:tcPr>
                </a:tc>
                <a:tc>
                  <a:txBody>
                    <a:bodyPr/>
                    <a:lstStyle/>
                    <a:p>
                      <a:pPr algn="ctr"/>
                      <a:r>
                        <a:rPr sz="750" b="1">
                          <a:solidFill>
                            <a:srgbClr val="FFFFFF"/>
                          </a:solidFill>
                          <a:latin typeface="Lato"/>
                        </a:rPr>
                        <a:t>Critic.</a:t>
                      </a:r>
                    </a:p>
                  </a:txBody>
                  <a:tcPr marL="27432" marR="27432" marT="18288" marB="18288" anchor="ctr">
                    <a:solidFill>
                      <a:srgbClr val="075767"/>
                    </a:solidFill>
                  </a:tcPr>
                </a:tc>
                <a:tc>
                  <a:txBody>
                    <a:bodyPr/>
                    <a:lstStyle/>
                    <a:p>
                      <a:pPr algn="ctr"/>
                      <a:r>
                        <a:rPr sz="750" b="1">
                          <a:solidFill>
                            <a:srgbClr val="FFFFFF"/>
                          </a:solidFill>
                          <a:latin typeface="Lato"/>
                        </a:rPr>
                        <a:t>Moyens de prévention en place</a:t>
                      </a:r>
                    </a:p>
                  </a:txBody>
                  <a:tcPr marL="27432" marR="27432" marT="18288" marB="18288" anchor="ctr">
                    <a:solidFill>
                      <a:srgbClr val="075767"/>
                    </a:solidFill>
                  </a:tcPr>
                </a:tc>
                <a:tc>
                  <a:txBody>
                    <a:bodyPr/>
                    <a:lstStyle/>
                    <a:p>
                      <a:pPr algn="ctr"/>
                      <a:r>
                        <a:rPr sz="750" b="1">
                          <a:solidFill>
                            <a:srgbClr val="FFFFFF"/>
                          </a:solidFill>
                          <a:latin typeface="Lato"/>
                        </a:rPr>
                        <a:t>Type de moyens</a:t>
                      </a:r>
                    </a:p>
                  </a:txBody>
                  <a:tcPr marL="27432" marR="27432" marT="18288" marB="18288" anchor="ctr">
                    <a:solidFill>
                      <a:srgbClr val="075767"/>
                    </a:solidFill>
                  </a:tcPr>
                </a:tc>
                <a:tc>
                  <a:txBody>
                    <a:bodyPr/>
                    <a:lstStyle/>
                    <a:p>
                      <a:pPr algn="ctr"/>
                      <a:r>
                        <a:rPr sz="750" b="1">
                          <a:solidFill>
                            <a:srgbClr val="FFFFFF"/>
                          </a:solidFill>
                          <a:latin typeface="Lato"/>
                        </a:rPr>
                        <a:t>Efficacité</a:t>
                      </a:r>
                    </a:p>
                  </a:txBody>
                  <a:tcPr marL="27432" marR="27432" marT="18288" marB="18288" anchor="ctr">
                    <a:solidFill>
                      <a:srgbClr val="075767"/>
                    </a:solidFill>
                  </a:tcPr>
                </a:tc>
                <a:tc>
                  <a:txBody>
                    <a:bodyPr/>
                    <a:lstStyle/>
                    <a:p>
                      <a:pPr algn="ctr"/>
                      <a:r>
                        <a:rPr sz="750" b="1">
                          <a:solidFill>
                            <a:srgbClr val="FFFFFF"/>
                          </a:solidFill>
                          <a:latin typeface="Lato"/>
                        </a:rPr>
                        <a:t>Niv. de protection</a:t>
                      </a:r>
                    </a:p>
                  </a:txBody>
                  <a:tcPr marL="27432" marR="27432" marT="18288" marB="18288" anchor="ctr">
                    <a:solidFill>
                      <a:srgbClr val="075767"/>
                    </a:solidFill>
                  </a:tcPr>
                </a:tc>
                <a:tc>
                  <a:txBody>
                    <a:bodyPr/>
                    <a:lstStyle/>
                    <a:p>
                      <a:pPr algn="ctr"/>
                      <a:r>
                        <a:rPr sz="750" b="1">
                          <a:solidFill>
                            <a:srgbClr val="FFFFFF"/>
                          </a:solidFill>
                          <a:latin typeface="Lato"/>
                        </a:rPr>
                        <a:t>Niv. de risque</a:t>
                      </a:r>
                    </a:p>
                  </a:txBody>
                  <a:tcPr marL="27432" marR="27432" marT="18288" marB="18288" anchor="ctr">
                    <a:solidFill>
                      <a:srgbClr val="075767"/>
                    </a:solidFill>
                  </a:tcPr>
                </a:tc>
                <a:tc>
                  <a:txBody>
                    <a:bodyPr/>
                    <a:lstStyle/>
                    <a:p>
                      <a:pPr algn="ctr"/>
                      <a:r>
                        <a:rPr sz="750" b="1">
                          <a:solidFill>
                            <a:srgbClr val="FFFFFF"/>
                          </a:solidFill>
                          <a:latin typeface="Lato"/>
                        </a:rPr>
                        <a:t>Actions à mettre en place</a:t>
                      </a:r>
                    </a:p>
                  </a:txBody>
                  <a:tcPr marL="27432" marR="27432" marT="18288" marB="18288" anchor="ctr">
                    <a:solidFill>
                      <a:srgbClr val="075767"/>
                    </a:solidFill>
                  </a:tcPr>
                </a:tc>
                <a:extLst>
                  <a:ext uri="{0D108BD9-81ED-4DB2-BD59-A6C34878D82A}">
                    <a16:rowId xmlns:a16="http://schemas.microsoft.com/office/drawing/2014/main" val="10000"/>
                  </a:ext>
                </a:extLst>
              </a:tr>
              <a:tr h="749808">
                <a:tc>
                  <a:txBody>
                    <a:bodyPr/>
                    <a:lstStyle/>
                    <a:p>
                      <a:pPr algn="l"/>
                      <a:r>
                        <a:rPr sz="750">
                          <a:solidFill>
                            <a:srgbClr val="595959"/>
                          </a:solidFill>
                          <a:latin typeface="Lato"/>
                        </a:rPr>
                        <a:t>09 Risques liés aux équipements de travail</a:t>
                      </a:r>
                    </a:p>
                  </a:txBody>
                  <a:tcPr marL="27432" marR="27432" marT="18288" marB="18288" anchor="ctr">
                    <a:solidFill>
                      <a:srgbClr val="E8F4F5"/>
                    </a:solidFill>
                  </a:tcPr>
                </a:tc>
                <a:tc>
                  <a:txBody>
                    <a:bodyPr/>
                    <a:lstStyle/>
                    <a:p>
                      <a:pPr algn="l"/>
                      <a:r>
                        <a:rPr sz="750">
                          <a:solidFill>
                            <a:srgbClr val="595959"/>
                          </a:solidFill>
                          <a:latin typeface="Lato"/>
                        </a:rPr>
                        <a:t>Matériel bureautique : souris</a:t>
                      </a:r>
                    </a:p>
                  </a:txBody>
                  <a:tcPr marL="27432" marR="27432" marT="18288" marB="18288" anchor="ctr">
                    <a:solidFill>
                      <a:srgbClr val="E8F4F5"/>
                    </a:solidFill>
                  </a:tcPr>
                </a:tc>
                <a:tc>
                  <a:txBody>
                    <a:bodyPr/>
                    <a:lstStyle/>
                    <a:p>
                      <a:pPr algn="l"/>
                      <a:r>
                        <a:rPr sz="750">
                          <a:solidFill>
                            <a:srgbClr val="595959"/>
                          </a:solidFill>
                          <a:latin typeface="Lato"/>
                        </a:rPr>
                        <a:t>Bureau</a:t>
                      </a:r>
                    </a:p>
                  </a:txBody>
                  <a:tcPr marL="27432" marR="27432" marT="18288" marB="18288" anchor="ctr">
                    <a:solidFill>
                      <a:srgbClr val="E8F4F5"/>
                    </a:solidFill>
                  </a:tcPr>
                </a:tc>
                <a:tc>
                  <a:txBody>
                    <a:bodyPr/>
                    <a:lstStyle/>
                    <a:p>
                      <a:pPr algn="l"/>
                      <a:r>
                        <a:rPr sz="750">
                          <a:solidFill>
                            <a:srgbClr val="595959"/>
                          </a:solidFill>
                          <a:latin typeface="Lato"/>
                        </a:rPr>
                        <a:t>Utilisation de la souris</a:t>
                      </a:r>
                    </a:p>
                  </a:txBody>
                  <a:tcPr marL="27432" marR="27432" marT="18288" marB="18288" anchor="ctr">
                    <a:solidFill>
                      <a:srgbClr val="E8F4F5"/>
                    </a:solidFill>
                  </a:tcPr>
                </a:tc>
                <a:tc>
                  <a:txBody>
                    <a:bodyPr/>
                    <a:lstStyle/>
                    <a:p>
                      <a:pPr algn="l"/>
                      <a:r>
                        <a:rPr sz="750">
                          <a:solidFill>
                            <a:srgbClr val="595959"/>
                          </a:solidFill>
                          <a:latin typeface="Lato"/>
                        </a:rPr>
                        <a:t>Open space service Lyon</a:t>
                      </a:r>
                    </a:p>
                  </a:txBody>
                  <a:tcPr marL="27432" marR="27432" marT="18288" marB="18288" anchor="ctr">
                    <a:solidFill>
                      <a:srgbClr val="E8F4F5"/>
                    </a:solidFill>
                  </a:tcPr>
                </a:tc>
                <a:tc>
                  <a:txBody>
                    <a:bodyPr/>
                    <a:lstStyle/>
                    <a:p>
                      <a:pPr algn="l"/>
                      <a:r>
                        <a:rPr sz="750">
                          <a:solidFill>
                            <a:srgbClr val="595959"/>
                          </a:solidFill>
                          <a:latin typeface="Lato"/>
                        </a:rPr>
                        <a:t>TMS, canal carpien</a:t>
                      </a:r>
                    </a:p>
                  </a:txBody>
                  <a:tcPr marL="27432" marR="27432" marT="18288" marB="18288" anchor="ctr">
                    <a:solidFill>
                      <a:srgbClr val="E8F4F5"/>
                    </a:solidFill>
                  </a:tcPr>
                </a:tc>
                <a:tc>
                  <a:txBody>
                    <a:bodyPr/>
                    <a:lstStyle/>
                    <a:p>
                      <a:pPr algn="ctr"/>
                      <a:r>
                        <a:rPr sz="750">
                          <a:solidFill>
                            <a:srgbClr val="595959"/>
                          </a:solidFill>
                          <a:latin typeface="Lato"/>
                        </a:rPr>
                        <a:t>16</a:t>
                      </a:r>
                    </a:p>
                  </a:txBody>
                  <a:tcPr marL="27432" marR="27432" marT="18288" marB="18288" anchor="ctr">
                    <a:solidFill>
                      <a:srgbClr val="E8F4F5"/>
                    </a:solidFill>
                  </a:tcPr>
                </a:tc>
                <a:tc>
                  <a:txBody>
                    <a:bodyPr/>
                    <a:lstStyle/>
                    <a:p>
                      <a:pPr algn="ctr"/>
                      <a:r>
                        <a:rPr sz="750">
                          <a:solidFill>
                            <a:srgbClr val="595959"/>
                          </a:solidFill>
                          <a:latin typeface="Lato"/>
                        </a:rPr>
                        <a:t>8</a:t>
                      </a:r>
                    </a:p>
                  </a:txBody>
                  <a:tcPr marL="27432" marR="27432" marT="18288" marB="18288" anchor="ctr">
                    <a:solidFill>
                      <a:srgbClr val="E8F4F5"/>
                    </a:solidFill>
                  </a:tcPr>
                </a:tc>
                <a:tc>
                  <a:txBody>
                    <a:bodyPr/>
                    <a:lstStyle/>
                    <a:p>
                      <a:pPr algn="ctr"/>
                      <a:r>
                        <a:rPr sz="750" b="1">
                          <a:solidFill>
                            <a:srgbClr val="075767"/>
                          </a:solidFill>
                          <a:latin typeface="Lato"/>
                        </a:rPr>
                        <a:t>128</a:t>
                      </a:r>
                    </a:p>
                  </a:txBody>
                  <a:tcPr marL="27432" marR="27432" marT="18288" marB="18288" anchor="ctr">
                    <a:solidFill>
                      <a:srgbClr val="E8F4F5"/>
                    </a:solidFill>
                  </a:tcPr>
                </a:tc>
                <a:tc>
                  <a:txBody>
                    <a:bodyPr/>
                    <a:lstStyle/>
                    <a:p>
                      <a:pPr algn="l"/>
                      <a:r>
                        <a:rPr sz="750">
                          <a:solidFill>
                            <a:srgbClr val="595959"/>
                          </a:solidFill>
                          <a:latin typeface="Lato"/>
                        </a:rPr>
                        <a:t>Mise à disposition d'un tapis et d'une souris ergonomiques</a:t>
                      </a:r>
                    </a:p>
                  </a:txBody>
                  <a:tcPr marL="27432" marR="27432" marT="18288" marB="18288" anchor="ctr">
                    <a:solidFill>
                      <a:srgbClr val="E8F4F5"/>
                    </a:solidFill>
                  </a:tcPr>
                </a:tc>
                <a:tc>
                  <a:txBody>
                    <a:bodyPr/>
                    <a:lstStyle/>
                    <a:p>
                      <a:pPr algn="ctr"/>
                      <a:r>
                        <a:rPr sz="750">
                          <a:solidFill>
                            <a:srgbClr val="595959"/>
                          </a:solidFill>
                          <a:latin typeface="Lato"/>
                        </a:rPr>
                        <a:t>2</a:t>
                      </a:r>
                    </a:p>
                  </a:txBody>
                  <a:tcPr marL="27432" marR="27432" marT="18288" marB="18288" anchor="ctr">
                    <a:solidFill>
                      <a:srgbClr val="E8F4F5"/>
                    </a:solidFill>
                  </a:tcPr>
                </a:tc>
                <a:tc>
                  <a:txBody>
                    <a:bodyPr/>
                    <a:lstStyle/>
                    <a:p>
                      <a:pPr algn="ctr"/>
                      <a:r>
                        <a:rPr sz="750">
                          <a:solidFill>
                            <a:srgbClr val="595959"/>
                          </a:solidFill>
                          <a:latin typeface="Lato"/>
                        </a:rPr>
                        <a:t>2</a:t>
                      </a:r>
                    </a:p>
                  </a:txBody>
                  <a:tcPr marL="27432" marR="27432" marT="18288" marB="18288" anchor="ctr">
                    <a:solidFill>
                      <a:srgbClr val="E8F4F5"/>
                    </a:solidFill>
                  </a:tcPr>
                </a:tc>
                <a:tc>
                  <a:txBody>
                    <a:bodyPr/>
                    <a:lstStyle/>
                    <a:p>
                      <a:pPr algn="ctr"/>
                      <a:r>
                        <a:rPr sz="750">
                          <a:solidFill>
                            <a:srgbClr val="595959"/>
                          </a:solidFill>
                          <a:latin typeface="Lato"/>
                        </a:rPr>
                        <a:t>4</a:t>
                      </a:r>
                    </a:p>
                  </a:txBody>
                  <a:tcPr marL="27432" marR="27432" marT="18288" marB="18288" anchor="ctr">
                    <a:solidFill>
                      <a:srgbClr val="E8F4F5"/>
                    </a:solidFill>
                  </a:tcPr>
                </a:tc>
                <a:tc>
                  <a:txBody>
                    <a:bodyPr/>
                    <a:lstStyle/>
                    <a:p>
                      <a:pPr algn="ctr"/>
                      <a:r>
                        <a:rPr sz="750" b="1">
                          <a:solidFill>
                            <a:srgbClr val="075767"/>
                          </a:solidFill>
                          <a:latin typeface="Lato"/>
                        </a:rPr>
                        <a:t>32</a:t>
                      </a:r>
                    </a:p>
                  </a:txBody>
                  <a:tcPr marL="27432" marR="27432" marT="18288" marB="18288" anchor="ctr">
                    <a:solidFill>
                      <a:srgbClr val="E8F4F5"/>
                    </a:solidFill>
                  </a:tcPr>
                </a:tc>
                <a:tc>
                  <a:txBody>
                    <a:bodyPr/>
                    <a:lstStyle/>
                    <a:p>
                      <a:pPr algn="l"/>
                      <a:r>
                        <a:rPr sz="750">
                          <a:solidFill>
                            <a:srgbClr val="595959"/>
                          </a:solidFill>
                          <a:latin typeface="Lato"/>
                        </a:rPr>
                        <a:t>Réaliser un test d'alternance d'activité de travail</a:t>
                      </a:r>
                    </a:p>
                  </a:txBody>
                  <a:tcPr marL="27432" marR="27432" marT="18288" marB="18288" anchor="ctr">
                    <a:solidFill>
                      <a:srgbClr val="E8F4F5"/>
                    </a:solidFill>
                  </a:tcPr>
                </a:tc>
                <a:extLst>
                  <a:ext uri="{0D108BD9-81ED-4DB2-BD59-A6C34878D82A}">
                    <a16:rowId xmlns:a16="http://schemas.microsoft.com/office/drawing/2014/main" val="10001"/>
                  </a:ext>
                </a:extLst>
              </a:tr>
              <a:tr h="749808">
                <a:tc>
                  <a:txBody>
                    <a:bodyPr/>
                    <a:lstStyle/>
                    <a:p>
                      <a:pPr algn="l"/>
                      <a:r>
                        <a:rPr sz="750">
                          <a:solidFill>
                            <a:srgbClr val="595959"/>
                          </a:solidFill>
                          <a:latin typeface="Lato"/>
                        </a:rPr>
                        <a:t>09 Risques liés aux équipements de travail</a:t>
                      </a:r>
                    </a:p>
                  </a:txBody>
                  <a:tcPr marL="27432" marR="27432" marT="18288" marB="18288" anchor="ctr">
                    <a:solidFill>
                      <a:srgbClr val="FFFFFF"/>
                    </a:solidFill>
                  </a:tcPr>
                </a:tc>
                <a:tc>
                  <a:txBody>
                    <a:bodyPr/>
                    <a:lstStyle/>
                    <a:p>
                      <a:pPr algn="l"/>
                      <a:r>
                        <a:rPr sz="750">
                          <a:solidFill>
                            <a:srgbClr val="595959"/>
                          </a:solidFill>
                          <a:latin typeface="Lato"/>
                        </a:rPr>
                        <a:t>Utilisation du siège de bureau</a:t>
                      </a:r>
                    </a:p>
                  </a:txBody>
                  <a:tcPr marL="27432" marR="27432" marT="18288" marB="18288" anchor="ctr">
                    <a:solidFill>
                      <a:srgbClr val="FFFFFF"/>
                    </a:solidFill>
                  </a:tcPr>
                </a:tc>
                <a:tc>
                  <a:txBody>
                    <a:bodyPr/>
                    <a:lstStyle/>
                    <a:p>
                      <a:pPr algn="l"/>
                      <a:r>
                        <a:rPr sz="750">
                          <a:solidFill>
                            <a:srgbClr val="595959"/>
                          </a:solidFill>
                          <a:latin typeface="Lato"/>
                        </a:rPr>
                        <a:t>Bureau</a:t>
                      </a:r>
                    </a:p>
                  </a:txBody>
                  <a:tcPr marL="27432" marR="27432" marT="18288" marB="18288" anchor="ctr">
                    <a:solidFill>
                      <a:srgbClr val="FFFFFF"/>
                    </a:solidFill>
                  </a:tcPr>
                </a:tc>
                <a:tc>
                  <a:txBody>
                    <a:bodyPr/>
                    <a:lstStyle/>
                    <a:p>
                      <a:pPr algn="l"/>
                      <a:r>
                        <a:rPr sz="750">
                          <a:solidFill>
                            <a:srgbClr val="595959"/>
                          </a:solidFill>
                          <a:latin typeface="Lato"/>
                        </a:rPr>
                        <a:t>Posture contraignante, siège inadapté</a:t>
                      </a:r>
                    </a:p>
                  </a:txBody>
                  <a:tcPr marL="27432" marR="27432" marT="18288" marB="18288" anchor="ctr">
                    <a:solidFill>
                      <a:srgbClr val="FFFFFF"/>
                    </a:solidFill>
                  </a:tcPr>
                </a:tc>
                <a:tc>
                  <a:txBody>
                    <a:bodyPr/>
                    <a:lstStyle/>
                    <a:p>
                      <a:pPr algn="l"/>
                      <a:r>
                        <a:rPr sz="750">
                          <a:solidFill>
                            <a:srgbClr val="595959"/>
                          </a:solidFill>
                          <a:latin typeface="Lato"/>
                        </a:rPr>
                        <a:t>Open space service Lyon</a:t>
                      </a:r>
                    </a:p>
                  </a:txBody>
                  <a:tcPr marL="27432" marR="27432" marT="18288" marB="18288" anchor="ctr">
                    <a:solidFill>
                      <a:srgbClr val="FFFFFF"/>
                    </a:solidFill>
                  </a:tcPr>
                </a:tc>
                <a:tc>
                  <a:txBody>
                    <a:bodyPr/>
                    <a:lstStyle/>
                    <a:p>
                      <a:pPr algn="l"/>
                      <a:r>
                        <a:rPr sz="750">
                          <a:solidFill>
                            <a:srgbClr val="595959"/>
                          </a:solidFill>
                          <a:latin typeface="Lato"/>
                        </a:rPr>
                        <a:t>TMS, douleurs lombaires</a:t>
                      </a:r>
                    </a:p>
                  </a:txBody>
                  <a:tcPr marL="27432" marR="27432" marT="18288" marB="18288" anchor="ctr">
                    <a:solidFill>
                      <a:srgbClr val="FFFFFF"/>
                    </a:solidFill>
                  </a:tcPr>
                </a:tc>
                <a:tc>
                  <a:txBody>
                    <a:bodyPr/>
                    <a:lstStyle/>
                    <a:p>
                      <a:pPr algn="ctr"/>
                      <a:r>
                        <a:rPr sz="750">
                          <a:solidFill>
                            <a:srgbClr val="595959"/>
                          </a:solidFill>
                          <a:latin typeface="Lato"/>
                        </a:rPr>
                        <a:t>16</a:t>
                      </a:r>
                    </a:p>
                  </a:txBody>
                  <a:tcPr marL="27432" marR="27432" marT="18288" marB="18288" anchor="ctr">
                    <a:solidFill>
                      <a:srgbClr val="FFFFFF"/>
                    </a:solidFill>
                  </a:tcPr>
                </a:tc>
                <a:tc>
                  <a:txBody>
                    <a:bodyPr/>
                    <a:lstStyle/>
                    <a:p>
                      <a:pPr algn="ctr"/>
                      <a:r>
                        <a:rPr sz="750">
                          <a:solidFill>
                            <a:srgbClr val="595959"/>
                          </a:solidFill>
                          <a:latin typeface="Lato"/>
                        </a:rPr>
                        <a:t>8</a:t>
                      </a:r>
                    </a:p>
                  </a:txBody>
                  <a:tcPr marL="27432" marR="27432" marT="18288" marB="18288" anchor="ctr">
                    <a:solidFill>
                      <a:srgbClr val="FFFFFF"/>
                    </a:solidFill>
                  </a:tcPr>
                </a:tc>
                <a:tc>
                  <a:txBody>
                    <a:bodyPr/>
                    <a:lstStyle/>
                    <a:p>
                      <a:pPr algn="ctr"/>
                      <a:r>
                        <a:rPr sz="750" b="1">
                          <a:solidFill>
                            <a:srgbClr val="075767"/>
                          </a:solidFill>
                          <a:latin typeface="Lato"/>
                        </a:rPr>
                        <a:t>128</a:t>
                      </a:r>
                    </a:p>
                  </a:txBody>
                  <a:tcPr marL="27432" marR="27432" marT="18288" marB="18288" anchor="ctr">
                    <a:solidFill>
                      <a:srgbClr val="FFFFFF"/>
                    </a:solidFill>
                  </a:tcPr>
                </a:tc>
                <a:tc>
                  <a:txBody>
                    <a:bodyPr/>
                    <a:lstStyle/>
                    <a:p>
                      <a:pPr algn="l"/>
                      <a:r>
                        <a:rPr sz="750">
                          <a:solidFill>
                            <a:srgbClr val="595959"/>
                          </a:solidFill>
                          <a:latin typeface="Lato"/>
                        </a:rPr>
                        <a:t>Mise à disposition d'un siège ergonomique réglable</a:t>
                      </a:r>
                    </a:p>
                  </a:txBody>
                  <a:tcPr marL="27432" marR="27432" marT="18288" marB="18288" anchor="ctr">
                    <a:solidFill>
                      <a:srgbClr val="FFFFFF"/>
                    </a:solidFill>
                  </a:tcPr>
                </a:tc>
                <a:tc>
                  <a:txBody>
                    <a:bodyPr/>
                    <a:lstStyle/>
                    <a:p>
                      <a:pPr algn="ctr"/>
                      <a:r>
                        <a:rPr sz="750">
                          <a:solidFill>
                            <a:srgbClr val="595959"/>
                          </a:solidFill>
                          <a:latin typeface="Lato"/>
                        </a:rPr>
                        <a:t>3</a:t>
                      </a:r>
                    </a:p>
                  </a:txBody>
                  <a:tcPr marL="27432" marR="27432" marT="18288" marB="18288" anchor="ctr">
                    <a:solidFill>
                      <a:srgbClr val="FFFFFF"/>
                    </a:solidFill>
                  </a:tcPr>
                </a:tc>
                <a:tc>
                  <a:txBody>
                    <a:bodyPr/>
                    <a:lstStyle/>
                    <a:p>
                      <a:pPr algn="ctr"/>
                      <a:r>
                        <a:rPr sz="750">
                          <a:solidFill>
                            <a:srgbClr val="595959"/>
                          </a:solidFill>
                          <a:latin typeface="Lato"/>
                        </a:rPr>
                        <a:t>2</a:t>
                      </a:r>
                    </a:p>
                  </a:txBody>
                  <a:tcPr marL="27432" marR="27432" marT="18288" marB="18288" anchor="ctr">
                    <a:solidFill>
                      <a:srgbClr val="FFFFFF"/>
                    </a:solidFill>
                  </a:tcPr>
                </a:tc>
                <a:tc>
                  <a:txBody>
                    <a:bodyPr/>
                    <a:lstStyle/>
                    <a:p>
                      <a:pPr algn="ctr"/>
                      <a:r>
                        <a:rPr sz="750">
                          <a:solidFill>
                            <a:srgbClr val="595959"/>
                          </a:solidFill>
                          <a:latin typeface="Lato"/>
                        </a:rPr>
                        <a:t>6</a:t>
                      </a:r>
                    </a:p>
                  </a:txBody>
                  <a:tcPr marL="27432" marR="27432" marT="18288" marB="18288" anchor="ctr">
                    <a:solidFill>
                      <a:srgbClr val="FFFFFF"/>
                    </a:solidFill>
                  </a:tcPr>
                </a:tc>
                <a:tc>
                  <a:txBody>
                    <a:bodyPr/>
                    <a:lstStyle/>
                    <a:p>
                      <a:pPr algn="ctr"/>
                      <a:r>
                        <a:rPr sz="750" b="1">
                          <a:solidFill>
                            <a:srgbClr val="075767"/>
                          </a:solidFill>
                          <a:latin typeface="Lato"/>
                        </a:rPr>
                        <a:t>21,3</a:t>
                      </a:r>
                    </a:p>
                  </a:txBody>
                  <a:tcPr marL="27432" marR="27432" marT="18288" marB="18288" anchor="ctr">
                    <a:solidFill>
                      <a:srgbClr val="FFFFFF"/>
                    </a:solidFill>
                  </a:tcPr>
                </a:tc>
                <a:tc>
                  <a:txBody>
                    <a:bodyPr/>
                    <a:lstStyle/>
                    <a:p>
                      <a:pPr algn="l"/>
                      <a:r>
                        <a:rPr sz="750">
                          <a:solidFill>
                            <a:srgbClr val="595959"/>
                          </a:solidFill>
                          <a:latin typeface="Lato"/>
                        </a:rPr>
                        <a:t>Voir pour un repose-pied</a:t>
                      </a:r>
                    </a:p>
                  </a:txBody>
                  <a:tcPr marL="27432" marR="27432" marT="18288" marB="18288" anchor="ctr">
                    <a:solidFill>
                      <a:srgbClr val="FFFFFF"/>
                    </a:solidFill>
                  </a:tcPr>
                </a:tc>
                <a:extLst>
                  <a:ext uri="{0D108BD9-81ED-4DB2-BD59-A6C34878D82A}">
                    <a16:rowId xmlns:a16="http://schemas.microsoft.com/office/drawing/2014/main" val="10002"/>
                  </a:ext>
                </a:extLst>
              </a:tr>
              <a:tr h="749808">
                <a:tc>
                  <a:txBody>
                    <a:bodyPr/>
                    <a:lstStyle/>
                    <a:p>
                      <a:pPr algn="l"/>
                      <a:r>
                        <a:rPr sz="750">
                          <a:solidFill>
                            <a:srgbClr val="595959"/>
                          </a:solidFill>
                          <a:latin typeface="Lato"/>
                        </a:rPr>
                        <a:t>15 Risques liés aux ambiances lumineuses</a:t>
                      </a:r>
                    </a:p>
                  </a:txBody>
                  <a:tcPr marL="27432" marR="27432" marT="18288" marB="18288" anchor="ctr">
                    <a:solidFill>
                      <a:srgbClr val="E8F4F5"/>
                    </a:solidFill>
                  </a:tcPr>
                </a:tc>
                <a:tc>
                  <a:txBody>
                    <a:bodyPr/>
                    <a:lstStyle/>
                    <a:p>
                      <a:pPr algn="l"/>
                      <a:r>
                        <a:rPr sz="750">
                          <a:solidFill>
                            <a:srgbClr val="595959"/>
                          </a:solidFill>
                          <a:latin typeface="Lato"/>
                        </a:rPr>
                        <a:t>Luminosité</a:t>
                      </a:r>
                    </a:p>
                  </a:txBody>
                  <a:tcPr marL="27432" marR="27432" marT="18288" marB="18288" anchor="ctr">
                    <a:solidFill>
                      <a:srgbClr val="E8F4F5"/>
                    </a:solidFill>
                  </a:tcPr>
                </a:tc>
                <a:tc>
                  <a:txBody>
                    <a:bodyPr/>
                    <a:lstStyle/>
                    <a:p>
                      <a:pPr algn="l"/>
                      <a:r>
                        <a:rPr sz="750">
                          <a:solidFill>
                            <a:srgbClr val="595959"/>
                          </a:solidFill>
                          <a:latin typeface="Lato"/>
                        </a:rPr>
                        <a:t>Bureau</a:t>
                      </a:r>
                    </a:p>
                  </a:txBody>
                  <a:tcPr marL="27432" marR="27432" marT="18288" marB="18288" anchor="ctr">
                    <a:solidFill>
                      <a:srgbClr val="E8F4F5"/>
                    </a:solidFill>
                  </a:tcPr>
                </a:tc>
                <a:tc>
                  <a:txBody>
                    <a:bodyPr/>
                    <a:lstStyle/>
                    <a:p>
                      <a:pPr algn="l"/>
                      <a:r>
                        <a:rPr sz="750">
                          <a:solidFill>
                            <a:srgbClr val="595959"/>
                          </a:solidFill>
                          <a:latin typeface="Lato"/>
                        </a:rPr>
                        <a:t>Faible et forte luminosité</a:t>
                      </a:r>
                    </a:p>
                  </a:txBody>
                  <a:tcPr marL="27432" marR="27432" marT="18288" marB="18288" anchor="ctr">
                    <a:solidFill>
                      <a:srgbClr val="E8F4F5"/>
                    </a:solidFill>
                  </a:tcPr>
                </a:tc>
                <a:tc>
                  <a:txBody>
                    <a:bodyPr/>
                    <a:lstStyle/>
                    <a:p>
                      <a:pPr algn="l"/>
                      <a:r>
                        <a:rPr sz="750">
                          <a:solidFill>
                            <a:srgbClr val="595959"/>
                          </a:solidFill>
                          <a:latin typeface="Lato"/>
                        </a:rPr>
                        <a:t>Open space service Lyon</a:t>
                      </a:r>
                    </a:p>
                  </a:txBody>
                  <a:tcPr marL="27432" marR="27432" marT="18288" marB="18288" anchor="ctr">
                    <a:solidFill>
                      <a:srgbClr val="E8F4F5"/>
                    </a:solidFill>
                  </a:tcPr>
                </a:tc>
                <a:tc>
                  <a:txBody>
                    <a:bodyPr/>
                    <a:lstStyle/>
                    <a:p>
                      <a:pPr algn="l"/>
                      <a:r>
                        <a:rPr sz="750">
                          <a:solidFill>
                            <a:srgbClr val="595959"/>
                          </a:solidFill>
                          <a:latin typeface="Lato"/>
                        </a:rPr>
                        <a:t>Fatigue visuelle</a:t>
                      </a:r>
                    </a:p>
                  </a:txBody>
                  <a:tcPr marL="27432" marR="27432" marT="18288" marB="18288" anchor="ctr">
                    <a:solidFill>
                      <a:srgbClr val="E8F4F5"/>
                    </a:solidFill>
                  </a:tcPr>
                </a:tc>
                <a:tc>
                  <a:txBody>
                    <a:bodyPr/>
                    <a:lstStyle/>
                    <a:p>
                      <a:pPr algn="ctr"/>
                      <a:r>
                        <a:rPr sz="750">
                          <a:solidFill>
                            <a:srgbClr val="595959"/>
                          </a:solidFill>
                          <a:latin typeface="Lato"/>
                        </a:rPr>
                        <a:t>16</a:t>
                      </a:r>
                    </a:p>
                  </a:txBody>
                  <a:tcPr marL="27432" marR="27432" marT="18288" marB="18288" anchor="ctr">
                    <a:solidFill>
                      <a:srgbClr val="E8F4F5"/>
                    </a:solidFill>
                  </a:tcPr>
                </a:tc>
                <a:tc>
                  <a:txBody>
                    <a:bodyPr/>
                    <a:lstStyle/>
                    <a:p>
                      <a:pPr algn="ctr"/>
                      <a:r>
                        <a:rPr sz="750">
                          <a:solidFill>
                            <a:srgbClr val="595959"/>
                          </a:solidFill>
                          <a:latin typeface="Lato"/>
                        </a:rPr>
                        <a:t>4</a:t>
                      </a:r>
                    </a:p>
                  </a:txBody>
                  <a:tcPr marL="27432" marR="27432" marT="18288" marB="18288" anchor="ctr">
                    <a:solidFill>
                      <a:srgbClr val="E8F4F5"/>
                    </a:solidFill>
                  </a:tcPr>
                </a:tc>
                <a:tc>
                  <a:txBody>
                    <a:bodyPr/>
                    <a:lstStyle/>
                    <a:p>
                      <a:pPr algn="ctr"/>
                      <a:r>
                        <a:rPr sz="750" b="1">
                          <a:solidFill>
                            <a:srgbClr val="075767"/>
                          </a:solidFill>
                          <a:latin typeface="Lato"/>
                        </a:rPr>
                        <a:t>64</a:t>
                      </a:r>
                    </a:p>
                  </a:txBody>
                  <a:tcPr marL="27432" marR="27432" marT="18288" marB="18288" anchor="ctr">
                    <a:solidFill>
                      <a:srgbClr val="E8F4F5"/>
                    </a:solidFill>
                  </a:tcPr>
                </a:tc>
                <a:tc>
                  <a:txBody>
                    <a:bodyPr/>
                    <a:lstStyle/>
                    <a:p>
                      <a:pPr algn="l"/>
                      <a:r>
                        <a:rPr sz="750">
                          <a:solidFill>
                            <a:srgbClr val="595959"/>
                          </a:solidFill>
                          <a:latin typeface="Lato"/>
                        </a:rPr>
                        <a:t>Lumière naturelle et artificielle (néon)</a:t>
                      </a:r>
                    </a:p>
                  </a:txBody>
                  <a:tcPr marL="27432" marR="27432" marT="18288" marB="18288" anchor="ctr">
                    <a:solidFill>
                      <a:srgbClr val="E8F4F5"/>
                    </a:solidFill>
                  </a:tcPr>
                </a:tc>
                <a:tc>
                  <a:txBody>
                    <a:bodyPr/>
                    <a:lstStyle/>
                    <a:p>
                      <a:pPr algn="ctr"/>
                      <a:r>
                        <a:rPr sz="750">
                          <a:solidFill>
                            <a:srgbClr val="595959"/>
                          </a:solidFill>
                          <a:latin typeface="Lato"/>
                        </a:rPr>
                        <a:t>3</a:t>
                      </a:r>
                    </a:p>
                  </a:txBody>
                  <a:tcPr marL="27432" marR="27432" marT="18288" marB="18288" anchor="ctr">
                    <a:solidFill>
                      <a:srgbClr val="E8F4F5"/>
                    </a:solidFill>
                  </a:tcPr>
                </a:tc>
                <a:tc>
                  <a:txBody>
                    <a:bodyPr/>
                    <a:lstStyle/>
                    <a:p>
                      <a:pPr algn="ctr"/>
                      <a:r>
                        <a:rPr sz="750">
                          <a:solidFill>
                            <a:srgbClr val="595959"/>
                          </a:solidFill>
                          <a:latin typeface="Lato"/>
                        </a:rPr>
                        <a:t>3</a:t>
                      </a:r>
                    </a:p>
                  </a:txBody>
                  <a:tcPr marL="27432" marR="27432" marT="18288" marB="18288" anchor="ctr">
                    <a:solidFill>
                      <a:srgbClr val="E8F4F5"/>
                    </a:solidFill>
                  </a:tcPr>
                </a:tc>
                <a:tc>
                  <a:txBody>
                    <a:bodyPr/>
                    <a:lstStyle/>
                    <a:p>
                      <a:pPr algn="ctr"/>
                      <a:r>
                        <a:rPr sz="750">
                          <a:solidFill>
                            <a:srgbClr val="595959"/>
                          </a:solidFill>
                          <a:latin typeface="Lato"/>
                        </a:rPr>
                        <a:t>9</a:t>
                      </a:r>
                    </a:p>
                  </a:txBody>
                  <a:tcPr marL="27432" marR="27432" marT="18288" marB="18288" anchor="ctr">
                    <a:solidFill>
                      <a:srgbClr val="E8F4F5"/>
                    </a:solidFill>
                  </a:tcPr>
                </a:tc>
                <a:tc>
                  <a:txBody>
                    <a:bodyPr/>
                    <a:lstStyle/>
                    <a:p>
                      <a:pPr algn="ctr"/>
                      <a:r>
                        <a:rPr sz="750" b="1">
                          <a:solidFill>
                            <a:srgbClr val="075767"/>
                          </a:solidFill>
                          <a:latin typeface="Lato"/>
                        </a:rPr>
                        <a:t>7,1</a:t>
                      </a:r>
                    </a:p>
                  </a:txBody>
                  <a:tcPr marL="27432" marR="27432" marT="18288" marB="18288" anchor="ctr">
                    <a:solidFill>
                      <a:srgbClr val="E8F4F5"/>
                    </a:solidFill>
                  </a:tcPr>
                </a:tc>
                <a:tc>
                  <a:txBody>
                    <a:bodyPr/>
                    <a:lstStyle/>
                    <a:p>
                      <a:pPr algn="l"/>
                      <a:r>
                        <a:rPr sz="750">
                          <a:solidFill>
                            <a:srgbClr val="595959"/>
                          </a:solidFill>
                          <a:latin typeface="Lato"/>
                        </a:rPr>
                        <a:t>Vigilance sur les locaux aveugles</a:t>
                      </a:r>
                    </a:p>
                  </a:txBody>
                  <a:tcPr marL="27432" marR="27432" marT="18288" marB="18288" anchor="ctr">
                    <a:solidFill>
                      <a:srgbClr val="E8F4F5"/>
                    </a:solidFill>
                  </a:tcPr>
                </a:tc>
                <a:extLst>
                  <a:ext uri="{0D108BD9-81ED-4DB2-BD59-A6C34878D82A}">
                    <a16:rowId xmlns:a16="http://schemas.microsoft.com/office/drawing/2014/main" val="10003"/>
                  </a:ext>
                </a:extLst>
              </a:tr>
            </a:tbl>
          </a:graphicData>
        </a:graphic>
      </p:graphicFrame>
      <p:sp>
        <p:nvSpPr>
          <p:cNvPr id="18" name="Rectangle 17"/>
          <p:cNvSpPr/>
          <p:nvPr/>
        </p:nvSpPr>
        <p:spPr>
          <a:xfrm>
            <a:off x="8046720" y="2084831"/>
            <a:ext cx="3410712" cy="2889504"/>
          </a:xfrm>
          <a:prstGeom prst="rect">
            <a:avLst/>
          </a:prstGeom>
          <a:solidFill>
            <a:srgbClr val="FFFFFF"/>
          </a:solidFill>
          <a:ln w="12700">
            <a:solidFill>
              <a:srgbClr val="45818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45818D"/>
                </a:solidFill>
                <a:latin typeface="Lato"/>
              </a:rPr>
              <a:t>L'évaluation du risque résiduel</a:t>
            </a:r>
          </a:p>
        </p:txBody>
      </p:sp>
      <p:sp>
        <p:nvSpPr>
          <p:cNvPr id="19" name="TextBox 18"/>
          <p:cNvSpPr txBox="1"/>
          <p:nvPr/>
        </p:nvSpPr>
        <p:spPr>
          <a:xfrm>
            <a:off x="731520" y="5138928"/>
            <a:ext cx="10725912" cy="502920"/>
          </a:xfrm>
          <a:prstGeom prst="rect">
            <a:avLst/>
          </a:prstGeom>
          <a:noFill/>
        </p:spPr>
        <p:txBody>
          <a:bodyPr wrap="square" lIns="0" tIns="0" rIns="0" bIns="0" anchor="t">
            <a:spAutoFit/>
          </a:bodyPr>
          <a:lstStyle/>
          <a:p>
            <a:pPr algn="l"/>
            <a:r>
              <a:rPr sz="1250" b="1" i="0">
                <a:solidFill>
                  <a:srgbClr val="075767"/>
                </a:solidFill>
                <a:latin typeface="Lato"/>
              </a:rPr>
              <a:t>Risque résiduel = criticité ÷ (type de moyens × efficacité). Les deux premières lignes partaient à égalité, à 128 : le siège, mieux couvert, redescend à 21,3 quand la souris reste à 32.</a:t>
            </a:r>
          </a:p>
        </p:txBody>
      </p:sp>
      <p:grpSp>
        <p:nvGrpSpPr>
          <p:cNvPr id="9139" name="Bloc 3"/>
          <p:cNvGrpSpPr/>
          <p:nvPr/>
        </p:nvGrpSpPr>
        <p:grpSpPr>
          <a:xfrm>
            <a:off x="731520" y="5532120"/>
            <a:ext cx="10725912" cy="566928"/>
            <a:chOff x="731520" y="5532120"/>
            <a:chExt cx="10725912" cy="566928"/>
          </a:xfrm>
        </p:grpSpPr>
        <p:sp>
          <p:nvSpPr>
            <p:cNvPr id="20" name="Rounded Rectangle 19"/>
            <p:cNvSpPr/>
            <p:nvPr/>
          </p:nvSpPr>
          <p:spPr>
            <a:xfrm>
              <a:off x="731520" y="5532120"/>
              <a:ext cx="10725912" cy="56692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4128" y="5532120"/>
              <a:ext cx="10140696" cy="566928"/>
            </a:xfrm>
            <a:prstGeom prst="rect">
              <a:avLst/>
            </a:prstGeom>
            <a:noFill/>
          </p:spPr>
          <p:txBody>
            <a:bodyPr wrap="square" lIns="0" rIns="0" anchor="ctr">
              <a:spAutoFit/>
            </a:bodyPr>
            <a:lstStyle/>
            <a:p>
              <a:r>
                <a:rPr sz="1150" b="1">
                  <a:solidFill>
                    <a:srgbClr val="C33F14"/>
                  </a:solidFill>
                  <a:latin typeface="Lato"/>
                </a:rPr>
                <a:t>Ce que le résiduel apporte   il sépare deux risques que la criticité brute confondait, et il évolue d'une année sur l'autre avec le niveau de prévention.</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5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5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39"/>
                                        </p:tgtEl>
                                        <p:attrNameLst>
                                          <p:attrName>style.visibility</p:attrName>
                                        </p:attrNameLst>
                                      </p:cBhvr>
                                      <p:to>
                                        <p:strVal val="visible"/>
                                      </p:to>
                                    </p:set>
                                    <p:animEffect transition="in" filter="fade">
                                      <p:cBhvr>
                                        <p:cTn id="17" dur="450"/>
                                        <p:tgtEl>
                                          <p:spTgt spid="91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600"/>
                                        <p:tgtEl>
                                          <p:spTgt spid="18"/>
                                        </p:tgtEl>
                                      </p:cBhvr>
                                    </p:animEffect>
                                    <p:set>
                                      <p:cBhvr>
                                        <p:cTn id="22" dur="1" fill="hold">
                                          <p:stCondLst>
                                            <p:cond delay="5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que le résiduel rend visible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sp>
        <p:nvSpPr>
          <p:cNvPr id="10" name="Text 8"/>
          <p:cNvSpPr txBox="1"/>
          <p:nvPr/>
        </p:nvSpPr>
        <p:spPr>
          <a:xfrm>
            <a:off x="731520" y="2103120"/>
            <a:ext cx="3576218" cy="1188720"/>
          </a:xfrm>
          <a:prstGeom prst="rect">
            <a:avLst/>
          </a:prstGeom>
          <a:noFill/>
          <a:ln/>
        </p:spPr>
        <p:txBody>
          <a:bodyPr wrap="square" lIns="0" tIns="0" rIns="0" bIns="0" rtlCol="0" anchor="ctr"/>
          <a:lstStyle/>
          <a:p>
            <a:pPr marL="0" indent="0" algn="ctr">
              <a:buNone/>
            </a:pPr>
            <a:r>
              <a:rPr lang="en-US" sz="6400" b="1" kern="0" spc="-200" dirty="0">
                <a:solidFill>
                  <a:srgbClr val="075767"/>
                </a:solidFill>
                <a:latin typeface="Lato" pitchFamily="34" charset="0"/>
                <a:ea typeface="Lato" pitchFamily="34" charset="-122"/>
                <a:cs typeface="Lato" pitchFamily="34" charset="-120"/>
              </a:rPr>
              <a:t>128</a:t>
            </a:r>
            <a:endParaRPr lang="en-US" sz="6400" dirty="0"/>
          </a:p>
        </p:txBody>
      </p:sp>
      <p:sp>
        <p:nvSpPr>
          <p:cNvPr id="11" name="Text 9"/>
          <p:cNvSpPr txBox="1"/>
          <p:nvPr/>
        </p:nvSpPr>
        <p:spPr>
          <a:xfrm>
            <a:off x="731520" y="3337560"/>
            <a:ext cx="3576218" cy="365760"/>
          </a:xfrm>
          <a:prstGeom prst="rect">
            <a:avLst/>
          </a:prstGeom>
          <a:noFill/>
          <a:ln/>
        </p:spPr>
        <p:txBody>
          <a:bodyPr wrap="square" lIns="0" tIns="0" rIns="0" bIns="0" rtlCol="0" anchor="t"/>
          <a:lstStyle/>
          <a:p>
            <a:pPr marL="0" indent="0" algn="ctr">
              <a:buNone/>
            </a:pPr>
            <a:r>
              <a:rPr lang="en-US" sz="1600" b="1" dirty="0">
                <a:solidFill>
                  <a:srgbClr val="075767"/>
                </a:solidFill>
                <a:latin typeface="Lato" pitchFamily="34" charset="0"/>
                <a:ea typeface="Lato" pitchFamily="34" charset="-122"/>
                <a:cs typeface="Lato" pitchFamily="34" charset="-120"/>
              </a:rPr>
              <a:t>Risque brut</a:t>
            </a:r>
            <a:endParaRPr lang="en-US" sz="1600" dirty="0"/>
          </a:p>
        </p:txBody>
      </p:sp>
      <p:sp>
        <p:nvSpPr>
          <p:cNvPr id="12" name="Text 10"/>
          <p:cNvSpPr txBox="1"/>
          <p:nvPr/>
        </p:nvSpPr>
        <p:spPr>
          <a:xfrm>
            <a:off x="960120" y="3730752"/>
            <a:ext cx="3119018" cy="822960"/>
          </a:xfrm>
          <a:prstGeom prst="rect">
            <a:avLst/>
          </a:prstGeom>
          <a:noFill/>
          <a:ln/>
        </p:spPr>
        <p:txBody>
          <a:bodyPr wrap="square" lIns="0" tIns="0" rIns="0" bIns="0" rtlCol="0" anchor="t"/>
          <a:lstStyle/>
          <a:p>
            <a:pPr marL="0" indent="0" algn="ctr">
              <a:buNone/>
            </a:pPr>
            <a:r>
              <a:rPr lang="en-US" sz="1200" dirty="0">
                <a:solidFill>
                  <a:srgbClr val="595959"/>
                </a:solidFill>
                <a:latin typeface="Lato" pitchFamily="34" charset="0"/>
                <a:ea typeface="Lato" pitchFamily="34" charset="-122"/>
                <a:cs typeface="Lato" pitchFamily="34" charset="-120"/>
              </a:rPr>
              <a:t>Identique pour la souris et le siège : aucun moyen d'arbitrer entre les deux</a:t>
            </a:r>
            <a:endParaRPr lang="en-US" sz="1200" dirty="0"/>
          </a:p>
        </p:txBody>
      </p:sp>
      <p:sp>
        <p:nvSpPr>
          <p:cNvPr id="13" name="Text 11"/>
          <p:cNvSpPr txBox="1"/>
          <p:nvPr/>
        </p:nvSpPr>
        <p:spPr>
          <a:xfrm>
            <a:off x="4307738" y="2103120"/>
            <a:ext cx="3576218" cy="1188720"/>
          </a:xfrm>
          <a:prstGeom prst="rect">
            <a:avLst/>
          </a:prstGeom>
          <a:noFill/>
          <a:ln/>
        </p:spPr>
        <p:txBody>
          <a:bodyPr wrap="square" lIns="0" tIns="0" rIns="0" bIns="0" rtlCol="0" anchor="ctr"/>
          <a:lstStyle/>
          <a:p>
            <a:pPr marL="0" indent="0" algn="ctr">
              <a:buNone/>
            </a:pPr>
            <a:r>
              <a:rPr lang="en-US" sz="6400" b="1" kern="0" spc="-200" dirty="0">
                <a:solidFill>
                  <a:srgbClr val="C33F14"/>
                </a:solidFill>
                <a:latin typeface="Lato" pitchFamily="34" charset="0"/>
                <a:ea typeface="Lato" pitchFamily="34" charset="-122"/>
                <a:cs typeface="Lato" pitchFamily="34" charset="-120"/>
              </a:rPr>
              <a:t>32</a:t>
            </a:r>
            <a:endParaRPr lang="en-US" sz="6400" dirty="0"/>
          </a:p>
        </p:txBody>
      </p:sp>
      <p:sp>
        <p:nvSpPr>
          <p:cNvPr id="14" name="Text 12"/>
          <p:cNvSpPr txBox="1"/>
          <p:nvPr/>
        </p:nvSpPr>
        <p:spPr>
          <a:xfrm>
            <a:off x="4307738" y="3337560"/>
            <a:ext cx="3576218" cy="365760"/>
          </a:xfrm>
          <a:prstGeom prst="rect">
            <a:avLst/>
          </a:prstGeom>
          <a:noFill/>
          <a:ln/>
        </p:spPr>
        <p:txBody>
          <a:bodyPr wrap="square" lIns="0" tIns="0" rIns="0" bIns="0" rtlCol="0" anchor="t"/>
          <a:lstStyle/>
          <a:p>
            <a:pPr marL="0" indent="0" algn="ctr">
              <a:buNone/>
            </a:pPr>
            <a:r>
              <a:rPr lang="en-US" sz="1600" b="1" dirty="0">
                <a:solidFill>
                  <a:srgbClr val="075767"/>
                </a:solidFill>
                <a:latin typeface="Lato" pitchFamily="34" charset="0"/>
                <a:ea typeface="Lato" pitchFamily="34" charset="-122"/>
                <a:cs typeface="Lato" pitchFamily="34" charset="-120"/>
              </a:rPr>
              <a:t>Résiduel souris</a:t>
            </a:r>
            <a:endParaRPr lang="en-US" sz="1600" dirty="0"/>
          </a:p>
        </p:txBody>
      </p:sp>
      <p:sp>
        <p:nvSpPr>
          <p:cNvPr id="15" name="Text 13"/>
          <p:cNvSpPr txBox="1"/>
          <p:nvPr/>
        </p:nvSpPr>
        <p:spPr>
          <a:xfrm>
            <a:off x="4536338" y="3730752"/>
            <a:ext cx="3119018" cy="822960"/>
          </a:xfrm>
          <a:prstGeom prst="rect">
            <a:avLst/>
          </a:prstGeom>
          <a:noFill/>
          <a:ln/>
        </p:spPr>
        <p:txBody>
          <a:bodyPr wrap="square" lIns="0" tIns="0" rIns="0" bIns="0" rtlCol="0" anchor="t"/>
          <a:lstStyle/>
          <a:p>
            <a:pPr marL="0" indent="0" algn="ctr">
              <a:buNone/>
            </a:pPr>
            <a:r>
              <a:rPr lang="en-US" sz="1200" dirty="0">
                <a:solidFill>
                  <a:srgbClr val="595959"/>
                </a:solidFill>
                <a:latin typeface="Lato" pitchFamily="34" charset="0"/>
                <a:ea typeface="Lato" pitchFamily="34" charset="-122"/>
                <a:cs typeface="Lato" pitchFamily="34" charset="-120"/>
              </a:rPr>
              <a:t>Deux types de moyens, efficacité moyenne, c'est là qu'il faut agir</a:t>
            </a:r>
            <a:endParaRPr lang="en-US" sz="1200" dirty="0"/>
          </a:p>
        </p:txBody>
      </p:sp>
      <p:sp>
        <p:nvSpPr>
          <p:cNvPr id="16" name="Text 14"/>
          <p:cNvSpPr txBox="1"/>
          <p:nvPr/>
        </p:nvSpPr>
        <p:spPr>
          <a:xfrm>
            <a:off x="7883957" y="2103120"/>
            <a:ext cx="3576218" cy="1188720"/>
          </a:xfrm>
          <a:prstGeom prst="rect">
            <a:avLst/>
          </a:prstGeom>
          <a:noFill/>
          <a:ln/>
        </p:spPr>
        <p:txBody>
          <a:bodyPr wrap="square" lIns="0" tIns="0" rIns="0" bIns="0" rtlCol="0" anchor="ctr"/>
          <a:lstStyle/>
          <a:p>
            <a:pPr marL="0" indent="0" algn="ctr">
              <a:buNone/>
            </a:pPr>
            <a:r>
              <a:rPr lang="en-US" sz="6400" b="1" kern="0" spc="-200" dirty="0">
                <a:solidFill>
                  <a:srgbClr val="075767"/>
                </a:solidFill>
                <a:latin typeface="Lato" pitchFamily="34" charset="0"/>
                <a:ea typeface="Lato" pitchFamily="34" charset="-122"/>
                <a:cs typeface="Lato" pitchFamily="34" charset="-120"/>
              </a:rPr>
              <a:t>21,3</a:t>
            </a:r>
            <a:endParaRPr lang="en-US" sz="6400" dirty="0"/>
          </a:p>
        </p:txBody>
      </p:sp>
      <p:sp>
        <p:nvSpPr>
          <p:cNvPr id="17" name="Text 15"/>
          <p:cNvSpPr txBox="1"/>
          <p:nvPr/>
        </p:nvSpPr>
        <p:spPr>
          <a:xfrm>
            <a:off x="7883957" y="3337560"/>
            <a:ext cx="3576218" cy="365760"/>
          </a:xfrm>
          <a:prstGeom prst="rect">
            <a:avLst/>
          </a:prstGeom>
          <a:noFill/>
          <a:ln/>
        </p:spPr>
        <p:txBody>
          <a:bodyPr wrap="square" lIns="0" tIns="0" rIns="0" bIns="0" rtlCol="0" anchor="t"/>
          <a:lstStyle/>
          <a:p>
            <a:pPr marL="0" indent="0" algn="ctr">
              <a:buNone/>
            </a:pPr>
            <a:r>
              <a:rPr lang="en-US" sz="1600" b="1" dirty="0">
                <a:solidFill>
                  <a:srgbClr val="075767"/>
                </a:solidFill>
                <a:latin typeface="Lato" pitchFamily="34" charset="0"/>
                <a:ea typeface="Lato" pitchFamily="34" charset="-122"/>
                <a:cs typeface="Lato" pitchFamily="34" charset="-120"/>
              </a:rPr>
              <a:t>Résiduel siège</a:t>
            </a:r>
            <a:endParaRPr lang="en-US" sz="1600" dirty="0"/>
          </a:p>
        </p:txBody>
      </p:sp>
      <p:sp>
        <p:nvSpPr>
          <p:cNvPr id="18" name="Text 16"/>
          <p:cNvSpPr txBox="1"/>
          <p:nvPr/>
        </p:nvSpPr>
        <p:spPr>
          <a:xfrm>
            <a:off x="8112557" y="3730752"/>
            <a:ext cx="3119018" cy="822960"/>
          </a:xfrm>
          <a:prstGeom prst="rect">
            <a:avLst/>
          </a:prstGeom>
          <a:noFill/>
          <a:ln/>
        </p:spPr>
        <p:txBody>
          <a:bodyPr wrap="square" lIns="0" tIns="0" rIns="0" bIns="0" rtlCol="0" anchor="t"/>
          <a:lstStyle/>
          <a:p>
            <a:pPr marL="0" indent="0" algn="ctr">
              <a:buNone/>
            </a:pPr>
            <a:r>
              <a:rPr lang="en-US" sz="1200" dirty="0">
                <a:solidFill>
                  <a:srgbClr val="595959"/>
                </a:solidFill>
                <a:latin typeface="Lato" pitchFamily="34" charset="0"/>
                <a:ea typeface="Lato" pitchFamily="34" charset="-122"/>
                <a:cs typeface="Lato" pitchFamily="34" charset="-120"/>
              </a:rPr>
              <a:t>Trois types de moyens : le poste est mieux couvert, il attendra</a:t>
            </a:r>
            <a:endParaRPr lang="en-US" sz="1200" dirty="0"/>
          </a:p>
        </p:txBody>
      </p:sp>
      <p:sp>
        <p:nvSpPr>
          <p:cNvPr id="19" name="Shape 17"/>
          <p:cNvSpPr/>
          <p:nvPr/>
        </p:nvSpPr>
        <p:spPr>
          <a:xfrm>
            <a:off x="731520" y="5074920"/>
            <a:ext cx="10728655" cy="841248"/>
          </a:xfrm>
          <a:prstGeom prst="roundRect">
            <a:avLst>
              <a:gd name="adj" fmla="val 6522"/>
            </a:avLst>
          </a:prstGeom>
          <a:solidFill>
            <a:srgbClr val="D7E8EB"/>
          </a:solidFill>
          <a:ln/>
        </p:spPr>
        <p:txBody>
          <a:bodyPr/>
          <a:lstStyle/>
          <a:p>
            <a:endParaRPr/>
          </a:p>
        </p:txBody>
      </p:sp>
      <p:sp>
        <p:nvSpPr>
          <p:cNvPr id="20" name="Text 18"/>
          <p:cNvSpPr txBox="1"/>
          <p:nvPr/>
        </p:nvSpPr>
        <p:spPr>
          <a:xfrm>
            <a:off x="1024128" y="507492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La lecture   </a:t>
            </a:r>
            <a:r>
              <a:rPr lang="en-US" sz="1300" dirty="0">
                <a:solidFill>
                  <a:srgbClr val="075767"/>
                </a:solidFill>
                <a:latin typeface="Lato" pitchFamily="34" charset="0"/>
                <a:ea typeface="Lato" pitchFamily="34" charset="-122"/>
                <a:cs typeface="Lato" pitchFamily="34" charset="-120"/>
              </a:rPr>
              <a:t>à criticité brute identique, le risque résiduel désigne tout seul le poste sur lequel porter l'effort de l'année. C'est ce que le code couleur du DUERP doit faire ressortir au premier coup d'œil.</a:t>
            </a:r>
            <a:endParaRPr lang="en-US" sz="1250" dirty="0"/>
          </a:p>
        </p:txBody>
      </p:sp>
      <p:pic>
        <p:nvPicPr>
          <p:cNvPr id="21"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22" name="Text 1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3" name="Shape 20"/>
          <p:cNvSpPr/>
          <p:nvPr/>
        </p:nvSpPr>
        <p:spPr>
          <a:xfrm>
            <a:off x="10591495" y="6181344"/>
            <a:ext cx="438912" cy="438912"/>
          </a:xfrm>
          <a:prstGeom prst="ellipse">
            <a:avLst/>
          </a:prstGeom>
          <a:solidFill>
            <a:srgbClr val="F06C23"/>
          </a:solidFill>
          <a:ln/>
        </p:spPr>
        <p:txBody>
          <a:bodyPr/>
          <a:lstStyle/>
          <a:p>
            <a:endParaRPr/>
          </a:p>
        </p:txBody>
      </p:sp>
      <p:sp>
        <p:nvSpPr>
          <p:cNvPr id="24" name="Text 2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25" name="Text 2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102</a:t>
            </a:r>
            <a:endParaRPr lang="en-US" sz="1000" dirty="0"/>
          </a:p>
        </p:txBody>
      </p:sp>
    </p:spTree>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500" b="1" kern="0" spc="-150" dirty="0">
                <a:solidFill>
                  <a:srgbClr val="075767"/>
                </a:solidFill>
                <a:latin typeface="Lato" pitchFamily="34" charset="0"/>
                <a:ea typeface="Lato" pitchFamily="34" charset="-122"/>
                <a:cs typeface="Lato" pitchFamily="34" charset="-120"/>
              </a:rPr>
              <a:t>Le vrai intérêt : la lecture d'une année sur l'autre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Le risque brut est figé. Le risque résiduel, lui, bouge, et c'est le seul indicateur qui montre que la prévention avance.</a:t>
            </a:r>
            <a:endParaRPr lang="en-US" sz="1450" dirty="0"/>
          </a:p>
        </p:txBody>
      </p:sp>
      <p:sp>
        <p:nvSpPr>
          <p:cNvPr id="11" name="Text 9"/>
          <p:cNvSpPr txBox="1"/>
          <p:nvPr/>
        </p:nvSpPr>
        <p:spPr>
          <a:xfrm>
            <a:off x="731520" y="2487168"/>
            <a:ext cx="10728655"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Année N : la souris est à 32</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Deux types de moyens (technique et organisationnel), efficacité jugée moyenne : 128 ÷ (2 × 2)</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Année N+1 : on ajoute l'alternance d'activité et une sensibilisation aux postures</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Les trois types de moyens sont désormais réunis et l'efficacité est constatée : 128 ÷ (4 × 3) = 10,7</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Le risque brut n'a pas bougé d'un point. Le risque résiduel a été divisé par trois.</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Ce que ça change pour le CSE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 tableau devient un outil de pilotage : on voit d'une année sur l'autre où la prévention a produit un effet et où elle stagne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 code couleur se déplace, et c'est ce déplacement qui oriente le programme annuel de prévention</a:t>
            </a:r>
            <a:endParaRPr lang="en-US" sz="1300" dirty="0"/>
          </a:p>
        </p:txBody>
      </p:sp>
      <p:grpSp>
        <p:nvGrpSpPr>
          <p:cNvPr id="9140" name="Bloc 3"/>
          <p:cNvGrpSpPr/>
          <p:nvPr/>
        </p:nvGrpSpPr>
        <p:grpSpPr>
          <a:xfrm>
            <a:off x="731520" y="5248656"/>
            <a:ext cx="10728655" cy="841248"/>
            <a:chOff x="731520" y="5248656"/>
            <a:chExt cx="10728655" cy="841248"/>
          </a:xfrm>
        </p:grpSpPr>
        <p:sp>
          <p:nvSpPr>
            <p:cNvPr id="12" name="Shape 10"/>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À porter en réunion   demander que le document unique conserve la cotation de l'année précédente en regard de celle de l'année en cours. Sans historique, la progression n'est pas démontrable.</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103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40"/>
                                        </p:tgtEl>
                                        <p:attrNameLst>
                                          <p:attrName>style.visibility</p:attrName>
                                        </p:attrNameLst>
                                      </p:cBhvr>
                                      <p:to>
                                        <p:strVal val="visible"/>
                                      </p:to>
                                    </p:set>
                                    <p:animEffect transition="in" filter="fade">
                                      <p:cBhvr>
                                        <p:cTn id="17" dur="450"/>
                                        <p:tgtEl>
                                          <p:spTgt spid="9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Analyser un DUERP réel</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grpSp>
        <p:nvGrpSpPr>
          <p:cNvPr id="9141" name="Bloc 1"/>
          <p:cNvGrpSpPr/>
          <p:nvPr/>
        </p:nvGrpSpPr>
        <p:grpSpPr>
          <a:xfrm>
            <a:off x="731520" y="1828800"/>
            <a:ext cx="10728655" cy="3977640"/>
            <a:chOff x="731520" y="1828800"/>
            <a:chExt cx="10728655" cy="3977640"/>
          </a:xfrm>
        </p:grpSpPr>
        <p:sp>
          <p:nvSpPr>
            <p:cNvPr id="10" name="Shape 8"/>
            <p:cNvSpPr/>
            <p:nvPr/>
          </p:nvSpPr>
          <p:spPr>
            <a:xfrm>
              <a:off x="731520" y="1828800"/>
              <a:ext cx="10728655" cy="3977640"/>
            </a:xfrm>
            <a:prstGeom prst="roundRect">
              <a:avLst>
                <a:gd name="adj" fmla="val 1379"/>
              </a:avLst>
            </a:prstGeom>
            <a:solidFill>
              <a:srgbClr val="F2F2F2"/>
            </a:solidFill>
            <a:ln/>
          </p:spPr>
          <p:txBody>
            <a:bodyPr/>
            <a:lstStyle/>
            <a:p>
              <a:endParaRPr/>
            </a:p>
          </p:txBody>
        </p:sp>
        <p:sp>
          <p:nvSpPr>
            <p:cNvPr id="11" name="Shape 9"/>
            <p:cNvSpPr/>
            <p:nvPr/>
          </p:nvSpPr>
          <p:spPr>
            <a:xfrm>
              <a:off x="1097280" y="2121408"/>
              <a:ext cx="777240" cy="777240"/>
            </a:xfrm>
            <a:prstGeom prst="ellipse">
              <a:avLst/>
            </a:prstGeom>
            <a:solidFill>
              <a:srgbClr val="F06C23"/>
            </a:solidFill>
            <a:ln/>
          </p:spPr>
          <p:txBody>
            <a:bodyPr/>
            <a:lstStyle/>
            <a:p>
              <a:endParaRPr/>
            </a:p>
          </p:txBody>
        </p:sp>
        <p:pic>
          <p:nvPicPr>
            <p:cNvPr id="12" name="Image 0" descr="/home/claude/tmo/build/ico/equipe-blanc.png"/>
            <p:cNvPicPr>
              <a:picLocks noChangeAspect="1"/>
            </p:cNvPicPr>
            <p:nvPr/>
          </p:nvPicPr>
          <p:blipFill>
            <a:blip r:embed="rId3"/>
            <a:stretch>
              <a:fillRect/>
            </a:stretch>
          </p:blipFill>
          <p:spPr>
            <a:xfrm>
              <a:off x="1299362" y="2323490"/>
              <a:ext cx="373075" cy="373075"/>
            </a:xfrm>
            <a:prstGeom prst="rect">
              <a:avLst/>
            </a:prstGeom>
          </p:spPr>
        </p:pic>
        <p:sp>
          <p:nvSpPr>
            <p:cNvPr id="13" name="Shape 10"/>
            <p:cNvSpPr/>
            <p:nvPr/>
          </p:nvSpPr>
          <p:spPr>
            <a:xfrm>
              <a:off x="8854135" y="2139696"/>
              <a:ext cx="2240280" cy="457200"/>
            </a:xfrm>
            <a:prstGeom prst="roundRect">
              <a:avLst>
                <a:gd name="adj" fmla="val 24000"/>
              </a:avLst>
            </a:prstGeom>
            <a:solidFill>
              <a:srgbClr val="075767"/>
            </a:solidFill>
            <a:ln/>
          </p:spPr>
          <p:txBody>
            <a:bodyPr/>
            <a:lstStyle/>
            <a:p>
              <a:endParaRPr/>
            </a:p>
          </p:txBody>
        </p:sp>
        <p:sp>
          <p:nvSpPr>
            <p:cNvPr id="14" name="Text 11"/>
            <p:cNvSpPr txBox="1"/>
            <p:nvPr/>
          </p:nvSpPr>
          <p:spPr>
            <a:xfrm>
              <a:off x="8854135" y="2139696"/>
              <a:ext cx="22402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Lato" pitchFamily="34" charset="0"/>
                  <a:ea typeface="Lato" pitchFamily="34" charset="-122"/>
                  <a:cs typeface="Lato" pitchFamily="34" charset="-120"/>
                </a:rPr>
                <a:t>30' + restitution</a:t>
              </a:r>
              <a:endParaRPr lang="en-US" sz="1250" dirty="0"/>
            </a:p>
          </p:txBody>
        </p:sp>
        <p:sp>
          <p:nvSpPr>
            <p:cNvPr id="15" name="Text 12"/>
            <p:cNvSpPr txBox="1"/>
            <p:nvPr/>
          </p:nvSpPr>
          <p:spPr>
            <a:xfrm>
              <a:off x="2103120" y="2084832"/>
              <a:ext cx="4572000" cy="274320"/>
            </a:xfrm>
            <a:prstGeom prst="rect">
              <a:avLst/>
            </a:prstGeom>
            <a:noFill/>
            <a:ln/>
          </p:spPr>
          <p:txBody>
            <a:bodyPr wrap="square" lIns="0" tIns="0" rIns="0" bIns="0" rtlCol="0" anchor="ctr"/>
            <a:lstStyle/>
            <a:p>
              <a:pPr marL="0" indent="0">
                <a:buNone/>
              </a:pPr>
              <a:r>
                <a:rPr lang="en-US" sz="1100" b="1" kern="0" spc="160" dirty="0">
                  <a:solidFill>
                    <a:srgbClr val="C33F14"/>
                  </a:solidFill>
                  <a:latin typeface="Lato" pitchFamily="34" charset="0"/>
                  <a:ea typeface="Lato" pitchFamily="34" charset="-122"/>
                  <a:cs typeface="Lato" pitchFamily="34" charset="-120"/>
                </a:rPr>
                <a:t>EXERCICE</a:t>
              </a:r>
              <a:endParaRPr lang="en-US" sz="1100" dirty="0"/>
            </a:p>
          </p:txBody>
        </p:sp>
        <p:sp>
          <p:nvSpPr>
            <p:cNvPr id="16" name="Text 13"/>
            <p:cNvSpPr txBox="1"/>
            <p:nvPr/>
          </p:nvSpPr>
          <p:spPr>
            <a:xfrm>
              <a:off x="2103120" y="2377440"/>
              <a:ext cx="6522415" cy="658368"/>
            </a:xfrm>
            <a:prstGeom prst="rect">
              <a:avLst/>
            </a:prstGeom>
            <a:noFill/>
            <a:ln/>
          </p:spPr>
          <p:txBody>
            <a:bodyPr wrap="square" lIns="0" tIns="0" rIns="0" bIns="0" rtlCol="0" anchor="t"/>
            <a:lstStyle/>
            <a:p>
              <a:pPr marL="0" indent="0">
                <a:lnSpc>
                  <a:spcPct val="110000"/>
                </a:lnSpc>
                <a:buNone/>
              </a:pPr>
              <a:r>
                <a:rPr lang="en-US" sz="1600" b="1" dirty="0">
                  <a:solidFill>
                    <a:srgbClr val="075767"/>
                  </a:solidFill>
                  <a:latin typeface="Lato" pitchFamily="34" charset="0"/>
                  <a:ea typeface="Lato" pitchFamily="34" charset="-122"/>
                  <a:cs typeface="Lato" pitchFamily="34" charset="-120"/>
                </a:rPr>
                <a:t>À partir du DUERP fourni, formulez vos préconisations d'amélioration.</a:t>
              </a:r>
              <a:endParaRPr lang="en-US" sz="1600" dirty="0"/>
            </a:p>
          </p:txBody>
        </p:sp>
        <p:sp>
          <p:nvSpPr>
            <p:cNvPr id="17" name="Text 14"/>
            <p:cNvSpPr txBox="1"/>
            <p:nvPr/>
          </p:nvSpPr>
          <p:spPr>
            <a:xfrm>
              <a:off x="2103120" y="3127248"/>
              <a:ext cx="8716975" cy="25146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Le DUERP reflète-t-il bien le travail réel ?</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Est-il facilement utilisable ? Lisibilité, code couleur, hiérarchisation visible ?</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Les mesures de prévention sont-elles listées de manière exhaustive ?</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Chaque groupe restitue trois préconisations, formulées comme elles le seraient en séance de CSSCT</a:t>
              </a:r>
              <a:endParaRPr lang="en-US" sz="1400" dirty="0"/>
            </a:p>
          </p:txBody>
        </p:sp>
      </p:grpSp>
      <p:pic>
        <p:nvPicPr>
          <p:cNvPr id="18"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9" name="Text 15"/>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6"/>
          <p:cNvSpPr/>
          <p:nvPr/>
        </p:nvSpPr>
        <p:spPr>
          <a:xfrm>
            <a:off x="10591495" y="6181344"/>
            <a:ext cx="438912" cy="438912"/>
          </a:xfrm>
          <a:prstGeom prst="ellipse">
            <a:avLst/>
          </a:prstGeom>
          <a:solidFill>
            <a:srgbClr val="F06C23"/>
          </a:solidFill>
          <a:ln/>
        </p:spPr>
        <p:txBody>
          <a:bodyPr/>
          <a:lstStyle/>
          <a:p>
            <a:endParaRPr/>
          </a:p>
        </p:txBody>
      </p:sp>
      <p:sp>
        <p:nvSpPr>
          <p:cNvPr id="21" name="Text 17"/>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22" name="Text 18"/>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104</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41"/>
                                        </p:tgtEl>
                                        <p:attrNameLst>
                                          <p:attrName>style.visibility</p:attrName>
                                        </p:attrNameLst>
                                      </p:cBhvr>
                                      <p:to>
                                        <p:strVal val="visible"/>
                                      </p:to>
                                    </p:set>
                                    <p:animEffect transition="in" filter="fade">
                                      <p:cBhvr>
                                        <p:cTn id="7" dur="450"/>
                                        <p:tgtEl>
                                          <p:spTgt spid="9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pic>
        <p:nvPicPr>
          <p:cNvPr id="2" name="Image 0" descr="/home/claude/tmo/build/photos/p18.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2A30">
              <a:alpha val="38000"/>
            </a:srgbClr>
          </a:solidFill>
          <a:ln/>
        </p:spPr>
        <p:txBody>
          <a:bodyPr/>
          <a:lstStyle/>
          <a:p>
            <a:endParaRPr/>
          </a:p>
        </p:txBody>
      </p:sp>
      <p:sp>
        <p:nvSpPr>
          <p:cNvPr id="4" name="Shape 1"/>
          <p:cNvSpPr/>
          <p:nvPr/>
        </p:nvSpPr>
        <p:spPr>
          <a:xfrm>
            <a:off x="0" y="4343400"/>
            <a:ext cx="12191695" cy="2514600"/>
          </a:xfrm>
          <a:prstGeom prst="rect">
            <a:avLst/>
          </a:prstGeom>
          <a:solidFill>
            <a:srgbClr val="082A30">
              <a:alpha val="88000"/>
            </a:srgbClr>
          </a:solidFill>
          <a:ln/>
        </p:spPr>
        <p:txBody>
          <a:bodyPr/>
          <a:lstStyle/>
          <a:p>
            <a:endParaRPr/>
          </a:p>
        </p:txBody>
      </p:sp>
      <p:sp>
        <p:nvSpPr>
          <p:cNvPr id="5" name="Text 2"/>
          <p:cNvSpPr txBox="1"/>
          <p:nvPr/>
        </p:nvSpPr>
        <p:spPr>
          <a:xfrm>
            <a:off x="731520" y="4709160"/>
            <a:ext cx="8686800" cy="685800"/>
          </a:xfrm>
          <a:prstGeom prst="rect">
            <a:avLst/>
          </a:prstGeom>
          <a:noFill/>
          <a:ln/>
        </p:spPr>
        <p:txBody>
          <a:bodyPr wrap="square" lIns="0" tIns="0" rIns="0" bIns="0" rtlCol="0" anchor="t"/>
          <a:lstStyle/>
          <a:p>
            <a:pPr marL="0" indent="0">
              <a:buNone/>
            </a:pPr>
            <a:r>
              <a:rPr lang="en-US" sz="3000" b="1" kern="0" spc="-100" dirty="0">
                <a:solidFill>
                  <a:srgbClr val="FFFFFF"/>
                </a:solidFill>
                <a:latin typeface="Lato" pitchFamily="34" charset="0"/>
                <a:ea typeface="Lato" pitchFamily="34" charset="-122"/>
                <a:cs typeface="Lato" pitchFamily="34" charset="-120"/>
              </a:rPr>
              <a:t>Le PAPRIPACT</a:t>
            </a:r>
            <a:endParaRPr lang="en-US" sz="3000" dirty="0"/>
          </a:p>
        </p:txBody>
      </p:sp>
      <p:sp>
        <p:nvSpPr>
          <p:cNvPr id="6" name="Text 3"/>
          <p:cNvSpPr txBox="1"/>
          <p:nvPr/>
        </p:nvSpPr>
        <p:spPr>
          <a:xfrm>
            <a:off x="731520" y="5413248"/>
            <a:ext cx="8961120" cy="731520"/>
          </a:xfrm>
          <a:prstGeom prst="rect">
            <a:avLst/>
          </a:prstGeom>
          <a:noFill/>
          <a:ln/>
        </p:spPr>
        <p:txBody>
          <a:bodyPr wrap="square" lIns="0" tIns="0" rIns="0" bIns="0" rtlCol="0" anchor="t"/>
          <a:lstStyle/>
          <a:p>
            <a:pPr marL="0" indent="0">
              <a:lnSpc>
                <a:spcPct val="110000"/>
              </a:lnSpc>
              <a:buNone/>
            </a:pPr>
            <a:r>
              <a:rPr lang="en-US" sz="1450" dirty="0">
                <a:solidFill>
                  <a:srgbClr val="C1D5D9"/>
                </a:solidFill>
                <a:latin typeface="Lato" pitchFamily="34" charset="0"/>
                <a:ea typeface="Lato" pitchFamily="34" charset="-122"/>
                <a:cs typeface="Lato" pitchFamily="34" charset="-120"/>
              </a:rPr>
              <a:t>Programme annuel de prévention des risques professionnels et d'amélioration des conditions de travail.</a:t>
            </a:r>
            <a:endParaRPr lang="en-US" sz="1450" dirty="0"/>
          </a:p>
        </p:txBody>
      </p:sp>
      <p:pic>
        <p:nvPicPr>
          <p:cNvPr id="7" name="Image 1" descr="/home/claude/tmo/build/logo.png"/>
          <p:cNvPicPr>
            <a:picLocks noChangeAspect="1"/>
          </p:cNvPicPr>
          <p:nvPr/>
        </p:nvPicPr>
        <p:blipFill>
          <a:blip r:embed="rId4"/>
          <a:stretch>
            <a:fillRect/>
          </a:stretch>
        </p:blipFill>
        <p:spPr>
          <a:xfrm>
            <a:off x="10893247" y="4892040"/>
            <a:ext cx="566928" cy="566928"/>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qu'est le PAPRIPACT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Le septième principe général de prévention, rendu concret : planifier la prévention.</a:t>
            </a:r>
            <a:endParaRPr lang="en-US" sz="1450" dirty="0"/>
          </a:p>
        </p:txBody>
      </p:sp>
      <p:sp>
        <p:nvSpPr>
          <p:cNvPr id="11" name="Text 9"/>
          <p:cNvSpPr txBox="1"/>
          <p:nvPr/>
        </p:nvSpPr>
        <p:spPr>
          <a:xfrm>
            <a:off x="731520" y="2487168"/>
            <a:ext cx="6035040"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Une obligation réglementaire, fondée sur l'alinéa 7 de l'article L. 4121-2</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Son contenu a été détaillé par la loi du 2 août 2021</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Il doit être présenté chaque année au CSE pour consultation</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Il est étroitement lié au DUERP : le document unique identifie, le programme planifie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Obligatoire dans les entreprises d'au moins cinquante salariés ; en deçà, les actions de prévention sont consignées dans le DUERP</a:t>
            </a:r>
            <a:endParaRPr lang="en-US" sz="1400" dirty="0"/>
          </a:p>
        </p:txBody>
      </p:sp>
      <p:grpSp>
        <p:nvGrpSpPr>
          <p:cNvPr id="9142" name="Bloc 2"/>
          <p:cNvGrpSpPr/>
          <p:nvPr/>
        </p:nvGrpSpPr>
        <p:grpSpPr>
          <a:xfrm>
            <a:off x="7223760" y="1828800"/>
            <a:ext cx="4334256" cy="3282696"/>
            <a:chOff x="7223760" y="1828800"/>
            <a:chExt cx="4334256" cy="3282696"/>
          </a:xfrm>
        </p:grpSpPr>
        <p:sp>
          <p:nvSpPr>
            <p:cNvPr id="19" name="Rounded Rectangle 18"/>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19.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sp>
        <p:nvSpPr>
          <p:cNvPr id="13" name="Text 10"/>
          <p:cNvSpPr txBox="1"/>
          <p:nvPr/>
        </p:nvSpPr>
        <p:spPr>
          <a:xfrm>
            <a:off x="7223760" y="5056632"/>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Sans programme daté et chiffré, l'évaluation reste sans effet.</a:t>
            </a:r>
            <a:endParaRPr lang="en-US" sz="950" dirty="0"/>
          </a:p>
        </p:txBody>
      </p:sp>
      <p:pic>
        <p:nvPicPr>
          <p:cNvPr id="14"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5"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2"/>
          <p:cNvSpPr/>
          <p:nvPr/>
        </p:nvSpPr>
        <p:spPr>
          <a:xfrm>
            <a:off x="10591495" y="6181344"/>
            <a:ext cx="438912" cy="438912"/>
          </a:xfrm>
          <a:prstGeom prst="ellipse">
            <a:avLst/>
          </a:prstGeom>
          <a:solidFill>
            <a:srgbClr val="F06C23"/>
          </a:solidFill>
          <a:ln/>
        </p:spPr>
        <p:txBody>
          <a:bodyPr/>
          <a:lstStyle/>
          <a:p>
            <a:endParaRPr/>
          </a:p>
        </p:txBody>
      </p:sp>
      <p:sp>
        <p:nvSpPr>
          <p:cNvPr id="17"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18"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106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42"/>
                                        </p:tgtEl>
                                        <p:attrNameLst>
                                          <p:attrName>style.visibility</p:attrName>
                                        </p:attrNameLst>
                                      </p:cBhvr>
                                      <p:to>
                                        <p:strVal val="visible"/>
                                      </p:to>
                                    </p:set>
                                    <p:animEffect transition="in" filter="fade">
                                      <p:cBhvr>
                                        <p:cTn id="12" dur="450"/>
                                        <p:tgtEl>
                                          <p:spTgt spid="91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contenu du PAPRIPACT, d'après la loi</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pic>
        <p:nvPicPr>
          <p:cNvPr id="17" name="Image 1"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107</a:t>
            </a:r>
            <a:endParaRPr lang="en-US" sz="1000" dirty="0"/>
          </a:p>
        </p:txBody>
      </p:sp>
      <p:graphicFrame>
        <p:nvGraphicFramePr>
          <p:cNvPr id="22" name="Table 21"/>
          <p:cNvGraphicFramePr>
            <a:graphicFrameLocks noGrp="1"/>
          </p:cNvGraphicFramePr>
          <p:nvPr/>
        </p:nvGraphicFramePr>
        <p:xfrm>
          <a:off x="731520" y="1874519"/>
          <a:ext cx="10725912" cy="3328416"/>
        </p:xfrm>
        <a:graphic>
          <a:graphicData uri="http://schemas.openxmlformats.org/drawingml/2006/table">
            <a:tbl>
              <a:tblPr firstRow="1" bandRow="1">
                <a:tableStyleId>{5C22544A-7EE6-4342-B048-85BDC9FD1C3A}</a:tableStyleId>
              </a:tblPr>
              <a:tblGrid>
                <a:gridCol w="47091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4233672">
                  <a:extLst>
                    <a:ext uri="{9D8B030D-6E8A-4147-A177-3AD203B41FA5}">
                      <a16:colId xmlns:a16="http://schemas.microsoft.com/office/drawing/2014/main" val="20002"/>
                    </a:ext>
                  </a:extLst>
                </a:gridCol>
              </a:tblGrid>
              <a:tr h="384048">
                <a:tc>
                  <a:txBody>
                    <a:bodyPr/>
                    <a:lstStyle/>
                    <a:p>
                      <a:r>
                        <a:rPr sz="1100" b="1">
                          <a:solidFill>
                            <a:srgbClr val="FFFFFF"/>
                          </a:solidFill>
                          <a:latin typeface="Lato"/>
                        </a:rPr>
                        <a:t>Ce que le programme annuel doit comporter</a:t>
                      </a:r>
                    </a:p>
                  </a:txBody>
                  <a:tcPr marL="73152" marR="73152" anchor="ctr">
                    <a:solidFill>
                      <a:srgbClr val="075767"/>
                    </a:solidFill>
                  </a:tcPr>
                </a:tc>
                <a:tc>
                  <a:txBody>
                    <a:bodyPr/>
                    <a:lstStyle/>
                    <a:p>
                      <a:r>
                        <a:rPr sz="1100" b="1">
                          <a:solidFill>
                            <a:srgbClr val="FFFFFF"/>
                          </a:solidFill>
                          <a:latin typeface="Lato"/>
                        </a:rPr>
                        <a:t>Référence</a:t>
                      </a:r>
                    </a:p>
                  </a:txBody>
                  <a:tcPr marL="73152" marR="73152" anchor="ctr">
                    <a:solidFill>
                      <a:srgbClr val="075767"/>
                    </a:solidFill>
                  </a:tcPr>
                </a:tc>
                <a:tc>
                  <a:txBody>
                    <a:bodyPr/>
                    <a:lstStyle/>
                    <a:p>
                      <a:r>
                        <a:rPr sz="1100" b="1">
                          <a:solidFill>
                            <a:srgbClr val="FFFFFF"/>
                          </a:solidFill>
                          <a:latin typeface="Lato"/>
                        </a:rPr>
                        <a:t>Ce que le CSE vérifie, ligne par ligne</a:t>
                      </a:r>
                    </a:p>
                  </a:txBody>
                  <a:tcPr marL="73152" marR="73152" anchor="ctr">
                    <a:solidFill>
                      <a:srgbClr val="075767"/>
                    </a:solidFill>
                  </a:tcPr>
                </a:tc>
                <a:extLst>
                  <a:ext uri="{0D108BD9-81ED-4DB2-BD59-A6C34878D82A}">
                    <a16:rowId xmlns:a16="http://schemas.microsoft.com/office/drawing/2014/main" val="10000"/>
                  </a:ext>
                </a:extLst>
              </a:tr>
              <a:tr h="420624">
                <a:tc>
                  <a:txBody>
                    <a:bodyPr/>
                    <a:lstStyle/>
                    <a:p>
                      <a:r>
                        <a:rPr sz="1000" b="1">
                          <a:solidFill>
                            <a:srgbClr val="075767"/>
                          </a:solidFill>
                          <a:latin typeface="Lato"/>
                        </a:rPr>
                        <a:t>a) La liste détaillée des mesures devant être prises au cours de l'année à venir</a:t>
                      </a:r>
                    </a:p>
                  </a:txBody>
                  <a:tcPr marL="73152" marR="73152" marT="18288" marB="18288" anchor="ctr">
                    <a:solidFill>
                      <a:srgbClr val="E8F4F5"/>
                    </a:solidFill>
                  </a:tcPr>
                </a:tc>
                <a:tc>
                  <a:txBody>
                    <a:bodyPr/>
                    <a:lstStyle/>
                    <a:p>
                      <a:pPr algn="ctr"/>
                      <a:r>
                        <a:rPr sz="1000" b="0">
                          <a:solidFill>
                            <a:srgbClr val="075767"/>
                          </a:solidFill>
                          <a:latin typeface="Lato"/>
                        </a:rPr>
                        <a:t>L. 4121-3-1, III, 1°, a</a:t>
                      </a:r>
                    </a:p>
                  </a:txBody>
                  <a:tcPr marL="73152" marR="73152" marT="18288" marB="18288" anchor="ctr">
                    <a:solidFill>
                      <a:srgbClr val="E8F4F5"/>
                    </a:solidFill>
                  </a:tcPr>
                </a:tc>
                <a:tc>
                  <a:txBody>
                    <a:bodyPr/>
                    <a:lstStyle/>
                    <a:p>
                      <a:r>
                        <a:rPr sz="1000" b="0">
                          <a:solidFill>
                            <a:srgbClr val="595959"/>
                          </a:solidFill>
                          <a:latin typeface="Lato"/>
                        </a:rPr>
                        <a:t>Une liste, pas des intentions. Chaque ligne doit être une action identifiable.</a:t>
                      </a:r>
                    </a:p>
                  </a:txBody>
                  <a:tcPr marL="73152" marR="73152" marT="18288" marB="18288" anchor="ctr">
                    <a:solidFill>
                      <a:srgbClr val="E8F4F5"/>
                    </a:solidFill>
                  </a:tcPr>
                </a:tc>
                <a:extLst>
                  <a:ext uri="{0D108BD9-81ED-4DB2-BD59-A6C34878D82A}">
                    <a16:rowId xmlns:a16="http://schemas.microsoft.com/office/drawing/2014/main" val="10001"/>
                  </a:ext>
                </a:extLst>
              </a:tr>
              <a:tr h="420624">
                <a:tc>
                  <a:txBody>
                    <a:bodyPr/>
                    <a:lstStyle/>
                    <a:p>
                      <a:r>
                        <a:rPr sz="1000" b="1">
                          <a:solidFill>
                            <a:srgbClr val="075767"/>
                          </a:solidFill>
                          <a:latin typeface="Lato"/>
                        </a:rPr>
                        <a:t>Pour chaque mesure : ses conditions d'exécution</a:t>
                      </a:r>
                    </a:p>
                  </a:txBody>
                  <a:tcPr marL="73152" marR="73152" marT="18288" marB="18288" anchor="ctr">
                    <a:solidFill>
                      <a:srgbClr val="FFFFFF"/>
                    </a:solidFill>
                  </a:tcPr>
                </a:tc>
                <a:tc>
                  <a:txBody>
                    <a:bodyPr/>
                    <a:lstStyle/>
                    <a:p>
                      <a:pPr algn="ctr"/>
                      <a:r>
                        <a:rPr sz="1000" b="0">
                          <a:solidFill>
                            <a:srgbClr val="075767"/>
                          </a:solidFill>
                          <a:latin typeface="Lato"/>
                        </a:rPr>
                        <a:t>L. 4121-3-1, III, 1°, a</a:t>
                      </a:r>
                    </a:p>
                  </a:txBody>
                  <a:tcPr marL="73152" marR="73152" marT="18288" marB="18288" anchor="ctr">
                    <a:solidFill>
                      <a:srgbClr val="FFFFFF"/>
                    </a:solidFill>
                  </a:tcPr>
                </a:tc>
                <a:tc>
                  <a:txBody>
                    <a:bodyPr/>
                    <a:lstStyle/>
                    <a:p>
                      <a:r>
                        <a:rPr sz="1000" b="0">
                          <a:solidFill>
                            <a:srgbClr val="595959"/>
                          </a:solidFill>
                          <a:latin typeface="Lato"/>
                        </a:rPr>
                        <a:t>Qui fait, comment, avec quels moyens. Sans cela, la mesure n'est pas exécutable.</a:t>
                      </a:r>
                    </a:p>
                  </a:txBody>
                  <a:tcPr marL="73152" marR="73152" marT="18288" marB="18288" anchor="ctr">
                    <a:solidFill>
                      <a:srgbClr val="FFFFFF"/>
                    </a:solidFill>
                  </a:tcPr>
                </a:tc>
                <a:extLst>
                  <a:ext uri="{0D108BD9-81ED-4DB2-BD59-A6C34878D82A}">
                    <a16:rowId xmlns:a16="http://schemas.microsoft.com/office/drawing/2014/main" val="10002"/>
                  </a:ext>
                </a:extLst>
              </a:tr>
              <a:tr h="420624">
                <a:tc>
                  <a:txBody>
                    <a:bodyPr/>
                    <a:lstStyle/>
                    <a:p>
                      <a:r>
                        <a:rPr sz="1000" b="1">
                          <a:solidFill>
                            <a:srgbClr val="075767"/>
                          </a:solidFill>
                          <a:latin typeface="Lato"/>
                        </a:rPr>
                        <a:t>Pour chaque mesure : des indicateurs de résultat</a:t>
                      </a:r>
                    </a:p>
                  </a:txBody>
                  <a:tcPr marL="73152" marR="73152" marT="18288" marB="18288" anchor="ctr">
                    <a:solidFill>
                      <a:srgbClr val="E8F4F5"/>
                    </a:solidFill>
                  </a:tcPr>
                </a:tc>
                <a:tc>
                  <a:txBody>
                    <a:bodyPr/>
                    <a:lstStyle/>
                    <a:p>
                      <a:pPr algn="ctr"/>
                      <a:r>
                        <a:rPr sz="1000" b="0">
                          <a:solidFill>
                            <a:srgbClr val="075767"/>
                          </a:solidFill>
                          <a:latin typeface="Lato"/>
                        </a:rPr>
                        <a:t>L. 4121-3-1, III, 1°, a</a:t>
                      </a:r>
                    </a:p>
                  </a:txBody>
                  <a:tcPr marL="73152" marR="73152" marT="18288" marB="18288" anchor="ctr">
                    <a:solidFill>
                      <a:srgbClr val="E8F4F5"/>
                    </a:solidFill>
                  </a:tcPr>
                </a:tc>
                <a:tc>
                  <a:txBody>
                    <a:bodyPr/>
                    <a:lstStyle/>
                    <a:p>
                      <a:r>
                        <a:rPr sz="1000" b="0">
                          <a:solidFill>
                            <a:srgbClr val="595959"/>
                          </a:solidFill>
                          <a:latin typeface="Lato"/>
                        </a:rPr>
                        <a:t>Comment saura-t-on que ça a marché ? À vérifier au programme de l'année suivante.</a:t>
                      </a:r>
                    </a:p>
                  </a:txBody>
                  <a:tcPr marL="73152" marR="73152" marT="18288" marB="18288" anchor="ctr">
                    <a:solidFill>
                      <a:srgbClr val="E8F4F5"/>
                    </a:solidFill>
                  </a:tcPr>
                </a:tc>
                <a:extLst>
                  <a:ext uri="{0D108BD9-81ED-4DB2-BD59-A6C34878D82A}">
                    <a16:rowId xmlns:a16="http://schemas.microsoft.com/office/drawing/2014/main" val="10003"/>
                  </a:ext>
                </a:extLst>
              </a:tr>
              <a:tr h="420624">
                <a:tc>
                  <a:txBody>
                    <a:bodyPr/>
                    <a:lstStyle/>
                    <a:p>
                      <a:r>
                        <a:rPr sz="1000" b="1">
                          <a:solidFill>
                            <a:srgbClr val="075767"/>
                          </a:solidFill>
                          <a:latin typeface="Lato"/>
                        </a:rPr>
                        <a:t>Pour chaque mesure : l'estimation de son coût</a:t>
                      </a:r>
                    </a:p>
                  </a:txBody>
                  <a:tcPr marL="73152" marR="73152" marT="18288" marB="18288" anchor="ctr">
                    <a:solidFill>
                      <a:srgbClr val="FFFFFF"/>
                    </a:solidFill>
                  </a:tcPr>
                </a:tc>
                <a:tc>
                  <a:txBody>
                    <a:bodyPr/>
                    <a:lstStyle/>
                    <a:p>
                      <a:pPr algn="ctr"/>
                      <a:r>
                        <a:rPr sz="1000" b="0">
                          <a:solidFill>
                            <a:srgbClr val="075767"/>
                          </a:solidFill>
                          <a:latin typeface="Lato"/>
                        </a:rPr>
                        <a:t>L. 4121-3-1, III, 1°, a</a:t>
                      </a:r>
                    </a:p>
                  </a:txBody>
                  <a:tcPr marL="73152" marR="73152" marT="18288" marB="18288" anchor="ctr">
                    <a:solidFill>
                      <a:srgbClr val="FFFFFF"/>
                    </a:solidFill>
                  </a:tcPr>
                </a:tc>
                <a:tc>
                  <a:txBody>
                    <a:bodyPr/>
                    <a:lstStyle/>
                    <a:p>
                      <a:r>
                        <a:rPr sz="1000" b="0">
                          <a:solidFill>
                            <a:srgbClr val="595959"/>
                          </a:solidFill>
                          <a:latin typeface="Lato"/>
                        </a:rPr>
                        <a:t>Le chiffrage est obligatoire. « Pas de budget » ne peut pas rester une réponse orale.</a:t>
                      </a:r>
                    </a:p>
                  </a:txBody>
                  <a:tcPr marL="73152" marR="73152" marT="18288" marB="18288" anchor="ctr">
                    <a:solidFill>
                      <a:srgbClr val="FFFFFF"/>
                    </a:solidFill>
                  </a:tcPr>
                </a:tc>
                <a:extLst>
                  <a:ext uri="{0D108BD9-81ED-4DB2-BD59-A6C34878D82A}">
                    <a16:rowId xmlns:a16="http://schemas.microsoft.com/office/drawing/2014/main" val="10004"/>
                  </a:ext>
                </a:extLst>
              </a:tr>
              <a:tr h="420624">
                <a:tc>
                  <a:txBody>
                    <a:bodyPr/>
                    <a:lstStyle/>
                    <a:p>
                      <a:r>
                        <a:rPr sz="1000" b="1">
                          <a:solidFill>
                            <a:srgbClr val="075767"/>
                          </a:solidFill>
                          <a:latin typeface="Lato"/>
                        </a:rPr>
                        <a:t>Les mesures de prévention des effets de l'exposition aux facteurs de risques professionnels</a:t>
                      </a:r>
                    </a:p>
                  </a:txBody>
                  <a:tcPr marL="73152" marR="73152" marT="18288" marB="18288" anchor="ctr">
                    <a:solidFill>
                      <a:srgbClr val="E8F4F5"/>
                    </a:solidFill>
                  </a:tcPr>
                </a:tc>
                <a:tc>
                  <a:txBody>
                    <a:bodyPr/>
                    <a:lstStyle/>
                    <a:p>
                      <a:pPr algn="ctr"/>
                      <a:r>
                        <a:rPr sz="1000" b="0">
                          <a:solidFill>
                            <a:srgbClr val="075767"/>
                          </a:solidFill>
                          <a:latin typeface="Lato"/>
                        </a:rPr>
                        <a:t>L. 4121-3-1, III, 1°, a</a:t>
                      </a:r>
                    </a:p>
                  </a:txBody>
                  <a:tcPr marL="73152" marR="73152" marT="18288" marB="18288" anchor="ctr">
                    <a:solidFill>
                      <a:srgbClr val="E8F4F5"/>
                    </a:solidFill>
                  </a:tcPr>
                </a:tc>
                <a:tc>
                  <a:txBody>
                    <a:bodyPr/>
                    <a:lstStyle/>
                    <a:p>
                      <a:r>
                        <a:rPr sz="1000" b="0">
                          <a:solidFill>
                            <a:srgbClr val="595959"/>
                          </a:solidFill>
                          <a:latin typeface="Lato"/>
                        </a:rPr>
                        <a:t>Les six facteurs de pénibilité de L. 4161-1 y figurent expressément.</a:t>
                      </a:r>
                    </a:p>
                  </a:txBody>
                  <a:tcPr marL="73152" marR="73152" marT="18288" marB="18288" anchor="ctr">
                    <a:solidFill>
                      <a:srgbClr val="E8F4F5"/>
                    </a:solidFill>
                  </a:tcPr>
                </a:tc>
                <a:extLst>
                  <a:ext uri="{0D108BD9-81ED-4DB2-BD59-A6C34878D82A}">
                    <a16:rowId xmlns:a16="http://schemas.microsoft.com/office/drawing/2014/main" val="10005"/>
                  </a:ext>
                </a:extLst>
              </a:tr>
              <a:tr h="420624">
                <a:tc>
                  <a:txBody>
                    <a:bodyPr/>
                    <a:lstStyle/>
                    <a:p>
                      <a:r>
                        <a:rPr sz="1000" b="1">
                          <a:solidFill>
                            <a:srgbClr val="075767"/>
                          </a:solidFill>
                          <a:latin typeface="Lato"/>
                        </a:rPr>
                        <a:t>b) Les ressources de l'entreprise pouvant être mobilisées</a:t>
                      </a:r>
                    </a:p>
                  </a:txBody>
                  <a:tcPr marL="73152" marR="73152" marT="18288" marB="18288" anchor="ctr">
                    <a:solidFill>
                      <a:srgbClr val="FFFFFF"/>
                    </a:solidFill>
                  </a:tcPr>
                </a:tc>
                <a:tc>
                  <a:txBody>
                    <a:bodyPr/>
                    <a:lstStyle/>
                    <a:p>
                      <a:pPr algn="ctr"/>
                      <a:r>
                        <a:rPr sz="1000" b="0">
                          <a:solidFill>
                            <a:srgbClr val="075767"/>
                          </a:solidFill>
                          <a:latin typeface="Lato"/>
                        </a:rPr>
                        <a:t>L. 4121-3-1, III, 1°, b</a:t>
                      </a:r>
                    </a:p>
                  </a:txBody>
                  <a:tcPr marL="73152" marR="73152" marT="18288" marB="18288" anchor="ctr">
                    <a:solidFill>
                      <a:srgbClr val="FFFFFF"/>
                    </a:solidFill>
                  </a:tcPr>
                </a:tc>
                <a:tc>
                  <a:txBody>
                    <a:bodyPr/>
                    <a:lstStyle/>
                    <a:p>
                      <a:r>
                        <a:rPr sz="1000" b="0">
                          <a:solidFill>
                            <a:srgbClr val="595959"/>
                          </a:solidFill>
                          <a:latin typeface="Lato"/>
                        </a:rPr>
                        <a:t>Humaines, techniques et financières, y compris les aides de la Carsat.</a:t>
                      </a:r>
                    </a:p>
                  </a:txBody>
                  <a:tcPr marL="73152" marR="73152" marT="18288" marB="18288" anchor="ctr">
                    <a:solidFill>
                      <a:srgbClr val="FFFFFF"/>
                    </a:solidFill>
                  </a:tcPr>
                </a:tc>
                <a:extLst>
                  <a:ext uri="{0D108BD9-81ED-4DB2-BD59-A6C34878D82A}">
                    <a16:rowId xmlns:a16="http://schemas.microsoft.com/office/drawing/2014/main" val="10006"/>
                  </a:ext>
                </a:extLst>
              </a:tr>
              <a:tr h="420624">
                <a:tc>
                  <a:txBody>
                    <a:bodyPr/>
                    <a:lstStyle/>
                    <a:p>
                      <a:r>
                        <a:rPr sz="1000" b="1">
                          <a:solidFill>
                            <a:srgbClr val="075767"/>
                          </a:solidFill>
                          <a:latin typeface="Lato"/>
                        </a:rPr>
                        <a:t>c) Un calendrier de mise en œuvre</a:t>
                      </a:r>
                    </a:p>
                  </a:txBody>
                  <a:tcPr marL="73152" marR="73152" marT="18288" marB="18288" anchor="ctr">
                    <a:solidFill>
                      <a:srgbClr val="E8F4F5"/>
                    </a:solidFill>
                  </a:tcPr>
                </a:tc>
                <a:tc>
                  <a:txBody>
                    <a:bodyPr/>
                    <a:lstStyle/>
                    <a:p>
                      <a:pPr algn="ctr"/>
                      <a:r>
                        <a:rPr sz="1000" b="0">
                          <a:solidFill>
                            <a:srgbClr val="075767"/>
                          </a:solidFill>
                          <a:latin typeface="Lato"/>
                        </a:rPr>
                        <a:t>L. 4121-3-1, III, 1°, c</a:t>
                      </a:r>
                    </a:p>
                  </a:txBody>
                  <a:tcPr marL="73152" marR="73152" marT="18288" marB="18288" anchor="ctr">
                    <a:solidFill>
                      <a:srgbClr val="E8F4F5"/>
                    </a:solidFill>
                  </a:tcPr>
                </a:tc>
                <a:tc>
                  <a:txBody>
                    <a:bodyPr/>
                    <a:lstStyle/>
                    <a:p>
                      <a:r>
                        <a:rPr sz="1000" b="0">
                          <a:solidFill>
                            <a:srgbClr val="595959"/>
                          </a:solidFill>
                          <a:latin typeface="Lato"/>
                        </a:rPr>
                        <a:t>Daté. Un programme sans calendrier n'est pas un programme.</a:t>
                      </a:r>
                    </a:p>
                  </a:txBody>
                  <a:tcPr marL="73152" marR="73152" marT="18288" marB="18288" anchor="ctr">
                    <a:solidFill>
                      <a:srgbClr val="E8F4F5"/>
                    </a:solidFill>
                  </a:tcPr>
                </a:tc>
                <a:extLst>
                  <a:ext uri="{0D108BD9-81ED-4DB2-BD59-A6C34878D82A}">
                    <a16:rowId xmlns:a16="http://schemas.microsoft.com/office/drawing/2014/main" val="10007"/>
                  </a:ext>
                </a:extLst>
              </a:tr>
            </a:tbl>
          </a:graphicData>
        </a:graphic>
      </p:graphicFrame>
      <p:grpSp>
        <p:nvGrpSpPr>
          <p:cNvPr id="9143" name="Bloc 2"/>
          <p:cNvGrpSpPr/>
          <p:nvPr/>
        </p:nvGrpSpPr>
        <p:grpSpPr>
          <a:xfrm>
            <a:off x="731520" y="5138928"/>
            <a:ext cx="10725912" cy="960120"/>
            <a:chOff x="731520" y="5138928"/>
            <a:chExt cx="10725912" cy="960120"/>
          </a:xfrm>
        </p:grpSpPr>
        <p:sp>
          <p:nvSpPr>
            <p:cNvPr id="23" name="Rounded Rectangle 22"/>
            <p:cNvSpPr/>
            <p:nvPr/>
          </p:nvSpPr>
          <p:spPr>
            <a:xfrm>
              <a:off x="731520" y="5138928"/>
              <a:ext cx="10725912" cy="96012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24128" y="5138928"/>
              <a:ext cx="10140696" cy="960120"/>
            </a:xfrm>
            <a:prstGeom prst="rect">
              <a:avLst/>
            </a:prstGeom>
            <a:noFill/>
          </p:spPr>
          <p:txBody>
            <a:bodyPr wrap="square" lIns="0" rIns="0" anchor="ctr">
              <a:spAutoFit/>
            </a:bodyPr>
            <a:lstStyle/>
            <a:p>
              <a:r>
                <a:rPr sz="1150" b="1">
                  <a:solidFill>
                    <a:srgbClr val="C33F14"/>
                  </a:solidFill>
                  <a:latin typeface="Lato"/>
                </a:rPr>
                <a:t>Le moment d'aller voir les salariés   </a:t>
              </a:r>
              <a:r>
                <a:rPr sz="1150">
                  <a:solidFill>
                    <a:srgbClr val="595959"/>
                  </a:solidFill>
                  <a:latin typeface="Lato"/>
                </a:rPr>
                <a:t>le programme se prépare avant d'être présenté. C'est là, entre deux réunions, que le CSE descend sur le terrain demander aux salariés ce qu'ils voudraient voir inscrit. L'article L. 2312-27 donne au comité le droit de proposer un ordre de priorité et l'adoption de mesures supplémentaires : une demande portée par vingt salariés ne se refuse pas de la même manière qu'une demande portée par un élu seul.</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5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43"/>
                                        </p:tgtEl>
                                        <p:attrNameLst>
                                          <p:attrName>style.visibility</p:attrName>
                                        </p:attrNameLst>
                                      </p:cBhvr>
                                      <p:to>
                                        <p:strVal val="visible"/>
                                      </p:to>
                                    </p:set>
                                    <p:animEffect transition="in" filter="fade">
                                      <p:cBhvr>
                                        <p:cTn id="12" dur="450"/>
                                        <p:tgtEl>
                                          <p:spTgt spid="9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pouvoir du CSE sur le programme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grpSp>
        <p:nvGrpSpPr>
          <p:cNvPr id="9144"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2312-27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Lors de l'avis rendu sur le rapport et sur le programme annuels de prévention, le comité peut proposer un ordre de priorité et l'adoption de mesures supplémentaires.</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6015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Le CSE peut proposer un ordre de priorité différent de celui de l'employeur</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Il peut demander l'adoption de mesures supplémentaires</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Lorsque des mesures prévues ou demandées n'ont pas été prises, l'employeur énonce les motifs de cette inexécution, en annexe au rapport annuel</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L'employeur présente également le bilan annuel de la situation générale en santé, sécurité et conditions de travail</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108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44"/>
                                        </p:tgtEl>
                                        <p:attrNameLst>
                                          <p:attrName>style.visibility</p:attrName>
                                        </p:attrNameLst>
                                      </p:cBhvr>
                                      <p:to>
                                        <p:strVal val="visible"/>
                                      </p:to>
                                    </p:set>
                                    <p:animEffect transition="in" filter="fade">
                                      <p:cBhvr>
                                        <p:cTn id="7" dur="450"/>
                                        <p:tgtEl>
                                          <p:spTgt spid="91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cycle annuel, du terrain à la décision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document unique</a:t>
            </a:r>
            <a:endParaRPr lang="en-US" sz="1400" dirty="0"/>
          </a:p>
        </p:txBody>
      </p:sp>
      <p:sp>
        <p:nvSpPr>
          <p:cNvPr id="10" name="Shape 8"/>
          <p:cNvSpPr/>
          <p:nvPr/>
        </p:nvSpPr>
        <p:spPr>
          <a:xfrm>
            <a:off x="2057400" y="2743200"/>
            <a:ext cx="8076895" cy="0"/>
          </a:xfrm>
          <a:prstGeom prst="line">
            <a:avLst/>
          </a:prstGeom>
          <a:noFill/>
          <a:ln w="25400">
            <a:solidFill>
              <a:srgbClr val="C1D5D9"/>
            </a:solidFill>
            <a:prstDash val="solid"/>
          </a:ln>
        </p:spPr>
        <p:txBody>
          <a:bodyPr/>
          <a:lstStyle/>
          <a:p>
            <a:endParaRPr/>
          </a:p>
        </p:txBody>
      </p:sp>
      <p:grpSp>
        <p:nvGrpSpPr>
          <p:cNvPr id="9145" name="Bloc 1"/>
          <p:cNvGrpSpPr/>
          <p:nvPr/>
        </p:nvGrpSpPr>
        <p:grpSpPr>
          <a:xfrm>
            <a:off x="1691640" y="2377440"/>
            <a:ext cx="731520" cy="731520"/>
            <a:chOff x="1691640" y="2377440"/>
            <a:chExt cx="731520" cy="731520"/>
          </a:xfrm>
        </p:grpSpPr>
        <p:sp>
          <p:nvSpPr>
            <p:cNvPr id="11" name="Shape 9"/>
            <p:cNvSpPr/>
            <p:nvPr/>
          </p:nvSpPr>
          <p:spPr>
            <a:xfrm>
              <a:off x="1691640" y="2377440"/>
              <a:ext cx="731520" cy="731520"/>
            </a:xfrm>
            <a:prstGeom prst="ellipse">
              <a:avLst/>
            </a:prstGeom>
            <a:solidFill>
              <a:srgbClr val="075767"/>
            </a:solidFill>
            <a:ln w="38100">
              <a:solidFill>
                <a:srgbClr val="FFFFFF"/>
              </a:solidFill>
              <a:prstDash val="solid"/>
            </a:ln>
          </p:spPr>
          <p:txBody>
            <a:bodyPr/>
            <a:lstStyle/>
            <a:p>
              <a:endParaRPr/>
            </a:p>
          </p:txBody>
        </p:sp>
        <p:sp>
          <p:nvSpPr>
            <p:cNvPr id="12" name="Text 10"/>
            <p:cNvSpPr txBox="1"/>
            <p:nvPr/>
          </p:nvSpPr>
          <p:spPr>
            <a:xfrm>
              <a:off x="1691640"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1</a:t>
              </a:r>
              <a:endParaRPr lang="en-US" sz="1900" dirty="0"/>
            </a:p>
          </p:txBody>
        </p:sp>
      </p:grpSp>
      <p:sp>
        <p:nvSpPr>
          <p:cNvPr id="13" name="Text 11"/>
          <p:cNvSpPr txBox="1"/>
          <p:nvPr/>
        </p:nvSpPr>
        <p:spPr>
          <a:xfrm>
            <a:off x="777240"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Évaluer</a:t>
            </a:r>
            <a:endParaRPr lang="en-US" sz="1550" dirty="0"/>
          </a:p>
        </p:txBody>
      </p:sp>
      <p:sp>
        <p:nvSpPr>
          <p:cNvPr id="14" name="Text 12"/>
          <p:cNvSpPr txBox="1"/>
          <p:nvPr/>
        </p:nvSpPr>
        <p:spPr>
          <a:xfrm>
            <a:off x="777240"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Inspections, signalements, analyses d'accident alimentent le DUERP</a:t>
            </a:r>
            <a:endParaRPr lang="en-US" sz="1150" dirty="0"/>
          </a:p>
        </p:txBody>
      </p:sp>
      <p:grpSp>
        <p:nvGrpSpPr>
          <p:cNvPr id="9146" name="Bloc 2"/>
          <p:cNvGrpSpPr/>
          <p:nvPr/>
        </p:nvGrpSpPr>
        <p:grpSpPr>
          <a:xfrm>
            <a:off x="4383938" y="2377440"/>
            <a:ext cx="731520" cy="731520"/>
            <a:chOff x="4383938" y="2377440"/>
            <a:chExt cx="731520" cy="731520"/>
          </a:xfrm>
        </p:grpSpPr>
        <p:sp>
          <p:nvSpPr>
            <p:cNvPr id="15" name="Shape 13"/>
            <p:cNvSpPr/>
            <p:nvPr/>
          </p:nvSpPr>
          <p:spPr>
            <a:xfrm>
              <a:off x="4383938" y="2377440"/>
              <a:ext cx="731520" cy="731520"/>
            </a:xfrm>
            <a:prstGeom prst="ellipse">
              <a:avLst/>
            </a:prstGeom>
            <a:solidFill>
              <a:srgbClr val="075767"/>
            </a:solidFill>
            <a:ln w="38100">
              <a:solidFill>
                <a:srgbClr val="FFFFFF"/>
              </a:solidFill>
              <a:prstDash val="solid"/>
            </a:ln>
          </p:spPr>
          <p:txBody>
            <a:bodyPr/>
            <a:lstStyle/>
            <a:p>
              <a:endParaRPr/>
            </a:p>
          </p:txBody>
        </p:sp>
        <p:sp>
          <p:nvSpPr>
            <p:cNvPr id="16" name="Text 14"/>
            <p:cNvSpPr txBox="1"/>
            <p:nvPr/>
          </p:nvSpPr>
          <p:spPr>
            <a:xfrm>
              <a:off x="4383938"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2</a:t>
              </a:r>
              <a:endParaRPr lang="en-US" sz="1900" dirty="0"/>
            </a:p>
          </p:txBody>
        </p:sp>
      </p:grpSp>
      <p:sp>
        <p:nvSpPr>
          <p:cNvPr id="17" name="Text 15"/>
          <p:cNvSpPr txBox="1"/>
          <p:nvPr/>
        </p:nvSpPr>
        <p:spPr>
          <a:xfrm>
            <a:off x="3469538"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Hiérarchiser</a:t>
            </a:r>
            <a:endParaRPr lang="en-US" sz="1550" dirty="0"/>
          </a:p>
        </p:txBody>
      </p:sp>
      <p:sp>
        <p:nvSpPr>
          <p:cNvPr id="18" name="Text 16"/>
          <p:cNvSpPr txBox="1"/>
          <p:nvPr/>
        </p:nvSpPr>
        <p:spPr>
          <a:xfrm>
            <a:off x="3469538"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Coter, classer, faire remonter les risques prioritaires</a:t>
            </a:r>
            <a:endParaRPr lang="en-US" sz="1150" dirty="0"/>
          </a:p>
        </p:txBody>
      </p:sp>
      <p:grpSp>
        <p:nvGrpSpPr>
          <p:cNvPr id="9147" name="Bloc 3"/>
          <p:cNvGrpSpPr/>
          <p:nvPr/>
        </p:nvGrpSpPr>
        <p:grpSpPr>
          <a:xfrm>
            <a:off x="7076237" y="2377440"/>
            <a:ext cx="731520" cy="731520"/>
            <a:chOff x="7076237" y="2377440"/>
            <a:chExt cx="731520" cy="731520"/>
          </a:xfrm>
        </p:grpSpPr>
        <p:sp>
          <p:nvSpPr>
            <p:cNvPr id="19" name="Shape 17"/>
            <p:cNvSpPr/>
            <p:nvPr/>
          </p:nvSpPr>
          <p:spPr>
            <a:xfrm>
              <a:off x="7076237" y="2377440"/>
              <a:ext cx="731520" cy="731520"/>
            </a:xfrm>
            <a:prstGeom prst="ellipse">
              <a:avLst/>
            </a:prstGeom>
            <a:solidFill>
              <a:srgbClr val="075767"/>
            </a:solidFill>
            <a:ln w="38100">
              <a:solidFill>
                <a:srgbClr val="FFFFFF"/>
              </a:solidFill>
              <a:prstDash val="solid"/>
            </a:ln>
          </p:spPr>
          <p:txBody>
            <a:bodyPr/>
            <a:lstStyle/>
            <a:p>
              <a:endParaRPr/>
            </a:p>
          </p:txBody>
        </p:sp>
        <p:sp>
          <p:nvSpPr>
            <p:cNvPr id="20" name="Text 18"/>
            <p:cNvSpPr txBox="1"/>
            <p:nvPr/>
          </p:nvSpPr>
          <p:spPr>
            <a:xfrm>
              <a:off x="7076237"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3</a:t>
              </a:r>
              <a:endParaRPr lang="en-US" sz="1900" dirty="0"/>
            </a:p>
          </p:txBody>
        </p:sp>
      </p:grpSp>
      <p:sp>
        <p:nvSpPr>
          <p:cNvPr id="21" name="Text 19"/>
          <p:cNvSpPr txBox="1"/>
          <p:nvPr/>
        </p:nvSpPr>
        <p:spPr>
          <a:xfrm>
            <a:off x="6161837"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Programmer</a:t>
            </a:r>
            <a:endParaRPr lang="en-US" sz="1550" dirty="0"/>
          </a:p>
        </p:txBody>
      </p:sp>
      <p:sp>
        <p:nvSpPr>
          <p:cNvPr id="22" name="Text 20"/>
          <p:cNvSpPr txBox="1"/>
          <p:nvPr/>
        </p:nvSpPr>
        <p:spPr>
          <a:xfrm>
            <a:off x="6161837"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Le PAPRIPACT fixe les mesures, leur coût et leur calendrier</a:t>
            </a:r>
            <a:endParaRPr lang="en-US" sz="1150" dirty="0"/>
          </a:p>
        </p:txBody>
      </p:sp>
      <p:grpSp>
        <p:nvGrpSpPr>
          <p:cNvPr id="9148" name="Bloc 4"/>
          <p:cNvGrpSpPr/>
          <p:nvPr/>
        </p:nvGrpSpPr>
        <p:grpSpPr>
          <a:xfrm>
            <a:off x="9768535" y="2377440"/>
            <a:ext cx="731520" cy="731520"/>
            <a:chOff x="9768535" y="2377440"/>
            <a:chExt cx="731520" cy="731520"/>
          </a:xfrm>
        </p:grpSpPr>
        <p:sp>
          <p:nvSpPr>
            <p:cNvPr id="23" name="Shape 21"/>
            <p:cNvSpPr/>
            <p:nvPr/>
          </p:nvSpPr>
          <p:spPr>
            <a:xfrm>
              <a:off x="9768535" y="2377440"/>
              <a:ext cx="731520" cy="731520"/>
            </a:xfrm>
            <a:prstGeom prst="ellipse">
              <a:avLst/>
            </a:prstGeom>
            <a:solidFill>
              <a:srgbClr val="F06C23"/>
            </a:solidFill>
            <a:ln w="38100">
              <a:solidFill>
                <a:srgbClr val="FFFFFF"/>
              </a:solidFill>
              <a:prstDash val="solid"/>
            </a:ln>
          </p:spPr>
          <p:txBody>
            <a:bodyPr/>
            <a:lstStyle/>
            <a:p>
              <a:endParaRPr/>
            </a:p>
          </p:txBody>
        </p:sp>
        <p:sp>
          <p:nvSpPr>
            <p:cNvPr id="24" name="Text 22"/>
            <p:cNvSpPr txBox="1"/>
            <p:nvPr/>
          </p:nvSpPr>
          <p:spPr>
            <a:xfrm>
              <a:off x="9768535"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4</a:t>
              </a:r>
              <a:endParaRPr lang="en-US" sz="1900" dirty="0"/>
            </a:p>
          </p:txBody>
        </p:sp>
      </p:grpSp>
      <p:sp>
        <p:nvSpPr>
          <p:cNvPr id="25" name="Text 23"/>
          <p:cNvSpPr txBox="1"/>
          <p:nvPr/>
        </p:nvSpPr>
        <p:spPr>
          <a:xfrm>
            <a:off x="8854135"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Contrôler</a:t>
            </a:r>
            <a:endParaRPr lang="en-US" sz="1550" dirty="0"/>
          </a:p>
        </p:txBody>
      </p:sp>
      <p:sp>
        <p:nvSpPr>
          <p:cNvPr id="26" name="Text 24"/>
          <p:cNvSpPr txBox="1"/>
          <p:nvPr/>
        </p:nvSpPr>
        <p:spPr>
          <a:xfrm>
            <a:off x="8854135"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L'année suivante, l'employeur justifie ce qui n'a pas été fait</a:t>
            </a:r>
            <a:endParaRPr lang="en-US" sz="1150" dirty="0"/>
          </a:p>
        </p:txBody>
      </p:sp>
      <p:grpSp>
        <p:nvGrpSpPr>
          <p:cNvPr id="9149" name="Bloc 14"/>
          <p:cNvGrpSpPr/>
          <p:nvPr/>
        </p:nvGrpSpPr>
        <p:grpSpPr>
          <a:xfrm>
            <a:off x="731520" y="5029200"/>
            <a:ext cx="10728655" cy="841248"/>
            <a:chOff x="731520" y="5029200"/>
            <a:chExt cx="10728655" cy="841248"/>
          </a:xfrm>
        </p:grpSpPr>
        <p:sp>
          <p:nvSpPr>
            <p:cNvPr id="27" name="Shape 25"/>
            <p:cNvSpPr/>
            <p:nvPr/>
          </p:nvSpPr>
          <p:spPr>
            <a:xfrm>
              <a:off x="731520" y="5029200"/>
              <a:ext cx="10728655" cy="841248"/>
            </a:xfrm>
            <a:prstGeom prst="roundRect">
              <a:avLst>
                <a:gd name="adj" fmla="val 6522"/>
              </a:avLst>
            </a:prstGeom>
            <a:solidFill>
              <a:srgbClr val="D7E8EB"/>
            </a:solidFill>
            <a:ln/>
          </p:spPr>
          <p:txBody>
            <a:bodyPr/>
            <a:lstStyle/>
            <a:p>
              <a:endParaRPr/>
            </a:p>
          </p:txBody>
        </p:sp>
        <p:sp>
          <p:nvSpPr>
            <p:cNvPr id="28" name="Text 26"/>
            <p:cNvSpPr txBox="1"/>
            <p:nvPr/>
          </p:nvSpPr>
          <p:spPr>
            <a:xfrm>
              <a:off x="1024128" y="50292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La boucle   </a:t>
              </a:r>
              <a:r>
                <a:rPr lang="en-US" sz="1300" dirty="0">
                  <a:solidFill>
                    <a:srgbClr val="075767"/>
                  </a:solidFill>
                  <a:latin typeface="Lato" pitchFamily="34" charset="0"/>
                  <a:ea typeface="Lato" pitchFamily="34" charset="-122"/>
                  <a:cs typeface="Lato" pitchFamily="34" charset="-120"/>
                </a:rPr>
                <a:t>c'est à la quatrième étape que le CSE mesure sa propre efficacité, et non au moment du vote.</a:t>
              </a:r>
              <a:endParaRPr lang="en-US" sz="1250" dirty="0"/>
            </a:p>
          </p:txBody>
        </p:sp>
      </p:grpSp>
      <p:pic>
        <p:nvPicPr>
          <p:cNvPr id="29"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30" name="Text 27"/>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31" name="Shape 28"/>
          <p:cNvSpPr/>
          <p:nvPr/>
        </p:nvSpPr>
        <p:spPr>
          <a:xfrm>
            <a:off x="10591495" y="6181344"/>
            <a:ext cx="438912" cy="438912"/>
          </a:xfrm>
          <a:prstGeom prst="ellipse">
            <a:avLst/>
          </a:prstGeom>
          <a:solidFill>
            <a:srgbClr val="F06C23"/>
          </a:solidFill>
          <a:ln/>
        </p:spPr>
        <p:txBody>
          <a:bodyPr/>
          <a:lstStyle/>
          <a:p>
            <a:endParaRPr/>
          </a:p>
        </p:txBody>
      </p:sp>
      <p:sp>
        <p:nvSpPr>
          <p:cNvPr id="32" name="Text 29"/>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05</a:t>
            </a:r>
            <a:endParaRPr lang="en-US" sz="1100" dirty="0"/>
          </a:p>
        </p:txBody>
      </p:sp>
      <p:sp>
        <p:nvSpPr>
          <p:cNvPr id="33" name="Text 30"/>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109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45"/>
                                        </p:tgtEl>
                                        <p:attrNameLst>
                                          <p:attrName>style.visibility</p:attrName>
                                        </p:attrNameLst>
                                      </p:cBhvr>
                                      <p:to>
                                        <p:strVal val="visible"/>
                                      </p:to>
                                    </p:set>
                                    <p:animEffect transition="in" filter="fade">
                                      <p:cBhvr>
                                        <p:cTn id="7" dur="450"/>
                                        <p:tgtEl>
                                          <p:spTgt spid="91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46"/>
                                        </p:tgtEl>
                                        <p:attrNameLst>
                                          <p:attrName>style.visibility</p:attrName>
                                        </p:attrNameLst>
                                      </p:cBhvr>
                                      <p:to>
                                        <p:strVal val="visible"/>
                                      </p:to>
                                    </p:set>
                                    <p:animEffect transition="in" filter="fade">
                                      <p:cBhvr>
                                        <p:cTn id="12" dur="450"/>
                                        <p:tgtEl>
                                          <p:spTgt spid="91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47"/>
                                        </p:tgtEl>
                                        <p:attrNameLst>
                                          <p:attrName>style.visibility</p:attrName>
                                        </p:attrNameLst>
                                      </p:cBhvr>
                                      <p:to>
                                        <p:strVal val="visible"/>
                                      </p:to>
                                    </p:set>
                                    <p:animEffect transition="in" filter="fade">
                                      <p:cBhvr>
                                        <p:cTn id="17" dur="450"/>
                                        <p:tgtEl>
                                          <p:spTgt spid="914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48"/>
                                        </p:tgtEl>
                                        <p:attrNameLst>
                                          <p:attrName>style.visibility</p:attrName>
                                        </p:attrNameLst>
                                      </p:cBhvr>
                                      <p:to>
                                        <p:strVal val="visible"/>
                                      </p:to>
                                    </p:set>
                                    <p:animEffect transition="in" filter="fade">
                                      <p:cBhvr>
                                        <p:cTn id="22" dur="450"/>
                                        <p:tgtEl>
                                          <p:spTgt spid="914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5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5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45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9149"/>
                                        </p:tgtEl>
                                        <p:attrNameLst>
                                          <p:attrName>style.visibility</p:attrName>
                                        </p:attrNameLst>
                                      </p:cBhvr>
                                      <p:to>
                                        <p:strVal val="visible"/>
                                      </p:to>
                                    </p:set>
                                    <p:animEffect transition="in" filter="fade">
                                      <p:cBhvr>
                                        <p:cTn id="72" dur="450"/>
                                        <p:tgtEl>
                                          <p:spTgt spid="9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name="Slide 91">
    <p:bg>
      <p:bgPr>
        <a:solidFill>
          <a:srgbClr val="075767"/>
        </a:solidFill>
        <a:effectLst/>
      </p:bgPr>
    </p:bg>
    <p:spTree>
      <p:nvGrpSpPr>
        <p:cNvPr id="1" name=""/>
        <p:cNvGrpSpPr/>
        <p:nvPr/>
      </p:nvGrpSpPr>
      <p:grpSpPr>
        <a:xfrm>
          <a:off x="0" y="0"/>
          <a:ext cx="0" cy="0"/>
          <a:chOff x="0" y="0"/>
          <a:chExt cx="0" cy="0"/>
        </a:xfrm>
      </p:grpSpPr>
      <p:sp>
        <p:nvSpPr>
          <p:cNvPr id="2" name="Shape 0"/>
          <p:cNvSpPr/>
          <p:nvPr/>
        </p:nvSpPr>
        <p:spPr>
          <a:xfrm rot="420000">
            <a:off x="5760720" y="-3749040"/>
            <a:ext cx="10972800" cy="8229600"/>
          </a:xfrm>
          <a:prstGeom prst="ellipse">
            <a:avLst/>
          </a:prstGeom>
          <a:solidFill>
            <a:srgbClr val="0A6C78"/>
          </a:solidFill>
          <a:ln/>
        </p:spPr>
        <p:txBody>
          <a:bodyPr/>
          <a:lstStyle/>
          <a:p>
            <a:endParaRPr/>
          </a:p>
        </p:txBody>
      </p:sp>
      <p:sp>
        <p:nvSpPr>
          <p:cNvPr id="3" name="Shape 1"/>
          <p:cNvSpPr/>
          <p:nvPr/>
        </p:nvSpPr>
        <p:spPr>
          <a:xfrm>
            <a:off x="868680" y="5788152"/>
            <a:ext cx="274320" cy="274320"/>
          </a:xfrm>
          <a:prstGeom prst="ellipse">
            <a:avLst/>
          </a:prstGeom>
          <a:solidFill>
            <a:srgbClr val="F06C23"/>
          </a:solidFill>
          <a:ln/>
        </p:spPr>
        <p:txBody>
          <a:bodyPr/>
          <a:lstStyle/>
          <a:p>
            <a:endParaRPr/>
          </a:p>
        </p:txBody>
      </p:sp>
      <p:sp>
        <p:nvSpPr>
          <p:cNvPr id="4" name="Shape 2"/>
          <p:cNvSpPr/>
          <p:nvPr/>
        </p:nvSpPr>
        <p:spPr>
          <a:xfrm>
            <a:off x="1353312" y="5943600"/>
            <a:ext cx="146304" cy="146304"/>
          </a:xfrm>
          <a:prstGeom prst="ellipse">
            <a:avLst/>
          </a:prstGeom>
          <a:solidFill>
            <a:srgbClr val="C1D5D9"/>
          </a:solidFill>
          <a:ln/>
        </p:spPr>
        <p:txBody>
          <a:bodyPr/>
          <a:lstStyle/>
          <a:p>
            <a:endParaRPr/>
          </a:p>
        </p:txBody>
      </p:sp>
      <p:sp>
        <p:nvSpPr>
          <p:cNvPr id="5" name="Shape 3"/>
          <p:cNvSpPr/>
          <p:nvPr/>
        </p:nvSpPr>
        <p:spPr>
          <a:xfrm>
            <a:off x="1645920" y="5650992"/>
            <a:ext cx="100584" cy="100584"/>
          </a:xfrm>
          <a:prstGeom prst="ellipse">
            <a:avLst/>
          </a:prstGeom>
          <a:solidFill>
            <a:srgbClr val="C1D5D9"/>
          </a:solidFill>
          <a:ln/>
        </p:spPr>
        <p:txBody>
          <a:bodyPr/>
          <a:lstStyle/>
          <a:p>
            <a:endParaRPr/>
          </a:p>
        </p:txBody>
      </p:sp>
      <p:sp>
        <p:nvSpPr>
          <p:cNvPr id="6" name="Text 4"/>
          <p:cNvSpPr txBox="1"/>
          <p:nvPr/>
        </p:nvSpPr>
        <p:spPr>
          <a:xfrm>
            <a:off x="822960" y="1325880"/>
            <a:ext cx="2377440" cy="1691640"/>
          </a:xfrm>
          <a:prstGeom prst="rect">
            <a:avLst/>
          </a:prstGeom>
          <a:noFill/>
          <a:ln/>
        </p:spPr>
        <p:txBody>
          <a:bodyPr wrap="square" lIns="0" tIns="0" rIns="0" bIns="0" rtlCol="0" anchor="t"/>
          <a:lstStyle/>
          <a:p>
            <a:pPr marL="0" indent="0">
              <a:buNone/>
            </a:pPr>
            <a:r>
              <a:rPr lang="en-US" sz="9600" b="1" kern="0" spc="-300" dirty="0">
                <a:solidFill>
                  <a:srgbClr val="F58B60"/>
                </a:solidFill>
                <a:latin typeface="Lato" pitchFamily="34" charset="0"/>
                <a:ea typeface="Lato" pitchFamily="34" charset="-122"/>
                <a:cs typeface="Lato" pitchFamily="34" charset="-120"/>
              </a:rPr>
              <a:t>06</a:t>
            </a:r>
            <a:endParaRPr lang="en-US" sz="9600" dirty="0"/>
          </a:p>
        </p:txBody>
      </p:sp>
      <p:sp>
        <p:nvSpPr>
          <p:cNvPr id="7" name="Text 5"/>
          <p:cNvSpPr txBox="1"/>
          <p:nvPr/>
        </p:nvSpPr>
        <p:spPr>
          <a:xfrm>
            <a:off x="868680" y="3017520"/>
            <a:ext cx="5303520" cy="1536192"/>
          </a:xfrm>
          <a:prstGeom prst="rect">
            <a:avLst/>
          </a:prstGeom>
          <a:noFill/>
          <a:ln/>
        </p:spPr>
        <p:txBody>
          <a:bodyPr wrap="square" lIns="0" tIns="0" rIns="0" bIns="0" rtlCol="0" anchor="t"/>
          <a:lstStyle/>
          <a:p>
            <a:pPr marL="0" indent="0">
              <a:buNone/>
            </a:pPr>
            <a:r>
              <a:rPr lang="en-US" sz="3400" b="1" kern="0" spc="-150" dirty="0">
                <a:solidFill>
                  <a:srgbClr val="FFFFFF"/>
                </a:solidFill>
                <a:latin typeface="Lato" pitchFamily="34" charset="0"/>
                <a:ea typeface="Lato" pitchFamily="34" charset="-122"/>
                <a:cs typeface="Lato" pitchFamily="34" charset="-120"/>
              </a:rPr>
              <a:t>L'analyse</a:t>
            </a:r>
            <a:endParaRPr lang="en-US" sz="3400" dirty="0"/>
          </a:p>
          <a:p>
            <a:pPr marL="0" indent="0">
              <a:buNone/>
            </a:pPr>
            <a:r>
              <a:rPr lang="en-US" sz="3400" b="1" kern="0" spc="-150" dirty="0">
                <a:solidFill>
                  <a:srgbClr val="FFFFFF"/>
                </a:solidFill>
                <a:latin typeface="Lato" pitchFamily="34" charset="0"/>
                <a:ea typeface="Lato" pitchFamily="34" charset="-122"/>
                <a:cs typeface="Lato" pitchFamily="34" charset="-120"/>
              </a:rPr>
              <a:t>des accidents</a:t>
            </a:r>
            <a:endParaRPr lang="en-US" sz="3400" dirty="0"/>
          </a:p>
        </p:txBody>
      </p:sp>
      <p:sp>
        <p:nvSpPr>
          <p:cNvPr id="8" name="Text 6"/>
          <p:cNvSpPr txBox="1"/>
          <p:nvPr/>
        </p:nvSpPr>
        <p:spPr>
          <a:xfrm>
            <a:off x="868680" y="4023360"/>
            <a:ext cx="5029200" cy="914400"/>
          </a:xfrm>
          <a:prstGeom prst="rect">
            <a:avLst/>
          </a:prstGeom>
          <a:noFill/>
          <a:ln/>
        </p:spPr>
        <p:txBody>
          <a:bodyPr wrap="square" lIns="0" tIns="0" rIns="0" bIns="0" rtlCol="0" anchor="t"/>
          <a:lstStyle/>
          <a:p>
            <a:pPr marL="0" indent="0">
              <a:lnSpc>
                <a:spcPct val="115000"/>
              </a:lnSpc>
              <a:buNone/>
            </a:pPr>
            <a:r>
              <a:rPr lang="en-US" sz="1500" dirty="0">
                <a:solidFill>
                  <a:srgbClr val="C1D5D9"/>
                </a:solidFill>
                <a:latin typeface="Lato" pitchFamily="34" charset="0"/>
                <a:ea typeface="Lato" pitchFamily="34" charset="-122"/>
                <a:cs typeface="Lato" pitchFamily="34" charset="-120"/>
              </a:rPr>
              <a:t>Passer de « pourquoi l'accident » à « que faire pour qu'il ne se reproduise pas ».</a:t>
            </a:r>
            <a:endParaRPr lang="en-US" sz="1500" dirty="0"/>
          </a:p>
        </p:txBody>
      </p:sp>
      <p:sp>
        <p:nvSpPr>
          <p:cNvPr id="12" name="Rounded Rectangle 11"/>
          <p:cNvSpPr/>
          <p:nvPr/>
        </p:nvSpPr>
        <p:spPr>
          <a:xfrm>
            <a:off x="6711696" y="1316736"/>
            <a:ext cx="4892040" cy="448056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mage 0" descr="/home/claude/tmo/build/photos/p20.jpg"/>
          <p:cNvPicPr>
            <a:picLocks noChangeAspect="1"/>
          </p:cNvPicPr>
          <p:nvPr/>
        </p:nvPicPr>
        <p:blipFill>
          <a:blip r:embed="rId3"/>
          <a:srcRect/>
          <a:stretch/>
        </p:blipFill>
        <p:spPr>
          <a:xfrm>
            <a:off x="6583680" y="1188720"/>
            <a:ext cx="4892040" cy="4480560"/>
          </a:xfrm>
          <a:prstGeom prst="roundRect">
            <a:avLst>
              <a:gd name="adj" fmla="val 2200"/>
            </a:avLst>
          </a:prstGeom>
          <a:effectLst>
            <a:outerShdw blurRad="190500" dist="38100" dir="5400000" rotWithShape="0">
              <a:srgbClr val="075767">
                <a:alpha val="22000"/>
              </a:srgbClr>
            </a:outerShdw>
            <a:softEdge rad="32004"/>
          </a:effectLst>
        </p:spPr>
      </p:pic>
      <p:sp>
        <p:nvSpPr>
          <p:cNvPr id="10" name="Shape 7"/>
          <p:cNvSpPr/>
          <p:nvPr/>
        </p:nvSpPr>
        <p:spPr>
          <a:xfrm>
            <a:off x="10929823" y="6071616"/>
            <a:ext cx="603504" cy="603504"/>
          </a:xfrm>
          <a:prstGeom prst="ellipse">
            <a:avLst/>
          </a:prstGeom>
          <a:solidFill>
            <a:srgbClr val="FFFFFF"/>
          </a:solidFill>
          <a:ln/>
        </p:spPr>
        <p:txBody>
          <a:bodyPr/>
          <a:lstStyle/>
          <a:p>
            <a:endParaRPr/>
          </a:p>
        </p:txBody>
      </p:sp>
      <p:pic>
        <p:nvPicPr>
          <p:cNvPr id="11" name="Image 1" descr="/home/claude/tmo/build/logo.png"/>
          <p:cNvPicPr>
            <a:picLocks noChangeAspect="1"/>
          </p:cNvPicPr>
          <p:nvPr/>
        </p:nvPicPr>
        <p:blipFill>
          <a:blip r:embed="rId4"/>
          <a:stretch>
            <a:fillRect/>
          </a:stretch>
        </p:blipFill>
        <p:spPr>
          <a:xfrm>
            <a:off x="10957255" y="6099048"/>
            <a:ext cx="548640" cy="548640"/>
          </a:xfrm>
          <a:prstGeom prst="rect">
            <a:avLst/>
          </a:prstGeom>
        </p:spPr>
      </p:pic>
    </p:spTree>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L'analyse quantitative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Compter, pour repérer où se concentrent les accidents, avant de chercher pourquoi.</a:t>
            </a:r>
            <a:endParaRPr lang="en-US" sz="1450" dirty="0"/>
          </a:p>
        </p:txBody>
      </p:sp>
      <p:sp>
        <p:nvSpPr>
          <p:cNvPr id="11" name="Text 9"/>
          <p:cNvSpPr txBox="1"/>
          <p:nvPr/>
        </p:nvSpPr>
        <p:spPr>
          <a:xfrm>
            <a:off x="731520" y="2487168"/>
            <a:ext cx="6035040"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Les volumes</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Nombre d'accidents avec arrêt, nombre de jours d'arrêt, nombre de soins</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Les taux</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Taux de fréquence, indice de fréquence, taux de gravité, indice de gravité</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Les ventilations</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Siège des lésions · nature des lésions · types d'accidents · lieux de survenance</a:t>
            </a:r>
            <a:endParaRPr lang="en-US" sz="1400" dirty="0"/>
          </a:p>
        </p:txBody>
      </p:sp>
      <p:grpSp>
        <p:nvGrpSpPr>
          <p:cNvPr id="9150" name="Bloc 2"/>
          <p:cNvGrpSpPr/>
          <p:nvPr/>
        </p:nvGrpSpPr>
        <p:grpSpPr>
          <a:xfrm>
            <a:off x="7223760" y="1828800"/>
            <a:ext cx="4334256" cy="3282696"/>
            <a:chOff x="7223760" y="1828800"/>
            <a:chExt cx="4334256" cy="3282696"/>
          </a:xfrm>
        </p:grpSpPr>
        <p:sp>
          <p:nvSpPr>
            <p:cNvPr id="21" name="Rounded Rectangle 20"/>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21.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151" name="Bloc 4"/>
          <p:cNvGrpSpPr/>
          <p:nvPr/>
        </p:nvGrpSpPr>
        <p:grpSpPr>
          <a:xfrm>
            <a:off x="731520" y="5248656"/>
            <a:ext cx="10728655" cy="841248"/>
            <a:chOff x="731520" y="5248656"/>
            <a:chExt cx="10728655" cy="841248"/>
          </a:xfrm>
        </p:grpSpPr>
        <p:sp>
          <p:nvSpPr>
            <p:cNvPr id="13" name="Text 10"/>
            <p:cNvSpPr txBox="1"/>
            <p:nvPr/>
          </p:nvSpPr>
          <p:spPr>
            <a:xfrm>
              <a:off x="7223760" y="5349240"/>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Les chiffres disent où regarder. Ils ne disent jamais pourquoi.</a:t>
              </a:r>
              <a:endParaRPr lang="en-US" sz="950" dirty="0"/>
            </a:p>
          </p:txBody>
        </p:sp>
        <p:sp>
          <p:nvSpPr>
            <p:cNvPr id="14" name="Shape 11"/>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5" name="Text 12"/>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Se comparer   </a:t>
              </a:r>
              <a:r>
                <a:rPr lang="en-US" sz="1300" dirty="0">
                  <a:solidFill>
                    <a:srgbClr val="075767"/>
                  </a:solidFill>
                  <a:latin typeface="Lato" pitchFamily="34" charset="0"/>
                  <a:ea typeface="Lato" pitchFamily="34" charset="-122"/>
                  <a:cs typeface="Lato" pitchFamily="34" charset="-120"/>
                </a:rPr>
                <a:t>les statistiques de sinistralité par secteur sont publiques, sur risquesprofessionnels.ameli.fr. Comparer son taux à celui de son code risque change la conversation en séance.</a:t>
              </a:r>
              <a:endParaRPr lang="en-US" sz="1250" dirty="0"/>
            </a:p>
          </p:txBody>
        </p:sp>
      </p:gr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111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50"/>
                                        </p:tgtEl>
                                        <p:attrNameLst>
                                          <p:attrName>style.visibility</p:attrName>
                                        </p:attrNameLst>
                                      </p:cBhvr>
                                      <p:to>
                                        <p:strVal val="visible"/>
                                      </p:to>
                                    </p:set>
                                    <p:animEffect transition="in" filter="fade">
                                      <p:cBhvr>
                                        <p:cTn id="12" dur="450"/>
                                        <p:tgtEl>
                                          <p:spTgt spid="915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51"/>
                                        </p:tgtEl>
                                        <p:attrNameLst>
                                          <p:attrName>style.visibility</p:attrName>
                                        </p:attrNameLst>
                                      </p:cBhvr>
                                      <p:to>
                                        <p:strVal val="visible"/>
                                      </p:to>
                                    </p:set>
                                    <p:animEffect transition="in" filter="fade">
                                      <p:cBhvr>
                                        <p:cTn id="22" dur="450"/>
                                        <p:tgtEl>
                                          <p:spTgt spid="9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L'analyse qualitative : les méthodes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grpSp>
        <p:nvGrpSpPr>
          <p:cNvPr id="9152" name="Bloc 1"/>
          <p:cNvGrpSpPr/>
          <p:nvPr/>
        </p:nvGrpSpPr>
        <p:grpSpPr>
          <a:xfrm>
            <a:off x="731520" y="1965960"/>
            <a:ext cx="3332378" cy="3108960"/>
            <a:chOff x="731520" y="1965960"/>
            <a:chExt cx="3332378" cy="3108960"/>
          </a:xfrm>
        </p:grpSpPr>
        <p:sp>
          <p:nvSpPr>
            <p:cNvPr id="10" name="Shape 8"/>
            <p:cNvSpPr/>
            <p:nvPr/>
          </p:nvSpPr>
          <p:spPr>
            <a:xfrm>
              <a:off x="731520" y="1965960"/>
              <a:ext cx="3332378" cy="3108960"/>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graphiqu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Méthodes inductives</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On part de l'accident survenu et on remonte aux causes : arbre des causes, ITAMAMI, THO.</a:t>
              </a:r>
              <a:endParaRPr lang="en-US" sz="1250" dirty="0"/>
            </a:p>
          </p:txBody>
        </p:sp>
      </p:grpSp>
      <p:grpSp>
        <p:nvGrpSpPr>
          <p:cNvPr id="9153"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idee-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Méthodes déductives</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On part des défaillances possibles et on descend vers leurs effets : AMDEC, analyse préliminaire des risques.</a:t>
              </a:r>
              <a:endParaRPr lang="en-US" sz="1250" dirty="0"/>
            </a:p>
          </p:txBody>
        </p:sp>
      </p:grpSp>
      <p:grpSp>
        <p:nvGrpSpPr>
          <p:cNvPr id="9154" name="Bloc 3"/>
          <p:cNvGrpSpPr/>
          <p:nvPr/>
        </p:nvGrpSpPr>
        <p:grpSpPr>
          <a:xfrm>
            <a:off x="8127797" y="1965960"/>
            <a:ext cx="3332378" cy="3197961"/>
            <a:chOff x="8127797" y="1965960"/>
            <a:chExt cx="3332378" cy="3197961"/>
          </a:xfrm>
        </p:grpSpPr>
        <p:sp>
          <p:nvSpPr>
            <p:cNvPr id="20" name="Shape 16"/>
            <p:cNvSpPr/>
            <p:nvPr/>
          </p:nvSpPr>
          <p:spPr>
            <a:xfrm>
              <a:off x="8127797" y="1965960"/>
              <a:ext cx="3332378" cy="3197961"/>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dialogue-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546201"/>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Méthodes de recherche de causes</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Ishikawa (arêtes de poisson), les cinq pourquoi : utiles en complément, pour structurer le débat.</a:t>
              </a:r>
              <a:endParaRPr lang="en-US" sz="1250" dirty="0"/>
            </a:p>
          </p:txBody>
        </p:sp>
      </p:grpSp>
      <p:grpSp>
        <p:nvGrpSpPr>
          <p:cNvPr id="9155" name="Bloc 4"/>
          <p:cNvGrpSpPr/>
          <p:nvPr/>
        </p:nvGrpSpPr>
        <p:grpSpPr>
          <a:xfrm>
            <a:off x="731520" y="5257800"/>
            <a:ext cx="10728655" cy="841248"/>
            <a:chOff x="731520" y="5257800"/>
            <a:chExt cx="10728655" cy="841248"/>
          </a:xfrm>
        </p:grpSpPr>
        <p:sp>
          <p:nvSpPr>
            <p:cNvPr id="25" name="Shape 20"/>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26" name="Text 21"/>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choix   </a:t>
              </a:r>
              <a:r>
                <a:rPr lang="en-US" sz="1300" dirty="0">
                  <a:solidFill>
                    <a:srgbClr val="075767"/>
                  </a:solidFill>
                  <a:latin typeface="Lato" pitchFamily="34" charset="0"/>
                  <a:ea typeface="Lato" pitchFamily="34" charset="-122"/>
                  <a:cs typeface="Lato" pitchFamily="34" charset="-120"/>
                </a:rPr>
                <a:t>l'arbre des causes est la méthode de référence en CSSCT : elle est collective, elle se construit en séance, et elle débouche naturellement sur des mesures.</a:t>
              </a:r>
              <a:endParaRPr lang="en-US" sz="1250" dirty="0"/>
            </a:p>
          </p:txBody>
        </p:sp>
      </p:grpSp>
      <p:pic>
        <p:nvPicPr>
          <p:cNvPr id="27"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8"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9" name="Shape 23"/>
          <p:cNvSpPr/>
          <p:nvPr/>
        </p:nvSpPr>
        <p:spPr>
          <a:xfrm>
            <a:off x="10591495" y="6181344"/>
            <a:ext cx="438912" cy="438912"/>
          </a:xfrm>
          <a:prstGeom prst="ellipse">
            <a:avLst/>
          </a:prstGeom>
          <a:solidFill>
            <a:srgbClr val="F06C23"/>
          </a:solidFill>
          <a:ln/>
        </p:spPr>
        <p:txBody>
          <a:bodyPr/>
          <a:lstStyle/>
          <a:p>
            <a:endParaRPr/>
          </a:p>
        </p:txBody>
      </p:sp>
      <p:sp>
        <p:nvSpPr>
          <p:cNvPr id="30"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31"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112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52"/>
                                        </p:tgtEl>
                                        <p:attrNameLst>
                                          <p:attrName>style.visibility</p:attrName>
                                        </p:attrNameLst>
                                      </p:cBhvr>
                                      <p:to>
                                        <p:strVal val="visible"/>
                                      </p:to>
                                    </p:set>
                                    <p:animEffect transition="in" filter="fade">
                                      <p:cBhvr>
                                        <p:cTn id="7" dur="450"/>
                                        <p:tgtEl>
                                          <p:spTgt spid="91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53"/>
                                        </p:tgtEl>
                                        <p:attrNameLst>
                                          <p:attrName>style.visibility</p:attrName>
                                        </p:attrNameLst>
                                      </p:cBhvr>
                                      <p:to>
                                        <p:strVal val="visible"/>
                                      </p:to>
                                    </p:set>
                                    <p:animEffect transition="in" filter="fade">
                                      <p:cBhvr>
                                        <p:cTn id="12" dur="450"/>
                                        <p:tgtEl>
                                          <p:spTgt spid="91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54"/>
                                        </p:tgtEl>
                                        <p:attrNameLst>
                                          <p:attrName>style.visibility</p:attrName>
                                        </p:attrNameLst>
                                      </p:cBhvr>
                                      <p:to>
                                        <p:strVal val="visible"/>
                                      </p:to>
                                    </p:set>
                                    <p:animEffect transition="in" filter="fade">
                                      <p:cBhvr>
                                        <p:cTn id="17" dur="450"/>
                                        <p:tgtEl>
                                          <p:spTgt spid="915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55"/>
                                        </p:tgtEl>
                                        <p:attrNameLst>
                                          <p:attrName>style.visibility</p:attrName>
                                        </p:attrNameLst>
                                      </p:cBhvr>
                                      <p:to>
                                        <p:strVal val="visible"/>
                                      </p:to>
                                    </p:set>
                                    <p:animEffect transition="in" filter="fade">
                                      <p:cBhvr>
                                        <p:cTn id="22" dur="450"/>
                                        <p:tgtEl>
                                          <p:spTgt spid="9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que l'arbre des causes permet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sp>
        <p:nvSpPr>
          <p:cNvPr id="10" name="Text 8"/>
          <p:cNvSpPr txBox="1"/>
          <p:nvPr/>
        </p:nvSpPr>
        <p:spPr>
          <a:xfrm>
            <a:off x="731520" y="1828800"/>
            <a:ext cx="6035040" cy="397764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Rechercher l'ensemble des faits ayant conduit à l'accident, sans en écarter aucun a priori</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Créer un débat qui fait passer du « pourquoi l'accident » au « que faire pour qu'il ne se reproduise pas »</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Ouvrir le champ des mesures de prévention, en s'appuyant sur les neuf principes généraux</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Faciliter la communication : un schéma partagé vaut mieux qu'un rapport que personne ne lit</a:t>
            </a:r>
            <a:endParaRPr lang="en-US" sz="1400" dirty="0"/>
          </a:p>
        </p:txBody>
      </p:sp>
      <p:grpSp>
        <p:nvGrpSpPr>
          <p:cNvPr id="9156" name="Bloc 2"/>
          <p:cNvGrpSpPr/>
          <p:nvPr/>
        </p:nvGrpSpPr>
        <p:grpSpPr>
          <a:xfrm>
            <a:off x="7223760" y="1828800"/>
            <a:ext cx="4334256" cy="3282696"/>
            <a:chOff x="7223760" y="1828800"/>
            <a:chExt cx="4334256" cy="3282696"/>
          </a:xfrm>
        </p:grpSpPr>
        <p:sp>
          <p:nvSpPr>
            <p:cNvPr id="18" name="Rounded Rectangle 17"/>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mage 0" descr="/home/claude/tmo/build/photos/p22.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sp>
        <p:nvSpPr>
          <p:cNvPr id="12" name="Text 9"/>
          <p:cNvSpPr txBox="1"/>
          <p:nvPr/>
        </p:nvSpPr>
        <p:spPr>
          <a:xfrm>
            <a:off x="7223760" y="5056632"/>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Construit ensemble, l'arbre devient un document commun, pas un réquisitoire.</a:t>
            </a:r>
            <a:endParaRPr lang="en-US" sz="950" dirty="0"/>
          </a:p>
        </p:txBody>
      </p:sp>
      <p:pic>
        <p:nvPicPr>
          <p:cNvPr id="13"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4" name="Text 1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5" name="Shape 11"/>
          <p:cNvSpPr/>
          <p:nvPr/>
        </p:nvSpPr>
        <p:spPr>
          <a:xfrm>
            <a:off x="10591495" y="6181344"/>
            <a:ext cx="438912" cy="438912"/>
          </a:xfrm>
          <a:prstGeom prst="ellipse">
            <a:avLst/>
          </a:prstGeom>
          <a:solidFill>
            <a:srgbClr val="F06C23"/>
          </a:solidFill>
          <a:ln/>
        </p:spPr>
        <p:txBody>
          <a:bodyPr/>
          <a:lstStyle/>
          <a:p>
            <a:endParaRPr/>
          </a:p>
        </p:txBody>
      </p:sp>
      <p:sp>
        <p:nvSpPr>
          <p:cNvPr id="16" name="Text 1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17" name="Text 1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113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56"/>
                                        </p:tgtEl>
                                        <p:attrNameLst>
                                          <p:attrName>style.visibility</p:attrName>
                                        </p:attrNameLst>
                                      </p:cBhvr>
                                      <p:to>
                                        <p:strVal val="visible"/>
                                      </p:to>
                                    </p:set>
                                    <p:animEffect transition="in" filter="fade">
                                      <p:cBhvr>
                                        <p:cTn id="12" dur="450"/>
                                        <p:tgtEl>
                                          <p:spTgt spid="915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principes de la méthode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Une seule règle vraiment difficile : ne retenir que des faits.</a:t>
            </a:r>
            <a:endParaRPr lang="en-US" sz="1450" dirty="0"/>
          </a:p>
        </p:txBody>
      </p:sp>
      <p:sp>
        <p:nvSpPr>
          <p:cNvPr id="11" name="Text 9"/>
          <p:cNvSpPr txBox="1"/>
          <p:nvPr/>
        </p:nvSpPr>
        <p:spPr>
          <a:xfrm>
            <a:off x="731520" y="2487168"/>
            <a:ext cx="10728655" cy="231343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Mettre en évidence des faits, jamais des jugements de valeur</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 Il était pressé » est un jugement. « Le chantier avait trois jours de retard » est un fait.</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Remonter le plus en amont possible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S'arrêter à la cause immédiate revient à conclure « il aurait dû faire attention »</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Simplifier la situation de travail, méthode ITAMAMI</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Individu · Tâche et activité, c'est-à-dire le travail réel · Matériel · Milieu</a:t>
            </a:r>
            <a:endParaRPr lang="en-US" sz="1400" dirty="0"/>
          </a:p>
        </p:txBody>
      </p:sp>
      <p:grpSp>
        <p:nvGrpSpPr>
          <p:cNvPr id="9157" name="Bloc 3"/>
          <p:cNvGrpSpPr/>
          <p:nvPr/>
        </p:nvGrpSpPr>
        <p:grpSpPr>
          <a:xfrm>
            <a:off x="731520" y="4956048"/>
            <a:ext cx="10728655" cy="841248"/>
            <a:chOff x="731520" y="4956048"/>
            <a:chExt cx="10728655" cy="841248"/>
          </a:xfrm>
        </p:grpSpPr>
        <p:sp>
          <p:nvSpPr>
            <p:cNvPr id="12" name="Shape 10"/>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L'exercice de départ   </a:t>
              </a:r>
              <a:r>
                <a:rPr lang="en-US" sz="1300" dirty="0">
                  <a:solidFill>
                    <a:srgbClr val="075767"/>
                  </a:solidFill>
                  <a:latin typeface="Lato" pitchFamily="34" charset="0"/>
                  <a:ea typeface="Lato" pitchFamily="34" charset="-122"/>
                  <a:cs typeface="Lato" pitchFamily="34" charset="-120"/>
                </a:rPr>
                <a:t>faire un tour de table sur la différence entre un fait et un jugement de valeur. C'est là que se joue la qualité de toute l'analyse.</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114</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57"/>
                                        </p:tgtEl>
                                        <p:attrNameLst>
                                          <p:attrName>style.visibility</p:attrName>
                                        </p:attrNameLst>
                                      </p:cBhvr>
                                      <p:to>
                                        <p:strVal val="visible"/>
                                      </p:to>
                                    </p:set>
                                    <p:animEffect transition="in" filter="fade">
                                      <p:cBhvr>
                                        <p:cTn id="17" dur="450"/>
                                        <p:tgtEl>
                                          <p:spTgt spid="9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trois étapes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sp>
        <p:nvSpPr>
          <p:cNvPr id="10" name="Shape 8"/>
          <p:cNvSpPr/>
          <p:nvPr/>
        </p:nvSpPr>
        <p:spPr>
          <a:xfrm>
            <a:off x="2057400" y="2743200"/>
            <a:ext cx="8076895" cy="0"/>
          </a:xfrm>
          <a:prstGeom prst="line">
            <a:avLst/>
          </a:prstGeom>
          <a:noFill/>
          <a:ln w="25400">
            <a:solidFill>
              <a:srgbClr val="C1D5D9"/>
            </a:solidFill>
            <a:prstDash val="solid"/>
          </a:ln>
        </p:spPr>
        <p:txBody>
          <a:bodyPr/>
          <a:lstStyle/>
          <a:p>
            <a:endParaRPr/>
          </a:p>
        </p:txBody>
      </p:sp>
      <p:grpSp>
        <p:nvGrpSpPr>
          <p:cNvPr id="9158" name="Bloc 1"/>
          <p:cNvGrpSpPr/>
          <p:nvPr/>
        </p:nvGrpSpPr>
        <p:grpSpPr>
          <a:xfrm>
            <a:off x="1691640" y="2377440"/>
            <a:ext cx="731520" cy="731520"/>
            <a:chOff x="1691640" y="2377440"/>
            <a:chExt cx="731520" cy="731520"/>
          </a:xfrm>
        </p:grpSpPr>
        <p:sp>
          <p:nvSpPr>
            <p:cNvPr id="11" name="Shape 9"/>
            <p:cNvSpPr/>
            <p:nvPr/>
          </p:nvSpPr>
          <p:spPr>
            <a:xfrm>
              <a:off x="1691640" y="2377440"/>
              <a:ext cx="731520" cy="731520"/>
            </a:xfrm>
            <a:prstGeom prst="ellipse">
              <a:avLst/>
            </a:prstGeom>
            <a:solidFill>
              <a:srgbClr val="F06C23"/>
            </a:solidFill>
            <a:ln w="38100">
              <a:solidFill>
                <a:srgbClr val="FFFFFF"/>
              </a:solidFill>
              <a:prstDash val="solid"/>
            </a:ln>
          </p:spPr>
          <p:txBody>
            <a:bodyPr/>
            <a:lstStyle/>
            <a:p>
              <a:endParaRPr/>
            </a:p>
          </p:txBody>
        </p:sp>
        <p:sp>
          <p:nvSpPr>
            <p:cNvPr id="12" name="Text 10"/>
            <p:cNvSpPr txBox="1"/>
            <p:nvPr/>
          </p:nvSpPr>
          <p:spPr>
            <a:xfrm>
              <a:off x="1691640"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1</a:t>
              </a:r>
              <a:endParaRPr lang="en-US" sz="1900" dirty="0"/>
            </a:p>
          </p:txBody>
        </p:sp>
      </p:grpSp>
      <p:sp>
        <p:nvSpPr>
          <p:cNvPr id="13" name="Text 11"/>
          <p:cNvSpPr txBox="1"/>
          <p:nvPr/>
        </p:nvSpPr>
        <p:spPr>
          <a:xfrm>
            <a:off x="777240"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Recueillir les faits</a:t>
            </a:r>
            <a:endParaRPr lang="en-US" sz="1550" dirty="0"/>
          </a:p>
        </p:txBody>
      </p:sp>
      <p:sp>
        <p:nvSpPr>
          <p:cNvPr id="14" name="Text 12"/>
          <p:cNvSpPr txBox="1"/>
          <p:nvPr/>
        </p:nvSpPr>
        <p:spPr>
          <a:xfrm>
            <a:off x="777240"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Sur place, vite, auprès de tous les témoins, avant que les souvenirs se reconstruisent</a:t>
            </a:r>
            <a:endParaRPr lang="en-US" sz="1150" dirty="0"/>
          </a:p>
        </p:txBody>
      </p:sp>
      <p:grpSp>
        <p:nvGrpSpPr>
          <p:cNvPr id="9159" name="Bloc 2"/>
          <p:cNvGrpSpPr/>
          <p:nvPr/>
        </p:nvGrpSpPr>
        <p:grpSpPr>
          <a:xfrm>
            <a:off x="5730088" y="2377440"/>
            <a:ext cx="731520" cy="731520"/>
            <a:chOff x="5730088" y="2377440"/>
            <a:chExt cx="731520" cy="731520"/>
          </a:xfrm>
        </p:grpSpPr>
        <p:sp>
          <p:nvSpPr>
            <p:cNvPr id="15" name="Shape 13"/>
            <p:cNvSpPr/>
            <p:nvPr/>
          </p:nvSpPr>
          <p:spPr>
            <a:xfrm>
              <a:off x="5730088" y="2377440"/>
              <a:ext cx="731520" cy="731520"/>
            </a:xfrm>
            <a:prstGeom prst="ellipse">
              <a:avLst/>
            </a:prstGeom>
            <a:solidFill>
              <a:srgbClr val="075767"/>
            </a:solidFill>
            <a:ln w="38100">
              <a:solidFill>
                <a:srgbClr val="FFFFFF"/>
              </a:solidFill>
              <a:prstDash val="solid"/>
            </a:ln>
          </p:spPr>
          <p:txBody>
            <a:bodyPr/>
            <a:lstStyle/>
            <a:p>
              <a:endParaRPr/>
            </a:p>
          </p:txBody>
        </p:sp>
        <p:sp>
          <p:nvSpPr>
            <p:cNvPr id="16" name="Text 14"/>
            <p:cNvSpPr txBox="1"/>
            <p:nvPr/>
          </p:nvSpPr>
          <p:spPr>
            <a:xfrm>
              <a:off x="5730088"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2</a:t>
              </a:r>
              <a:endParaRPr lang="en-US" sz="1900" dirty="0"/>
            </a:p>
          </p:txBody>
        </p:sp>
      </p:grpSp>
      <p:sp>
        <p:nvSpPr>
          <p:cNvPr id="17" name="Text 15"/>
          <p:cNvSpPr txBox="1"/>
          <p:nvPr/>
        </p:nvSpPr>
        <p:spPr>
          <a:xfrm>
            <a:off x="4815688"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Construire l'arbre</a:t>
            </a:r>
            <a:endParaRPr lang="en-US" sz="1550" dirty="0"/>
          </a:p>
        </p:txBody>
      </p:sp>
      <p:sp>
        <p:nvSpPr>
          <p:cNvPr id="18" name="Text 16"/>
          <p:cNvSpPr txBox="1"/>
          <p:nvPr/>
        </p:nvSpPr>
        <p:spPr>
          <a:xfrm>
            <a:off x="4815688"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Remonter fait par fait, en questionnant chaque maillon</a:t>
            </a:r>
            <a:endParaRPr lang="en-US" sz="1150" dirty="0"/>
          </a:p>
        </p:txBody>
      </p:sp>
      <p:grpSp>
        <p:nvGrpSpPr>
          <p:cNvPr id="9160" name="Bloc 3"/>
          <p:cNvGrpSpPr/>
          <p:nvPr/>
        </p:nvGrpSpPr>
        <p:grpSpPr>
          <a:xfrm>
            <a:off x="9768535" y="2377440"/>
            <a:ext cx="731520" cy="731520"/>
            <a:chOff x="9768535" y="2377440"/>
            <a:chExt cx="731520" cy="731520"/>
          </a:xfrm>
        </p:grpSpPr>
        <p:sp>
          <p:nvSpPr>
            <p:cNvPr id="19" name="Shape 17"/>
            <p:cNvSpPr/>
            <p:nvPr/>
          </p:nvSpPr>
          <p:spPr>
            <a:xfrm>
              <a:off x="9768535" y="2377440"/>
              <a:ext cx="731520" cy="731520"/>
            </a:xfrm>
            <a:prstGeom prst="ellipse">
              <a:avLst/>
            </a:prstGeom>
            <a:solidFill>
              <a:srgbClr val="075767"/>
            </a:solidFill>
            <a:ln w="38100">
              <a:solidFill>
                <a:srgbClr val="FFFFFF"/>
              </a:solidFill>
              <a:prstDash val="solid"/>
            </a:ln>
          </p:spPr>
          <p:txBody>
            <a:bodyPr/>
            <a:lstStyle/>
            <a:p>
              <a:endParaRPr/>
            </a:p>
          </p:txBody>
        </p:sp>
        <p:sp>
          <p:nvSpPr>
            <p:cNvPr id="20" name="Text 18"/>
            <p:cNvSpPr txBox="1"/>
            <p:nvPr/>
          </p:nvSpPr>
          <p:spPr>
            <a:xfrm>
              <a:off x="9768535"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3</a:t>
              </a:r>
              <a:endParaRPr lang="en-US" sz="1900" dirty="0"/>
            </a:p>
          </p:txBody>
        </p:sp>
      </p:grpSp>
      <p:sp>
        <p:nvSpPr>
          <p:cNvPr id="21" name="Text 19"/>
          <p:cNvSpPr txBox="1"/>
          <p:nvPr/>
        </p:nvSpPr>
        <p:spPr>
          <a:xfrm>
            <a:off x="8854135"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Exploiter l'arbre</a:t>
            </a:r>
            <a:endParaRPr lang="en-US" sz="1550" dirty="0"/>
          </a:p>
        </p:txBody>
      </p:sp>
      <p:sp>
        <p:nvSpPr>
          <p:cNvPr id="22" name="Text 20"/>
          <p:cNvSpPr txBox="1"/>
          <p:nvPr/>
        </p:nvSpPr>
        <p:spPr>
          <a:xfrm>
            <a:off x="8854135"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Choisir les branches sur lesquelles agir et formuler les mesures</a:t>
            </a:r>
            <a:endParaRPr lang="en-US" sz="1150" dirty="0"/>
          </a:p>
        </p:txBody>
      </p:sp>
      <p:grpSp>
        <p:nvGrpSpPr>
          <p:cNvPr id="9161" name="Bloc 11"/>
          <p:cNvGrpSpPr/>
          <p:nvPr/>
        </p:nvGrpSpPr>
        <p:grpSpPr>
          <a:xfrm>
            <a:off x="731520" y="5029200"/>
            <a:ext cx="10728655" cy="841248"/>
            <a:chOff x="731520" y="5029200"/>
            <a:chExt cx="10728655" cy="841248"/>
          </a:xfrm>
        </p:grpSpPr>
        <p:sp>
          <p:nvSpPr>
            <p:cNvPr id="23" name="Shape 21"/>
            <p:cNvSpPr/>
            <p:nvPr/>
          </p:nvSpPr>
          <p:spPr>
            <a:xfrm>
              <a:off x="731520" y="5029200"/>
              <a:ext cx="10728655" cy="841248"/>
            </a:xfrm>
            <a:prstGeom prst="roundRect">
              <a:avLst>
                <a:gd name="adj" fmla="val 6522"/>
              </a:avLst>
            </a:prstGeom>
            <a:solidFill>
              <a:srgbClr val="D7E8EB"/>
            </a:solidFill>
            <a:ln/>
          </p:spPr>
          <p:txBody>
            <a:bodyPr/>
            <a:lstStyle/>
            <a:p>
              <a:endParaRPr/>
            </a:p>
          </p:txBody>
        </p:sp>
        <p:sp>
          <p:nvSpPr>
            <p:cNvPr id="24" name="Text 22"/>
            <p:cNvSpPr txBox="1"/>
            <p:nvPr/>
          </p:nvSpPr>
          <p:spPr>
            <a:xfrm>
              <a:off x="1024128" y="50292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piège   </a:t>
              </a:r>
              <a:r>
                <a:rPr lang="en-US" sz="1300" dirty="0">
                  <a:solidFill>
                    <a:srgbClr val="075767"/>
                  </a:solidFill>
                  <a:latin typeface="Lato" pitchFamily="34" charset="0"/>
                  <a:ea typeface="Lato" pitchFamily="34" charset="-122"/>
                  <a:cs typeface="Lato" pitchFamily="34" charset="-120"/>
                </a:rPr>
                <a:t>sauter l'étape 1 pour aller directement aux mesures. C'est la raison pour laquelle tant de plans d'action se résument à « rappeler la consigne ».</a:t>
              </a:r>
              <a:endParaRPr lang="en-US" sz="1250" dirty="0"/>
            </a:p>
          </p:txBody>
        </p:sp>
      </p:grpSp>
      <p:pic>
        <p:nvPicPr>
          <p:cNvPr id="25"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26" name="Text 2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7" name="Shape 24"/>
          <p:cNvSpPr/>
          <p:nvPr/>
        </p:nvSpPr>
        <p:spPr>
          <a:xfrm>
            <a:off x="10591495" y="6181344"/>
            <a:ext cx="438912" cy="438912"/>
          </a:xfrm>
          <a:prstGeom prst="ellipse">
            <a:avLst/>
          </a:prstGeom>
          <a:solidFill>
            <a:srgbClr val="F06C23"/>
          </a:solidFill>
          <a:ln/>
        </p:spPr>
        <p:txBody>
          <a:bodyPr/>
          <a:lstStyle/>
          <a:p>
            <a:endParaRPr/>
          </a:p>
        </p:txBody>
      </p:sp>
      <p:sp>
        <p:nvSpPr>
          <p:cNvPr id="28" name="Text 2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29" name="Text 2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115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58"/>
                                        </p:tgtEl>
                                        <p:attrNameLst>
                                          <p:attrName>style.visibility</p:attrName>
                                        </p:attrNameLst>
                                      </p:cBhvr>
                                      <p:to>
                                        <p:strVal val="visible"/>
                                      </p:to>
                                    </p:set>
                                    <p:animEffect transition="in" filter="fade">
                                      <p:cBhvr>
                                        <p:cTn id="7" dur="450"/>
                                        <p:tgtEl>
                                          <p:spTgt spid="91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59"/>
                                        </p:tgtEl>
                                        <p:attrNameLst>
                                          <p:attrName>style.visibility</p:attrName>
                                        </p:attrNameLst>
                                      </p:cBhvr>
                                      <p:to>
                                        <p:strVal val="visible"/>
                                      </p:to>
                                    </p:set>
                                    <p:animEffect transition="in" filter="fade">
                                      <p:cBhvr>
                                        <p:cTn id="12" dur="450"/>
                                        <p:tgtEl>
                                          <p:spTgt spid="915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60"/>
                                        </p:tgtEl>
                                        <p:attrNameLst>
                                          <p:attrName>style.visibility</p:attrName>
                                        </p:attrNameLst>
                                      </p:cBhvr>
                                      <p:to>
                                        <p:strVal val="visible"/>
                                      </p:to>
                                    </p:set>
                                    <p:animEffect transition="in" filter="fade">
                                      <p:cBhvr>
                                        <p:cTn id="17" dur="450"/>
                                        <p:tgtEl>
                                          <p:spTgt spid="916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5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5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5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9161"/>
                                        </p:tgtEl>
                                        <p:attrNameLst>
                                          <p:attrName>style.visibility</p:attrName>
                                        </p:attrNameLst>
                                      </p:cBhvr>
                                      <p:to>
                                        <p:strVal val="visible"/>
                                      </p:to>
                                    </p:set>
                                    <p:animEffect transition="in" filter="fade">
                                      <p:cBhvr>
                                        <p:cTn id="57" dur="450"/>
                                        <p:tgtEl>
                                          <p:spTgt spid="9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Cas nº 1 : La chute de Karim, chantier BTP</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Récit tel qu'il a été rapporté. À vous d'y séparer les faits des jugements.</a:t>
            </a:r>
            <a:endParaRPr lang="en-US" sz="1450" dirty="0"/>
          </a:p>
        </p:txBody>
      </p:sp>
      <p:sp>
        <p:nvSpPr>
          <p:cNvPr id="11" name="Text 9"/>
          <p:cNvSpPr txBox="1"/>
          <p:nvPr/>
        </p:nvSpPr>
        <p:spPr>
          <a:xfrm>
            <a:off x="731520" y="2487168"/>
            <a:ext cx="10728655" cy="3621024"/>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Karim est maçon, expérimenté et consciencieux. Le chantier d'un immeuble R+4 est en cours à Lyon ; il est affecté à un voile de façade au 3ᵉ niveau.</a:t>
            </a:r>
            <a:endParaRPr lang="en-US" sz="140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plancher du 3ᵉ niveau se situe à 9 mètres du sol. Un échafaudage est en place sur la façade ouest, mais il n'a pas été contrôlé depuis plusieurs semaines, ce qui est négligent.</a:t>
            </a:r>
            <a:endParaRPr lang="en-US" sz="140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lundi matin, le chef de chantier demande à Karim de commencer le banchage sans attendre l'arrivée du chef d'équipe.</a:t>
            </a:r>
            <a:endParaRPr lang="en-US" sz="140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Karim monte sur l'échafaudage et constate un vide de 40 cm entre deux plateaux. Il aurait dû le signaler immédiatement, mais il a voulu faire preuve de bonne volonté.</a:t>
            </a:r>
            <a:endParaRPr lang="en-US" sz="140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En déplaçant un seau de mortier de 15 kg, son pied droit s'engage dans le vide. Il perd l'équilibre et chute de 3,20 m sur le plancher béton du niveau inférieur.</a:t>
            </a:r>
            <a:endParaRPr lang="en-US" sz="140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Karim ne portait pas son harnais. Les ouvriers du BTP ne portent jamais leur harnais, il est trop inconfortable.</a:t>
            </a:r>
            <a:endParaRPr lang="en-US" sz="140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Un collègue alerte les secours ; le SAMU intervient en 12 minutes. Fracture du bassin et de deux côtes, arrêt de travail de trois mois minimum.</a:t>
            </a:r>
            <a:endParaRPr lang="en-US" sz="14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1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1"/>
          <p:cNvSpPr/>
          <p:nvPr/>
        </p:nvSpPr>
        <p:spPr>
          <a:xfrm>
            <a:off x="10591495" y="6181344"/>
            <a:ext cx="438912" cy="438912"/>
          </a:xfrm>
          <a:prstGeom prst="ellipse">
            <a:avLst/>
          </a:prstGeom>
          <a:solidFill>
            <a:srgbClr val="F06C23"/>
          </a:solidFill>
          <a:ln/>
        </p:spPr>
        <p:txBody>
          <a:bodyPr/>
          <a:lstStyle/>
          <a:p>
            <a:endParaRPr/>
          </a:p>
        </p:txBody>
      </p:sp>
      <p:sp>
        <p:nvSpPr>
          <p:cNvPr id="15" name="Text 1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16" name="Text 1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116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Cas nº 1 : Ce qui doit être écarté</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grpSp>
        <p:nvGrpSpPr>
          <p:cNvPr id="9162" name="Bloc 1"/>
          <p:cNvGrpSpPr/>
          <p:nvPr/>
        </p:nvGrpSpPr>
        <p:grpSpPr>
          <a:xfrm>
            <a:off x="731520" y="1828800"/>
            <a:ext cx="10728655" cy="1371600"/>
            <a:chOff x="731520" y="1828800"/>
            <a:chExt cx="10728655" cy="1371600"/>
          </a:xfrm>
        </p:grpSpPr>
        <p:sp>
          <p:nvSpPr>
            <p:cNvPr id="10" name="Shape 8"/>
            <p:cNvSpPr/>
            <p:nvPr/>
          </p:nvSpPr>
          <p:spPr>
            <a:xfrm>
              <a:off x="731520" y="1828800"/>
              <a:ext cx="10728655" cy="1371600"/>
            </a:xfrm>
            <a:prstGeom prst="roundRect">
              <a:avLst>
                <a:gd name="adj" fmla="val 3333"/>
              </a:avLst>
            </a:prstGeom>
            <a:solidFill>
              <a:srgbClr val="FCEDE6"/>
            </a:solidFill>
            <a:ln/>
          </p:spPr>
          <p:txBody>
            <a:bodyPr/>
            <a:lstStyle/>
            <a:p>
              <a:endParaRPr/>
            </a:p>
          </p:txBody>
        </p:sp>
        <p:sp>
          <p:nvSpPr>
            <p:cNvPr id="11" name="Shape 9"/>
            <p:cNvSpPr/>
            <p:nvPr/>
          </p:nvSpPr>
          <p:spPr>
            <a:xfrm>
              <a:off x="987552" y="2103120"/>
              <a:ext cx="777240" cy="777240"/>
            </a:xfrm>
            <a:prstGeom prst="ellipse">
              <a:avLst/>
            </a:prstGeom>
            <a:solidFill>
              <a:srgbClr val="F06C23"/>
            </a:solidFill>
            <a:ln/>
          </p:spPr>
          <p:txBody>
            <a:bodyPr/>
            <a:lstStyle/>
            <a:p>
              <a:endParaRPr/>
            </a:p>
          </p:txBody>
        </p:sp>
        <p:pic>
          <p:nvPicPr>
            <p:cNvPr id="12" name="Image 0" descr="/home/claude/tmo/build/ico/alerte-blanc.png"/>
            <p:cNvPicPr>
              <a:picLocks noChangeAspect="1"/>
            </p:cNvPicPr>
            <p:nvPr/>
          </p:nvPicPr>
          <p:blipFill>
            <a:blip r:embed="rId3"/>
            <a:stretch>
              <a:fillRect/>
            </a:stretch>
          </p:blipFill>
          <p:spPr>
            <a:xfrm>
              <a:off x="1189634" y="2305202"/>
              <a:ext cx="373075" cy="373075"/>
            </a:xfrm>
            <a:prstGeom prst="rect">
              <a:avLst/>
            </a:prstGeom>
          </p:spPr>
        </p:pic>
        <p:sp>
          <p:nvSpPr>
            <p:cNvPr id="13" name="Text 10"/>
            <p:cNvSpPr txBox="1"/>
            <p:nvPr/>
          </p:nvSpPr>
          <p:spPr>
            <a:xfrm>
              <a:off x="1965960" y="1993392"/>
              <a:ext cx="9219895" cy="320040"/>
            </a:xfrm>
            <a:prstGeom prst="rect">
              <a:avLst/>
            </a:prstGeom>
            <a:noFill/>
            <a:ln/>
          </p:spPr>
          <p:txBody>
            <a:bodyPr wrap="square" lIns="0" tIns="0" rIns="0" bIns="0" rtlCol="0" anchor="t"/>
            <a:lstStyle/>
            <a:p>
              <a:pPr marL="0" indent="0">
                <a:buNone/>
              </a:pPr>
              <a:r>
                <a:rPr lang="en-US" sz="1350" b="1" dirty="0">
                  <a:solidFill>
                    <a:srgbClr val="C33F14"/>
                  </a:solidFill>
                  <a:latin typeface="Lato" pitchFamily="34" charset="0"/>
                  <a:ea typeface="Lato" pitchFamily="34" charset="-122"/>
                  <a:cs typeface="Lato" pitchFamily="34" charset="-120"/>
                </a:rPr>
                <a:t>Cinq jugements de valeur</a:t>
              </a:r>
              <a:endParaRPr lang="en-US" sz="1350" dirty="0"/>
            </a:p>
          </p:txBody>
        </p:sp>
        <p:sp>
          <p:nvSpPr>
            <p:cNvPr id="14" name="Text 11"/>
            <p:cNvSpPr txBox="1"/>
            <p:nvPr/>
          </p:nvSpPr>
          <p:spPr>
            <a:xfrm>
              <a:off x="1965960" y="2340864"/>
              <a:ext cx="9219895" cy="777240"/>
            </a:xfrm>
            <a:prstGeom prst="rect">
              <a:avLst/>
            </a:prstGeom>
            <a:noFill/>
            <a:ln/>
          </p:spPr>
          <p:txBody>
            <a:bodyPr wrap="square" lIns="0" tIns="0" rIns="0" bIns="0" rtlCol="0" anchor="t"/>
            <a:lstStyle/>
            <a:p>
              <a:pPr marL="0" indent="0">
                <a:lnSpc>
                  <a:spcPct val="110000"/>
                </a:lnSpc>
                <a:buNone/>
              </a:pPr>
              <a:r>
                <a:rPr lang="en-US" sz="1350" dirty="0">
                  <a:solidFill>
                    <a:srgbClr val="075767"/>
                  </a:solidFill>
                  <a:latin typeface="Lato" pitchFamily="34" charset="0"/>
                  <a:ea typeface="Lato" pitchFamily="34" charset="-122"/>
                  <a:cs typeface="Lato" pitchFamily="34" charset="-120"/>
                </a:rPr>
                <a:t>Ils orientent l'analyse vers la faute du salarié et ferment le champ des mesures de prévention.</a:t>
              </a:r>
              <a:endParaRPr lang="en-US" sz="1350" dirty="0"/>
            </a:p>
          </p:txBody>
        </p:sp>
      </p:grpSp>
      <p:sp>
        <p:nvSpPr>
          <p:cNvPr id="15" name="Text 12"/>
          <p:cNvSpPr txBox="1"/>
          <p:nvPr/>
        </p:nvSpPr>
        <p:spPr>
          <a:xfrm>
            <a:off x="731520" y="3429000"/>
            <a:ext cx="10728655" cy="22860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 expérimenté et consciencieux », une qualité prêtée, sans effet sur la chaîne causale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 ce qui est négligent » : un jugement ; le fait est : l'échafaudage n'a pas été contrôlé depuis plusieurs semaines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 il aurait dû le signaler immédiatement », une norme de comportement, pas un fait</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 il a voulu faire preuve de bonne volonté », une intention supposée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 les ouvriers du BTP ne portent jamais leur harnais », une généralisation ; le fait est : le harnais n'était pas porté, et il est jugé inconfortable</a:t>
            </a:r>
            <a:endParaRPr lang="en-US" sz="1350" dirty="0"/>
          </a:p>
        </p:txBody>
      </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117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62"/>
                                        </p:tgtEl>
                                        <p:attrNameLst>
                                          <p:attrName>style.visibility</p:attrName>
                                        </p:attrNameLst>
                                      </p:cBhvr>
                                      <p:to>
                                        <p:strVal val="visible"/>
                                      </p:to>
                                    </p:set>
                                    <p:animEffect transition="in" filter="fade">
                                      <p:cBhvr>
                                        <p:cTn id="7" dur="450"/>
                                        <p:tgtEl>
                                          <p:spTgt spid="91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Cas nº 1 : L'arbre des causes reconstitué</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0728655" cy="914400"/>
        </p:xfrm>
        <a:graphic>
          <a:graphicData uri="http://schemas.openxmlformats.org/drawingml/2006/table">
            <a:tbl>
              <a:tblPr/>
              <a:tblGrid>
                <a:gridCol w="2560320">
                  <a:extLst>
                    <a:ext uri="{9D8B030D-6E8A-4147-A177-3AD203B41FA5}">
                      <a16:colId xmlns:a16="http://schemas.microsoft.com/office/drawing/2014/main" val="20000"/>
                    </a:ext>
                  </a:extLst>
                </a:gridCol>
                <a:gridCol w="8165592">
                  <a:extLst>
                    <a:ext uri="{9D8B030D-6E8A-4147-A177-3AD203B41FA5}">
                      <a16:colId xmlns:a16="http://schemas.microsoft.com/office/drawing/2014/main" val="20001"/>
                    </a:ext>
                  </a:extLst>
                </a:gridCol>
              </a:tblGrid>
              <a:tr h="566928">
                <a:tc>
                  <a:txBody>
                    <a:bodyPr/>
                    <a:lstStyle/>
                    <a:p>
                      <a:pPr marL="0" indent="0">
                        <a:buNone/>
                      </a:pPr>
                      <a:r>
                        <a:rPr lang="en-US" sz="1250" b="1" dirty="0">
                          <a:solidFill>
                            <a:srgbClr val="FFFFFF"/>
                          </a:solidFill>
                          <a:latin typeface="Lato" pitchFamily="34" charset="0"/>
                          <a:ea typeface="Lato" pitchFamily="34" charset="-122"/>
                          <a:cs typeface="Lato" pitchFamily="34" charset="-120"/>
                        </a:rPr>
                        <a:t>Niveau</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Faits retenus</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Dommage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Fracture du bassin et de deux côtes, trois mois d'arrêt</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Événement</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Chute de 3,20 mètres sur le plancher béton</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Causes immédiates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Harnais non porté  ·   vide de 40 cm entre les plateaux  ·   manutention d'un seau de 15 kg</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Causes organisationnelles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EPI inconfortable et non disponible  ·   mise en route sans le chef d'équipe  ·   échafaudage non contrôlé  ·   manutention non planifiée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Causes racines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Absence de procédure de port des EPI  ·   retard calendaire du chantier  ·   absence de plan de contrôle du matériel  ·   tâches non formalisées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8"/>
          <p:cNvSpPr txBox="1"/>
          <p:nvPr/>
        </p:nvSpPr>
        <p:spPr>
          <a:xfrm>
            <a:off x="731520" y="5623560"/>
            <a:ext cx="10728655" cy="365760"/>
          </a:xfrm>
          <a:prstGeom prst="rect">
            <a:avLst/>
          </a:prstGeom>
          <a:noFill/>
          <a:ln/>
        </p:spPr>
        <p:txBody>
          <a:bodyPr wrap="square" lIns="0" tIns="0" rIns="0" bIns="0" rtlCol="0" anchor="t"/>
          <a:lstStyle/>
          <a:p>
            <a:pPr marL="0" indent="0">
              <a:buNone/>
            </a:pPr>
            <a:r>
              <a:rPr lang="en-US" sz="1000" i="1" dirty="0">
                <a:solidFill>
                  <a:srgbClr val="595959"/>
                </a:solidFill>
                <a:latin typeface="Lato" pitchFamily="34" charset="0"/>
                <a:ea typeface="Lato" pitchFamily="34" charset="-122"/>
                <a:cs typeface="Lato" pitchFamily="34" charset="-120"/>
              </a:rPr>
              <a:t>Plus on descend dans le tableau, plus les mesures de prévention sont durables, et plus elles relèvent de l'employeur, pas du salarié.</a:t>
            </a:r>
            <a:endParaRPr lang="en-US" sz="10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118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45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500" b="1" kern="0" spc="-150" dirty="0">
                <a:solidFill>
                  <a:srgbClr val="075767"/>
                </a:solidFill>
                <a:latin typeface="Lato" pitchFamily="34" charset="0"/>
                <a:ea typeface="Lato" pitchFamily="34" charset="-122"/>
                <a:cs typeface="Lato" pitchFamily="34" charset="-120"/>
              </a:rPr>
              <a:t>Cas nº 2 : La chute de Marc, entrepôt de chantier</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Un récit volontairement saturé de jugements. Combien en trouvez-vous ?</a:t>
            </a:r>
            <a:endParaRPr lang="en-US" sz="1450" dirty="0"/>
          </a:p>
        </p:txBody>
      </p:sp>
      <p:sp>
        <p:nvSpPr>
          <p:cNvPr id="11" name="Text 9"/>
          <p:cNvSpPr txBox="1"/>
          <p:nvPr/>
        </p:nvSpPr>
        <p:spPr>
          <a:xfrm>
            <a:off x="731520" y="2487168"/>
            <a:ext cx="10728655" cy="3621024"/>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Ce matin-là, Marc, maçon, devait préparer le mortier. Il a pris un sac de ciment de 25 kg, porté à deux mains devant lui, pour rejoindre la bétonnière de l'autre côté de la zone de stockage.</a:t>
            </a:r>
            <a:endParaRPr lang="en-US" sz="140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Honnêtement, Marc est quelqu'un d'étourdi qui ne regarde jamais où il met les pieds, et comme d'habitude il était pressé.</a:t>
            </a:r>
            <a:endParaRPr lang="en-US" sz="140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En portant le sac de cette façon, il n'avait pas la vue dégagée sur le sol devant lui.</a:t>
            </a:r>
            <a:endParaRPr lang="en-US" sz="140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Dans la zone de passage se trouvait une plaque de coffrage posée à plat, laissée là par un autre ouvrier après un décoffrage, ce collègue est d'ailleurs réputé négligent.</a:t>
            </a:r>
            <a:endParaRPr lang="en-US" sz="140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sol était boueux à cause de la pluie de la nuit. Aucune zone de circulation n'était matérialisée, mais il faut dire que ça a toujours été mal organisé ici.</a:t>
            </a:r>
            <a:endParaRPr lang="en-US" sz="140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Marc a posé le pied sur la plaque, qui a glissé. Il a chuté vers l'avant et s'est réceptionné sur la main droite : fracture du poignet, 30 jours d'arrêt.</a:t>
            </a:r>
            <a:endParaRPr lang="en-US" sz="140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Il portait pourtant ses chaussures de sécurité. De toute façon, ce genre d'accident finit toujours par arriver aux gens distraits.</a:t>
            </a:r>
            <a:endParaRPr lang="en-US" sz="14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1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1"/>
          <p:cNvSpPr/>
          <p:nvPr/>
        </p:nvSpPr>
        <p:spPr>
          <a:xfrm>
            <a:off x="10591495" y="6181344"/>
            <a:ext cx="438912" cy="438912"/>
          </a:xfrm>
          <a:prstGeom prst="ellipse">
            <a:avLst/>
          </a:prstGeom>
          <a:solidFill>
            <a:srgbClr val="F06C23"/>
          </a:solidFill>
          <a:ln/>
        </p:spPr>
        <p:txBody>
          <a:bodyPr/>
          <a:lstStyle/>
          <a:p>
            <a:endParaRPr/>
          </a:p>
        </p:txBody>
      </p:sp>
      <p:sp>
        <p:nvSpPr>
          <p:cNvPr id="15" name="Text 1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16" name="Text 1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119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700" b="1" kern="0" spc="-150" dirty="0">
                <a:solidFill>
                  <a:srgbClr val="075767"/>
                </a:solidFill>
                <a:latin typeface="Lato" pitchFamily="34" charset="0"/>
                <a:ea typeface="Lato" pitchFamily="34" charset="-122"/>
                <a:cs typeface="Lato" pitchFamily="34" charset="-120"/>
              </a:rPr>
              <a:t>Cas nº 3 : Le doigt de Patrick, monteur-câbleur</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Récit à retravailler en groupe.</a:t>
            </a:r>
            <a:endParaRPr lang="en-US" sz="1450" dirty="0"/>
          </a:p>
        </p:txBody>
      </p:sp>
      <p:sp>
        <p:nvSpPr>
          <p:cNvPr id="11" name="Text 9"/>
          <p:cNvSpPr txBox="1"/>
          <p:nvPr/>
        </p:nvSpPr>
        <p:spPr>
          <a:xfrm>
            <a:off x="731520" y="2487168"/>
            <a:ext cx="10728655"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Patrick, monteur-câbleur, possède une grande expérience du métier.</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 jour de l'accident, il disquait un coffret à l'extérieur de l'usine : l'usine étant comme toujours très chargée, il a dû travailler dehors, en pleine exposition au soleil.</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Il faisait très chaud et, aucun équipement de travail n'étant présent à l'extérieur, l'opération s'est faite à même le sol.</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L'opération était urgente.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Patrick a disqué le coffret à genoux. Le coffret, non solidaire d'un point fixe, a glissé, entraînant son doigt sur le disque en mouvement.</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Comme d'habitude, Patrick ne portait pas ses gants de travail : la chaleur en rendait le port inconfortable.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L'accident a entraîné une rupture des tendons du pouce gauche et six semaines d'arrêt.</a:t>
            </a:r>
            <a:endParaRPr lang="en-US" sz="14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1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1"/>
          <p:cNvSpPr/>
          <p:nvPr/>
        </p:nvSpPr>
        <p:spPr>
          <a:xfrm>
            <a:off x="10591495" y="6181344"/>
            <a:ext cx="438912" cy="438912"/>
          </a:xfrm>
          <a:prstGeom prst="ellipse">
            <a:avLst/>
          </a:prstGeom>
          <a:solidFill>
            <a:srgbClr val="F06C23"/>
          </a:solidFill>
          <a:ln/>
        </p:spPr>
        <p:txBody>
          <a:bodyPr/>
          <a:lstStyle/>
          <a:p>
            <a:endParaRPr/>
          </a:p>
        </p:txBody>
      </p:sp>
      <p:sp>
        <p:nvSpPr>
          <p:cNvPr id="15" name="Text 1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16" name="Text 1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120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900" b="1" kern="0" spc="-150" dirty="0">
                <a:solidFill>
                  <a:srgbClr val="075767"/>
                </a:solidFill>
                <a:latin typeface="Lato" pitchFamily="34" charset="0"/>
                <a:ea typeface="Lato" pitchFamily="34" charset="-122"/>
                <a:cs typeface="Lato" pitchFamily="34" charset="-120"/>
              </a:rPr>
              <a:t>Cas nº 4 : le bras de Thierry, technicien gaz</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Récit à retravailler en groupe.</a:t>
            </a:r>
            <a:endParaRPr lang="en-US" sz="1450" dirty="0"/>
          </a:p>
        </p:txBody>
      </p:sp>
      <p:sp>
        <p:nvSpPr>
          <p:cNvPr id="11" name="Text 9"/>
          <p:cNvSpPr txBox="1"/>
          <p:nvPr/>
        </p:nvSpPr>
        <p:spPr>
          <a:xfrm>
            <a:off x="731520" y="2487168"/>
            <a:ext cx="10728655"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Thierry, technicien gaz, possède une grande expérience métier.</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 jour de l'accident, il travaillait en exposition directe au soleil ; le chantier se déroulait en juillet, la température était très élevée.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 chantier était prévu de 13 h 30 à 16 h 00. L'acte technique consistait, dans une fouille, à souder un piquage pour obturer et supprimer l'extrémité d'un réseau gaz.</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À ses dires, en sueur, il ne supportait pas ses vêtements de travail très épais : il avait l'habitude de travailler sur ce type de chantier en simple polo.</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Lors de l'obturation, une pièce est restée bloquée dans le tuyau, l'amenant à réaliser une « chasse » pour extraire le corps bloqué. La machine est très vétuste.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Lors de la chasse, de la limaille de fer éjectée du tuyau s'est introduite dans son bras droit.</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Quatre mois d'arrêt de travail et une opération pour extraire les corps étrangers.</a:t>
            </a:r>
            <a:endParaRPr lang="en-US" sz="14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1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1"/>
          <p:cNvSpPr/>
          <p:nvPr/>
        </p:nvSpPr>
        <p:spPr>
          <a:xfrm>
            <a:off x="10591495" y="6181344"/>
            <a:ext cx="438912" cy="438912"/>
          </a:xfrm>
          <a:prstGeom prst="ellipse">
            <a:avLst/>
          </a:prstGeom>
          <a:solidFill>
            <a:srgbClr val="F06C23"/>
          </a:solidFill>
          <a:ln/>
        </p:spPr>
        <p:txBody>
          <a:bodyPr/>
          <a:lstStyle/>
          <a:p>
            <a:endParaRPr/>
          </a:p>
        </p:txBody>
      </p:sp>
      <p:sp>
        <p:nvSpPr>
          <p:cNvPr id="15" name="Text 1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16" name="Text 1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121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400" b="1" kern="0" spc="-150" dirty="0">
                <a:solidFill>
                  <a:srgbClr val="075767"/>
                </a:solidFill>
                <a:latin typeface="Lato" pitchFamily="34" charset="0"/>
                <a:ea typeface="Lato" pitchFamily="34" charset="-122"/>
                <a:cs typeface="Lato" pitchFamily="34" charset="-120"/>
              </a:rPr>
              <a:t>Cas nº 5 : L'accident de Jean, technicien d'astreinte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Un cas de risque routier professionnel, avec un dommage à un tiers.</a:t>
            </a:r>
            <a:endParaRPr lang="en-US" sz="1450" dirty="0"/>
          </a:p>
        </p:txBody>
      </p:sp>
      <p:sp>
        <p:nvSpPr>
          <p:cNvPr id="11" name="Text 9"/>
          <p:cNvSpPr txBox="1"/>
          <p:nvPr/>
        </p:nvSpPr>
        <p:spPr>
          <a:xfrm>
            <a:off x="731520" y="2487168"/>
            <a:ext cx="10728655"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Jean assure une activité comportant une astreinte : il doit être joignable en permanence, à son domicile, au bureau ou en voiture.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 règle interne est claire : téléphone au volant uniquement en Bluetooth ; lors d'un appel d'astreinte, il doit répondre pour indiquer qu'il va se garer.</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 nombre d'interventions augmente. En plus de l'astreinte, Jean assure des mises en service dans la journée ; il téléphone en permanence pour prévenir de son arrivée chez les clients, comme les procédures le prévoient.</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 16 mars, à 9 h 25, son chef l'appelle pour qu'il se rende sur un chantier rapporter du matériel aux collègues.</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À 9 h 26, en conversation téléphonique, il règle son GPS. En deux secondes d'inattention, il renverse un enfant, gravement blessé.</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Jean est toujours en arrêt de travail : syndrome post-traumatique.</a:t>
            </a:r>
            <a:endParaRPr lang="en-US" sz="14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1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1"/>
          <p:cNvSpPr/>
          <p:nvPr/>
        </p:nvSpPr>
        <p:spPr>
          <a:xfrm>
            <a:off x="10591495" y="6181344"/>
            <a:ext cx="438912" cy="438912"/>
          </a:xfrm>
          <a:prstGeom prst="ellipse">
            <a:avLst/>
          </a:prstGeom>
          <a:solidFill>
            <a:srgbClr val="F06C23"/>
          </a:solidFill>
          <a:ln/>
        </p:spPr>
        <p:txBody>
          <a:bodyPr/>
          <a:lstStyle/>
          <a:p>
            <a:endParaRPr/>
          </a:p>
        </p:txBody>
      </p:sp>
      <p:sp>
        <p:nvSpPr>
          <p:cNvPr id="15" name="Text 1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16" name="Text 1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122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Cas nº 6 : L'entorse en entrepôt logistique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Récit à la première personne, tel que recueilli.</a:t>
            </a:r>
            <a:endParaRPr lang="en-US" sz="1450" dirty="0"/>
          </a:p>
        </p:txBody>
      </p:sp>
      <p:sp>
        <p:nvSpPr>
          <p:cNvPr id="11" name="Text 9"/>
          <p:cNvSpPr txBox="1"/>
          <p:nvPr/>
        </p:nvSpPr>
        <p:spPr>
          <a:xfrm>
            <a:off x="731520" y="2487168"/>
            <a:ext cx="10728655"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 Alors que je travaillais dans l'entrepôt logistique, j'ai été chargé de déplacer un gros carton vers une étagère élevée.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En soulevant le carton, je ressentais déjà une tension dans mon dos.</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Mais alors que je me déplaçais, mon pied a glissé sur une surface irrégulière et mon poids s'est brusquement reporté sur ma cheville.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Une douleur aiguë a déchiré ma jambe, et j'ai senti une torsion au niveau de la cheville. Le carton m'a échappé des mains.</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Mes collègues se sont précipités pour m'aider. Ils ont alerté le responsable sécurité, qui m'a dirigé vers le service médical de l'entreprise. »</a:t>
            </a:r>
            <a:endParaRPr lang="en-US" sz="1400" dirty="0"/>
          </a:p>
        </p:txBody>
      </p:sp>
      <p:grpSp>
        <p:nvGrpSpPr>
          <p:cNvPr id="9163" name="Bloc 3"/>
          <p:cNvGrpSpPr/>
          <p:nvPr/>
        </p:nvGrpSpPr>
        <p:grpSpPr>
          <a:xfrm>
            <a:off x="731520" y="4956048"/>
            <a:ext cx="10728655" cy="841248"/>
            <a:chOff x="731520" y="4956048"/>
            <a:chExt cx="10728655" cy="841248"/>
          </a:xfrm>
        </p:grpSpPr>
        <p:sp>
          <p:nvSpPr>
            <p:cNvPr id="12" name="Shape 10"/>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point de départ   </a:t>
              </a:r>
              <a:r>
                <a:rPr lang="en-US" sz="1300" dirty="0">
                  <a:solidFill>
                    <a:srgbClr val="075767"/>
                  </a:solidFill>
                  <a:latin typeface="Lato" pitchFamily="34" charset="0"/>
                  <a:ea typeface="Lato" pitchFamily="34" charset="-122"/>
                  <a:cs typeface="Lato" pitchFamily="34" charset="-120"/>
                </a:rPr>
                <a:t>quels faits manquent ici pour construire l'arbre ? Poids du carton, hauteur de l'étagère, nature de la surface irrégulière, moyens de manutention disponibles.</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123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63"/>
                                        </p:tgtEl>
                                        <p:attrNameLst>
                                          <p:attrName>style.visibility</p:attrName>
                                        </p:attrNameLst>
                                      </p:cBhvr>
                                      <p:to>
                                        <p:strVal val="visible"/>
                                      </p:to>
                                    </p:set>
                                    <p:animEffect transition="in" filter="fade">
                                      <p:cBhvr>
                                        <p:cTn id="17" dur="450"/>
                                        <p:tgtEl>
                                          <p:spTgt spid="9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Construire l'arbre : le questionnement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La question, toujours la même</a:t>
            </a:r>
            <a:endParaRPr lang="en-US" sz="1700" dirty="0"/>
          </a:p>
        </p:txBody>
      </p:sp>
      <p:sp>
        <p:nvSpPr>
          <p:cNvPr id="11" name="Text 9"/>
          <p:cNvSpPr txBox="1"/>
          <p:nvPr/>
        </p:nvSpPr>
        <p:spPr>
          <a:xfrm>
            <a:off x="73152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 Qu'a-t-il fallu pour que… ? »</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Puis : « est-ce suffisant ? »</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Si oui, on remonte d'un cran</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Si non, il manque un fait : on le cherche</a:t>
            </a:r>
            <a:endParaRPr lang="en-US" sz="1350" dirty="0"/>
          </a:p>
        </p:txBody>
      </p:sp>
      <p:sp>
        <p:nvSpPr>
          <p:cNvPr id="12" name="Text 10"/>
          <p:cNvSpPr txBox="1"/>
          <p:nvPr/>
        </p:nvSpPr>
        <p:spPr>
          <a:xfrm>
            <a:off x="630936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Exemple</a:t>
            </a:r>
            <a:endParaRPr lang="en-US" sz="1700" dirty="0"/>
          </a:p>
        </p:txBody>
      </p:sp>
      <p:sp>
        <p:nvSpPr>
          <p:cNvPr id="13" name="Text 11"/>
          <p:cNvSpPr txBox="1"/>
          <p:nvPr/>
        </p:nvSpPr>
        <p:spPr>
          <a:xfrm>
            <a:off x="630936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Qu'a-t-il fallu pour que Jean subisse un syndrome post-traumatique ?</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Qu'il renverse un enfant. Est-ce suffisant ? Oui.</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Qu'a-t-il fallu pour qu'il renverse un enfant ?</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Qu'il soit en conversation téléphonique et règle son GPS. Est-ce suffisant ? Non, il faut aussi qu'il conduise, et que l'appel arrive à ce moment.</a:t>
            </a:r>
            <a:endParaRPr lang="en-US" sz="1350" dirty="0"/>
          </a:p>
        </p:txBody>
      </p:sp>
      <p:grpSp>
        <p:nvGrpSpPr>
          <p:cNvPr id="9164" name="Bloc 5"/>
          <p:cNvGrpSpPr/>
          <p:nvPr/>
        </p:nvGrpSpPr>
        <p:grpSpPr>
          <a:xfrm>
            <a:off x="731520" y="4956048"/>
            <a:ext cx="10728655" cy="841248"/>
            <a:chOff x="731520" y="4956048"/>
            <a:chExt cx="10728655" cy="841248"/>
          </a:xfrm>
        </p:grpSpPr>
        <p:sp>
          <p:nvSpPr>
            <p:cNvPr id="14" name="Shape 12"/>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5" name="Text 13"/>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La discipline   </a:t>
              </a:r>
              <a:r>
                <a:rPr lang="en-US" sz="1300" dirty="0">
                  <a:solidFill>
                    <a:srgbClr val="075767"/>
                  </a:solidFill>
                  <a:latin typeface="Lato" pitchFamily="34" charset="0"/>
                  <a:ea typeface="Lato" pitchFamily="34" charset="-122"/>
                  <a:cs typeface="Lato" pitchFamily="34" charset="-120"/>
                </a:rPr>
                <a:t>on ne passe au maillon suivant que lorsque la réponse à « est-ce suffisant ? » est oui. C'est ce qui empêche l'arbre de sauter des causes.</a:t>
              </a:r>
              <a:endParaRPr lang="en-US" sz="1250" dirty="0"/>
            </a:p>
          </p:txBody>
        </p:sp>
      </p:grpSp>
      <p:pic>
        <p:nvPicPr>
          <p:cNvPr id="16"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7"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5"/>
          <p:cNvSpPr/>
          <p:nvPr/>
        </p:nvSpPr>
        <p:spPr>
          <a:xfrm>
            <a:off x="10591495" y="6181344"/>
            <a:ext cx="438912" cy="438912"/>
          </a:xfrm>
          <a:prstGeom prst="ellipse">
            <a:avLst/>
          </a:prstGeom>
          <a:solidFill>
            <a:srgbClr val="F06C23"/>
          </a:solidFill>
          <a:ln/>
        </p:spPr>
        <p:txBody>
          <a:bodyPr/>
          <a:lstStyle/>
          <a:p>
            <a:endParaRPr/>
          </a:p>
        </p:txBody>
      </p:sp>
      <p:sp>
        <p:nvSpPr>
          <p:cNvPr id="19"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20"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124</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164"/>
                                        </p:tgtEl>
                                        <p:attrNameLst>
                                          <p:attrName>style.visibility</p:attrName>
                                        </p:attrNameLst>
                                      </p:cBhvr>
                                      <p:to>
                                        <p:strVal val="visible"/>
                                      </p:to>
                                    </p:set>
                                    <p:animEffect transition="in" filter="fade">
                                      <p:cBhvr>
                                        <p:cTn id="27" dur="450"/>
                                        <p:tgtEl>
                                          <p:spTgt spid="9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trois liaisons de l'arbre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grpSp>
        <p:nvGrpSpPr>
          <p:cNvPr id="9165" name="Bloc 1"/>
          <p:cNvGrpSpPr/>
          <p:nvPr/>
        </p:nvGrpSpPr>
        <p:grpSpPr>
          <a:xfrm>
            <a:off x="731520" y="1965960"/>
            <a:ext cx="3332378" cy="3108960"/>
            <a:chOff x="731520" y="1965960"/>
            <a:chExt cx="3332378" cy="3108960"/>
          </a:xfrm>
        </p:grpSpPr>
        <p:sp>
          <p:nvSpPr>
            <p:cNvPr id="10" name="Shape 8"/>
            <p:cNvSpPr/>
            <p:nvPr/>
          </p:nvSpPr>
          <p:spPr>
            <a:xfrm>
              <a:off x="731520" y="1965960"/>
              <a:ext cx="3332378" cy="3108960"/>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rout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Enchaînement</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Un seul fait a suffi à produire le suivant. On écrit X → Y.</a:t>
              </a:r>
              <a:endParaRPr lang="en-US" sz="1250" dirty="0"/>
            </a:p>
          </p:txBody>
        </p:sp>
      </p:grpSp>
      <p:grpSp>
        <p:nvGrpSpPr>
          <p:cNvPr id="9166"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equipe-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Conjonction</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Plusieurs faits ont été nécessaires ensemble pour produire le suivant. Tous doivent être réunis.</a:t>
              </a:r>
              <a:endParaRPr lang="en-US" sz="1250" dirty="0"/>
            </a:p>
          </p:txBody>
        </p:sp>
      </p:grpSp>
      <p:grpSp>
        <p:nvGrpSpPr>
          <p:cNvPr id="9167" name="Bloc 3"/>
          <p:cNvGrpSpPr/>
          <p:nvPr/>
        </p:nvGrpSpPr>
        <p:grpSpPr>
          <a:xfrm>
            <a:off x="8127797" y="1965960"/>
            <a:ext cx="3332378" cy="3108960"/>
            <a:chOff x="8127797" y="1965960"/>
            <a:chExt cx="3332378" cy="3108960"/>
          </a:xfrm>
        </p:grpSpPr>
        <p:sp>
          <p:nvSpPr>
            <p:cNvPr id="20" name="Shape 16"/>
            <p:cNvSpPr/>
            <p:nvPr/>
          </p:nvSpPr>
          <p:spPr>
            <a:xfrm>
              <a:off x="8127797" y="1965960"/>
              <a:ext cx="3332378" cy="3108960"/>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dialogue-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Disjonction</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Un même fait a produit plusieurs conséquences distinctes. L'arbre se ramifie.</a:t>
              </a:r>
              <a:endParaRPr lang="en-US" sz="1250" dirty="0"/>
            </a:p>
          </p:txBody>
        </p:sp>
      </p:grpSp>
      <p:grpSp>
        <p:nvGrpSpPr>
          <p:cNvPr id="9168" name="Bloc 4"/>
          <p:cNvGrpSpPr/>
          <p:nvPr/>
        </p:nvGrpSpPr>
        <p:grpSpPr>
          <a:xfrm>
            <a:off x="731520" y="5257800"/>
            <a:ext cx="10728655" cy="841248"/>
            <a:chOff x="731520" y="5257800"/>
            <a:chExt cx="10728655" cy="841248"/>
          </a:xfrm>
        </p:grpSpPr>
        <p:sp>
          <p:nvSpPr>
            <p:cNvPr id="25" name="Shape 20"/>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26" name="Text 21"/>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Pourquoi ça compte   </a:t>
              </a:r>
              <a:r>
                <a:rPr lang="en-US" sz="1300" dirty="0">
                  <a:solidFill>
                    <a:srgbClr val="075767"/>
                  </a:solidFill>
                  <a:latin typeface="Lato" pitchFamily="34" charset="0"/>
                  <a:ea typeface="Lato" pitchFamily="34" charset="-122"/>
                  <a:cs typeface="Lato" pitchFamily="34" charset="-120"/>
                </a:rPr>
                <a:t>sur une conjonction, supprimer un seul des faits suffit à empêcher l'accident. C'est là qu'il faut chercher la mesure la moins coûteuse et la plus efficace.</a:t>
              </a:r>
              <a:endParaRPr lang="en-US" sz="1250" dirty="0"/>
            </a:p>
          </p:txBody>
        </p:sp>
      </p:grpSp>
      <p:pic>
        <p:nvPicPr>
          <p:cNvPr id="27"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8"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9" name="Shape 23"/>
          <p:cNvSpPr/>
          <p:nvPr/>
        </p:nvSpPr>
        <p:spPr>
          <a:xfrm>
            <a:off x="10591495" y="6181344"/>
            <a:ext cx="438912" cy="438912"/>
          </a:xfrm>
          <a:prstGeom prst="ellipse">
            <a:avLst/>
          </a:prstGeom>
          <a:solidFill>
            <a:srgbClr val="F06C23"/>
          </a:solidFill>
          <a:ln/>
        </p:spPr>
        <p:txBody>
          <a:bodyPr/>
          <a:lstStyle/>
          <a:p>
            <a:endParaRPr/>
          </a:p>
        </p:txBody>
      </p:sp>
      <p:sp>
        <p:nvSpPr>
          <p:cNvPr id="30"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31"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125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65"/>
                                        </p:tgtEl>
                                        <p:attrNameLst>
                                          <p:attrName>style.visibility</p:attrName>
                                        </p:attrNameLst>
                                      </p:cBhvr>
                                      <p:to>
                                        <p:strVal val="visible"/>
                                      </p:to>
                                    </p:set>
                                    <p:animEffect transition="in" filter="fade">
                                      <p:cBhvr>
                                        <p:cTn id="7" dur="450"/>
                                        <p:tgtEl>
                                          <p:spTgt spid="91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66"/>
                                        </p:tgtEl>
                                        <p:attrNameLst>
                                          <p:attrName>style.visibility</p:attrName>
                                        </p:attrNameLst>
                                      </p:cBhvr>
                                      <p:to>
                                        <p:strVal val="visible"/>
                                      </p:to>
                                    </p:set>
                                    <p:animEffect transition="in" filter="fade">
                                      <p:cBhvr>
                                        <p:cTn id="12" dur="450"/>
                                        <p:tgtEl>
                                          <p:spTgt spid="91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67"/>
                                        </p:tgtEl>
                                        <p:attrNameLst>
                                          <p:attrName>style.visibility</p:attrName>
                                        </p:attrNameLst>
                                      </p:cBhvr>
                                      <p:to>
                                        <p:strVal val="visible"/>
                                      </p:to>
                                    </p:set>
                                    <p:animEffect transition="in" filter="fade">
                                      <p:cBhvr>
                                        <p:cTn id="17" dur="450"/>
                                        <p:tgtEl>
                                          <p:spTgt spid="91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68"/>
                                        </p:tgtEl>
                                        <p:attrNameLst>
                                          <p:attrName>style.visibility</p:attrName>
                                        </p:attrNameLst>
                                      </p:cBhvr>
                                      <p:to>
                                        <p:strVal val="visible"/>
                                      </p:to>
                                    </p:set>
                                    <p:animEffect transition="in" filter="fade">
                                      <p:cBhvr>
                                        <p:cTn id="22" dur="450"/>
                                        <p:tgtEl>
                                          <p:spTgt spid="9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Construire un arbre des causes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L'analyse des accidents du travail</a:t>
            </a:r>
            <a:endParaRPr lang="en-US" sz="1400" dirty="0"/>
          </a:p>
        </p:txBody>
      </p:sp>
      <p:grpSp>
        <p:nvGrpSpPr>
          <p:cNvPr id="9169" name="Bloc 1"/>
          <p:cNvGrpSpPr/>
          <p:nvPr/>
        </p:nvGrpSpPr>
        <p:grpSpPr>
          <a:xfrm>
            <a:off x="731520" y="1828800"/>
            <a:ext cx="10728655" cy="3977640"/>
            <a:chOff x="731520" y="1828800"/>
            <a:chExt cx="10728655" cy="3977640"/>
          </a:xfrm>
        </p:grpSpPr>
        <p:sp>
          <p:nvSpPr>
            <p:cNvPr id="10" name="Shape 8"/>
            <p:cNvSpPr/>
            <p:nvPr/>
          </p:nvSpPr>
          <p:spPr>
            <a:xfrm>
              <a:off x="731520" y="1828800"/>
              <a:ext cx="10728655" cy="3977640"/>
            </a:xfrm>
            <a:prstGeom prst="roundRect">
              <a:avLst>
                <a:gd name="adj" fmla="val 1379"/>
              </a:avLst>
            </a:prstGeom>
            <a:solidFill>
              <a:srgbClr val="F2F2F2"/>
            </a:solidFill>
            <a:ln/>
          </p:spPr>
          <p:txBody>
            <a:bodyPr/>
            <a:lstStyle/>
            <a:p>
              <a:endParaRPr/>
            </a:p>
          </p:txBody>
        </p:sp>
        <p:sp>
          <p:nvSpPr>
            <p:cNvPr id="11" name="Shape 9"/>
            <p:cNvSpPr/>
            <p:nvPr/>
          </p:nvSpPr>
          <p:spPr>
            <a:xfrm>
              <a:off x="1097280" y="2121408"/>
              <a:ext cx="777240" cy="777240"/>
            </a:xfrm>
            <a:prstGeom prst="ellipse">
              <a:avLst/>
            </a:prstGeom>
            <a:solidFill>
              <a:srgbClr val="F06C23"/>
            </a:solidFill>
            <a:ln/>
          </p:spPr>
          <p:txBody>
            <a:bodyPr/>
            <a:lstStyle/>
            <a:p>
              <a:endParaRPr/>
            </a:p>
          </p:txBody>
        </p:sp>
        <p:pic>
          <p:nvPicPr>
            <p:cNvPr id="12" name="Image 0" descr="/home/claude/tmo/build/ico/equipe-blanc.png"/>
            <p:cNvPicPr>
              <a:picLocks noChangeAspect="1"/>
            </p:cNvPicPr>
            <p:nvPr/>
          </p:nvPicPr>
          <p:blipFill>
            <a:blip r:embed="rId3"/>
            <a:stretch>
              <a:fillRect/>
            </a:stretch>
          </p:blipFill>
          <p:spPr>
            <a:xfrm>
              <a:off x="1299362" y="2323490"/>
              <a:ext cx="373075" cy="373075"/>
            </a:xfrm>
            <a:prstGeom prst="rect">
              <a:avLst/>
            </a:prstGeom>
          </p:spPr>
        </p:pic>
        <p:sp>
          <p:nvSpPr>
            <p:cNvPr id="13" name="Shape 10"/>
            <p:cNvSpPr/>
            <p:nvPr/>
          </p:nvSpPr>
          <p:spPr>
            <a:xfrm>
              <a:off x="8854135" y="2139696"/>
              <a:ext cx="2240280" cy="457200"/>
            </a:xfrm>
            <a:prstGeom prst="roundRect">
              <a:avLst>
                <a:gd name="adj" fmla="val 24000"/>
              </a:avLst>
            </a:prstGeom>
            <a:solidFill>
              <a:srgbClr val="075767"/>
            </a:solidFill>
            <a:ln/>
          </p:spPr>
          <p:txBody>
            <a:bodyPr/>
            <a:lstStyle/>
            <a:p>
              <a:endParaRPr/>
            </a:p>
          </p:txBody>
        </p:sp>
        <p:sp>
          <p:nvSpPr>
            <p:cNvPr id="14" name="Text 11"/>
            <p:cNvSpPr txBox="1"/>
            <p:nvPr/>
          </p:nvSpPr>
          <p:spPr>
            <a:xfrm>
              <a:off x="8854135" y="2139696"/>
              <a:ext cx="22402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Lato" pitchFamily="34" charset="0"/>
                  <a:ea typeface="Lato" pitchFamily="34" charset="-122"/>
                  <a:cs typeface="Lato" pitchFamily="34" charset="-120"/>
                </a:rPr>
                <a:t>45'</a:t>
              </a:r>
              <a:endParaRPr lang="en-US" sz="1250" dirty="0"/>
            </a:p>
          </p:txBody>
        </p:sp>
        <p:sp>
          <p:nvSpPr>
            <p:cNvPr id="15" name="Text 12"/>
            <p:cNvSpPr txBox="1"/>
            <p:nvPr/>
          </p:nvSpPr>
          <p:spPr>
            <a:xfrm>
              <a:off x="2103120" y="2084832"/>
              <a:ext cx="4572000" cy="274320"/>
            </a:xfrm>
            <a:prstGeom prst="rect">
              <a:avLst/>
            </a:prstGeom>
            <a:noFill/>
            <a:ln/>
          </p:spPr>
          <p:txBody>
            <a:bodyPr wrap="square" lIns="0" tIns="0" rIns="0" bIns="0" rtlCol="0" anchor="ctr"/>
            <a:lstStyle/>
            <a:p>
              <a:pPr marL="0" indent="0">
                <a:buNone/>
              </a:pPr>
              <a:r>
                <a:rPr lang="en-US" sz="1100" b="1" kern="0" spc="160" dirty="0">
                  <a:solidFill>
                    <a:srgbClr val="C33F14"/>
                  </a:solidFill>
                  <a:latin typeface="Lato" pitchFamily="34" charset="0"/>
                  <a:ea typeface="Lato" pitchFamily="34" charset="-122"/>
                  <a:cs typeface="Lato" pitchFamily="34" charset="-120"/>
                </a:rPr>
                <a:t>EXERCICE</a:t>
              </a:r>
              <a:endParaRPr lang="en-US" sz="1100" dirty="0"/>
            </a:p>
          </p:txBody>
        </p:sp>
        <p:sp>
          <p:nvSpPr>
            <p:cNvPr id="16" name="Text 13"/>
            <p:cNvSpPr txBox="1"/>
            <p:nvPr/>
          </p:nvSpPr>
          <p:spPr>
            <a:xfrm>
              <a:off x="2103120" y="2377440"/>
              <a:ext cx="6522415" cy="658368"/>
            </a:xfrm>
            <a:prstGeom prst="rect">
              <a:avLst/>
            </a:prstGeom>
            <a:noFill/>
            <a:ln/>
          </p:spPr>
          <p:txBody>
            <a:bodyPr wrap="square" lIns="0" tIns="0" rIns="0" bIns="0" rtlCol="0" anchor="t"/>
            <a:lstStyle/>
            <a:p>
              <a:pPr marL="0" indent="0">
                <a:lnSpc>
                  <a:spcPct val="110000"/>
                </a:lnSpc>
                <a:buNone/>
              </a:pPr>
              <a:r>
                <a:rPr lang="en-US" sz="1600" b="1" dirty="0">
                  <a:solidFill>
                    <a:srgbClr val="075767"/>
                  </a:solidFill>
                  <a:latin typeface="Lato" pitchFamily="34" charset="0"/>
                  <a:ea typeface="Lato" pitchFamily="34" charset="-122"/>
                  <a:cs typeface="Lato" pitchFamily="34" charset="-120"/>
                </a:rPr>
                <a:t>À partir de l'un des cas exposés, retranscrivez les causes selon la méthode THO, puis construisez l'arbre.</a:t>
              </a:r>
              <a:endParaRPr lang="en-US" sz="1600" dirty="0"/>
            </a:p>
          </p:txBody>
        </p:sp>
        <p:sp>
          <p:nvSpPr>
            <p:cNvPr id="17" name="Text 14"/>
            <p:cNvSpPr txBox="1"/>
            <p:nvPr/>
          </p:nvSpPr>
          <p:spPr>
            <a:xfrm>
              <a:off x="2103120" y="3127248"/>
              <a:ext cx="8716975" cy="25146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Étape 1 : Séparer les faits des jugements de valeur</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Étape 2 : Classer les faits : technique, humain, organisationnel</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Étape 3 : Construire l'arbre en remontant du dommage vers les causes racines</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Étape 4 : Proposer deux mesures de prévention, en indiquant à quel principe général chacune correspond</a:t>
              </a:r>
              <a:endParaRPr lang="en-US" sz="1400" dirty="0"/>
            </a:p>
          </p:txBody>
        </p:sp>
      </p:grpSp>
      <p:pic>
        <p:nvPicPr>
          <p:cNvPr id="18"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9" name="Text 15"/>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6"/>
          <p:cNvSpPr/>
          <p:nvPr/>
        </p:nvSpPr>
        <p:spPr>
          <a:xfrm>
            <a:off x="10591495" y="6181344"/>
            <a:ext cx="438912" cy="438912"/>
          </a:xfrm>
          <a:prstGeom prst="ellipse">
            <a:avLst/>
          </a:prstGeom>
          <a:solidFill>
            <a:srgbClr val="F06C23"/>
          </a:solidFill>
          <a:ln/>
        </p:spPr>
        <p:txBody>
          <a:bodyPr/>
          <a:lstStyle/>
          <a:p>
            <a:endParaRPr/>
          </a:p>
        </p:txBody>
      </p:sp>
      <p:sp>
        <p:nvSpPr>
          <p:cNvPr id="21" name="Text 17"/>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06</a:t>
            </a:r>
            <a:endParaRPr lang="en-US" sz="1100" dirty="0"/>
          </a:p>
        </p:txBody>
      </p:sp>
      <p:sp>
        <p:nvSpPr>
          <p:cNvPr id="22" name="Text 18"/>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126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69"/>
                                        </p:tgtEl>
                                        <p:attrNameLst>
                                          <p:attrName>style.visibility</p:attrName>
                                        </p:attrNameLst>
                                      </p:cBhvr>
                                      <p:to>
                                        <p:strVal val="visible"/>
                                      </p:to>
                                    </p:set>
                                    <p:animEffect transition="in" filter="fade">
                                      <p:cBhvr>
                                        <p:cTn id="7" dur="450"/>
                                        <p:tgtEl>
                                          <p:spTgt spid="9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name="Slide 108">
    <p:bg>
      <p:bgPr>
        <a:solidFill>
          <a:srgbClr val="075767"/>
        </a:solidFill>
        <a:effectLst/>
      </p:bgPr>
    </p:bg>
    <p:spTree>
      <p:nvGrpSpPr>
        <p:cNvPr id="1" name=""/>
        <p:cNvGrpSpPr/>
        <p:nvPr/>
      </p:nvGrpSpPr>
      <p:grpSpPr>
        <a:xfrm>
          <a:off x="0" y="0"/>
          <a:ext cx="0" cy="0"/>
          <a:chOff x="0" y="0"/>
          <a:chExt cx="0" cy="0"/>
        </a:xfrm>
      </p:grpSpPr>
      <p:sp>
        <p:nvSpPr>
          <p:cNvPr id="2" name="Shape 0"/>
          <p:cNvSpPr/>
          <p:nvPr/>
        </p:nvSpPr>
        <p:spPr>
          <a:xfrm rot="420000">
            <a:off x="5760720" y="-3749040"/>
            <a:ext cx="10972800" cy="8229600"/>
          </a:xfrm>
          <a:prstGeom prst="ellipse">
            <a:avLst/>
          </a:prstGeom>
          <a:solidFill>
            <a:srgbClr val="0A6C78"/>
          </a:solidFill>
          <a:ln/>
        </p:spPr>
        <p:txBody>
          <a:bodyPr/>
          <a:lstStyle/>
          <a:p>
            <a:endParaRPr/>
          </a:p>
        </p:txBody>
      </p:sp>
      <p:sp>
        <p:nvSpPr>
          <p:cNvPr id="3" name="Shape 1"/>
          <p:cNvSpPr/>
          <p:nvPr/>
        </p:nvSpPr>
        <p:spPr>
          <a:xfrm>
            <a:off x="868680" y="5788152"/>
            <a:ext cx="274320" cy="274320"/>
          </a:xfrm>
          <a:prstGeom prst="ellipse">
            <a:avLst/>
          </a:prstGeom>
          <a:solidFill>
            <a:srgbClr val="F06C23"/>
          </a:solidFill>
          <a:ln/>
        </p:spPr>
        <p:txBody>
          <a:bodyPr/>
          <a:lstStyle/>
          <a:p>
            <a:endParaRPr/>
          </a:p>
        </p:txBody>
      </p:sp>
      <p:sp>
        <p:nvSpPr>
          <p:cNvPr id="4" name="Shape 2"/>
          <p:cNvSpPr/>
          <p:nvPr/>
        </p:nvSpPr>
        <p:spPr>
          <a:xfrm>
            <a:off x="1353312" y="5943600"/>
            <a:ext cx="146304" cy="146304"/>
          </a:xfrm>
          <a:prstGeom prst="ellipse">
            <a:avLst/>
          </a:prstGeom>
          <a:solidFill>
            <a:srgbClr val="C1D5D9"/>
          </a:solidFill>
          <a:ln/>
        </p:spPr>
        <p:txBody>
          <a:bodyPr/>
          <a:lstStyle/>
          <a:p>
            <a:endParaRPr/>
          </a:p>
        </p:txBody>
      </p:sp>
      <p:sp>
        <p:nvSpPr>
          <p:cNvPr id="5" name="Shape 3"/>
          <p:cNvSpPr/>
          <p:nvPr/>
        </p:nvSpPr>
        <p:spPr>
          <a:xfrm>
            <a:off x="1645920" y="5650992"/>
            <a:ext cx="100584" cy="100584"/>
          </a:xfrm>
          <a:prstGeom prst="ellipse">
            <a:avLst/>
          </a:prstGeom>
          <a:solidFill>
            <a:srgbClr val="C1D5D9"/>
          </a:solidFill>
          <a:ln/>
        </p:spPr>
        <p:txBody>
          <a:bodyPr/>
          <a:lstStyle/>
          <a:p>
            <a:endParaRPr/>
          </a:p>
        </p:txBody>
      </p:sp>
      <p:sp>
        <p:nvSpPr>
          <p:cNvPr id="6" name="Text 4"/>
          <p:cNvSpPr txBox="1"/>
          <p:nvPr/>
        </p:nvSpPr>
        <p:spPr>
          <a:xfrm>
            <a:off x="822960" y="1325880"/>
            <a:ext cx="2377440" cy="1691640"/>
          </a:xfrm>
          <a:prstGeom prst="rect">
            <a:avLst/>
          </a:prstGeom>
          <a:noFill/>
          <a:ln/>
        </p:spPr>
        <p:txBody>
          <a:bodyPr wrap="square" lIns="0" tIns="0" rIns="0" bIns="0" rtlCol="0" anchor="t"/>
          <a:lstStyle/>
          <a:p>
            <a:pPr marL="0" indent="0">
              <a:buNone/>
            </a:pPr>
            <a:r>
              <a:rPr lang="en-US" sz="9600" b="1" kern="0" spc="-300" dirty="0">
                <a:solidFill>
                  <a:srgbClr val="F58B60"/>
                </a:solidFill>
                <a:latin typeface="Lato" pitchFamily="34" charset="0"/>
                <a:ea typeface="Lato" pitchFamily="34" charset="-122"/>
                <a:cs typeface="Lato" pitchFamily="34" charset="-120"/>
              </a:rPr>
              <a:t>07</a:t>
            </a:r>
            <a:endParaRPr lang="en-US" sz="9600" dirty="0"/>
          </a:p>
        </p:txBody>
      </p:sp>
      <p:sp>
        <p:nvSpPr>
          <p:cNvPr id="7" name="Text 5"/>
          <p:cNvSpPr txBox="1"/>
          <p:nvPr/>
        </p:nvSpPr>
        <p:spPr>
          <a:xfrm>
            <a:off x="868680" y="3017520"/>
            <a:ext cx="5303520" cy="1536192"/>
          </a:xfrm>
          <a:prstGeom prst="rect">
            <a:avLst/>
          </a:prstGeom>
          <a:noFill/>
          <a:ln/>
        </p:spPr>
        <p:txBody>
          <a:bodyPr wrap="square" lIns="0" tIns="0" rIns="0" bIns="0" rtlCol="0" anchor="t"/>
          <a:lstStyle/>
          <a:p>
            <a:pPr marL="0" indent="0">
              <a:buNone/>
            </a:pPr>
            <a:r>
              <a:rPr lang="en-US" sz="3400" b="1" kern="0" spc="-150" dirty="0">
                <a:solidFill>
                  <a:srgbClr val="FFFFFF"/>
                </a:solidFill>
                <a:latin typeface="Lato" pitchFamily="34" charset="0"/>
                <a:ea typeface="Lato" pitchFamily="34" charset="-122"/>
                <a:cs typeface="Lato" pitchFamily="34" charset="-120"/>
              </a:rPr>
              <a:t>L'inspection</a:t>
            </a:r>
            <a:endParaRPr lang="en-US" sz="3400" dirty="0"/>
          </a:p>
          <a:p>
            <a:pPr marL="0" indent="0">
              <a:buNone/>
            </a:pPr>
            <a:r>
              <a:rPr lang="en-US" sz="3400" b="1" kern="0" spc="-150" dirty="0">
                <a:solidFill>
                  <a:srgbClr val="FFFFFF"/>
                </a:solidFill>
                <a:latin typeface="Lato" pitchFamily="34" charset="0"/>
                <a:ea typeface="Lato" pitchFamily="34" charset="-122"/>
                <a:cs typeface="Lato" pitchFamily="34" charset="-120"/>
              </a:rPr>
              <a:t>CSSCT</a:t>
            </a:r>
            <a:endParaRPr lang="en-US" sz="3400" dirty="0"/>
          </a:p>
        </p:txBody>
      </p:sp>
      <p:sp>
        <p:nvSpPr>
          <p:cNvPr id="8" name="Text 6"/>
          <p:cNvSpPr txBox="1"/>
          <p:nvPr/>
        </p:nvSpPr>
        <p:spPr>
          <a:xfrm>
            <a:off x="868680" y="4023360"/>
            <a:ext cx="5029200" cy="914400"/>
          </a:xfrm>
          <a:prstGeom prst="rect">
            <a:avLst/>
          </a:prstGeom>
          <a:noFill/>
          <a:ln/>
        </p:spPr>
        <p:txBody>
          <a:bodyPr wrap="square" lIns="0" tIns="0" rIns="0" bIns="0" rtlCol="0" anchor="t"/>
          <a:lstStyle/>
          <a:p>
            <a:pPr marL="0" indent="0">
              <a:lnSpc>
                <a:spcPct val="115000"/>
              </a:lnSpc>
              <a:buNone/>
            </a:pPr>
            <a:r>
              <a:rPr lang="en-US" sz="1500" dirty="0">
                <a:solidFill>
                  <a:srgbClr val="C1D5D9"/>
                </a:solidFill>
                <a:latin typeface="Lato" pitchFamily="34" charset="0"/>
                <a:ea typeface="Lato" pitchFamily="34" charset="-122"/>
                <a:cs typeface="Lato" pitchFamily="34" charset="-120"/>
              </a:rPr>
              <a:t>Le seul moment où l'élu observe le travail réel. Encore faut-il le préparer.</a:t>
            </a:r>
            <a:endParaRPr lang="en-US" sz="1500" dirty="0"/>
          </a:p>
        </p:txBody>
      </p:sp>
      <p:sp>
        <p:nvSpPr>
          <p:cNvPr id="12" name="Rounded Rectangle 11"/>
          <p:cNvSpPr/>
          <p:nvPr/>
        </p:nvSpPr>
        <p:spPr>
          <a:xfrm>
            <a:off x="6711696" y="1316736"/>
            <a:ext cx="4892040" cy="448056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mage 0" descr="/home/claude/tmo/build/photos/p23.jpg"/>
          <p:cNvPicPr>
            <a:picLocks noChangeAspect="1"/>
          </p:cNvPicPr>
          <p:nvPr/>
        </p:nvPicPr>
        <p:blipFill>
          <a:blip r:embed="rId3"/>
          <a:srcRect/>
          <a:stretch/>
        </p:blipFill>
        <p:spPr>
          <a:xfrm>
            <a:off x="6583680" y="1188720"/>
            <a:ext cx="4892040" cy="4480560"/>
          </a:xfrm>
          <a:prstGeom prst="roundRect">
            <a:avLst>
              <a:gd name="adj" fmla="val 2200"/>
            </a:avLst>
          </a:prstGeom>
          <a:effectLst>
            <a:outerShdw blurRad="190500" dist="38100" dir="5400000" rotWithShape="0">
              <a:srgbClr val="075767">
                <a:alpha val="22000"/>
              </a:srgbClr>
            </a:outerShdw>
            <a:softEdge rad="32004"/>
          </a:effectLst>
        </p:spPr>
      </p:pic>
      <p:sp>
        <p:nvSpPr>
          <p:cNvPr id="10" name="Shape 7"/>
          <p:cNvSpPr/>
          <p:nvPr/>
        </p:nvSpPr>
        <p:spPr>
          <a:xfrm>
            <a:off x="10929823" y="6071616"/>
            <a:ext cx="603504" cy="603504"/>
          </a:xfrm>
          <a:prstGeom prst="ellipse">
            <a:avLst/>
          </a:prstGeom>
          <a:solidFill>
            <a:srgbClr val="FFFFFF"/>
          </a:solidFill>
          <a:ln/>
        </p:spPr>
        <p:txBody>
          <a:bodyPr/>
          <a:lstStyle/>
          <a:p>
            <a:endParaRPr/>
          </a:p>
        </p:txBody>
      </p:sp>
      <p:pic>
        <p:nvPicPr>
          <p:cNvPr id="11" name="Image 1" descr="/home/claude/tmo/build/logo.png"/>
          <p:cNvPicPr>
            <a:picLocks noChangeAspect="1"/>
          </p:cNvPicPr>
          <p:nvPr/>
        </p:nvPicPr>
        <p:blipFill>
          <a:blip r:embed="rId4"/>
          <a:stretch>
            <a:fillRect/>
          </a:stretch>
        </p:blipFill>
        <p:spPr>
          <a:xfrm>
            <a:off x="10957255" y="6099048"/>
            <a:ext cx="548640" cy="548640"/>
          </a:xfrm>
          <a:prstGeom prst="rect">
            <a:avLst/>
          </a:prstGeom>
        </p:spPr>
      </p:pic>
    </p:spTree>
  </p:cSld>
  <p:clrMapOvr>
    <a:masterClrMapping/>
  </p:clrMapOvr>
  <p:transition spd="med"/>
</p:sld>
</file>

<file path=ppt/slides/slide12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cadre réglementaire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L'inspection CSSCT</a:t>
            </a:r>
            <a:endParaRPr lang="en-US" sz="1400" dirty="0"/>
          </a:p>
        </p:txBody>
      </p:sp>
      <p:grpSp>
        <p:nvGrpSpPr>
          <p:cNvPr id="9170"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2312-13 (code du travail)</a:t>
              </a:r>
              <a:r>
                <a:rPr lang="en-US" sz="1400" b="1" u="sng" dirty="0">
                  <a:solidFill>
                    <a:srgbClr val="C33F14"/>
                  </a:solidFill>
                  <a:latin typeface="Lato" pitchFamily="34" charset="0"/>
                  <a:ea typeface="Lato" pitchFamily="34" charset="-122"/>
                  <a:cs typeface="Lato" pitchFamily="34" charset="-120"/>
                  <a:hlinkClick r:id="rId5" tooltip="Ouvrir sur Légifrance">
                    <a:extLst>
                      <a:ext uri="{A12FA001-AC4F-418D-AE19-62706E023703}">
                        <ahyp:hlinkClr xmlns:ahyp="http://schemas.microsoft.com/office/drawing/2018/hyperlinkcolor" val="tx"/>
                      </a:ext>
                    </a:extLst>
                  </a:hlinkClick>
                </a:rPr>
                <a:t>   ·   Article R. 2312-4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Le comité social et économique procède, à intervalles réguliers, à des inspections en matière de santé, de sécurité et des conditions de travail. Il réalise des enquêtes en matière d'accidents du travail ou de maladies professionnelles ou à caractère professionnel.</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4173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La fréquence des inspections est au moins égale à celle des réunions consacrées à la santé et à la sécurité, soit quatre par an au minimum</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C'est un plancher : un accord peut prévoir davantage, et rien n'interdit d'inspecter plus souvent</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temps passé en inspection est du temps de travail effectif, il ne s'impute pas sur les heures de délégation</a:t>
            </a:r>
            <a:endParaRPr lang="en-US" sz="1350" dirty="0"/>
          </a:p>
        </p:txBody>
      </p:sp>
      <p:pic>
        <p:nvPicPr>
          <p:cNvPr id="17" name="Image 1"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07</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128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70"/>
                                        </p:tgtEl>
                                        <p:attrNameLst>
                                          <p:attrName>style.visibility</p:attrName>
                                        </p:attrNameLst>
                                      </p:cBhvr>
                                      <p:to>
                                        <p:strVal val="visible"/>
                                      </p:to>
                                    </p:set>
                                    <p:animEffect transition="in" filter="fade">
                                      <p:cBhvr>
                                        <p:cTn id="7" dur="450"/>
                                        <p:tgtEl>
                                          <p:spTgt spid="9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Préparer l'inspection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L'inspection CSSCT</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Une inspection improvisée ne produit rien d'exploitable. Tout se joue avant.</a:t>
            </a:r>
            <a:endParaRPr lang="en-US" sz="1450" dirty="0"/>
          </a:p>
        </p:txBody>
      </p:sp>
      <p:sp>
        <p:nvSpPr>
          <p:cNvPr id="11" name="Text 9"/>
          <p:cNvSpPr txBox="1"/>
          <p:nvPr/>
        </p:nvSpPr>
        <p:spPr>
          <a:xfrm>
            <a:off x="731520" y="2487168"/>
            <a:ext cx="10728655"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Composer la délégation par une résolution du CSE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C'est le comité qui désigne, pas l'employeur</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Déterminer les thèmes à aborder</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En fonction de l'accidentologie, du contexte, des alertes et signalements reçus</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Construire une grille d'inspection</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Des questions fermées, vérifiables sur place, préparées à l'avance</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Fixer le planning et le secteur</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Prévoir le matériel</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Appareil photo, décibelmètre, luxmètre, mètre, souvent disponibles au service de prévention et de santé au travail</a:t>
            </a:r>
            <a:endParaRPr lang="en-US" sz="13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1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1"/>
          <p:cNvSpPr/>
          <p:nvPr/>
        </p:nvSpPr>
        <p:spPr>
          <a:xfrm>
            <a:off x="10591495" y="6181344"/>
            <a:ext cx="438912" cy="438912"/>
          </a:xfrm>
          <a:prstGeom prst="ellipse">
            <a:avLst/>
          </a:prstGeom>
          <a:solidFill>
            <a:srgbClr val="F06C23"/>
          </a:solidFill>
          <a:ln/>
        </p:spPr>
        <p:txBody>
          <a:bodyPr/>
          <a:lstStyle/>
          <a:p>
            <a:endParaRPr/>
          </a:p>
        </p:txBody>
      </p:sp>
      <p:sp>
        <p:nvSpPr>
          <p:cNvPr id="15" name="Text 1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07</a:t>
            </a:r>
            <a:endParaRPr lang="en-US" sz="1100" dirty="0"/>
          </a:p>
        </p:txBody>
      </p:sp>
      <p:sp>
        <p:nvSpPr>
          <p:cNvPr id="16" name="Text 1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129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Dérouler l'inspection, et après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L'inspection CSSCT</a:t>
            </a:r>
            <a:endParaRPr lang="en-US" sz="1400" dirty="0"/>
          </a:p>
        </p:txBody>
      </p:sp>
      <p:sp>
        <p:nvSpPr>
          <p:cNvPr id="10" name="Text 8"/>
          <p:cNvSpPr txBox="1"/>
          <p:nvPr/>
        </p:nvSpPr>
        <p:spPr>
          <a:xfrm>
            <a:off x="731520" y="1828800"/>
            <a:ext cx="6035040" cy="29718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Informer les salariés en amont</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Une inspection surprise met les équipes en défense et fausse ce qu'on observe</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Se faire aider si nécessaire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Médecin du travail, agent de contrôle de la CARSAT, agent de l'inspection du travail</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Rédiger un compte rendu</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Sans écrit, l'inspection n'a pas eu lieu : c'est le compte rendu qui alimente le DUERP et le PAPRIPACT</a:t>
            </a:r>
            <a:endParaRPr lang="en-US" sz="1400" dirty="0"/>
          </a:p>
        </p:txBody>
      </p:sp>
      <p:grpSp>
        <p:nvGrpSpPr>
          <p:cNvPr id="9171" name="Bloc 2"/>
          <p:cNvGrpSpPr/>
          <p:nvPr/>
        </p:nvGrpSpPr>
        <p:grpSpPr>
          <a:xfrm>
            <a:off x="7223760" y="1828800"/>
            <a:ext cx="4334256" cy="3282696"/>
            <a:chOff x="7223760" y="1828800"/>
            <a:chExt cx="4334256" cy="3282696"/>
          </a:xfrm>
        </p:grpSpPr>
        <p:sp>
          <p:nvSpPr>
            <p:cNvPr id="20" name="Rounded Rectangle 19"/>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mage 0" descr="/home/claude/tmo/build/photos/p24.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172" name="Bloc 3"/>
          <p:cNvGrpSpPr/>
          <p:nvPr/>
        </p:nvGrpSpPr>
        <p:grpSpPr>
          <a:xfrm>
            <a:off x="731520" y="4956048"/>
            <a:ext cx="10728655" cy="841248"/>
            <a:chOff x="731520" y="4956048"/>
            <a:chExt cx="10728655" cy="841248"/>
          </a:xfrm>
        </p:grpSpPr>
        <p:sp>
          <p:nvSpPr>
            <p:cNvPr id="12" name="Text 9"/>
            <p:cNvSpPr txBox="1"/>
            <p:nvPr/>
          </p:nvSpPr>
          <p:spPr>
            <a:xfrm>
              <a:off x="7223760" y="5056632"/>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Photographier ce qui est constaté : une image datée vaut mieux qu'un souvenir.</a:t>
              </a:r>
              <a:endParaRPr lang="en-US" sz="950" dirty="0"/>
            </a:p>
          </p:txBody>
        </p:sp>
        <p:sp>
          <p:nvSpPr>
            <p:cNvPr id="13" name="Shape 10"/>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4" name="Text 11"/>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La suite   </a:t>
              </a:r>
              <a:r>
                <a:rPr lang="en-US" sz="1300" dirty="0">
                  <a:solidFill>
                    <a:srgbClr val="075767"/>
                  </a:solidFill>
                  <a:latin typeface="Lato" pitchFamily="34" charset="0"/>
                  <a:ea typeface="Lato" pitchFamily="34" charset="-122"/>
                  <a:cs typeface="Lato" pitchFamily="34" charset="-120"/>
                </a:rPr>
                <a:t>porter le compte rendu à l'ordre du jour de la réunion suivante, et demander une réponse point par point.</a:t>
              </a:r>
              <a:endParaRPr lang="en-US" sz="1250" dirty="0"/>
            </a:p>
          </p:txBody>
        </p:sp>
      </p:grpSp>
      <p:pic>
        <p:nvPicPr>
          <p:cNvPr id="15"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6"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7" name="Shape 13"/>
          <p:cNvSpPr/>
          <p:nvPr/>
        </p:nvSpPr>
        <p:spPr>
          <a:xfrm>
            <a:off x="10591495" y="6181344"/>
            <a:ext cx="438912" cy="438912"/>
          </a:xfrm>
          <a:prstGeom prst="ellipse">
            <a:avLst/>
          </a:prstGeom>
          <a:solidFill>
            <a:srgbClr val="F06C23"/>
          </a:solidFill>
          <a:ln/>
        </p:spPr>
        <p:txBody>
          <a:bodyPr/>
          <a:lstStyle/>
          <a:p>
            <a:endParaRPr/>
          </a:p>
        </p:txBody>
      </p:sp>
      <p:sp>
        <p:nvSpPr>
          <p:cNvPr id="18"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07</a:t>
            </a:r>
            <a:endParaRPr lang="en-US" sz="1100" dirty="0"/>
          </a:p>
        </p:txBody>
      </p:sp>
      <p:sp>
        <p:nvSpPr>
          <p:cNvPr id="19"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130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71"/>
                                        </p:tgtEl>
                                        <p:attrNameLst>
                                          <p:attrName>style.visibility</p:attrName>
                                        </p:attrNameLst>
                                      </p:cBhvr>
                                      <p:to>
                                        <p:strVal val="visible"/>
                                      </p:to>
                                    </p:set>
                                    <p:animEffect transition="in" filter="fade">
                                      <p:cBhvr>
                                        <p:cTn id="12" dur="450"/>
                                        <p:tgtEl>
                                          <p:spTgt spid="917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72"/>
                                        </p:tgtEl>
                                        <p:attrNameLst>
                                          <p:attrName>style.visibility</p:attrName>
                                        </p:attrNameLst>
                                      </p:cBhvr>
                                      <p:to>
                                        <p:strVal val="visible"/>
                                      </p:to>
                                    </p:set>
                                    <p:animEffect transition="in" filter="fade">
                                      <p:cBhvr>
                                        <p:cTn id="17" dur="450"/>
                                        <p:tgtEl>
                                          <p:spTgt spid="9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points de vigilance sur le terrain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L'inspection CSSCT</a:t>
            </a:r>
            <a:endParaRPr lang="en-US" sz="1400" dirty="0"/>
          </a:p>
        </p:txBody>
      </p:sp>
      <p:grpSp>
        <p:nvGrpSpPr>
          <p:cNvPr id="9173" name="Bloc 1"/>
          <p:cNvGrpSpPr/>
          <p:nvPr/>
        </p:nvGrpSpPr>
        <p:grpSpPr>
          <a:xfrm>
            <a:off x="731520" y="1828800"/>
            <a:ext cx="6263640" cy="1371600"/>
            <a:chOff x="731520" y="1828800"/>
            <a:chExt cx="6263640" cy="1371600"/>
          </a:xfrm>
        </p:grpSpPr>
        <p:sp>
          <p:nvSpPr>
            <p:cNvPr id="10" name="Shape 8"/>
            <p:cNvSpPr/>
            <p:nvPr/>
          </p:nvSpPr>
          <p:spPr>
            <a:xfrm>
              <a:off x="731520" y="1828800"/>
              <a:ext cx="6263640" cy="1371600"/>
            </a:xfrm>
            <a:prstGeom prst="roundRect">
              <a:avLst>
                <a:gd name="adj" fmla="val 3333"/>
              </a:avLst>
            </a:prstGeom>
            <a:solidFill>
              <a:srgbClr val="FCEDE6"/>
            </a:solidFill>
            <a:ln/>
          </p:spPr>
          <p:txBody>
            <a:bodyPr/>
            <a:lstStyle/>
            <a:p>
              <a:endParaRPr/>
            </a:p>
          </p:txBody>
        </p:sp>
        <p:sp>
          <p:nvSpPr>
            <p:cNvPr id="11" name="Shape 9"/>
            <p:cNvSpPr/>
            <p:nvPr/>
          </p:nvSpPr>
          <p:spPr>
            <a:xfrm>
              <a:off x="987552" y="2103120"/>
              <a:ext cx="777240" cy="777240"/>
            </a:xfrm>
            <a:prstGeom prst="ellipse">
              <a:avLst/>
            </a:prstGeom>
            <a:solidFill>
              <a:srgbClr val="F06C23"/>
            </a:solidFill>
            <a:ln/>
          </p:spPr>
          <p:txBody>
            <a:bodyPr/>
            <a:lstStyle/>
            <a:p>
              <a:endParaRPr/>
            </a:p>
          </p:txBody>
        </p:sp>
        <p:pic>
          <p:nvPicPr>
            <p:cNvPr id="12" name="Image 0" descr="/home/claude/tmo/build/ico/alerte-blanc.png"/>
            <p:cNvPicPr>
              <a:picLocks noChangeAspect="1"/>
            </p:cNvPicPr>
            <p:nvPr/>
          </p:nvPicPr>
          <p:blipFill>
            <a:blip r:embed="rId3"/>
            <a:stretch>
              <a:fillRect/>
            </a:stretch>
          </p:blipFill>
          <p:spPr>
            <a:xfrm>
              <a:off x="1189634" y="2305202"/>
              <a:ext cx="373075" cy="373075"/>
            </a:xfrm>
            <a:prstGeom prst="rect">
              <a:avLst/>
            </a:prstGeom>
          </p:spPr>
        </p:pic>
        <p:sp>
          <p:nvSpPr>
            <p:cNvPr id="13" name="Text 10"/>
            <p:cNvSpPr txBox="1"/>
            <p:nvPr/>
          </p:nvSpPr>
          <p:spPr>
            <a:xfrm>
              <a:off x="1965960" y="1993392"/>
              <a:ext cx="4754880" cy="320040"/>
            </a:xfrm>
            <a:prstGeom prst="rect">
              <a:avLst/>
            </a:prstGeom>
            <a:noFill/>
            <a:ln/>
          </p:spPr>
          <p:txBody>
            <a:bodyPr wrap="square" lIns="0" tIns="0" rIns="0" bIns="0" rtlCol="0" anchor="t"/>
            <a:lstStyle/>
            <a:p>
              <a:pPr marL="0" indent="0">
                <a:buNone/>
              </a:pPr>
              <a:r>
                <a:rPr lang="en-US" sz="1350" b="1" dirty="0">
                  <a:solidFill>
                    <a:srgbClr val="C33F14"/>
                  </a:solidFill>
                  <a:latin typeface="Lato" pitchFamily="34" charset="0"/>
                  <a:ea typeface="Lato" pitchFamily="34" charset="-122"/>
                  <a:cs typeface="Lato" pitchFamily="34" charset="-120"/>
                </a:rPr>
                <a:t>Visite ≠ inspection</a:t>
              </a:r>
              <a:endParaRPr lang="en-US" sz="1350" dirty="0"/>
            </a:p>
          </p:txBody>
        </p:sp>
        <p:sp>
          <p:nvSpPr>
            <p:cNvPr id="14" name="Text 11"/>
            <p:cNvSpPr txBox="1"/>
            <p:nvPr/>
          </p:nvSpPr>
          <p:spPr>
            <a:xfrm>
              <a:off x="1965960" y="2340864"/>
              <a:ext cx="4754880" cy="777240"/>
            </a:xfrm>
            <a:prstGeom prst="rect">
              <a:avLst/>
            </a:prstGeom>
            <a:noFill/>
            <a:ln/>
          </p:spPr>
          <p:txBody>
            <a:bodyPr wrap="square" lIns="0" tIns="0" rIns="0" bIns="0" rtlCol="0" anchor="t"/>
            <a:lstStyle/>
            <a:p>
              <a:pPr marL="0" indent="0">
                <a:lnSpc>
                  <a:spcPct val="110000"/>
                </a:lnSpc>
                <a:buNone/>
              </a:pPr>
              <a:r>
                <a:rPr lang="en-US" sz="1350" dirty="0">
                  <a:solidFill>
                    <a:srgbClr val="075767"/>
                  </a:solidFill>
                  <a:latin typeface="Lato" pitchFamily="34" charset="0"/>
                  <a:ea typeface="Lato" pitchFamily="34" charset="-122"/>
                  <a:cs typeface="Lato" pitchFamily="34" charset="-120"/>
                </a:rPr>
                <a:t>La visite est guidée par l'employeur, l'inspection est conduite par le comité. Le comité conduit son propre parcours.</a:t>
              </a:r>
              <a:endParaRPr lang="en-US" sz="1350" dirty="0"/>
            </a:p>
          </p:txBody>
        </p:sp>
      </p:grpSp>
      <p:sp>
        <p:nvSpPr>
          <p:cNvPr id="15" name="Text 12"/>
          <p:cNvSpPr txBox="1"/>
          <p:nvPr/>
        </p:nvSpPr>
        <p:spPr>
          <a:xfrm>
            <a:off x="731520" y="3429000"/>
            <a:ext cx="6263640" cy="267919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Toujours se faire accompagner par un responsable, tout en gardant son autonomie de parcours et de questionnement</a:t>
            </a:r>
            <a:endParaRPr lang="en-US" sz="135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L'inspection est faite par et pour le CSE, pas pour valider un constat de la direction</a:t>
            </a:r>
            <a:endParaRPr lang="en-US" sz="135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Prévoir son matériel : le service de prévention et de santé au travail en prête, ou le faire acheter sur le budget de fonctionnement du CSE</a:t>
            </a:r>
            <a:endParaRPr lang="en-US" sz="135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Se doter des EPI nécessaires : un élu sans casque sur un chantier perd toute légitimité à parler de sécurité</a:t>
            </a:r>
            <a:endParaRPr lang="en-US" sz="135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Ne se fermer aucune porte : un local non visité est un local non inspecté</a:t>
            </a:r>
            <a:endParaRPr lang="en-US" sz="1350" dirty="0"/>
          </a:p>
        </p:txBody>
      </p:sp>
      <p:grpSp>
        <p:nvGrpSpPr>
          <p:cNvPr id="9174" name="Bloc 2"/>
          <p:cNvGrpSpPr/>
          <p:nvPr/>
        </p:nvGrpSpPr>
        <p:grpSpPr>
          <a:xfrm>
            <a:off x="7452360" y="1828800"/>
            <a:ext cx="4105656" cy="3099816"/>
            <a:chOff x="7452360" y="1828800"/>
            <a:chExt cx="4105656" cy="3099816"/>
          </a:xfrm>
        </p:grpSpPr>
        <p:sp>
          <p:nvSpPr>
            <p:cNvPr id="23" name="Rounded Rectangle 22"/>
            <p:cNvSpPr/>
            <p:nvPr/>
          </p:nvSpPr>
          <p:spPr>
            <a:xfrm>
              <a:off x="7580376" y="1956816"/>
              <a:ext cx="3977640" cy="297180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Image 1" descr="/home/claude/tmo/build/photos/p25.jpg"/>
            <p:cNvPicPr>
              <a:picLocks noChangeAspect="1"/>
            </p:cNvPicPr>
            <p:nvPr/>
          </p:nvPicPr>
          <p:blipFill>
            <a:blip r:embed="rId4"/>
            <a:srcRect/>
            <a:stretch/>
          </p:blipFill>
          <p:spPr>
            <a:xfrm>
              <a:off x="7452360" y="1828800"/>
              <a:ext cx="3977640" cy="2971800"/>
            </a:xfrm>
            <a:prstGeom prst="roundRect">
              <a:avLst>
                <a:gd name="adj" fmla="val 2200"/>
              </a:avLst>
            </a:prstGeom>
            <a:effectLst>
              <a:outerShdw blurRad="190500" dist="38100" dir="5400000" rotWithShape="0">
                <a:srgbClr val="075767">
                  <a:alpha val="22000"/>
                </a:srgbClr>
              </a:outerShdw>
              <a:softEdge rad="32004"/>
            </a:effectLst>
          </p:spPr>
        </p:pic>
      </p:grpSp>
      <p:sp>
        <p:nvSpPr>
          <p:cNvPr id="17" name="Text 13"/>
          <p:cNvSpPr txBox="1"/>
          <p:nvPr/>
        </p:nvSpPr>
        <p:spPr>
          <a:xfrm>
            <a:off x="7452360" y="4873752"/>
            <a:ext cx="39776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L'exemplarité de l'élu fait partie de son argumentaire.</a:t>
            </a:r>
            <a:endParaRPr lang="en-US" sz="950" dirty="0"/>
          </a:p>
        </p:txBody>
      </p:sp>
      <p:pic>
        <p:nvPicPr>
          <p:cNvPr id="18" name="Image 2"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9"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5"/>
          <p:cNvSpPr/>
          <p:nvPr/>
        </p:nvSpPr>
        <p:spPr>
          <a:xfrm>
            <a:off x="10591495" y="6181344"/>
            <a:ext cx="438912" cy="438912"/>
          </a:xfrm>
          <a:prstGeom prst="ellipse">
            <a:avLst/>
          </a:prstGeom>
          <a:solidFill>
            <a:srgbClr val="F06C23"/>
          </a:solidFill>
          <a:ln/>
        </p:spPr>
        <p:txBody>
          <a:bodyPr/>
          <a:lstStyle/>
          <a:p>
            <a:endParaRPr/>
          </a:p>
        </p:txBody>
      </p:sp>
      <p:sp>
        <p:nvSpPr>
          <p:cNvPr id="21"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07</a:t>
            </a:r>
            <a:endParaRPr lang="en-US" sz="1100" dirty="0"/>
          </a:p>
        </p:txBody>
      </p:sp>
      <p:sp>
        <p:nvSpPr>
          <p:cNvPr id="22"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131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73"/>
                                        </p:tgtEl>
                                        <p:attrNameLst>
                                          <p:attrName>style.visibility</p:attrName>
                                        </p:attrNameLst>
                                      </p:cBhvr>
                                      <p:to>
                                        <p:strVal val="visible"/>
                                      </p:to>
                                    </p:set>
                                    <p:animEffect transition="in" filter="fade">
                                      <p:cBhvr>
                                        <p:cTn id="7" dur="450"/>
                                        <p:tgtEl>
                                          <p:spTgt spid="91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74"/>
                                        </p:tgtEl>
                                        <p:attrNameLst>
                                          <p:attrName>style.visibility</p:attrName>
                                        </p:attrNameLst>
                                      </p:cBhvr>
                                      <p:to>
                                        <p:strVal val="visible"/>
                                      </p:to>
                                    </p:set>
                                    <p:animEffect transition="in" filter="fade">
                                      <p:cBhvr>
                                        <p:cTn id="12" dur="450"/>
                                        <p:tgtEl>
                                          <p:spTgt spid="917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Construire une grille d'inspection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L'inspection CSSCT</a:t>
            </a:r>
            <a:endParaRPr lang="en-US" sz="1400" dirty="0"/>
          </a:p>
        </p:txBody>
      </p:sp>
      <p:grpSp>
        <p:nvGrpSpPr>
          <p:cNvPr id="9175" name="Bloc 1"/>
          <p:cNvGrpSpPr/>
          <p:nvPr/>
        </p:nvGrpSpPr>
        <p:grpSpPr>
          <a:xfrm>
            <a:off x="731520" y="1828800"/>
            <a:ext cx="10728655" cy="3977640"/>
            <a:chOff x="731520" y="1828800"/>
            <a:chExt cx="10728655" cy="3977640"/>
          </a:xfrm>
        </p:grpSpPr>
        <p:sp>
          <p:nvSpPr>
            <p:cNvPr id="10" name="Shape 8"/>
            <p:cNvSpPr/>
            <p:nvPr/>
          </p:nvSpPr>
          <p:spPr>
            <a:xfrm>
              <a:off x="731520" y="1828800"/>
              <a:ext cx="10728655" cy="3977640"/>
            </a:xfrm>
            <a:prstGeom prst="roundRect">
              <a:avLst>
                <a:gd name="adj" fmla="val 1379"/>
              </a:avLst>
            </a:prstGeom>
            <a:solidFill>
              <a:srgbClr val="F2F2F2"/>
            </a:solidFill>
            <a:ln/>
          </p:spPr>
          <p:txBody>
            <a:bodyPr/>
            <a:lstStyle/>
            <a:p>
              <a:endParaRPr/>
            </a:p>
          </p:txBody>
        </p:sp>
        <p:sp>
          <p:nvSpPr>
            <p:cNvPr id="11" name="Shape 9"/>
            <p:cNvSpPr/>
            <p:nvPr/>
          </p:nvSpPr>
          <p:spPr>
            <a:xfrm>
              <a:off x="1097280" y="2121408"/>
              <a:ext cx="777240" cy="777240"/>
            </a:xfrm>
            <a:prstGeom prst="ellipse">
              <a:avLst/>
            </a:prstGeom>
            <a:solidFill>
              <a:srgbClr val="F06C23"/>
            </a:solidFill>
            <a:ln/>
          </p:spPr>
          <p:txBody>
            <a:bodyPr/>
            <a:lstStyle/>
            <a:p>
              <a:endParaRPr/>
            </a:p>
          </p:txBody>
        </p:sp>
        <p:pic>
          <p:nvPicPr>
            <p:cNvPr id="12" name="Image 0" descr="/home/claude/tmo/build/ico/equipe-blanc.png"/>
            <p:cNvPicPr>
              <a:picLocks noChangeAspect="1"/>
            </p:cNvPicPr>
            <p:nvPr/>
          </p:nvPicPr>
          <p:blipFill>
            <a:blip r:embed="rId3"/>
            <a:stretch>
              <a:fillRect/>
            </a:stretch>
          </p:blipFill>
          <p:spPr>
            <a:xfrm>
              <a:off x="1299362" y="2323490"/>
              <a:ext cx="373075" cy="373075"/>
            </a:xfrm>
            <a:prstGeom prst="rect">
              <a:avLst/>
            </a:prstGeom>
          </p:spPr>
        </p:pic>
        <p:sp>
          <p:nvSpPr>
            <p:cNvPr id="13" name="Shape 10"/>
            <p:cNvSpPr/>
            <p:nvPr/>
          </p:nvSpPr>
          <p:spPr>
            <a:xfrm>
              <a:off x="8854135" y="2139696"/>
              <a:ext cx="2240280" cy="457200"/>
            </a:xfrm>
            <a:prstGeom prst="roundRect">
              <a:avLst>
                <a:gd name="adj" fmla="val 24000"/>
              </a:avLst>
            </a:prstGeom>
            <a:solidFill>
              <a:srgbClr val="075767"/>
            </a:solidFill>
            <a:ln/>
          </p:spPr>
          <p:txBody>
            <a:bodyPr/>
            <a:lstStyle/>
            <a:p>
              <a:endParaRPr/>
            </a:p>
          </p:txBody>
        </p:sp>
        <p:sp>
          <p:nvSpPr>
            <p:cNvPr id="14" name="Text 11"/>
            <p:cNvSpPr txBox="1"/>
            <p:nvPr/>
          </p:nvSpPr>
          <p:spPr>
            <a:xfrm>
              <a:off x="8854135" y="2139696"/>
              <a:ext cx="22402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Lato" pitchFamily="34" charset="0"/>
                  <a:ea typeface="Lato" pitchFamily="34" charset="-122"/>
                  <a:cs typeface="Lato" pitchFamily="34" charset="-120"/>
                </a:rPr>
                <a:t>20' + 10' de restitution</a:t>
              </a:r>
              <a:endParaRPr lang="en-US" sz="1250" dirty="0"/>
            </a:p>
          </p:txBody>
        </p:sp>
        <p:sp>
          <p:nvSpPr>
            <p:cNvPr id="15" name="Text 12"/>
            <p:cNvSpPr txBox="1"/>
            <p:nvPr/>
          </p:nvSpPr>
          <p:spPr>
            <a:xfrm>
              <a:off x="2103120" y="2084832"/>
              <a:ext cx="4572000" cy="274320"/>
            </a:xfrm>
            <a:prstGeom prst="rect">
              <a:avLst/>
            </a:prstGeom>
            <a:noFill/>
            <a:ln/>
          </p:spPr>
          <p:txBody>
            <a:bodyPr wrap="square" lIns="0" tIns="0" rIns="0" bIns="0" rtlCol="0" anchor="ctr"/>
            <a:lstStyle/>
            <a:p>
              <a:pPr marL="0" indent="0">
                <a:buNone/>
              </a:pPr>
              <a:r>
                <a:rPr lang="en-US" sz="1100" b="1" kern="0" spc="160" dirty="0">
                  <a:solidFill>
                    <a:srgbClr val="C33F14"/>
                  </a:solidFill>
                  <a:latin typeface="Lato" pitchFamily="34" charset="0"/>
                  <a:ea typeface="Lato" pitchFamily="34" charset="-122"/>
                  <a:cs typeface="Lato" pitchFamily="34" charset="-120"/>
                </a:rPr>
                <a:t>EXERCICE</a:t>
              </a:r>
              <a:endParaRPr lang="en-US" sz="1100" dirty="0"/>
            </a:p>
          </p:txBody>
        </p:sp>
        <p:sp>
          <p:nvSpPr>
            <p:cNvPr id="16" name="Text 13"/>
            <p:cNvSpPr txBox="1"/>
            <p:nvPr/>
          </p:nvSpPr>
          <p:spPr>
            <a:xfrm>
              <a:off x="2103120" y="2377440"/>
              <a:ext cx="6522415" cy="658368"/>
            </a:xfrm>
            <a:prstGeom prst="rect">
              <a:avLst/>
            </a:prstGeom>
            <a:noFill/>
            <a:ln/>
          </p:spPr>
          <p:txBody>
            <a:bodyPr wrap="square" lIns="0" tIns="0" rIns="0" bIns="0" rtlCol="0" anchor="t"/>
            <a:lstStyle/>
            <a:p>
              <a:pPr marL="0" indent="0">
                <a:lnSpc>
                  <a:spcPct val="110000"/>
                </a:lnSpc>
                <a:buNone/>
              </a:pPr>
              <a:r>
                <a:rPr lang="en-US" sz="1600" b="1" dirty="0">
                  <a:solidFill>
                    <a:srgbClr val="075767"/>
                  </a:solidFill>
                  <a:latin typeface="Lato" pitchFamily="34" charset="0"/>
                  <a:ea typeface="Lato" pitchFamily="34" charset="-122"/>
                  <a:cs typeface="Lato" pitchFamily="34" charset="-120"/>
                </a:rPr>
                <a:t>Par équipe, formulez dix questions vérifiables sur place pour votre thème.</a:t>
              </a:r>
              <a:endParaRPr lang="en-US" sz="1600" dirty="0"/>
            </a:p>
          </p:txBody>
        </p:sp>
        <p:sp>
          <p:nvSpPr>
            <p:cNvPr id="17" name="Text 14"/>
            <p:cNvSpPr txBox="1"/>
            <p:nvPr/>
          </p:nvSpPr>
          <p:spPr>
            <a:xfrm>
              <a:off x="2103120" y="3127248"/>
              <a:ext cx="8716975" cy="25146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Équipe 1 : Les chutes de plain-pied</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Équipe 2 : La manutention manuelle</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Équipe 3 : Les mesures d'ambiance : bruit, éclairage, température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Chaque question doit pouvoir recevoir une réponse « oui / non / sans objet » et se vérifier sans expertise</a:t>
              </a:r>
              <a:endParaRPr lang="en-US" sz="1400" dirty="0"/>
            </a:p>
          </p:txBody>
        </p:sp>
      </p:grpSp>
      <p:pic>
        <p:nvPicPr>
          <p:cNvPr id="18"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9" name="Text 15"/>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6"/>
          <p:cNvSpPr/>
          <p:nvPr/>
        </p:nvSpPr>
        <p:spPr>
          <a:xfrm>
            <a:off x="10591495" y="6181344"/>
            <a:ext cx="438912" cy="438912"/>
          </a:xfrm>
          <a:prstGeom prst="ellipse">
            <a:avLst/>
          </a:prstGeom>
          <a:solidFill>
            <a:srgbClr val="F06C23"/>
          </a:solidFill>
          <a:ln/>
        </p:spPr>
        <p:txBody>
          <a:bodyPr/>
          <a:lstStyle/>
          <a:p>
            <a:endParaRPr/>
          </a:p>
        </p:txBody>
      </p:sp>
      <p:sp>
        <p:nvSpPr>
          <p:cNvPr id="21" name="Text 17"/>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07</a:t>
            </a:r>
            <a:endParaRPr lang="en-US" sz="1100" dirty="0"/>
          </a:p>
        </p:txBody>
      </p:sp>
      <p:sp>
        <p:nvSpPr>
          <p:cNvPr id="22" name="Text 18"/>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132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75"/>
                                        </p:tgtEl>
                                        <p:attrNameLst>
                                          <p:attrName>style.visibility</p:attrName>
                                        </p:attrNameLst>
                                      </p:cBhvr>
                                      <p:to>
                                        <p:strVal val="visible"/>
                                      </p:to>
                                    </p:set>
                                    <p:animEffect transition="in" filter="fade">
                                      <p:cBhvr>
                                        <p:cTn id="7" dur="450"/>
                                        <p:tgtEl>
                                          <p:spTgt spid="9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pic>
        <p:nvPicPr>
          <p:cNvPr id="2" name="Image 0" descr="/home/claude/tmo/build/photos/p26.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2A30">
              <a:alpha val="38000"/>
            </a:srgbClr>
          </a:solidFill>
          <a:ln/>
        </p:spPr>
        <p:txBody>
          <a:bodyPr/>
          <a:lstStyle/>
          <a:p>
            <a:endParaRPr/>
          </a:p>
        </p:txBody>
      </p:sp>
      <p:sp>
        <p:nvSpPr>
          <p:cNvPr id="4" name="Shape 1"/>
          <p:cNvSpPr/>
          <p:nvPr/>
        </p:nvSpPr>
        <p:spPr>
          <a:xfrm>
            <a:off x="0" y="4343400"/>
            <a:ext cx="12191695" cy="2514600"/>
          </a:xfrm>
          <a:prstGeom prst="rect">
            <a:avLst/>
          </a:prstGeom>
          <a:solidFill>
            <a:srgbClr val="082A30">
              <a:alpha val="88000"/>
            </a:srgbClr>
          </a:solidFill>
          <a:ln/>
        </p:spPr>
        <p:txBody>
          <a:bodyPr/>
          <a:lstStyle/>
          <a:p>
            <a:endParaRPr/>
          </a:p>
        </p:txBody>
      </p:sp>
      <p:sp>
        <p:nvSpPr>
          <p:cNvPr id="5" name="Text 2"/>
          <p:cNvSpPr txBox="1"/>
          <p:nvPr/>
        </p:nvSpPr>
        <p:spPr>
          <a:xfrm>
            <a:off x="731520" y="4709160"/>
            <a:ext cx="8686800" cy="685800"/>
          </a:xfrm>
          <a:prstGeom prst="rect">
            <a:avLst/>
          </a:prstGeom>
          <a:noFill/>
          <a:ln/>
        </p:spPr>
        <p:txBody>
          <a:bodyPr wrap="square" lIns="0" tIns="0" rIns="0" bIns="0" rtlCol="0" anchor="t"/>
          <a:lstStyle/>
          <a:p>
            <a:pPr marL="0" indent="0">
              <a:buNone/>
            </a:pPr>
            <a:r>
              <a:rPr lang="en-US" sz="3000" b="1" kern="0" spc="-100" dirty="0">
                <a:solidFill>
                  <a:srgbClr val="FFFFFF"/>
                </a:solidFill>
                <a:latin typeface="Lato" pitchFamily="34" charset="0"/>
                <a:ea typeface="Lato" pitchFamily="34" charset="-122"/>
                <a:cs typeface="Lato" pitchFamily="34" charset="-120"/>
              </a:rPr>
              <a:t>Exemple de grille d'inspection</a:t>
            </a:r>
            <a:endParaRPr lang="en-US" sz="3000" dirty="0"/>
          </a:p>
        </p:txBody>
      </p:sp>
      <p:sp>
        <p:nvSpPr>
          <p:cNvPr id="6" name="Text 3"/>
          <p:cNvSpPr txBox="1"/>
          <p:nvPr/>
        </p:nvSpPr>
        <p:spPr>
          <a:xfrm>
            <a:off x="731520" y="5413248"/>
            <a:ext cx="8961120" cy="731520"/>
          </a:xfrm>
          <a:prstGeom prst="rect">
            <a:avLst/>
          </a:prstGeom>
          <a:noFill/>
          <a:ln/>
        </p:spPr>
        <p:txBody>
          <a:bodyPr wrap="square" lIns="0" tIns="0" rIns="0" bIns="0" rtlCol="0" anchor="t"/>
          <a:lstStyle/>
          <a:p>
            <a:pPr marL="0" indent="0">
              <a:lnSpc>
                <a:spcPct val="110000"/>
              </a:lnSpc>
              <a:buNone/>
            </a:pPr>
            <a:r>
              <a:rPr lang="en-US" sz="1450" dirty="0">
                <a:solidFill>
                  <a:srgbClr val="C1D5D9"/>
                </a:solidFill>
                <a:latin typeface="Lato" pitchFamily="34" charset="0"/>
                <a:ea typeface="Lato" pitchFamily="34" charset="-122"/>
                <a:cs typeface="Lato" pitchFamily="34" charset="-120"/>
              </a:rPr>
              <a:t>Remplacer par la grille type remise aux participants.</a:t>
            </a:r>
            <a:endParaRPr lang="en-US" sz="1450" dirty="0"/>
          </a:p>
        </p:txBody>
      </p:sp>
      <p:pic>
        <p:nvPicPr>
          <p:cNvPr id="7" name="Image 1" descr="/home/claude/tmo/build/logo.png"/>
          <p:cNvPicPr>
            <a:picLocks noChangeAspect="1"/>
          </p:cNvPicPr>
          <p:nvPr/>
        </p:nvPicPr>
        <p:blipFill>
          <a:blip r:embed="rId4"/>
          <a:stretch>
            <a:fillRect/>
          </a:stretch>
        </p:blipFill>
        <p:spPr>
          <a:xfrm>
            <a:off x="10893247" y="4892040"/>
            <a:ext cx="566928" cy="566928"/>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name="Slide 115">
    <p:bg>
      <p:bgPr>
        <a:solidFill>
          <a:srgbClr val="075767"/>
        </a:solidFill>
        <a:effectLst/>
      </p:bgPr>
    </p:bg>
    <p:spTree>
      <p:nvGrpSpPr>
        <p:cNvPr id="1" name=""/>
        <p:cNvGrpSpPr/>
        <p:nvPr/>
      </p:nvGrpSpPr>
      <p:grpSpPr>
        <a:xfrm>
          <a:off x="0" y="0"/>
          <a:ext cx="0" cy="0"/>
          <a:chOff x="0" y="0"/>
          <a:chExt cx="0" cy="0"/>
        </a:xfrm>
      </p:grpSpPr>
      <p:sp>
        <p:nvSpPr>
          <p:cNvPr id="2" name="Shape 0"/>
          <p:cNvSpPr/>
          <p:nvPr/>
        </p:nvSpPr>
        <p:spPr>
          <a:xfrm rot="420000">
            <a:off x="5760720" y="-3749040"/>
            <a:ext cx="10972800" cy="8229600"/>
          </a:xfrm>
          <a:prstGeom prst="ellipse">
            <a:avLst/>
          </a:prstGeom>
          <a:solidFill>
            <a:srgbClr val="0A6C78"/>
          </a:solidFill>
          <a:ln/>
        </p:spPr>
        <p:txBody>
          <a:bodyPr/>
          <a:lstStyle/>
          <a:p>
            <a:endParaRPr/>
          </a:p>
        </p:txBody>
      </p:sp>
      <p:sp>
        <p:nvSpPr>
          <p:cNvPr id="3" name="Shape 1"/>
          <p:cNvSpPr/>
          <p:nvPr/>
        </p:nvSpPr>
        <p:spPr>
          <a:xfrm>
            <a:off x="868680" y="5788152"/>
            <a:ext cx="274320" cy="274320"/>
          </a:xfrm>
          <a:prstGeom prst="ellipse">
            <a:avLst/>
          </a:prstGeom>
          <a:solidFill>
            <a:srgbClr val="F06C23"/>
          </a:solidFill>
          <a:ln/>
        </p:spPr>
        <p:txBody>
          <a:bodyPr/>
          <a:lstStyle/>
          <a:p>
            <a:endParaRPr/>
          </a:p>
        </p:txBody>
      </p:sp>
      <p:sp>
        <p:nvSpPr>
          <p:cNvPr id="4" name="Shape 2"/>
          <p:cNvSpPr/>
          <p:nvPr/>
        </p:nvSpPr>
        <p:spPr>
          <a:xfrm>
            <a:off x="1353312" y="5943600"/>
            <a:ext cx="146304" cy="146304"/>
          </a:xfrm>
          <a:prstGeom prst="ellipse">
            <a:avLst/>
          </a:prstGeom>
          <a:solidFill>
            <a:srgbClr val="C1D5D9"/>
          </a:solidFill>
          <a:ln/>
        </p:spPr>
        <p:txBody>
          <a:bodyPr/>
          <a:lstStyle/>
          <a:p>
            <a:endParaRPr/>
          </a:p>
        </p:txBody>
      </p:sp>
      <p:sp>
        <p:nvSpPr>
          <p:cNvPr id="5" name="Shape 3"/>
          <p:cNvSpPr/>
          <p:nvPr/>
        </p:nvSpPr>
        <p:spPr>
          <a:xfrm>
            <a:off x="1645920" y="5650992"/>
            <a:ext cx="100584" cy="100584"/>
          </a:xfrm>
          <a:prstGeom prst="ellipse">
            <a:avLst/>
          </a:prstGeom>
          <a:solidFill>
            <a:srgbClr val="C1D5D9"/>
          </a:solidFill>
          <a:ln/>
        </p:spPr>
        <p:txBody>
          <a:bodyPr/>
          <a:lstStyle/>
          <a:p>
            <a:endParaRPr/>
          </a:p>
        </p:txBody>
      </p:sp>
      <p:sp>
        <p:nvSpPr>
          <p:cNvPr id="6" name="Text 4"/>
          <p:cNvSpPr txBox="1"/>
          <p:nvPr/>
        </p:nvSpPr>
        <p:spPr>
          <a:xfrm>
            <a:off x="822960" y="1325880"/>
            <a:ext cx="2377440" cy="1691640"/>
          </a:xfrm>
          <a:prstGeom prst="rect">
            <a:avLst/>
          </a:prstGeom>
          <a:noFill/>
          <a:ln/>
        </p:spPr>
        <p:txBody>
          <a:bodyPr wrap="square" lIns="0" tIns="0" rIns="0" bIns="0" rtlCol="0" anchor="t"/>
          <a:lstStyle/>
          <a:p>
            <a:pPr marL="0" indent="0">
              <a:buNone/>
            </a:pPr>
            <a:r>
              <a:rPr lang="en-US" sz="9600" b="1" kern="0" spc="-300" dirty="0">
                <a:solidFill>
                  <a:srgbClr val="F58B60"/>
                </a:solidFill>
                <a:latin typeface="Lato" pitchFamily="34" charset="0"/>
                <a:ea typeface="Lato" pitchFamily="34" charset="-122"/>
                <a:cs typeface="Lato" pitchFamily="34" charset="-120"/>
              </a:rPr>
              <a:t>08</a:t>
            </a:r>
            <a:endParaRPr lang="en-US" sz="9600" dirty="0"/>
          </a:p>
        </p:txBody>
      </p:sp>
      <p:sp>
        <p:nvSpPr>
          <p:cNvPr id="7" name="Text 5"/>
          <p:cNvSpPr txBox="1"/>
          <p:nvPr/>
        </p:nvSpPr>
        <p:spPr>
          <a:xfrm>
            <a:off x="868680" y="3017520"/>
            <a:ext cx="5303520" cy="1536192"/>
          </a:xfrm>
          <a:prstGeom prst="rect">
            <a:avLst/>
          </a:prstGeom>
          <a:noFill/>
          <a:ln/>
        </p:spPr>
        <p:txBody>
          <a:bodyPr wrap="square" lIns="0" tIns="0" rIns="0" bIns="0" rtlCol="0" anchor="t"/>
          <a:lstStyle/>
          <a:p>
            <a:pPr marL="0" indent="0">
              <a:buNone/>
            </a:pPr>
            <a:r>
              <a:rPr lang="en-US" sz="3400" b="1" kern="0" spc="-150" dirty="0">
                <a:solidFill>
                  <a:srgbClr val="FFFFFF"/>
                </a:solidFill>
                <a:latin typeface="Lato" pitchFamily="34" charset="0"/>
                <a:ea typeface="Lato" pitchFamily="34" charset="-122"/>
                <a:cs typeface="Lato" pitchFamily="34" charset="-120"/>
              </a:rPr>
              <a:t>Les droits</a:t>
            </a:r>
            <a:endParaRPr lang="en-US" sz="3400" dirty="0"/>
          </a:p>
          <a:p>
            <a:pPr marL="0" indent="0">
              <a:buNone/>
            </a:pPr>
            <a:r>
              <a:rPr lang="en-US" sz="3400" b="1" kern="0" spc="-150" dirty="0">
                <a:solidFill>
                  <a:srgbClr val="FFFFFF"/>
                </a:solidFill>
                <a:latin typeface="Lato" pitchFamily="34" charset="0"/>
                <a:ea typeface="Lato" pitchFamily="34" charset="-122"/>
                <a:cs typeface="Lato" pitchFamily="34" charset="-120"/>
              </a:rPr>
              <a:t>d'alerte</a:t>
            </a:r>
            <a:endParaRPr lang="en-US" sz="3400" dirty="0"/>
          </a:p>
        </p:txBody>
      </p:sp>
      <p:sp>
        <p:nvSpPr>
          <p:cNvPr id="8" name="Text 6"/>
          <p:cNvSpPr txBox="1"/>
          <p:nvPr/>
        </p:nvSpPr>
        <p:spPr>
          <a:xfrm>
            <a:off x="868680" y="4023360"/>
            <a:ext cx="5029200" cy="914400"/>
          </a:xfrm>
          <a:prstGeom prst="rect">
            <a:avLst/>
          </a:prstGeom>
          <a:noFill/>
          <a:ln/>
        </p:spPr>
        <p:txBody>
          <a:bodyPr wrap="square" lIns="0" tIns="0" rIns="0" bIns="0" rtlCol="0" anchor="t"/>
          <a:lstStyle/>
          <a:p>
            <a:pPr marL="0" indent="0">
              <a:lnSpc>
                <a:spcPct val="115000"/>
              </a:lnSpc>
              <a:buNone/>
            </a:pPr>
            <a:r>
              <a:rPr lang="en-US" sz="1500" dirty="0">
                <a:solidFill>
                  <a:srgbClr val="C1D5D9"/>
                </a:solidFill>
                <a:latin typeface="Lato" pitchFamily="34" charset="0"/>
                <a:ea typeface="Lato" pitchFamily="34" charset="-122"/>
                <a:cs typeface="Lato" pitchFamily="34" charset="-120"/>
              </a:rPr>
              <a:t>Cinq alertes, cinq régimes, cinq procédures. Se tromper de véhicule, c'est perdre le bénéfice de l'alerte.</a:t>
            </a:r>
            <a:endParaRPr lang="en-US" sz="1500" dirty="0"/>
          </a:p>
        </p:txBody>
      </p:sp>
      <p:sp>
        <p:nvSpPr>
          <p:cNvPr id="12" name="Rounded Rectangle 11"/>
          <p:cNvSpPr/>
          <p:nvPr/>
        </p:nvSpPr>
        <p:spPr>
          <a:xfrm>
            <a:off x="6711696" y="1316736"/>
            <a:ext cx="4892040" cy="448056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mage 0" descr="/home/claude/tmo/build/photos/p27.jpg"/>
          <p:cNvPicPr>
            <a:picLocks noChangeAspect="1"/>
          </p:cNvPicPr>
          <p:nvPr/>
        </p:nvPicPr>
        <p:blipFill>
          <a:blip r:embed="rId3"/>
          <a:srcRect/>
          <a:stretch/>
        </p:blipFill>
        <p:spPr>
          <a:xfrm>
            <a:off x="6583680" y="1188720"/>
            <a:ext cx="4892040" cy="4480560"/>
          </a:xfrm>
          <a:prstGeom prst="roundRect">
            <a:avLst>
              <a:gd name="adj" fmla="val 2200"/>
            </a:avLst>
          </a:prstGeom>
          <a:effectLst>
            <a:outerShdw blurRad="190500" dist="38100" dir="5400000" rotWithShape="0">
              <a:srgbClr val="075767">
                <a:alpha val="22000"/>
              </a:srgbClr>
            </a:outerShdw>
            <a:softEdge rad="32004"/>
          </a:effectLst>
        </p:spPr>
      </p:pic>
      <p:sp>
        <p:nvSpPr>
          <p:cNvPr id="10" name="Shape 7"/>
          <p:cNvSpPr/>
          <p:nvPr/>
        </p:nvSpPr>
        <p:spPr>
          <a:xfrm>
            <a:off x="10929823" y="6071616"/>
            <a:ext cx="603504" cy="603504"/>
          </a:xfrm>
          <a:prstGeom prst="ellipse">
            <a:avLst/>
          </a:prstGeom>
          <a:solidFill>
            <a:srgbClr val="FFFFFF"/>
          </a:solidFill>
          <a:ln/>
        </p:spPr>
        <p:txBody>
          <a:bodyPr/>
          <a:lstStyle/>
          <a:p>
            <a:endParaRPr/>
          </a:p>
        </p:txBody>
      </p:sp>
      <p:pic>
        <p:nvPicPr>
          <p:cNvPr id="11" name="Image 1" descr="/home/claude/tmo/build/logo.png"/>
          <p:cNvPicPr>
            <a:picLocks noChangeAspect="1"/>
          </p:cNvPicPr>
          <p:nvPr/>
        </p:nvPicPr>
        <p:blipFill>
          <a:blip r:embed="rId4"/>
          <a:stretch>
            <a:fillRect/>
          </a:stretch>
        </p:blipFill>
        <p:spPr>
          <a:xfrm>
            <a:off x="10957255" y="6099048"/>
            <a:ext cx="548640" cy="548640"/>
          </a:xfrm>
          <a:prstGeom prst="rect">
            <a:avLst/>
          </a:prstGeom>
        </p:spPr>
      </p:pic>
    </p:spTree>
  </p:cSld>
  <p:clrMapOvr>
    <a:masterClrMapping/>
  </p:clrMapOvr>
  <p:transition spd="med"/>
</p:sld>
</file>

<file path=ppt/slides/slide13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cinq droits d'alerte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droits d'alerte</a:t>
            </a:r>
            <a:endParaRPr lang="en-US" sz="140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0728655" cy="914400"/>
        </p:xfrm>
        <a:graphic>
          <a:graphicData uri="http://schemas.openxmlformats.org/drawingml/2006/table">
            <a:tbl>
              <a:tblPr/>
              <a:tblGrid>
                <a:gridCol w="32918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tblGrid>
              <a:tr h="566928">
                <a:tc>
                  <a:txBody>
                    <a:bodyPr/>
                    <a:lstStyle/>
                    <a:p>
                      <a:pPr marL="0" indent="0">
                        <a:buNone/>
                      </a:pPr>
                      <a:r>
                        <a:rPr lang="en-US" sz="1250" b="1" dirty="0">
                          <a:solidFill>
                            <a:srgbClr val="FFFFFF"/>
                          </a:solidFill>
                          <a:latin typeface="Lato" pitchFamily="34" charset="0"/>
                          <a:ea typeface="Lato" pitchFamily="34" charset="-122"/>
                          <a:cs typeface="Lato" pitchFamily="34" charset="-120"/>
                        </a:rPr>
                        <a:t>Alerte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Article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Déclenchée par</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Formalisme</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Atteinte aux droits des personnes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L. 2312-59</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Un membre de la délégation du personnel</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Saisine immédiate de l'employeur</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Danger grave et imminent</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L. 4131-2</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Un membre du CSE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Registre spécial DGI, daté et signé</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Santé publique et environnement</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L. 4133-2</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Un membre du CSE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Registre spécial, daté et signé</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Alerte économique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L. 2312-63</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Le CSE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Demande d'explications, inscrite à l'ordre du jour</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Alerte sociale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L. 2312-70</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Le CSE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Alerte à l'employeur, inscription possible à l'ordre du jour</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8"/>
          <p:cNvSpPr txBox="1"/>
          <p:nvPr/>
        </p:nvSpPr>
        <p:spPr>
          <a:xfrm>
            <a:off x="731520" y="5623560"/>
            <a:ext cx="10728655" cy="365760"/>
          </a:xfrm>
          <a:prstGeom prst="rect">
            <a:avLst/>
          </a:prstGeom>
          <a:noFill/>
          <a:ln/>
        </p:spPr>
        <p:txBody>
          <a:bodyPr wrap="square" lIns="0" tIns="0" rIns="0" bIns="0" rtlCol="0" anchor="t"/>
          <a:lstStyle/>
          <a:p>
            <a:pPr marL="0" indent="0">
              <a:buNone/>
            </a:pPr>
            <a:r>
              <a:rPr lang="en-US" sz="1000" i="1" dirty="0">
                <a:solidFill>
                  <a:srgbClr val="595959"/>
                </a:solidFill>
                <a:latin typeface="Lato" pitchFamily="34" charset="0"/>
                <a:ea typeface="Lato" pitchFamily="34" charset="-122"/>
                <a:cs typeface="Lato" pitchFamily="34" charset="-120"/>
              </a:rPr>
              <a:t>Les deux alertes à registre sont les plus protectrices : elles créent une trace opposable, datée, que l'employeur ne peut pas effacer.</a:t>
            </a:r>
            <a:endParaRPr lang="en-US" sz="10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08</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135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450"/>
                                        <p:tgtEl>
                                          <p:spTgt spid="1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900" b="1" kern="0" spc="-150" dirty="0">
                <a:solidFill>
                  <a:srgbClr val="075767"/>
                </a:solidFill>
                <a:latin typeface="Lato" pitchFamily="34" charset="0"/>
                <a:ea typeface="Lato" pitchFamily="34" charset="-122"/>
                <a:cs typeface="Lato" pitchFamily="34" charset="-120"/>
              </a:rPr>
              <a:t>Atteinte aux droits des personnes : le texte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droits d'alerte</a:t>
            </a:r>
            <a:endParaRPr lang="en-US" sz="1400" dirty="0"/>
          </a:p>
        </p:txBody>
      </p:sp>
      <p:pic>
        <p:nvPicPr>
          <p:cNvPr id="17" name="Image 1"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08</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136</a:t>
            </a:r>
            <a:endParaRPr lang="en-US" sz="1000" dirty="0"/>
          </a:p>
        </p:txBody>
      </p:sp>
      <p:grpSp>
        <p:nvGrpSpPr>
          <p:cNvPr id="9176" name="Bloc 1"/>
          <p:cNvGrpSpPr/>
          <p:nvPr/>
        </p:nvGrpSpPr>
        <p:grpSpPr>
          <a:xfrm>
            <a:off x="731520" y="1874519"/>
            <a:ext cx="10725912" cy="4178808"/>
            <a:chOff x="731520" y="1874519"/>
            <a:chExt cx="10725912" cy="4178808"/>
          </a:xfrm>
        </p:grpSpPr>
        <p:sp>
          <p:nvSpPr>
            <p:cNvPr id="22" name="Rounded Rectangle 21"/>
            <p:cNvSpPr/>
            <p:nvPr/>
          </p:nvSpPr>
          <p:spPr>
            <a:xfrm>
              <a:off x="731520" y="1874519"/>
              <a:ext cx="10725912" cy="417880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5840" y="2039112"/>
              <a:ext cx="10177272" cy="274320"/>
            </a:xfrm>
            <a:prstGeom prst="rect">
              <a:avLst/>
            </a:prstGeom>
            <a:noFill/>
          </p:spPr>
          <p:txBody>
            <a:bodyPr wrap="square" lIns="0" tIns="0" rIns="0" bIns="0" anchor="t">
              <a:spAutoFit/>
            </a:bodyPr>
            <a:lstStyle/>
            <a:p>
              <a:pPr algn="l"/>
              <a:r>
                <a:rPr sz="1250" b="1" i="0">
                  <a:solidFill>
                    <a:srgbClr val="075767"/>
                  </a:solidFill>
                  <a:latin typeface="Lato"/>
                </a:rPr>
                <a:t>Article L. 2312-59 (code du travail)</a:t>
              </a:r>
            </a:p>
          </p:txBody>
        </p:sp>
        <p:sp>
          <p:nvSpPr>
            <p:cNvPr id="24" name="TextBox 23"/>
            <p:cNvSpPr txBox="1"/>
            <p:nvPr/>
          </p:nvSpPr>
          <p:spPr>
            <a:xfrm>
              <a:off x="1005840" y="2350008"/>
              <a:ext cx="10177272" cy="3538728"/>
            </a:xfrm>
            <a:prstGeom prst="rect">
              <a:avLst/>
            </a:prstGeom>
            <a:noFill/>
          </p:spPr>
          <p:txBody>
            <a:bodyPr wrap="square" lIns="0" tIns="0" rIns="0" bIns="0" anchor="t">
              <a:spAutoFit/>
            </a:bodyPr>
            <a:lstStyle/>
            <a:p>
              <a:pPr algn="l"/>
              <a:r>
                <a:rPr sz="1200" b="0" i="1">
                  <a:solidFill>
                    <a:srgbClr val="075767"/>
                  </a:solidFill>
                  <a:latin typeface="Lato"/>
                </a:rPr>
                <a:t>Si un membre de la délégation du personnel au comité social et économique constate, notamment par l'intermédiaire d'un travailleur, qu'il existe une atteinte aux droits des personnes, à leur santé physique et mentale ou aux libertés individuelles dans l'entreprise qui ne serait pas justifiée par la nature de la tâche à accomplir, ni proportionnée au but recherché, il en saisit immédiatement l'employeur.
Cette atteinte peut notamment résulter de faits de harcèlement sexuel ou moral ou de toute mesure discriminatoire en matière d'embauche, de rémunération, de formation, de reclassement, d'affectation, de classification, de qualification, de promotion professionnelle, de mutation, de renouvellement de contrat, de sanction ou de licenciement.
L'employeur procède sans délai à une enquête avec le membre de la délégation du personnel du comité et prend les dispositions nécessaires pour remédier à cette situation.
En cas de carence de l'employeur ou de divergence sur la réalité de cette atteinte, et à défaut de solution trouvée avec l'employeur, le salarié, ou le membre de la délégation du personnel au comité social et économique si le salarié intéressé averti par écrit ne s'y oppose pas, saisit le bureau de jugement du conseil de prud'hommes qui statue selon la procédure accélérée au fond. Le juge peut ordonner toutes mesures propres à faire cesser cette atteinte et assortir sa décision d'une astreinte qui sera liquidée au profit du Trésor.</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76"/>
                                        </p:tgtEl>
                                        <p:attrNameLst>
                                          <p:attrName>style.visibility</p:attrName>
                                        </p:attrNameLst>
                                      </p:cBhvr>
                                      <p:to>
                                        <p:strVal val="visible"/>
                                      </p:to>
                                    </p:set>
                                    <p:animEffect transition="in" filter="fade">
                                      <p:cBhvr>
                                        <p:cTn id="7" dur="450"/>
                                        <p:tgtEl>
                                          <p:spTgt spid="9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que recouvre l'atteinte aux droits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droits d'alerte</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Le champ est large : et c'est ce qui fait la force de cette alerte.</a:t>
            </a:r>
            <a:endParaRPr lang="en-US" sz="1450" dirty="0"/>
          </a:p>
        </p:txBody>
      </p:sp>
      <p:sp>
        <p:nvSpPr>
          <p:cNvPr id="11" name="Text 9"/>
          <p:cNvSpPr txBox="1"/>
          <p:nvPr/>
        </p:nvSpPr>
        <p:spPr>
          <a:xfrm>
            <a:off x="731520" y="2487168"/>
            <a:ext cx="6035040"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Atteinte aux droits des personnes</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Atteinte à la santé physique et mentale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Atteinte aux libertés individuelles</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Harcèlement sexuel ou moral</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Toute mesure discriminatoire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En matière d'embauche, de rémunération, de formation, de reclassement, d'affectation, de classification, de qualification, de promotion, de mutation, de renouvellement de contrat, de sanction ou de licenciement</a:t>
            </a:r>
            <a:endParaRPr lang="en-US" sz="1400" dirty="0"/>
          </a:p>
        </p:txBody>
      </p:sp>
      <p:grpSp>
        <p:nvGrpSpPr>
          <p:cNvPr id="9177" name="Bloc 2"/>
          <p:cNvGrpSpPr/>
          <p:nvPr/>
        </p:nvGrpSpPr>
        <p:grpSpPr>
          <a:xfrm>
            <a:off x="7223760" y="1828800"/>
            <a:ext cx="4334256" cy="3282696"/>
            <a:chOff x="7223760" y="1828800"/>
            <a:chExt cx="4334256" cy="3282696"/>
          </a:xfrm>
        </p:grpSpPr>
        <p:sp>
          <p:nvSpPr>
            <p:cNvPr id="21" name="Rounded Rectangle 20"/>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28.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178" name="Bloc 4"/>
          <p:cNvGrpSpPr/>
          <p:nvPr/>
        </p:nvGrpSpPr>
        <p:grpSpPr>
          <a:xfrm>
            <a:off x="731520" y="5248656"/>
            <a:ext cx="10728655" cy="841248"/>
            <a:chOff x="731520" y="5248656"/>
            <a:chExt cx="10728655" cy="841248"/>
          </a:xfrm>
        </p:grpSpPr>
        <p:sp>
          <p:nvSpPr>
            <p:cNvPr id="13" name="Text 10"/>
            <p:cNvSpPr txBox="1"/>
            <p:nvPr/>
          </p:nvSpPr>
          <p:spPr>
            <a:xfrm>
              <a:off x="7223760" y="5349240"/>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L'alerte protège la personne : pas le mandat de celui qui la déclenche.</a:t>
              </a:r>
              <a:endParaRPr lang="en-US" sz="950" dirty="0"/>
            </a:p>
          </p:txBody>
        </p:sp>
        <p:sp>
          <p:nvSpPr>
            <p:cNvPr id="14" name="Shape 11"/>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5" name="Text 12"/>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test de proportionnalité   </a:t>
              </a:r>
              <a:r>
                <a:rPr lang="en-US" sz="1300" dirty="0">
                  <a:solidFill>
                    <a:srgbClr val="075767"/>
                  </a:solidFill>
                  <a:latin typeface="Lato" pitchFamily="34" charset="0"/>
                  <a:ea typeface="Lato" pitchFamily="34" charset="-122"/>
                  <a:cs typeface="Lato" pitchFamily="34" charset="-120"/>
                </a:rPr>
                <a:t>l'atteinte n'est illicite que si elle n'est ni justifiée par la nature de la tâche, ni proportionnée au but recherché. Poser les deux questions avant de saisir.</a:t>
              </a:r>
              <a:endParaRPr lang="en-US" sz="1250" dirty="0"/>
            </a:p>
          </p:txBody>
        </p:sp>
      </p:gr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08</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137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77"/>
                                        </p:tgtEl>
                                        <p:attrNameLst>
                                          <p:attrName>style.visibility</p:attrName>
                                        </p:attrNameLst>
                                      </p:cBhvr>
                                      <p:to>
                                        <p:strVal val="visible"/>
                                      </p:to>
                                    </p:set>
                                    <p:animEffect transition="in" filter="fade">
                                      <p:cBhvr>
                                        <p:cTn id="12" dur="450"/>
                                        <p:tgtEl>
                                          <p:spTgt spid="91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78"/>
                                        </p:tgtEl>
                                        <p:attrNameLst>
                                          <p:attrName>style.visibility</p:attrName>
                                        </p:attrNameLst>
                                      </p:cBhvr>
                                      <p:to>
                                        <p:strVal val="visible"/>
                                      </p:to>
                                    </p:set>
                                    <p:animEffect transition="in" filter="fade">
                                      <p:cBhvr>
                                        <p:cTn id="22" dur="450"/>
                                        <p:tgtEl>
                                          <p:spTgt spid="9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Atteinte aux droits : la procédure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droits d'alerte</a:t>
            </a:r>
            <a:endParaRPr lang="en-US" sz="1400" dirty="0"/>
          </a:p>
        </p:txBody>
      </p:sp>
      <p:sp>
        <p:nvSpPr>
          <p:cNvPr id="10" name="Shape 8"/>
          <p:cNvSpPr/>
          <p:nvPr/>
        </p:nvSpPr>
        <p:spPr>
          <a:xfrm>
            <a:off x="2057400" y="2743200"/>
            <a:ext cx="8076895" cy="0"/>
          </a:xfrm>
          <a:prstGeom prst="line">
            <a:avLst/>
          </a:prstGeom>
          <a:noFill/>
          <a:ln w="25400">
            <a:solidFill>
              <a:srgbClr val="C1D5D9"/>
            </a:solidFill>
            <a:prstDash val="solid"/>
          </a:ln>
        </p:spPr>
        <p:txBody>
          <a:bodyPr/>
          <a:lstStyle/>
          <a:p>
            <a:endParaRPr/>
          </a:p>
        </p:txBody>
      </p:sp>
      <p:grpSp>
        <p:nvGrpSpPr>
          <p:cNvPr id="9179" name="Bloc 1"/>
          <p:cNvGrpSpPr/>
          <p:nvPr/>
        </p:nvGrpSpPr>
        <p:grpSpPr>
          <a:xfrm>
            <a:off x="1691640" y="2377440"/>
            <a:ext cx="731520" cy="731520"/>
            <a:chOff x="1691640" y="2377440"/>
            <a:chExt cx="731520" cy="731520"/>
          </a:xfrm>
        </p:grpSpPr>
        <p:sp>
          <p:nvSpPr>
            <p:cNvPr id="11" name="Shape 9"/>
            <p:cNvSpPr/>
            <p:nvPr/>
          </p:nvSpPr>
          <p:spPr>
            <a:xfrm>
              <a:off x="1691640" y="2377440"/>
              <a:ext cx="731520" cy="731520"/>
            </a:xfrm>
            <a:prstGeom prst="ellipse">
              <a:avLst/>
            </a:prstGeom>
            <a:solidFill>
              <a:srgbClr val="075767"/>
            </a:solidFill>
            <a:ln w="38100">
              <a:solidFill>
                <a:srgbClr val="FFFFFF"/>
              </a:solidFill>
              <a:prstDash val="solid"/>
            </a:ln>
          </p:spPr>
          <p:txBody>
            <a:bodyPr/>
            <a:lstStyle/>
            <a:p>
              <a:endParaRPr/>
            </a:p>
          </p:txBody>
        </p:sp>
        <p:sp>
          <p:nvSpPr>
            <p:cNvPr id="12" name="Text 10"/>
            <p:cNvSpPr txBox="1"/>
            <p:nvPr/>
          </p:nvSpPr>
          <p:spPr>
            <a:xfrm>
              <a:off x="1691640"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1</a:t>
              </a:r>
              <a:endParaRPr lang="en-US" sz="1900" dirty="0"/>
            </a:p>
          </p:txBody>
        </p:sp>
      </p:grpSp>
      <p:sp>
        <p:nvSpPr>
          <p:cNvPr id="13" name="Text 11"/>
          <p:cNvSpPr txBox="1"/>
          <p:nvPr/>
        </p:nvSpPr>
        <p:spPr>
          <a:xfrm>
            <a:off x="777240"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Constater</a:t>
            </a:r>
            <a:endParaRPr lang="en-US" sz="1550" dirty="0"/>
          </a:p>
        </p:txBody>
      </p:sp>
      <p:sp>
        <p:nvSpPr>
          <p:cNvPr id="14" name="Text 12"/>
          <p:cNvSpPr txBox="1"/>
          <p:nvPr/>
        </p:nvSpPr>
        <p:spPr>
          <a:xfrm>
            <a:off x="777240"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Directement, ou par l'intermédiaire d'un travailleur</a:t>
            </a:r>
            <a:endParaRPr lang="en-US" sz="1150" dirty="0"/>
          </a:p>
        </p:txBody>
      </p:sp>
      <p:grpSp>
        <p:nvGrpSpPr>
          <p:cNvPr id="9180" name="Bloc 2"/>
          <p:cNvGrpSpPr/>
          <p:nvPr/>
        </p:nvGrpSpPr>
        <p:grpSpPr>
          <a:xfrm>
            <a:off x="4383938" y="2377440"/>
            <a:ext cx="731520" cy="731520"/>
            <a:chOff x="4383938" y="2377440"/>
            <a:chExt cx="731520" cy="731520"/>
          </a:xfrm>
        </p:grpSpPr>
        <p:sp>
          <p:nvSpPr>
            <p:cNvPr id="15" name="Shape 13"/>
            <p:cNvSpPr/>
            <p:nvPr/>
          </p:nvSpPr>
          <p:spPr>
            <a:xfrm>
              <a:off x="4383938" y="2377440"/>
              <a:ext cx="731520" cy="731520"/>
            </a:xfrm>
            <a:prstGeom prst="ellipse">
              <a:avLst/>
            </a:prstGeom>
            <a:solidFill>
              <a:srgbClr val="F06C23"/>
            </a:solidFill>
            <a:ln w="38100">
              <a:solidFill>
                <a:srgbClr val="FFFFFF"/>
              </a:solidFill>
              <a:prstDash val="solid"/>
            </a:ln>
          </p:spPr>
          <p:txBody>
            <a:bodyPr/>
            <a:lstStyle/>
            <a:p>
              <a:endParaRPr/>
            </a:p>
          </p:txBody>
        </p:sp>
        <p:sp>
          <p:nvSpPr>
            <p:cNvPr id="16" name="Text 14"/>
            <p:cNvSpPr txBox="1"/>
            <p:nvPr/>
          </p:nvSpPr>
          <p:spPr>
            <a:xfrm>
              <a:off x="4383938"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2</a:t>
              </a:r>
              <a:endParaRPr lang="en-US" sz="1900" dirty="0"/>
            </a:p>
          </p:txBody>
        </p:sp>
      </p:grpSp>
      <p:sp>
        <p:nvSpPr>
          <p:cNvPr id="17" name="Text 15"/>
          <p:cNvSpPr txBox="1"/>
          <p:nvPr/>
        </p:nvSpPr>
        <p:spPr>
          <a:xfrm>
            <a:off x="3469538"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Saisir</a:t>
            </a:r>
            <a:endParaRPr lang="en-US" sz="1550" dirty="0"/>
          </a:p>
        </p:txBody>
      </p:sp>
      <p:sp>
        <p:nvSpPr>
          <p:cNvPr id="18" name="Text 16"/>
          <p:cNvSpPr txBox="1"/>
          <p:nvPr/>
        </p:nvSpPr>
        <p:spPr>
          <a:xfrm>
            <a:off x="3469538"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Immédiatement l'employeur : par écrit, mail au président de la CSSCT</a:t>
            </a:r>
            <a:endParaRPr lang="en-US" sz="1150" dirty="0"/>
          </a:p>
        </p:txBody>
      </p:sp>
      <p:grpSp>
        <p:nvGrpSpPr>
          <p:cNvPr id="9181" name="Bloc 3"/>
          <p:cNvGrpSpPr/>
          <p:nvPr/>
        </p:nvGrpSpPr>
        <p:grpSpPr>
          <a:xfrm>
            <a:off x="7076237" y="2377440"/>
            <a:ext cx="731520" cy="731520"/>
            <a:chOff x="7076237" y="2377440"/>
            <a:chExt cx="731520" cy="731520"/>
          </a:xfrm>
        </p:grpSpPr>
        <p:sp>
          <p:nvSpPr>
            <p:cNvPr id="19" name="Shape 17"/>
            <p:cNvSpPr/>
            <p:nvPr/>
          </p:nvSpPr>
          <p:spPr>
            <a:xfrm>
              <a:off x="7076237" y="2377440"/>
              <a:ext cx="731520" cy="731520"/>
            </a:xfrm>
            <a:prstGeom prst="ellipse">
              <a:avLst/>
            </a:prstGeom>
            <a:solidFill>
              <a:srgbClr val="075767"/>
            </a:solidFill>
            <a:ln w="38100">
              <a:solidFill>
                <a:srgbClr val="FFFFFF"/>
              </a:solidFill>
              <a:prstDash val="solid"/>
            </a:ln>
          </p:spPr>
          <p:txBody>
            <a:bodyPr/>
            <a:lstStyle/>
            <a:p>
              <a:endParaRPr/>
            </a:p>
          </p:txBody>
        </p:sp>
        <p:sp>
          <p:nvSpPr>
            <p:cNvPr id="20" name="Text 18"/>
            <p:cNvSpPr txBox="1"/>
            <p:nvPr/>
          </p:nvSpPr>
          <p:spPr>
            <a:xfrm>
              <a:off x="7076237"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3</a:t>
              </a:r>
              <a:endParaRPr lang="en-US" sz="1900" dirty="0"/>
            </a:p>
          </p:txBody>
        </p:sp>
      </p:grpSp>
      <p:sp>
        <p:nvSpPr>
          <p:cNvPr id="21" name="Text 19"/>
          <p:cNvSpPr txBox="1"/>
          <p:nvPr/>
        </p:nvSpPr>
        <p:spPr>
          <a:xfrm>
            <a:off x="6161837"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Enquêter</a:t>
            </a:r>
            <a:endParaRPr lang="en-US" sz="1550" dirty="0"/>
          </a:p>
        </p:txBody>
      </p:sp>
      <p:sp>
        <p:nvSpPr>
          <p:cNvPr id="22" name="Text 20"/>
          <p:cNvSpPr txBox="1"/>
          <p:nvPr/>
        </p:nvSpPr>
        <p:spPr>
          <a:xfrm>
            <a:off x="6161837"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Sans délai, conjointement avec l'employeur</a:t>
            </a:r>
            <a:endParaRPr lang="en-US" sz="1150" dirty="0"/>
          </a:p>
        </p:txBody>
      </p:sp>
      <p:grpSp>
        <p:nvGrpSpPr>
          <p:cNvPr id="9182" name="Bloc 4"/>
          <p:cNvGrpSpPr/>
          <p:nvPr/>
        </p:nvGrpSpPr>
        <p:grpSpPr>
          <a:xfrm>
            <a:off x="9768535" y="2377440"/>
            <a:ext cx="731520" cy="731520"/>
            <a:chOff x="9768535" y="2377440"/>
            <a:chExt cx="731520" cy="731520"/>
          </a:xfrm>
        </p:grpSpPr>
        <p:sp>
          <p:nvSpPr>
            <p:cNvPr id="23" name="Shape 21"/>
            <p:cNvSpPr/>
            <p:nvPr/>
          </p:nvSpPr>
          <p:spPr>
            <a:xfrm>
              <a:off x="9768535" y="2377440"/>
              <a:ext cx="731520" cy="731520"/>
            </a:xfrm>
            <a:prstGeom prst="ellipse">
              <a:avLst/>
            </a:prstGeom>
            <a:solidFill>
              <a:srgbClr val="075767"/>
            </a:solidFill>
            <a:ln w="38100">
              <a:solidFill>
                <a:srgbClr val="FFFFFF"/>
              </a:solidFill>
              <a:prstDash val="solid"/>
            </a:ln>
          </p:spPr>
          <p:txBody>
            <a:bodyPr/>
            <a:lstStyle/>
            <a:p>
              <a:endParaRPr/>
            </a:p>
          </p:txBody>
        </p:sp>
        <p:sp>
          <p:nvSpPr>
            <p:cNvPr id="24" name="Text 22"/>
            <p:cNvSpPr txBox="1"/>
            <p:nvPr/>
          </p:nvSpPr>
          <p:spPr>
            <a:xfrm>
              <a:off x="9768535"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4</a:t>
              </a:r>
              <a:endParaRPr lang="en-US" sz="1900" dirty="0"/>
            </a:p>
          </p:txBody>
        </p:sp>
      </p:grpSp>
      <p:sp>
        <p:nvSpPr>
          <p:cNvPr id="25" name="Text 23"/>
          <p:cNvSpPr txBox="1"/>
          <p:nvPr/>
        </p:nvSpPr>
        <p:spPr>
          <a:xfrm>
            <a:off x="8854135"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Saisir le juge</a:t>
            </a:r>
            <a:endParaRPr lang="en-US" sz="1550" dirty="0"/>
          </a:p>
        </p:txBody>
      </p:sp>
      <p:sp>
        <p:nvSpPr>
          <p:cNvPr id="26" name="Text 24"/>
          <p:cNvSpPr txBox="1"/>
          <p:nvPr/>
        </p:nvSpPr>
        <p:spPr>
          <a:xfrm>
            <a:off x="8854135"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En cas de carence ou de désaccord : conseil de prud'hommes, procédure accélérée</a:t>
            </a:r>
            <a:endParaRPr lang="en-US" sz="1150" dirty="0"/>
          </a:p>
        </p:txBody>
      </p:sp>
      <p:grpSp>
        <p:nvGrpSpPr>
          <p:cNvPr id="9183" name="Bloc 14"/>
          <p:cNvGrpSpPr/>
          <p:nvPr/>
        </p:nvGrpSpPr>
        <p:grpSpPr>
          <a:xfrm>
            <a:off x="731520" y="5029200"/>
            <a:ext cx="10728655" cy="841248"/>
            <a:chOff x="731520" y="5029200"/>
            <a:chExt cx="10728655" cy="841248"/>
          </a:xfrm>
        </p:grpSpPr>
        <p:sp>
          <p:nvSpPr>
            <p:cNvPr id="27" name="Shape 25"/>
            <p:cNvSpPr/>
            <p:nvPr/>
          </p:nvSpPr>
          <p:spPr>
            <a:xfrm>
              <a:off x="731520" y="5029200"/>
              <a:ext cx="10728655" cy="841248"/>
            </a:xfrm>
            <a:prstGeom prst="roundRect">
              <a:avLst>
                <a:gd name="adj" fmla="val 6522"/>
              </a:avLst>
            </a:prstGeom>
            <a:solidFill>
              <a:srgbClr val="D7E8EB"/>
            </a:solidFill>
            <a:ln/>
          </p:spPr>
          <p:txBody>
            <a:bodyPr/>
            <a:lstStyle/>
            <a:p>
              <a:endParaRPr/>
            </a:p>
          </p:txBody>
        </p:sp>
        <p:sp>
          <p:nvSpPr>
            <p:cNvPr id="28" name="Text 26"/>
            <p:cNvSpPr txBox="1"/>
            <p:nvPr/>
          </p:nvSpPr>
          <p:spPr>
            <a:xfrm>
              <a:off x="1024128" y="50292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À retenir   toujours par écrit, toujours daté. L'oral ne laisse aucune trace de la saisine, et c'est la date de saisine qui fait courir l'obligation d'enquête.</a:t>
              </a:r>
              <a:endParaRPr lang="en-US" sz="1250" dirty="0"/>
            </a:p>
          </p:txBody>
        </p:sp>
      </p:grpSp>
      <p:pic>
        <p:nvPicPr>
          <p:cNvPr id="29"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30" name="Text 27"/>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31" name="Shape 28"/>
          <p:cNvSpPr/>
          <p:nvPr/>
        </p:nvSpPr>
        <p:spPr>
          <a:xfrm>
            <a:off x="10591495" y="6181344"/>
            <a:ext cx="438912" cy="438912"/>
          </a:xfrm>
          <a:prstGeom prst="ellipse">
            <a:avLst/>
          </a:prstGeom>
          <a:solidFill>
            <a:srgbClr val="F06C23"/>
          </a:solidFill>
          <a:ln/>
        </p:spPr>
        <p:txBody>
          <a:bodyPr/>
          <a:lstStyle/>
          <a:p>
            <a:endParaRPr/>
          </a:p>
        </p:txBody>
      </p:sp>
      <p:sp>
        <p:nvSpPr>
          <p:cNvPr id="32" name="Text 29"/>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08</a:t>
            </a:r>
            <a:endParaRPr lang="en-US" sz="1100" dirty="0"/>
          </a:p>
        </p:txBody>
      </p:sp>
      <p:sp>
        <p:nvSpPr>
          <p:cNvPr id="33" name="Text 30"/>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138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79"/>
                                        </p:tgtEl>
                                        <p:attrNameLst>
                                          <p:attrName>style.visibility</p:attrName>
                                        </p:attrNameLst>
                                      </p:cBhvr>
                                      <p:to>
                                        <p:strVal val="visible"/>
                                      </p:to>
                                    </p:set>
                                    <p:animEffect transition="in" filter="fade">
                                      <p:cBhvr>
                                        <p:cTn id="7" dur="450"/>
                                        <p:tgtEl>
                                          <p:spTgt spid="91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80"/>
                                        </p:tgtEl>
                                        <p:attrNameLst>
                                          <p:attrName>style.visibility</p:attrName>
                                        </p:attrNameLst>
                                      </p:cBhvr>
                                      <p:to>
                                        <p:strVal val="visible"/>
                                      </p:to>
                                    </p:set>
                                    <p:animEffect transition="in" filter="fade">
                                      <p:cBhvr>
                                        <p:cTn id="12" dur="450"/>
                                        <p:tgtEl>
                                          <p:spTgt spid="91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81"/>
                                        </p:tgtEl>
                                        <p:attrNameLst>
                                          <p:attrName>style.visibility</p:attrName>
                                        </p:attrNameLst>
                                      </p:cBhvr>
                                      <p:to>
                                        <p:strVal val="visible"/>
                                      </p:to>
                                    </p:set>
                                    <p:animEffect transition="in" filter="fade">
                                      <p:cBhvr>
                                        <p:cTn id="17" dur="450"/>
                                        <p:tgtEl>
                                          <p:spTgt spid="918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82"/>
                                        </p:tgtEl>
                                        <p:attrNameLst>
                                          <p:attrName>style.visibility</p:attrName>
                                        </p:attrNameLst>
                                      </p:cBhvr>
                                      <p:to>
                                        <p:strVal val="visible"/>
                                      </p:to>
                                    </p:set>
                                    <p:animEffect transition="in" filter="fade">
                                      <p:cBhvr>
                                        <p:cTn id="22" dur="450"/>
                                        <p:tgtEl>
                                          <p:spTgt spid="918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5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5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45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9183"/>
                                        </p:tgtEl>
                                        <p:attrNameLst>
                                          <p:attrName>style.visibility</p:attrName>
                                        </p:attrNameLst>
                                      </p:cBhvr>
                                      <p:to>
                                        <p:strVal val="visible"/>
                                      </p:to>
                                    </p:set>
                                    <p:animEffect transition="in" filter="fade">
                                      <p:cBhvr>
                                        <p:cTn id="72" dur="450"/>
                                        <p:tgtEl>
                                          <p:spTgt spid="9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droit de retrait du salarié : le texte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droits d'alerte</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139</a:t>
            </a:r>
            <a:endParaRPr lang="en-US" sz="1000" dirty="0"/>
          </a:p>
        </p:txBody>
      </p:sp>
      <p:grpSp>
        <p:nvGrpSpPr>
          <p:cNvPr id="9184" name="Bloc 1"/>
          <p:cNvGrpSpPr/>
          <p:nvPr/>
        </p:nvGrpSpPr>
        <p:grpSpPr>
          <a:xfrm>
            <a:off x="731520" y="1874519"/>
            <a:ext cx="10725912" cy="3474720"/>
            <a:chOff x="731520" y="1874519"/>
            <a:chExt cx="10725912" cy="3474720"/>
          </a:xfrm>
        </p:grpSpPr>
        <p:sp>
          <p:nvSpPr>
            <p:cNvPr id="19" name="Rounded Rectangle 18"/>
            <p:cNvSpPr/>
            <p:nvPr/>
          </p:nvSpPr>
          <p:spPr>
            <a:xfrm>
              <a:off x="731520" y="1874519"/>
              <a:ext cx="10725912" cy="347472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039112"/>
              <a:ext cx="10177272" cy="274320"/>
            </a:xfrm>
            <a:prstGeom prst="rect">
              <a:avLst/>
            </a:prstGeom>
            <a:noFill/>
          </p:spPr>
          <p:txBody>
            <a:bodyPr wrap="square" lIns="0" tIns="0" rIns="0" bIns="0" anchor="t">
              <a:spAutoFit/>
            </a:bodyPr>
            <a:lstStyle/>
            <a:p>
              <a:pPr algn="l"/>
              <a:r>
                <a:rPr sz="1350" b="1" i="0">
                  <a:solidFill>
                    <a:srgbClr val="075767"/>
                  </a:solidFill>
                  <a:latin typeface="Lato"/>
                </a:rPr>
                <a:t>Article L. 4131-1 (code du travail)</a:t>
              </a:r>
            </a:p>
          </p:txBody>
        </p:sp>
        <p:sp>
          <p:nvSpPr>
            <p:cNvPr id="21" name="TextBox 20"/>
            <p:cNvSpPr txBox="1"/>
            <p:nvPr/>
          </p:nvSpPr>
          <p:spPr>
            <a:xfrm>
              <a:off x="1005840" y="2350008"/>
              <a:ext cx="10177272" cy="2834639"/>
            </a:xfrm>
            <a:prstGeom prst="rect">
              <a:avLst/>
            </a:prstGeom>
            <a:noFill/>
          </p:spPr>
          <p:txBody>
            <a:bodyPr wrap="square" lIns="0" tIns="0" rIns="0" bIns="0" anchor="t">
              <a:spAutoFit/>
            </a:bodyPr>
            <a:lstStyle/>
            <a:p>
              <a:pPr algn="l"/>
              <a:r>
                <a:rPr sz="1300" b="0" i="1">
                  <a:solidFill>
                    <a:srgbClr val="075767"/>
                  </a:solidFill>
                  <a:latin typeface="Lato"/>
                </a:rPr>
                <a:t>Le travailleur alerte immédiatement l'employeur de toute situation de travail dont il a un motif raisonnable de penser qu'elle présente un danger grave et imminent pour sa vie ou sa santé ainsi que de toute défectuosité qu'il constate dans les systèmes de protection.
Il peut se retirer d'une telle situation.
L'employeur ne peut demander au travailleur qui a fait usage de son droit de retrait de reprendre son activité dans une situation de travail où persiste un danger grave et imminent résultant notamment d'une défectuosité du système de protection.</a:t>
              </a:r>
            </a:p>
          </p:txBody>
        </p:sp>
      </p:grpSp>
      <p:grpSp>
        <p:nvGrpSpPr>
          <p:cNvPr id="9185" name="Bloc 2"/>
          <p:cNvGrpSpPr/>
          <p:nvPr/>
        </p:nvGrpSpPr>
        <p:grpSpPr>
          <a:xfrm>
            <a:off x="731520" y="5486400"/>
            <a:ext cx="10725912" cy="566928"/>
            <a:chOff x="731520" y="5486400"/>
            <a:chExt cx="10725912" cy="566928"/>
          </a:xfrm>
        </p:grpSpPr>
        <p:sp>
          <p:nvSpPr>
            <p:cNvPr id="22" name="Rounded Rectangle 21"/>
            <p:cNvSpPr/>
            <p:nvPr/>
          </p:nvSpPr>
          <p:spPr>
            <a:xfrm>
              <a:off x="731520" y="5486400"/>
              <a:ext cx="10725912" cy="56692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24128" y="5486400"/>
              <a:ext cx="10140696" cy="566928"/>
            </a:xfrm>
            <a:prstGeom prst="rect">
              <a:avLst/>
            </a:prstGeom>
            <a:noFill/>
          </p:spPr>
          <p:txBody>
            <a:bodyPr wrap="square" lIns="0" rIns="0" anchor="ctr">
              <a:spAutoFit/>
            </a:bodyPr>
            <a:lstStyle/>
            <a:p>
              <a:r>
                <a:rPr sz="1150" b="1">
                  <a:solidFill>
                    <a:srgbClr val="C33F14"/>
                  </a:solidFill>
                  <a:latin typeface="Lato"/>
                </a:rPr>
                <a:t>À ne pas confondre   </a:t>
              </a:r>
              <a:r>
                <a:rPr sz="1150">
                  <a:solidFill>
                    <a:srgbClr val="595959"/>
                  </a:solidFill>
                  <a:latin typeface="Lato"/>
                </a:rPr>
                <a:t>L. 4131-1 est le droit du SALARIÉ, qui se retire. L. 4131-2 est le droit de l'ÉLU, qui alerte. Le premier protège une personne, le second déclenche une procédure.</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84"/>
                                        </p:tgtEl>
                                        <p:attrNameLst>
                                          <p:attrName>style.visibility</p:attrName>
                                        </p:attrNameLst>
                                      </p:cBhvr>
                                      <p:to>
                                        <p:strVal val="visible"/>
                                      </p:to>
                                    </p:set>
                                    <p:animEffect transition="in" filter="fade">
                                      <p:cBhvr>
                                        <p:cTn id="7" dur="450"/>
                                        <p:tgtEl>
                                          <p:spTgt spid="91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85"/>
                                        </p:tgtEl>
                                        <p:attrNameLst>
                                          <p:attrName>style.visibility</p:attrName>
                                        </p:attrNameLst>
                                      </p:cBhvr>
                                      <p:to>
                                        <p:strVal val="visible"/>
                                      </p:to>
                                    </p:set>
                                    <p:animEffect transition="in" filter="fade">
                                      <p:cBhvr>
                                        <p:cTn id="12" dur="450"/>
                                        <p:tgtEl>
                                          <p:spTgt spid="9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danger grave et imminent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droits d'alerte</a:t>
            </a:r>
            <a:endParaRPr lang="en-US" sz="1400" dirty="0"/>
          </a:p>
        </p:txBody>
      </p:sp>
      <p:grpSp>
        <p:nvGrpSpPr>
          <p:cNvPr id="9186"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4131-2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Le représentant du personnel au comité social et économique qui constate qu'il existe une cause de danger grave et imminent, notamment par l'intermédiaire d'un travailleur, en alerte immédiatement l'employeur selon la procédure prévue au premier alinéa de l'article L. 4132-2.</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4173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L'alerte est consignée par écrit sur le registre des dangers graves et imminents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registre est ouvert par l'employeur, ses pages sont numérotées</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L'alerte est datée et signée. Elle indique : les postes de travail concernés, la nature et la cause du danger, le nom des travailleurs exposés</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08</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140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86"/>
                                        </p:tgtEl>
                                        <p:attrNameLst>
                                          <p:attrName>style.visibility</p:attrName>
                                        </p:attrNameLst>
                                      </p:cBhvr>
                                      <p:to>
                                        <p:strVal val="visible"/>
                                      </p:to>
                                    </p:set>
                                    <p:animEffect transition="in" filter="fade">
                                      <p:cBhvr>
                                        <p:cTn id="7" dur="450"/>
                                        <p:tgtEl>
                                          <p:spTgt spid="91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qui suit l'alerte : les textes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droits d'alerte</a:t>
            </a:r>
            <a:endParaRPr lang="en-US" sz="1400" dirty="0"/>
          </a:p>
        </p:txBody>
      </p:sp>
      <p:pic>
        <p:nvPicPr>
          <p:cNvPr id="15" name="Image 1"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6"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7" name="Shape 13"/>
          <p:cNvSpPr/>
          <p:nvPr/>
        </p:nvSpPr>
        <p:spPr>
          <a:xfrm>
            <a:off x="10591495" y="6181344"/>
            <a:ext cx="438912" cy="438912"/>
          </a:xfrm>
          <a:prstGeom prst="ellipse">
            <a:avLst/>
          </a:prstGeom>
          <a:solidFill>
            <a:srgbClr val="F06C23"/>
          </a:solidFill>
          <a:ln/>
        </p:spPr>
        <p:txBody>
          <a:bodyPr/>
          <a:lstStyle/>
          <a:p>
            <a:endParaRPr/>
          </a:p>
        </p:txBody>
      </p:sp>
      <p:sp>
        <p:nvSpPr>
          <p:cNvPr id="18"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08</a:t>
            </a:r>
            <a:endParaRPr lang="en-US" sz="1100" dirty="0"/>
          </a:p>
        </p:txBody>
      </p:sp>
      <p:sp>
        <p:nvSpPr>
          <p:cNvPr id="19"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141</a:t>
            </a:r>
            <a:endParaRPr lang="en-US" sz="1000" dirty="0"/>
          </a:p>
        </p:txBody>
      </p:sp>
      <p:grpSp>
        <p:nvGrpSpPr>
          <p:cNvPr id="9187" name="Bloc 1"/>
          <p:cNvGrpSpPr/>
          <p:nvPr/>
        </p:nvGrpSpPr>
        <p:grpSpPr>
          <a:xfrm>
            <a:off x="731520" y="1874519"/>
            <a:ext cx="10725912" cy="1342440"/>
            <a:chOff x="731520" y="1874519"/>
            <a:chExt cx="10725912" cy="1342440"/>
          </a:xfrm>
        </p:grpSpPr>
        <p:sp>
          <p:nvSpPr>
            <p:cNvPr id="20" name="Rounded Rectangle 19"/>
            <p:cNvSpPr/>
            <p:nvPr/>
          </p:nvSpPr>
          <p:spPr>
            <a:xfrm>
              <a:off x="731520" y="1874519"/>
              <a:ext cx="10725912" cy="134244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2039112"/>
              <a:ext cx="10177272" cy="274320"/>
            </a:xfrm>
            <a:prstGeom prst="rect">
              <a:avLst/>
            </a:prstGeom>
            <a:noFill/>
          </p:spPr>
          <p:txBody>
            <a:bodyPr wrap="square" lIns="0" tIns="0" rIns="0" bIns="0" anchor="t">
              <a:spAutoFit/>
            </a:bodyPr>
            <a:lstStyle/>
            <a:p>
              <a:pPr algn="l"/>
              <a:r>
                <a:rPr sz="1250" b="1" i="0">
                  <a:solidFill>
                    <a:srgbClr val="075767"/>
                  </a:solidFill>
                  <a:latin typeface="Lato"/>
                </a:rPr>
                <a:t>Article L. 4132-2 (code du travail)</a:t>
              </a:r>
            </a:p>
          </p:txBody>
        </p:sp>
        <p:sp>
          <p:nvSpPr>
            <p:cNvPr id="22" name="TextBox 21"/>
            <p:cNvSpPr txBox="1"/>
            <p:nvPr/>
          </p:nvSpPr>
          <p:spPr>
            <a:xfrm>
              <a:off x="1005840" y="2350008"/>
              <a:ext cx="10177272" cy="702360"/>
            </a:xfrm>
            <a:prstGeom prst="rect">
              <a:avLst/>
            </a:prstGeom>
            <a:noFill/>
          </p:spPr>
          <p:txBody>
            <a:bodyPr wrap="square" lIns="0" tIns="0" rIns="0" bIns="0" anchor="t">
              <a:spAutoFit/>
            </a:bodyPr>
            <a:lstStyle/>
            <a:p>
              <a:pPr algn="l"/>
              <a:r>
                <a:rPr sz="1150" b="0" i="1">
                  <a:solidFill>
                    <a:srgbClr val="075767"/>
                  </a:solidFill>
                  <a:latin typeface="Lato"/>
                </a:rPr>
                <a:t>Lorsque le représentant du personnel au comité social et économique alerte l'employeur en application de l'article L. 4131-2, il consigne son avis par écrit dans des conditions déterminées par voie réglementaire. L'employeur procède immédiatement à une enquête avec le représentant du comité social et économique qui lui a signalé le danger et prend les dispositions nécessaires pour y remédier.</a:t>
              </a:r>
            </a:p>
          </p:txBody>
        </p:sp>
      </p:grpSp>
      <p:grpSp>
        <p:nvGrpSpPr>
          <p:cNvPr id="9188" name="Bloc 2"/>
          <p:cNvGrpSpPr/>
          <p:nvPr/>
        </p:nvGrpSpPr>
        <p:grpSpPr>
          <a:xfrm>
            <a:off x="731520" y="3216959"/>
            <a:ext cx="10725912" cy="1508837"/>
            <a:chOff x="731520" y="3216959"/>
            <a:chExt cx="10725912" cy="1508837"/>
          </a:xfrm>
        </p:grpSpPr>
        <p:sp>
          <p:nvSpPr>
            <p:cNvPr id="23" name="Rounded Rectangle 22"/>
            <p:cNvSpPr/>
            <p:nvPr/>
          </p:nvSpPr>
          <p:spPr>
            <a:xfrm>
              <a:off x="731520" y="3216959"/>
              <a:ext cx="10725912" cy="1508837"/>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3381551"/>
              <a:ext cx="10177272" cy="274320"/>
            </a:xfrm>
            <a:prstGeom prst="rect">
              <a:avLst/>
            </a:prstGeom>
            <a:noFill/>
          </p:spPr>
          <p:txBody>
            <a:bodyPr wrap="square" lIns="0" tIns="0" rIns="0" bIns="0" anchor="t">
              <a:spAutoFit/>
            </a:bodyPr>
            <a:lstStyle/>
            <a:p>
              <a:pPr algn="l"/>
              <a:r>
                <a:rPr sz="1250" b="1" i="0">
                  <a:solidFill>
                    <a:srgbClr val="075767"/>
                  </a:solidFill>
                  <a:latin typeface="Lato"/>
                </a:rPr>
                <a:t>Article L. 4132-3 (code du travail)</a:t>
              </a:r>
            </a:p>
          </p:txBody>
        </p:sp>
        <p:sp>
          <p:nvSpPr>
            <p:cNvPr id="25" name="TextBox 24"/>
            <p:cNvSpPr txBox="1"/>
            <p:nvPr/>
          </p:nvSpPr>
          <p:spPr>
            <a:xfrm>
              <a:off x="1005840" y="3692447"/>
              <a:ext cx="10177272" cy="868757"/>
            </a:xfrm>
            <a:prstGeom prst="rect">
              <a:avLst/>
            </a:prstGeom>
            <a:noFill/>
          </p:spPr>
          <p:txBody>
            <a:bodyPr wrap="square" lIns="0" tIns="0" rIns="0" bIns="0" anchor="t">
              <a:spAutoFit/>
            </a:bodyPr>
            <a:lstStyle/>
            <a:p>
              <a:pPr algn="l"/>
              <a:r>
                <a:rPr sz="1200" b="0" i="1">
                  <a:solidFill>
                    <a:srgbClr val="075767"/>
                  </a:solidFill>
                  <a:latin typeface="Lato"/>
                </a:rPr>
                <a:t>En cas de divergence sur la réalité du danger ou la façon de le faire cesser, notamment par arrêt du travail, de la machine ou de l'installation, le comité social et économique est réuni d'urgence, dans un délai n'excédant pas vingt-quatre heures. L'employeur informe immédiatement l'agent de contrôle de l'inspection du travail mentionné à l'article L. 8112-1 et l'agent du service de prévention de la caisse régionale d'assurance maladie, qui peuvent assister à la réunion du comité social et économique.</a:t>
              </a:r>
            </a:p>
          </p:txBody>
        </p:sp>
      </p:grpSp>
      <p:grpSp>
        <p:nvGrpSpPr>
          <p:cNvPr id="9189" name="Bloc 3"/>
          <p:cNvGrpSpPr/>
          <p:nvPr/>
        </p:nvGrpSpPr>
        <p:grpSpPr>
          <a:xfrm>
            <a:off x="731520" y="4890389"/>
            <a:ext cx="10725912" cy="1217803"/>
            <a:chOff x="731520" y="4890389"/>
            <a:chExt cx="10725912" cy="1217803"/>
          </a:xfrm>
        </p:grpSpPr>
        <p:sp>
          <p:nvSpPr>
            <p:cNvPr id="26" name="Rounded Rectangle 25"/>
            <p:cNvSpPr/>
            <p:nvPr/>
          </p:nvSpPr>
          <p:spPr>
            <a:xfrm>
              <a:off x="731520" y="4890389"/>
              <a:ext cx="10725912" cy="1217803"/>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5840" y="5054981"/>
              <a:ext cx="10177272" cy="274320"/>
            </a:xfrm>
            <a:prstGeom prst="rect">
              <a:avLst/>
            </a:prstGeom>
            <a:noFill/>
          </p:spPr>
          <p:txBody>
            <a:bodyPr wrap="square" lIns="0" tIns="0" rIns="0" bIns="0" anchor="t">
              <a:spAutoFit/>
            </a:bodyPr>
            <a:lstStyle/>
            <a:p>
              <a:pPr algn="l"/>
              <a:r>
                <a:rPr sz="1250" b="1" i="0">
                  <a:solidFill>
                    <a:srgbClr val="075767"/>
                  </a:solidFill>
                  <a:latin typeface="Lato"/>
                </a:rPr>
                <a:t>Article L. 4132-4 (code du travail)</a:t>
              </a:r>
            </a:p>
          </p:txBody>
        </p:sp>
        <p:sp>
          <p:nvSpPr>
            <p:cNvPr id="28" name="TextBox 27"/>
            <p:cNvSpPr txBox="1"/>
            <p:nvPr/>
          </p:nvSpPr>
          <p:spPr>
            <a:xfrm>
              <a:off x="1005840" y="5365877"/>
              <a:ext cx="10177272" cy="577723"/>
            </a:xfrm>
            <a:prstGeom prst="rect">
              <a:avLst/>
            </a:prstGeom>
            <a:noFill/>
          </p:spPr>
          <p:txBody>
            <a:bodyPr wrap="square" lIns="0" tIns="0" rIns="0" bIns="0" anchor="t">
              <a:spAutoFit/>
            </a:bodyPr>
            <a:lstStyle/>
            <a:p>
              <a:pPr algn="l"/>
              <a:r>
                <a:rPr sz="1200" b="0" i="1">
                  <a:solidFill>
                    <a:srgbClr val="075767"/>
                  </a:solidFill>
                  <a:latin typeface="Lato"/>
                </a:rPr>
                <a:t>À défaut d'accord entre l'employeur et la majorité du comité social et économique sur les mesures à prendre et leurs conditions d'exécution, l'inspecteur du travail est saisi immédiatement par l'employeur. L'inspecteur du travail met en œuvre soit l'une des procédures de mise en demeure prévues à l'article L. 4721-1, soit la procédure de référé prévue aux articles L. 4732-1 et L. 4732-2.</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87"/>
                                        </p:tgtEl>
                                        <p:attrNameLst>
                                          <p:attrName>style.visibility</p:attrName>
                                        </p:attrNameLst>
                                      </p:cBhvr>
                                      <p:to>
                                        <p:strVal val="visible"/>
                                      </p:to>
                                    </p:set>
                                    <p:animEffect transition="in" filter="fade">
                                      <p:cBhvr>
                                        <p:cTn id="7" dur="450"/>
                                        <p:tgtEl>
                                          <p:spTgt spid="91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88"/>
                                        </p:tgtEl>
                                        <p:attrNameLst>
                                          <p:attrName>style.visibility</p:attrName>
                                        </p:attrNameLst>
                                      </p:cBhvr>
                                      <p:to>
                                        <p:strVal val="visible"/>
                                      </p:to>
                                    </p:set>
                                    <p:animEffect transition="in" filter="fade">
                                      <p:cBhvr>
                                        <p:cTn id="12" dur="450"/>
                                        <p:tgtEl>
                                          <p:spTgt spid="918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89"/>
                                        </p:tgtEl>
                                        <p:attrNameLst>
                                          <p:attrName>style.visibility</p:attrName>
                                        </p:attrNameLst>
                                      </p:cBhvr>
                                      <p:to>
                                        <p:strVal val="visible"/>
                                      </p:to>
                                    </p:set>
                                    <p:animEffect transition="in" filter="fade">
                                      <p:cBhvr>
                                        <p:cTn id="17" dur="450"/>
                                        <p:tgtEl>
                                          <p:spTgt spid="9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900" b="1" kern="0" spc="-150" dirty="0">
                <a:solidFill>
                  <a:srgbClr val="075767"/>
                </a:solidFill>
                <a:latin typeface="Lato" pitchFamily="34" charset="0"/>
                <a:ea typeface="Lato" pitchFamily="34" charset="-122"/>
                <a:cs typeface="Lato" pitchFamily="34" charset="-120"/>
              </a:rPr>
              <a:t>Danger grave et imminent : l'arborescence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droits d'alerte</a:t>
            </a:r>
            <a:endParaRPr lang="en-US" sz="140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03</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142</a:t>
            </a:r>
            <a:endParaRPr lang="en-US" sz="1000" dirty="0"/>
          </a:p>
        </p:txBody>
      </p:sp>
      <p:grpSp>
        <p:nvGrpSpPr>
          <p:cNvPr id="9190" name="Bloc 1"/>
          <p:cNvGrpSpPr/>
          <p:nvPr/>
        </p:nvGrpSpPr>
        <p:grpSpPr>
          <a:xfrm>
            <a:off x="4067720" y="1810512"/>
            <a:ext cx="4181526" cy="4443984"/>
            <a:chOff x="4067720" y="1810512"/>
            <a:chExt cx="4181526" cy="4443984"/>
          </a:xfrm>
        </p:grpSpPr>
        <p:sp>
          <p:nvSpPr>
            <p:cNvPr id="20" name="Rounded Rectangle 19"/>
            <p:cNvSpPr/>
            <p:nvPr/>
          </p:nvSpPr>
          <p:spPr>
            <a:xfrm>
              <a:off x="4195736" y="1938528"/>
              <a:ext cx="4053510" cy="4315968"/>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arborescence_dgi.png"/>
            <p:cNvPicPr>
              <a:picLocks noChangeAspect="1"/>
            </p:cNvPicPr>
            <p:nvPr/>
          </p:nvPicPr>
          <p:blipFill>
            <a:blip r:embed="rId4"/>
            <a:stretch>
              <a:fillRect/>
            </a:stretch>
          </p:blipFill>
          <p:spPr>
            <a:xfrm>
              <a:off x="4067720" y="1810512"/>
              <a:ext cx="4053510" cy="4315968"/>
            </a:xfrm>
            <a:prstGeom prst="roundRect">
              <a:avLst>
                <a:gd name="adj" fmla="val 2200"/>
              </a:avLst>
            </a:prstGeom>
            <a:effectLst>
              <a:outerShdw blurRad="190500" dist="38100" dir="5400000" rotWithShape="0">
                <a:srgbClr val="075767">
                  <a:alpha val="22000"/>
                </a:srgbClr>
              </a:outerShdw>
              <a:softEdge rad="32004"/>
            </a:effectLst>
          </p:spPr>
        </p:pic>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90"/>
                                        </p:tgtEl>
                                        <p:attrNameLst>
                                          <p:attrName>style.visibility</p:attrName>
                                        </p:attrNameLst>
                                      </p:cBhvr>
                                      <p:to>
                                        <p:strVal val="visible"/>
                                      </p:to>
                                    </p:set>
                                    <p:animEffect transition="in" filter="fade">
                                      <p:cBhvr>
                                        <p:cTn id="7" dur="450"/>
                                        <p:tgtEl>
                                          <p:spTgt spid="9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900" b="1" kern="0" spc="-150" dirty="0">
                <a:solidFill>
                  <a:srgbClr val="075767"/>
                </a:solidFill>
                <a:latin typeface="Lato" pitchFamily="34" charset="0"/>
                <a:ea typeface="Lato" pitchFamily="34" charset="-122"/>
                <a:cs typeface="Lato" pitchFamily="34" charset="-120"/>
              </a:rPr>
              <a:t>Santé publique et environnement : le texte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droits d'alerte</a:t>
            </a:r>
            <a:endParaRPr lang="en-US" sz="1400" dirty="0"/>
          </a:p>
        </p:txBody>
      </p:sp>
      <p:pic>
        <p:nvPicPr>
          <p:cNvPr id="17" name="Image 1"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08</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143</a:t>
            </a:r>
            <a:endParaRPr lang="en-US" sz="1000" dirty="0"/>
          </a:p>
        </p:txBody>
      </p:sp>
      <p:grpSp>
        <p:nvGrpSpPr>
          <p:cNvPr id="9191" name="Bloc 1"/>
          <p:cNvGrpSpPr/>
          <p:nvPr/>
        </p:nvGrpSpPr>
        <p:grpSpPr>
          <a:xfrm>
            <a:off x="731520" y="1874519"/>
            <a:ext cx="10725912" cy="3474720"/>
            <a:chOff x="731520" y="1874519"/>
            <a:chExt cx="10725912" cy="3474720"/>
          </a:xfrm>
        </p:grpSpPr>
        <p:sp>
          <p:nvSpPr>
            <p:cNvPr id="22" name="Rounded Rectangle 21"/>
            <p:cNvSpPr/>
            <p:nvPr/>
          </p:nvSpPr>
          <p:spPr>
            <a:xfrm>
              <a:off x="731520" y="1874519"/>
              <a:ext cx="10725912" cy="3474720"/>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5840" y="2039112"/>
              <a:ext cx="10177272" cy="274320"/>
            </a:xfrm>
            <a:prstGeom prst="rect">
              <a:avLst/>
            </a:prstGeom>
            <a:noFill/>
          </p:spPr>
          <p:txBody>
            <a:bodyPr wrap="square" lIns="0" tIns="0" rIns="0" bIns="0" anchor="t">
              <a:spAutoFit/>
            </a:bodyPr>
            <a:lstStyle/>
            <a:p>
              <a:pPr algn="l"/>
              <a:r>
                <a:rPr sz="1300" b="1" i="0">
                  <a:solidFill>
                    <a:srgbClr val="075767"/>
                  </a:solidFill>
                  <a:latin typeface="Lato"/>
                </a:rPr>
                <a:t>Article L. 4133-2 (code du travail)</a:t>
              </a:r>
            </a:p>
          </p:txBody>
        </p:sp>
        <p:sp>
          <p:nvSpPr>
            <p:cNvPr id="24" name="TextBox 23"/>
            <p:cNvSpPr txBox="1"/>
            <p:nvPr/>
          </p:nvSpPr>
          <p:spPr>
            <a:xfrm>
              <a:off x="1005840" y="2350008"/>
              <a:ext cx="10177272" cy="2834639"/>
            </a:xfrm>
            <a:prstGeom prst="rect">
              <a:avLst/>
            </a:prstGeom>
            <a:noFill/>
          </p:spPr>
          <p:txBody>
            <a:bodyPr wrap="square" lIns="0" tIns="0" rIns="0" bIns="0" anchor="t">
              <a:spAutoFit/>
            </a:bodyPr>
            <a:lstStyle/>
            <a:p>
              <a:pPr algn="l"/>
              <a:r>
                <a:rPr sz="1250" b="0" i="1">
                  <a:solidFill>
                    <a:srgbClr val="075767"/>
                  </a:solidFill>
                  <a:latin typeface="Lato"/>
                </a:rPr>
                <a:t>Sans préjudice du droit de recourir, si les conditions en sont remplies, au dispositif de signalement ou de divulgation publique prévu au chapitre II du titre Ier de la loi nº 2016-1691 du 9 décembre 2016 relative à la transparence, à la lutte contre la corruption et à la modernisation de la vie économique, le représentant du personnel au comité social et économique qui constate, notamment par l'intermédiaire d'un travailleur, que les produits ou procédés de fabrication utilisés ou mis en œuvre par l'établissement font peser un risque grave pour la santé publique ou l'environnement en alerte immédiatement l'employeur.
L'alerte est consignée par écrit dans des conditions déterminées par voie réglementaire.
L'employeur examine la situation conjointement avec le représentant du personnel au comité social et économique qui lui a transmis l'alerte et l'informe de la suite qu'il réserve à celle-ci.</a:t>
              </a:r>
            </a:p>
          </p:txBody>
        </p:sp>
      </p:grpSp>
      <p:grpSp>
        <p:nvGrpSpPr>
          <p:cNvPr id="9192" name="Bloc 2"/>
          <p:cNvGrpSpPr/>
          <p:nvPr/>
        </p:nvGrpSpPr>
        <p:grpSpPr>
          <a:xfrm>
            <a:off x="731520" y="5486400"/>
            <a:ext cx="10725912" cy="566928"/>
            <a:chOff x="731520" y="5486400"/>
            <a:chExt cx="10725912" cy="566928"/>
          </a:xfrm>
        </p:grpSpPr>
        <p:sp>
          <p:nvSpPr>
            <p:cNvPr id="25" name="Rounded Rectangle 24"/>
            <p:cNvSpPr/>
            <p:nvPr/>
          </p:nvSpPr>
          <p:spPr>
            <a:xfrm>
              <a:off x="731520" y="5486400"/>
              <a:ext cx="10725912" cy="56692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4128" y="5486400"/>
              <a:ext cx="10140696" cy="566928"/>
            </a:xfrm>
            <a:prstGeom prst="rect">
              <a:avLst/>
            </a:prstGeom>
            <a:noFill/>
          </p:spPr>
          <p:txBody>
            <a:bodyPr wrap="square" lIns="0" rIns="0" anchor="ctr">
              <a:spAutoFit/>
            </a:bodyPr>
            <a:lstStyle/>
            <a:p>
              <a:r>
                <a:rPr sz="1150" b="1">
                  <a:solidFill>
                    <a:srgbClr val="C33F14"/>
                  </a:solidFill>
                  <a:latin typeface="Lato"/>
                </a:rPr>
                <a:t>Point de vigilance   </a:t>
              </a:r>
              <a:r>
                <a:rPr sz="1150">
                  <a:solidFill>
                    <a:srgbClr val="595959"/>
                  </a:solidFill>
                  <a:latin typeface="Lato"/>
                </a:rPr>
                <a:t>cette alerte est la seule qui sorte du périmètre des salariés : elle vise les riverains, les clients, l'environnement. Elle se consigne sur son propre registre.</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91"/>
                                        </p:tgtEl>
                                        <p:attrNameLst>
                                          <p:attrName>style.visibility</p:attrName>
                                        </p:attrNameLst>
                                      </p:cBhvr>
                                      <p:to>
                                        <p:strVal val="visible"/>
                                      </p:to>
                                    </p:set>
                                    <p:animEffect transition="in" filter="fade">
                                      <p:cBhvr>
                                        <p:cTn id="7" dur="450"/>
                                        <p:tgtEl>
                                          <p:spTgt spid="91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92"/>
                                        </p:tgtEl>
                                        <p:attrNameLst>
                                          <p:attrName>style.visibility</p:attrName>
                                        </p:attrNameLst>
                                      </p:cBhvr>
                                      <p:to>
                                        <p:strVal val="visible"/>
                                      </p:to>
                                    </p:set>
                                    <p:animEffect transition="in" filter="fade">
                                      <p:cBhvr>
                                        <p:cTn id="12" dur="450"/>
                                        <p:tgtEl>
                                          <p:spTgt spid="9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700" b="1" kern="0" spc="-150" dirty="0">
                <a:solidFill>
                  <a:srgbClr val="075767"/>
                </a:solidFill>
                <a:latin typeface="Lato" pitchFamily="34" charset="0"/>
                <a:ea typeface="Lato" pitchFamily="34" charset="-122"/>
                <a:cs typeface="Lato" pitchFamily="34" charset="-120"/>
              </a:rPr>
              <a:t>Alerte économique et alerte sociale : les textes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droits d'alerte</a:t>
            </a:r>
            <a:endParaRPr lang="en-US" sz="1400" dirty="0"/>
          </a:p>
        </p:txBody>
      </p:sp>
      <p:pic>
        <p:nvPicPr>
          <p:cNvPr id="16"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7"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5"/>
          <p:cNvSpPr/>
          <p:nvPr/>
        </p:nvSpPr>
        <p:spPr>
          <a:xfrm>
            <a:off x="10591495" y="6181344"/>
            <a:ext cx="438912" cy="438912"/>
          </a:xfrm>
          <a:prstGeom prst="ellipse">
            <a:avLst/>
          </a:prstGeom>
          <a:solidFill>
            <a:srgbClr val="F06C23"/>
          </a:solidFill>
          <a:ln/>
        </p:spPr>
        <p:txBody>
          <a:bodyPr/>
          <a:lstStyle/>
          <a:p>
            <a:endParaRPr/>
          </a:p>
        </p:txBody>
      </p:sp>
      <p:sp>
        <p:nvSpPr>
          <p:cNvPr id="19"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08</a:t>
            </a:r>
            <a:endParaRPr lang="en-US" sz="1100" dirty="0"/>
          </a:p>
        </p:txBody>
      </p:sp>
      <p:sp>
        <p:nvSpPr>
          <p:cNvPr id="20"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144</a:t>
            </a:r>
            <a:endParaRPr lang="en-US" sz="1000" dirty="0"/>
          </a:p>
        </p:txBody>
      </p:sp>
      <p:grpSp>
        <p:nvGrpSpPr>
          <p:cNvPr id="9193" name="Bloc 1"/>
          <p:cNvGrpSpPr/>
          <p:nvPr/>
        </p:nvGrpSpPr>
        <p:grpSpPr>
          <a:xfrm>
            <a:off x="731520" y="1874519"/>
            <a:ext cx="10725912" cy="2089708"/>
            <a:chOff x="731520" y="1874519"/>
            <a:chExt cx="10725912" cy="2089708"/>
          </a:xfrm>
        </p:grpSpPr>
        <p:sp>
          <p:nvSpPr>
            <p:cNvPr id="21" name="Rounded Rectangle 20"/>
            <p:cNvSpPr/>
            <p:nvPr/>
          </p:nvSpPr>
          <p:spPr>
            <a:xfrm>
              <a:off x="731520" y="1874519"/>
              <a:ext cx="10725912" cy="2089708"/>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2039112"/>
              <a:ext cx="10177272" cy="274320"/>
            </a:xfrm>
            <a:prstGeom prst="rect">
              <a:avLst/>
            </a:prstGeom>
            <a:noFill/>
          </p:spPr>
          <p:txBody>
            <a:bodyPr wrap="square" lIns="0" tIns="0" rIns="0" bIns="0" anchor="t">
              <a:spAutoFit/>
            </a:bodyPr>
            <a:lstStyle/>
            <a:p>
              <a:pPr algn="l"/>
              <a:r>
                <a:rPr sz="1150" b="1" i="0">
                  <a:solidFill>
                    <a:srgbClr val="075767"/>
                  </a:solidFill>
                  <a:latin typeface="Lato"/>
                </a:rPr>
                <a:t>Article L. 2312-63 (code du travail), alerte économique</a:t>
              </a:r>
            </a:p>
          </p:txBody>
        </p:sp>
        <p:sp>
          <p:nvSpPr>
            <p:cNvPr id="23" name="TextBox 22"/>
            <p:cNvSpPr txBox="1"/>
            <p:nvPr/>
          </p:nvSpPr>
          <p:spPr>
            <a:xfrm>
              <a:off x="1005840" y="2350008"/>
              <a:ext cx="10177272" cy="1449628"/>
            </a:xfrm>
            <a:prstGeom prst="rect">
              <a:avLst/>
            </a:prstGeom>
            <a:noFill/>
          </p:spPr>
          <p:txBody>
            <a:bodyPr wrap="square" lIns="0" tIns="0" rIns="0" bIns="0" anchor="t">
              <a:spAutoFit/>
            </a:bodyPr>
            <a:lstStyle/>
            <a:p>
              <a:pPr algn="l"/>
              <a:r>
                <a:rPr sz="1100" b="0" i="1">
                  <a:solidFill>
                    <a:srgbClr val="075767"/>
                  </a:solidFill>
                  <a:latin typeface="Lato"/>
                </a:rPr>
                <a:t>Lorsque le comité social et économique a connaissance de faits de nature à affecter de manière préoccupante la situation économique de l'entreprise, il peut demander à l'employeur de lui fournir des explications. Cette demande est inscrite de droit à l'ordre du jour de la prochaine séance du comité.
Si le comité n'a pu obtenir de réponse suffisante de l'employeur ou si celle-ci confirme le caractère préoccupant de la situation, il établit un rapport. Dans les entreprises employant au moins mille salariés et en l'absence d'accord prévu à l'article L. 2315-45, ce rapport est établi par la commission économique prévue par l'article L. 2315-46. Ce rapport, au titre du droit d'alerte économique, est transmis à l'employeur et au commissaire aux comptes.</a:t>
              </a:r>
            </a:p>
          </p:txBody>
        </p:sp>
      </p:grpSp>
      <p:grpSp>
        <p:nvGrpSpPr>
          <p:cNvPr id="9194" name="Bloc 2"/>
          <p:cNvGrpSpPr/>
          <p:nvPr/>
        </p:nvGrpSpPr>
        <p:grpSpPr>
          <a:xfrm>
            <a:off x="731520" y="4026555"/>
            <a:ext cx="10725912" cy="2026772"/>
            <a:chOff x="731520" y="4026555"/>
            <a:chExt cx="10725912" cy="2026772"/>
          </a:xfrm>
        </p:grpSpPr>
        <p:sp>
          <p:nvSpPr>
            <p:cNvPr id="24" name="Rounded Rectangle 23"/>
            <p:cNvSpPr/>
            <p:nvPr/>
          </p:nvSpPr>
          <p:spPr>
            <a:xfrm>
              <a:off x="731520" y="4026555"/>
              <a:ext cx="10725912" cy="2026772"/>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5840" y="4191147"/>
              <a:ext cx="10177272" cy="274320"/>
            </a:xfrm>
            <a:prstGeom prst="rect">
              <a:avLst/>
            </a:prstGeom>
            <a:noFill/>
          </p:spPr>
          <p:txBody>
            <a:bodyPr wrap="square" lIns="0" tIns="0" rIns="0" bIns="0" anchor="t">
              <a:spAutoFit/>
            </a:bodyPr>
            <a:lstStyle/>
            <a:p>
              <a:pPr algn="l"/>
              <a:r>
                <a:rPr sz="1150" b="1" i="0">
                  <a:solidFill>
                    <a:srgbClr val="075767"/>
                  </a:solidFill>
                  <a:latin typeface="Lato"/>
                </a:rPr>
                <a:t>Article L. 2312-70 (code du travail), alerte sociale</a:t>
              </a:r>
            </a:p>
          </p:txBody>
        </p:sp>
        <p:sp>
          <p:nvSpPr>
            <p:cNvPr id="26" name="TextBox 25"/>
            <p:cNvSpPr txBox="1"/>
            <p:nvPr/>
          </p:nvSpPr>
          <p:spPr>
            <a:xfrm>
              <a:off x="1005840" y="4502043"/>
              <a:ext cx="10177272" cy="1386692"/>
            </a:xfrm>
            <a:prstGeom prst="rect">
              <a:avLst/>
            </a:prstGeom>
            <a:noFill/>
          </p:spPr>
          <p:txBody>
            <a:bodyPr wrap="square" lIns="0" tIns="0" rIns="0" bIns="0" anchor="t">
              <a:spAutoFit/>
            </a:bodyPr>
            <a:lstStyle/>
            <a:p>
              <a:pPr algn="l"/>
              <a:r>
                <a:rPr sz="1100" b="0" i="1">
                  <a:solidFill>
                    <a:srgbClr val="075767"/>
                  </a:solidFill>
                  <a:latin typeface="Lato"/>
                </a:rPr>
                <a:t>Lorsque le nombre des salariés titulaires d'un contrat de travail à durée déterminée et le nombre de salariés temporaires connaît un accroissement important par rapport à la situation existant lors de la dernière réunion du comité social et économique ayant abordé ce sujet, l'examen de cette question est inscrit de plein droit à l'ordre du jour de la prochaine réunion ordinaire du comité si la majorité des membres du comité le demande.
Lors de cette réunion ordinaire, l'employeur communique au comité le nombre de salariés titulaires d'un contrat de travail à durée déterminée et de salariés temporaires, les motifs l'ayant amené à y recourir ainsi que le nombre des journées de travail accomplies par les intéressés depuis la dernière communication faite à ce sujet.</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93"/>
                                        </p:tgtEl>
                                        <p:attrNameLst>
                                          <p:attrName>style.visibility</p:attrName>
                                        </p:attrNameLst>
                                      </p:cBhvr>
                                      <p:to>
                                        <p:strVal val="visible"/>
                                      </p:to>
                                    </p:set>
                                    <p:animEffect transition="in" filter="fade">
                                      <p:cBhvr>
                                        <p:cTn id="7" dur="450"/>
                                        <p:tgtEl>
                                          <p:spTgt spid="919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94"/>
                                        </p:tgtEl>
                                        <p:attrNameLst>
                                          <p:attrName>style.visibility</p:attrName>
                                        </p:attrNameLst>
                                      </p:cBhvr>
                                      <p:to>
                                        <p:strVal val="visible"/>
                                      </p:to>
                                    </p:set>
                                    <p:animEffect transition="in" filter="fade">
                                      <p:cBhvr>
                                        <p:cTn id="12" dur="450"/>
                                        <p:tgtEl>
                                          <p:spTgt spid="9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Vérifions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droits d'alerte</a:t>
            </a:r>
            <a:endParaRPr lang="en-US" sz="1400" dirty="0"/>
          </a:p>
        </p:txBody>
      </p:sp>
      <p:sp>
        <p:nvSpPr>
          <p:cNvPr id="10" name="Text 8"/>
          <p:cNvSpPr txBox="1"/>
          <p:nvPr/>
        </p:nvSpPr>
        <p:spPr>
          <a:xfrm>
            <a:off x="731520" y="1828800"/>
            <a:ext cx="10728655" cy="868680"/>
          </a:xfrm>
          <a:prstGeom prst="rect">
            <a:avLst/>
          </a:prstGeom>
          <a:noFill/>
          <a:ln/>
        </p:spPr>
        <p:txBody>
          <a:bodyPr wrap="square" lIns="0" tIns="0" rIns="0" bIns="0" rtlCol="0" anchor="t"/>
          <a:lstStyle/>
          <a:p>
            <a:pPr marL="0" indent="0">
              <a:lnSpc>
                <a:spcPct val="110000"/>
              </a:lnSpc>
              <a:buNone/>
            </a:pPr>
            <a:r>
              <a:rPr lang="en-US" sz="2100" b="1" kern="0" spc="-50" dirty="0">
                <a:solidFill>
                  <a:srgbClr val="075767"/>
                </a:solidFill>
                <a:latin typeface="Lato" pitchFamily="34" charset="0"/>
                <a:ea typeface="Lato" pitchFamily="34" charset="-122"/>
                <a:cs typeface="Lato" pitchFamily="34" charset="-120"/>
              </a:rPr>
              <a:t>Un élu constate qu'un salarié travaille sur une machine dont le carter de protection a été retiré. Quelle alerte déclenche-t-il ?</a:t>
            </a:r>
            <a:endParaRPr lang="en-US" sz="2100" dirty="0"/>
          </a:p>
        </p:txBody>
      </p:sp>
      <p:grpSp>
        <p:nvGrpSpPr>
          <p:cNvPr id="9195" name="Bloc 2"/>
          <p:cNvGrpSpPr/>
          <p:nvPr/>
        </p:nvGrpSpPr>
        <p:grpSpPr>
          <a:xfrm>
            <a:off x="731520" y="2971800"/>
            <a:ext cx="3332378" cy="1874520"/>
            <a:chOff x="731520" y="2971800"/>
            <a:chExt cx="3332378" cy="1874520"/>
          </a:xfrm>
        </p:grpSpPr>
        <p:sp>
          <p:nvSpPr>
            <p:cNvPr id="11" name="Shape 9"/>
            <p:cNvSpPr/>
            <p:nvPr/>
          </p:nvSpPr>
          <p:spPr>
            <a:xfrm>
              <a:off x="731520" y="2971800"/>
              <a:ext cx="3332378" cy="1874520"/>
            </a:xfrm>
            <a:prstGeom prst="roundRect">
              <a:avLst>
                <a:gd name="adj" fmla="val 2439"/>
              </a:avLst>
            </a:prstGeom>
            <a:solidFill>
              <a:srgbClr val="FFFFFF"/>
            </a:solidFill>
            <a:ln w="19050">
              <a:solidFill>
                <a:srgbClr val="C1D5D9"/>
              </a:solidFill>
              <a:prstDash val="solid"/>
            </a:ln>
          </p:spPr>
          <p:txBody>
            <a:bodyPr/>
            <a:lstStyle/>
            <a:p>
              <a:endParaRPr/>
            </a:p>
          </p:txBody>
        </p:sp>
        <p:sp>
          <p:nvSpPr>
            <p:cNvPr id="12" name="Shape 10"/>
            <p:cNvSpPr/>
            <p:nvPr/>
          </p:nvSpPr>
          <p:spPr>
            <a:xfrm>
              <a:off x="1005840" y="3246120"/>
              <a:ext cx="548640" cy="548640"/>
            </a:xfrm>
            <a:prstGeom prst="ellipse">
              <a:avLst/>
            </a:prstGeom>
            <a:solidFill>
              <a:srgbClr val="075767"/>
            </a:solidFill>
            <a:ln/>
          </p:spPr>
          <p:txBody>
            <a:bodyPr/>
            <a:lstStyle/>
            <a:p>
              <a:endParaRPr/>
            </a:p>
          </p:txBody>
        </p:sp>
        <p:sp>
          <p:nvSpPr>
            <p:cNvPr id="13" name="Text 11"/>
            <p:cNvSpPr txBox="1"/>
            <p:nvPr/>
          </p:nvSpPr>
          <p:spPr>
            <a:xfrm>
              <a:off x="1005840" y="324612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Lato" pitchFamily="34" charset="0"/>
                  <a:ea typeface="Lato" pitchFamily="34" charset="-122"/>
                  <a:cs typeface="Lato" pitchFamily="34" charset="-120"/>
                </a:rPr>
                <a:t>A</a:t>
              </a:r>
              <a:endParaRPr lang="en-US" sz="1500" dirty="0"/>
            </a:p>
          </p:txBody>
        </p:sp>
        <p:sp>
          <p:nvSpPr>
            <p:cNvPr id="14" name="Text 12"/>
            <p:cNvSpPr txBox="1"/>
            <p:nvPr/>
          </p:nvSpPr>
          <p:spPr>
            <a:xfrm>
              <a:off x="1005840" y="3950208"/>
              <a:ext cx="2783738" cy="777240"/>
            </a:xfrm>
            <a:prstGeom prst="rect">
              <a:avLst/>
            </a:prstGeom>
            <a:noFill/>
            <a:ln/>
          </p:spPr>
          <p:txBody>
            <a:bodyPr wrap="square" lIns="0" tIns="0" rIns="0" bIns="0" rtlCol="0" anchor="t"/>
            <a:lstStyle/>
            <a:p>
              <a:pPr marL="0" indent="0">
                <a:lnSpc>
                  <a:spcPct val="110000"/>
                </a:lnSpc>
                <a:buNone/>
              </a:pPr>
              <a:r>
                <a:rPr lang="en-US" sz="1400" dirty="0">
                  <a:solidFill>
                    <a:srgbClr val="075767"/>
                  </a:solidFill>
                  <a:latin typeface="Lato" pitchFamily="34" charset="0"/>
                  <a:ea typeface="Lato" pitchFamily="34" charset="-122"/>
                  <a:cs typeface="Lato" pitchFamily="34" charset="-120"/>
                </a:rPr>
                <a:t>Danger grave et imminent, consigné au registre DGI</a:t>
              </a:r>
              <a:endParaRPr lang="en-US" sz="1400" dirty="0"/>
            </a:p>
          </p:txBody>
        </p:sp>
      </p:grpSp>
      <p:grpSp>
        <p:nvGrpSpPr>
          <p:cNvPr id="9196" name="Bloc 3"/>
          <p:cNvGrpSpPr/>
          <p:nvPr/>
        </p:nvGrpSpPr>
        <p:grpSpPr>
          <a:xfrm>
            <a:off x="4429658" y="2971800"/>
            <a:ext cx="3332378" cy="1874520"/>
            <a:chOff x="4429658" y="2971800"/>
            <a:chExt cx="3332378" cy="1874520"/>
          </a:xfrm>
        </p:grpSpPr>
        <p:sp>
          <p:nvSpPr>
            <p:cNvPr id="15" name="Shape 13"/>
            <p:cNvSpPr/>
            <p:nvPr/>
          </p:nvSpPr>
          <p:spPr>
            <a:xfrm>
              <a:off x="4429658" y="2971800"/>
              <a:ext cx="3332378" cy="1874520"/>
            </a:xfrm>
            <a:prstGeom prst="roundRect">
              <a:avLst>
                <a:gd name="adj" fmla="val 2439"/>
              </a:avLst>
            </a:prstGeom>
            <a:solidFill>
              <a:srgbClr val="FFFFFF"/>
            </a:solidFill>
            <a:ln w="19050">
              <a:solidFill>
                <a:srgbClr val="C1D5D9"/>
              </a:solidFill>
              <a:prstDash val="solid"/>
            </a:ln>
          </p:spPr>
          <p:txBody>
            <a:bodyPr/>
            <a:lstStyle/>
            <a:p>
              <a:endParaRPr/>
            </a:p>
          </p:txBody>
        </p:sp>
        <p:sp>
          <p:nvSpPr>
            <p:cNvPr id="16" name="Shape 14"/>
            <p:cNvSpPr/>
            <p:nvPr/>
          </p:nvSpPr>
          <p:spPr>
            <a:xfrm>
              <a:off x="4703978" y="3246120"/>
              <a:ext cx="548640" cy="548640"/>
            </a:xfrm>
            <a:prstGeom prst="ellipse">
              <a:avLst/>
            </a:prstGeom>
            <a:solidFill>
              <a:srgbClr val="075767"/>
            </a:solidFill>
            <a:ln/>
          </p:spPr>
          <p:txBody>
            <a:bodyPr/>
            <a:lstStyle/>
            <a:p>
              <a:endParaRPr/>
            </a:p>
          </p:txBody>
        </p:sp>
        <p:sp>
          <p:nvSpPr>
            <p:cNvPr id="17" name="Text 15"/>
            <p:cNvSpPr txBox="1"/>
            <p:nvPr/>
          </p:nvSpPr>
          <p:spPr>
            <a:xfrm>
              <a:off x="4703978" y="324612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Lato" pitchFamily="34" charset="0"/>
                  <a:ea typeface="Lato" pitchFamily="34" charset="-122"/>
                  <a:cs typeface="Lato" pitchFamily="34" charset="-120"/>
                </a:rPr>
                <a:t>B</a:t>
              </a:r>
              <a:endParaRPr lang="en-US" sz="1500" dirty="0"/>
            </a:p>
          </p:txBody>
        </p:sp>
        <p:sp>
          <p:nvSpPr>
            <p:cNvPr id="18" name="Text 16"/>
            <p:cNvSpPr txBox="1"/>
            <p:nvPr/>
          </p:nvSpPr>
          <p:spPr>
            <a:xfrm>
              <a:off x="4703978" y="3950208"/>
              <a:ext cx="2783738" cy="777240"/>
            </a:xfrm>
            <a:prstGeom prst="rect">
              <a:avLst/>
            </a:prstGeom>
            <a:noFill/>
            <a:ln/>
          </p:spPr>
          <p:txBody>
            <a:bodyPr wrap="square" lIns="0" tIns="0" rIns="0" bIns="0" rtlCol="0" anchor="t"/>
            <a:lstStyle/>
            <a:p>
              <a:pPr marL="0" indent="0">
                <a:lnSpc>
                  <a:spcPct val="110000"/>
                </a:lnSpc>
                <a:buNone/>
              </a:pPr>
              <a:r>
                <a:rPr lang="en-US" sz="1400" dirty="0">
                  <a:solidFill>
                    <a:srgbClr val="075767"/>
                  </a:solidFill>
                  <a:latin typeface="Lato" pitchFamily="34" charset="0"/>
                  <a:ea typeface="Lato" pitchFamily="34" charset="-122"/>
                  <a:cs typeface="Lato" pitchFamily="34" charset="-120"/>
                </a:rPr>
                <a:t>Atteinte aux droits des personnes</a:t>
              </a:r>
              <a:endParaRPr lang="en-US" sz="1400" dirty="0"/>
            </a:p>
          </p:txBody>
        </p:sp>
      </p:grpSp>
      <p:grpSp>
        <p:nvGrpSpPr>
          <p:cNvPr id="9197" name="Bloc 4"/>
          <p:cNvGrpSpPr/>
          <p:nvPr/>
        </p:nvGrpSpPr>
        <p:grpSpPr>
          <a:xfrm>
            <a:off x="8127797" y="2971800"/>
            <a:ext cx="3332378" cy="1874520"/>
            <a:chOff x="8127797" y="2971800"/>
            <a:chExt cx="3332378" cy="1874520"/>
          </a:xfrm>
        </p:grpSpPr>
        <p:sp>
          <p:nvSpPr>
            <p:cNvPr id="19" name="Shape 17"/>
            <p:cNvSpPr/>
            <p:nvPr/>
          </p:nvSpPr>
          <p:spPr>
            <a:xfrm>
              <a:off x="8127797" y="2971800"/>
              <a:ext cx="3332378" cy="1874520"/>
            </a:xfrm>
            <a:prstGeom prst="roundRect">
              <a:avLst>
                <a:gd name="adj" fmla="val 2439"/>
              </a:avLst>
            </a:prstGeom>
            <a:solidFill>
              <a:srgbClr val="FFFFFF"/>
            </a:solidFill>
            <a:ln w="19050">
              <a:solidFill>
                <a:srgbClr val="C1D5D9"/>
              </a:solidFill>
              <a:prstDash val="solid"/>
            </a:ln>
          </p:spPr>
          <p:txBody>
            <a:bodyPr/>
            <a:lstStyle/>
            <a:p>
              <a:endParaRPr/>
            </a:p>
          </p:txBody>
        </p:sp>
        <p:sp>
          <p:nvSpPr>
            <p:cNvPr id="20" name="Shape 18"/>
            <p:cNvSpPr/>
            <p:nvPr/>
          </p:nvSpPr>
          <p:spPr>
            <a:xfrm>
              <a:off x="8402117" y="3246120"/>
              <a:ext cx="548640" cy="548640"/>
            </a:xfrm>
            <a:prstGeom prst="ellipse">
              <a:avLst/>
            </a:prstGeom>
            <a:solidFill>
              <a:srgbClr val="075767"/>
            </a:solidFill>
            <a:ln/>
          </p:spPr>
          <p:txBody>
            <a:bodyPr/>
            <a:lstStyle/>
            <a:p>
              <a:endParaRPr/>
            </a:p>
          </p:txBody>
        </p:sp>
        <p:sp>
          <p:nvSpPr>
            <p:cNvPr id="21" name="Text 19"/>
            <p:cNvSpPr txBox="1"/>
            <p:nvPr/>
          </p:nvSpPr>
          <p:spPr>
            <a:xfrm>
              <a:off x="8402117" y="324612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Lato" pitchFamily="34" charset="0"/>
                  <a:ea typeface="Lato" pitchFamily="34" charset="-122"/>
                  <a:cs typeface="Lato" pitchFamily="34" charset="-120"/>
                </a:rPr>
                <a:t>C</a:t>
              </a:r>
              <a:endParaRPr lang="en-US" sz="1500" dirty="0"/>
            </a:p>
          </p:txBody>
        </p:sp>
        <p:sp>
          <p:nvSpPr>
            <p:cNvPr id="22" name="Text 20"/>
            <p:cNvSpPr txBox="1"/>
            <p:nvPr/>
          </p:nvSpPr>
          <p:spPr>
            <a:xfrm>
              <a:off x="8402117" y="3950208"/>
              <a:ext cx="2783738" cy="777240"/>
            </a:xfrm>
            <a:prstGeom prst="rect">
              <a:avLst/>
            </a:prstGeom>
            <a:noFill/>
            <a:ln/>
          </p:spPr>
          <p:txBody>
            <a:bodyPr wrap="square" lIns="0" tIns="0" rIns="0" bIns="0" rtlCol="0" anchor="t"/>
            <a:lstStyle/>
            <a:p>
              <a:pPr marL="0" indent="0">
                <a:lnSpc>
                  <a:spcPct val="110000"/>
                </a:lnSpc>
                <a:buNone/>
              </a:pPr>
              <a:r>
                <a:rPr lang="en-US" sz="1400" dirty="0">
                  <a:solidFill>
                    <a:srgbClr val="075767"/>
                  </a:solidFill>
                  <a:latin typeface="Lato" pitchFamily="34" charset="0"/>
                  <a:ea typeface="Lato" pitchFamily="34" charset="-122"/>
                  <a:cs typeface="Lato" pitchFamily="34" charset="-120"/>
                </a:rPr>
                <a:t>Aucune : il en parle en réunion trimestrielle</a:t>
              </a:r>
              <a:endParaRPr lang="en-US" sz="1400" dirty="0"/>
            </a:p>
          </p:txBody>
        </p:sp>
      </p:grpSp>
      <p:sp>
        <p:nvSpPr>
          <p:cNvPr id="23" name="Text 21"/>
          <p:cNvSpPr txBox="1"/>
          <p:nvPr/>
        </p:nvSpPr>
        <p:spPr>
          <a:xfrm>
            <a:off x="731520" y="5029200"/>
            <a:ext cx="10728655" cy="640080"/>
          </a:xfrm>
          <a:prstGeom prst="rect">
            <a:avLst/>
          </a:prstGeom>
          <a:noFill/>
          <a:ln/>
        </p:spPr>
        <p:txBody>
          <a:bodyPr wrap="square" lIns="0" tIns="0" rIns="0" bIns="0" rtlCol="0" anchor="t"/>
          <a:lstStyle/>
          <a:p>
            <a:pPr marL="0" indent="0">
              <a:lnSpc>
                <a:spcPct val="110000"/>
              </a:lnSpc>
              <a:buNone/>
            </a:pPr>
            <a:r>
              <a:rPr lang="en-US" sz="1250" i="1" dirty="0">
                <a:solidFill>
                  <a:srgbClr val="595959"/>
                </a:solidFill>
                <a:latin typeface="Lato" pitchFamily="34" charset="0"/>
                <a:ea typeface="Lato" pitchFamily="34" charset="-122"/>
                <a:cs typeface="Lato" pitchFamily="34" charset="-120"/>
              </a:rPr>
              <a:t>Une seule réponse est exacte.</a:t>
            </a:r>
            <a:endParaRPr lang="en-US" sz="1250" dirty="0"/>
          </a:p>
        </p:txBody>
      </p:sp>
      <p:pic>
        <p:nvPicPr>
          <p:cNvPr id="2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25"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6" name="Shape 23"/>
          <p:cNvSpPr/>
          <p:nvPr/>
        </p:nvSpPr>
        <p:spPr>
          <a:xfrm>
            <a:off x="10591495" y="6181344"/>
            <a:ext cx="438912" cy="438912"/>
          </a:xfrm>
          <a:prstGeom prst="ellipse">
            <a:avLst/>
          </a:prstGeom>
          <a:solidFill>
            <a:srgbClr val="F06C23"/>
          </a:solidFill>
          <a:ln/>
        </p:spPr>
        <p:txBody>
          <a:bodyPr/>
          <a:lstStyle/>
          <a:p>
            <a:endParaRPr/>
          </a:p>
        </p:txBody>
      </p:sp>
      <p:sp>
        <p:nvSpPr>
          <p:cNvPr id="27"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08</a:t>
            </a:r>
            <a:endParaRPr lang="en-US" sz="1100" dirty="0"/>
          </a:p>
        </p:txBody>
      </p:sp>
      <p:sp>
        <p:nvSpPr>
          <p:cNvPr id="28"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145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95"/>
                                        </p:tgtEl>
                                        <p:attrNameLst>
                                          <p:attrName>style.visibility</p:attrName>
                                        </p:attrNameLst>
                                      </p:cBhvr>
                                      <p:to>
                                        <p:strVal val="visible"/>
                                      </p:to>
                                    </p:set>
                                    <p:animEffect transition="in" filter="fade">
                                      <p:cBhvr>
                                        <p:cTn id="12" dur="450"/>
                                        <p:tgtEl>
                                          <p:spTgt spid="91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96"/>
                                        </p:tgtEl>
                                        <p:attrNameLst>
                                          <p:attrName>style.visibility</p:attrName>
                                        </p:attrNameLst>
                                      </p:cBhvr>
                                      <p:to>
                                        <p:strVal val="visible"/>
                                      </p:to>
                                    </p:set>
                                    <p:animEffect transition="in" filter="fade">
                                      <p:cBhvr>
                                        <p:cTn id="17" dur="450"/>
                                        <p:tgtEl>
                                          <p:spTgt spid="919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97"/>
                                        </p:tgtEl>
                                        <p:attrNameLst>
                                          <p:attrName>style.visibility</p:attrName>
                                        </p:attrNameLst>
                                      </p:cBhvr>
                                      <p:to>
                                        <p:strVal val="visible"/>
                                      </p:to>
                                    </p:set>
                                    <p:animEffect transition="in" filter="fade">
                                      <p:cBhvr>
                                        <p:cTn id="22" dur="450"/>
                                        <p:tgtEl>
                                          <p:spTgt spid="919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name="Slide 125">
    <p:bg>
      <p:bgPr>
        <a:solidFill>
          <a:srgbClr val="075767"/>
        </a:solidFill>
        <a:effectLst/>
      </p:bgPr>
    </p:bg>
    <p:spTree>
      <p:nvGrpSpPr>
        <p:cNvPr id="1" name=""/>
        <p:cNvGrpSpPr/>
        <p:nvPr/>
      </p:nvGrpSpPr>
      <p:grpSpPr>
        <a:xfrm>
          <a:off x="0" y="0"/>
          <a:ext cx="0" cy="0"/>
          <a:chOff x="0" y="0"/>
          <a:chExt cx="0" cy="0"/>
        </a:xfrm>
      </p:grpSpPr>
      <p:sp>
        <p:nvSpPr>
          <p:cNvPr id="2" name="Shape 0"/>
          <p:cNvSpPr/>
          <p:nvPr/>
        </p:nvSpPr>
        <p:spPr>
          <a:xfrm rot="420000">
            <a:off x="5760720" y="-3749040"/>
            <a:ext cx="10972800" cy="8229600"/>
          </a:xfrm>
          <a:prstGeom prst="ellipse">
            <a:avLst/>
          </a:prstGeom>
          <a:solidFill>
            <a:srgbClr val="0A6C78"/>
          </a:solidFill>
          <a:ln/>
        </p:spPr>
        <p:txBody>
          <a:bodyPr/>
          <a:lstStyle/>
          <a:p>
            <a:endParaRPr/>
          </a:p>
        </p:txBody>
      </p:sp>
      <p:sp>
        <p:nvSpPr>
          <p:cNvPr id="3" name="Shape 1"/>
          <p:cNvSpPr/>
          <p:nvPr/>
        </p:nvSpPr>
        <p:spPr>
          <a:xfrm>
            <a:off x="868680" y="5788152"/>
            <a:ext cx="274320" cy="274320"/>
          </a:xfrm>
          <a:prstGeom prst="ellipse">
            <a:avLst/>
          </a:prstGeom>
          <a:solidFill>
            <a:srgbClr val="F06C23"/>
          </a:solidFill>
          <a:ln/>
        </p:spPr>
        <p:txBody>
          <a:bodyPr/>
          <a:lstStyle/>
          <a:p>
            <a:endParaRPr/>
          </a:p>
        </p:txBody>
      </p:sp>
      <p:sp>
        <p:nvSpPr>
          <p:cNvPr id="4" name="Shape 2"/>
          <p:cNvSpPr/>
          <p:nvPr/>
        </p:nvSpPr>
        <p:spPr>
          <a:xfrm>
            <a:off x="1353312" y="5943600"/>
            <a:ext cx="146304" cy="146304"/>
          </a:xfrm>
          <a:prstGeom prst="ellipse">
            <a:avLst/>
          </a:prstGeom>
          <a:solidFill>
            <a:srgbClr val="C1D5D9"/>
          </a:solidFill>
          <a:ln/>
        </p:spPr>
        <p:txBody>
          <a:bodyPr/>
          <a:lstStyle/>
          <a:p>
            <a:endParaRPr/>
          </a:p>
        </p:txBody>
      </p:sp>
      <p:sp>
        <p:nvSpPr>
          <p:cNvPr id="5" name="Shape 3"/>
          <p:cNvSpPr/>
          <p:nvPr/>
        </p:nvSpPr>
        <p:spPr>
          <a:xfrm>
            <a:off x="1645920" y="5650992"/>
            <a:ext cx="100584" cy="100584"/>
          </a:xfrm>
          <a:prstGeom prst="ellipse">
            <a:avLst/>
          </a:prstGeom>
          <a:solidFill>
            <a:srgbClr val="C1D5D9"/>
          </a:solidFill>
          <a:ln/>
        </p:spPr>
        <p:txBody>
          <a:bodyPr/>
          <a:lstStyle/>
          <a:p>
            <a:endParaRPr/>
          </a:p>
        </p:txBody>
      </p:sp>
      <p:sp>
        <p:nvSpPr>
          <p:cNvPr id="6" name="Text 4"/>
          <p:cNvSpPr txBox="1"/>
          <p:nvPr/>
        </p:nvSpPr>
        <p:spPr>
          <a:xfrm>
            <a:off x="822960" y="1325880"/>
            <a:ext cx="2377440" cy="1691640"/>
          </a:xfrm>
          <a:prstGeom prst="rect">
            <a:avLst/>
          </a:prstGeom>
          <a:noFill/>
          <a:ln/>
        </p:spPr>
        <p:txBody>
          <a:bodyPr wrap="square" lIns="0" tIns="0" rIns="0" bIns="0" rtlCol="0" anchor="t"/>
          <a:lstStyle/>
          <a:p>
            <a:pPr marL="0" indent="0">
              <a:buNone/>
            </a:pPr>
            <a:r>
              <a:rPr lang="en-US" sz="9600" b="1" kern="0" spc="-300" dirty="0">
                <a:solidFill>
                  <a:srgbClr val="F58B60"/>
                </a:solidFill>
                <a:latin typeface="Lato" pitchFamily="34" charset="0"/>
                <a:ea typeface="Lato" pitchFamily="34" charset="-122"/>
                <a:cs typeface="Lato" pitchFamily="34" charset="-120"/>
              </a:rPr>
              <a:t>09</a:t>
            </a:r>
            <a:endParaRPr lang="en-US" sz="9600" dirty="0"/>
          </a:p>
        </p:txBody>
      </p:sp>
      <p:sp>
        <p:nvSpPr>
          <p:cNvPr id="7" name="Text 5"/>
          <p:cNvSpPr txBox="1"/>
          <p:nvPr/>
        </p:nvSpPr>
        <p:spPr>
          <a:xfrm>
            <a:off x="868680" y="3017520"/>
            <a:ext cx="5303520" cy="1536192"/>
          </a:xfrm>
          <a:prstGeom prst="rect">
            <a:avLst/>
          </a:prstGeom>
          <a:noFill/>
          <a:ln/>
        </p:spPr>
        <p:txBody>
          <a:bodyPr wrap="square" lIns="0" tIns="0" rIns="0" bIns="0" rtlCol="0" anchor="t"/>
          <a:lstStyle/>
          <a:p>
            <a:pPr marL="0" indent="0">
              <a:buNone/>
            </a:pPr>
            <a:r>
              <a:rPr lang="en-US" sz="3400" b="1" kern="0" spc="-150" dirty="0">
                <a:solidFill>
                  <a:srgbClr val="FFFFFF"/>
                </a:solidFill>
                <a:latin typeface="Lato" pitchFamily="34" charset="0"/>
                <a:ea typeface="Lato" pitchFamily="34" charset="-122"/>
                <a:cs typeface="Lato" pitchFamily="34" charset="-120"/>
              </a:rPr>
              <a:t>Les troubles</a:t>
            </a:r>
            <a:endParaRPr lang="en-US" sz="3400" dirty="0"/>
          </a:p>
          <a:p>
            <a:pPr marL="0" indent="0">
              <a:buNone/>
            </a:pPr>
            <a:r>
              <a:rPr lang="en-US" sz="3400" b="1" kern="0" spc="-150" dirty="0">
                <a:solidFill>
                  <a:srgbClr val="FFFFFF"/>
                </a:solidFill>
                <a:latin typeface="Lato" pitchFamily="34" charset="0"/>
                <a:ea typeface="Lato" pitchFamily="34" charset="-122"/>
                <a:cs typeface="Lato" pitchFamily="34" charset="-120"/>
              </a:rPr>
              <a:t>musculo-squelettiques</a:t>
            </a:r>
            <a:endParaRPr lang="en-US" sz="3400" dirty="0"/>
          </a:p>
        </p:txBody>
      </p:sp>
      <p:sp>
        <p:nvSpPr>
          <p:cNvPr id="8" name="Text 6"/>
          <p:cNvSpPr txBox="1"/>
          <p:nvPr/>
        </p:nvSpPr>
        <p:spPr>
          <a:xfrm>
            <a:off x="868680" y="4023360"/>
            <a:ext cx="5029200" cy="914400"/>
          </a:xfrm>
          <a:prstGeom prst="rect">
            <a:avLst/>
          </a:prstGeom>
          <a:noFill/>
          <a:ln/>
        </p:spPr>
        <p:txBody>
          <a:bodyPr wrap="square" lIns="0" tIns="0" rIns="0" bIns="0" rtlCol="0" anchor="t"/>
          <a:lstStyle/>
          <a:p>
            <a:pPr marL="0" indent="0">
              <a:lnSpc>
                <a:spcPct val="115000"/>
              </a:lnSpc>
              <a:buNone/>
            </a:pPr>
            <a:r>
              <a:rPr lang="en-US" sz="1500" dirty="0">
                <a:solidFill>
                  <a:srgbClr val="C1D5D9"/>
                </a:solidFill>
                <a:latin typeface="Lato" pitchFamily="34" charset="0"/>
                <a:ea typeface="Lato" pitchFamily="34" charset="-122"/>
                <a:cs typeface="Lato" pitchFamily="34" charset="-120"/>
              </a:rPr>
              <a:t>La première cause de maladie professionnelle reconnue en France, et celle sur laquelle le CSE a le plus de prise.</a:t>
            </a:r>
            <a:endParaRPr lang="en-US" sz="1500" dirty="0"/>
          </a:p>
        </p:txBody>
      </p:sp>
      <p:sp>
        <p:nvSpPr>
          <p:cNvPr id="12" name="Rounded Rectangle 11"/>
          <p:cNvSpPr/>
          <p:nvPr/>
        </p:nvSpPr>
        <p:spPr>
          <a:xfrm>
            <a:off x="6711696" y="1316736"/>
            <a:ext cx="4892040" cy="448056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mage 0" descr="/home/claude/tmo/build/photos/p30.jpg"/>
          <p:cNvPicPr>
            <a:picLocks noChangeAspect="1"/>
          </p:cNvPicPr>
          <p:nvPr/>
        </p:nvPicPr>
        <p:blipFill>
          <a:blip r:embed="rId3"/>
          <a:srcRect/>
          <a:stretch/>
        </p:blipFill>
        <p:spPr>
          <a:xfrm>
            <a:off x="6583680" y="1188720"/>
            <a:ext cx="4892040" cy="4480560"/>
          </a:xfrm>
          <a:prstGeom prst="roundRect">
            <a:avLst>
              <a:gd name="adj" fmla="val 2200"/>
            </a:avLst>
          </a:prstGeom>
          <a:effectLst>
            <a:outerShdw blurRad="190500" dist="38100" dir="5400000" rotWithShape="0">
              <a:srgbClr val="075767">
                <a:alpha val="22000"/>
              </a:srgbClr>
            </a:outerShdw>
            <a:softEdge rad="32004"/>
          </a:effectLst>
        </p:spPr>
      </p:pic>
      <p:sp>
        <p:nvSpPr>
          <p:cNvPr id="10" name="Shape 7"/>
          <p:cNvSpPr/>
          <p:nvPr/>
        </p:nvSpPr>
        <p:spPr>
          <a:xfrm>
            <a:off x="10929823" y="6071616"/>
            <a:ext cx="603504" cy="603504"/>
          </a:xfrm>
          <a:prstGeom prst="ellipse">
            <a:avLst/>
          </a:prstGeom>
          <a:solidFill>
            <a:srgbClr val="FFFFFF"/>
          </a:solidFill>
          <a:ln/>
        </p:spPr>
        <p:txBody>
          <a:bodyPr/>
          <a:lstStyle/>
          <a:p>
            <a:endParaRPr/>
          </a:p>
        </p:txBody>
      </p:sp>
      <p:pic>
        <p:nvPicPr>
          <p:cNvPr id="11" name="Image 1" descr="/home/claude/tmo/build/logo.png"/>
          <p:cNvPicPr>
            <a:picLocks noChangeAspect="1"/>
          </p:cNvPicPr>
          <p:nvPr/>
        </p:nvPicPr>
        <p:blipFill>
          <a:blip r:embed="rId4"/>
          <a:stretch>
            <a:fillRect/>
          </a:stretch>
        </p:blipFill>
        <p:spPr>
          <a:xfrm>
            <a:off x="10957255" y="6099048"/>
            <a:ext cx="548640" cy="548640"/>
          </a:xfrm>
          <a:prstGeom prst="rect">
            <a:avLst/>
          </a:prstGeom>
        </p:spPr>
      </p:pic>
    </p:spTree>
  </p:cSld>
  <p:clrMapOvr>
    <a:masterClrMapping/>
  </p:clrMapOvr>
  <p:transition spd="med"/>
</p:sld>
</file>

<file path=ppt/slides/slide148.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que les TMS atteignent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troubles musculo-squelettiques</a:t>
            </a:r>
            <a:endParaRPr lang="en-US" sz="1400" dirty="0"/>
          </a:p>
        </p:txBody>
      </p:sp>
      <p:grpSp>
        <p:nvGrpSpPr>
          <p:cNvPr id="9198" name="Bloc 1"/>
          <p:cNvGrpSpPr/>
          <p:nvPr/>
        </p:nvGrpSpPr>
        <p:grpSpPr>
          <a:xfrm>
            <a:off x="731520" y="1965960"/>
            <a:ext cx="3332378" cy="3108960"/>
            <a:chOff x="731520" y="1965960"/>
            <a:chExt cx="3332378" cy="3108960"/>
          </a:xfrm>
        </p:grpSpPr>
        <p:sp>
          <p:nvSpPr>
            <p:cNvPr id="10" name="Shape 8"/>
            <p:cNvSpPr/>
            <p:nvPr/>
          </p:nvSpPr>
          <p:spPr>
            <a:xfrm>
              <a:off x="731520" y="1965960"/>
              <a:ext cx="3332378" cy="3108960"/>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equip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Les tissus mous</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Muscles, tendons et ligaments : les structures qui encaissent la répétition et la contrainte.</a:t>
              </a:r>
              <a:endParaRPr lang="en-US" sz="1250" dirty="0"/>
            </a:p>
          </p:txBody>
        </p:sp>
      </p:grpSp>
      <p:grpSp>
        <p:nvGrpSpPr>
          <p:cNvPr id="9199"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alerte-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Les nerfs</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Compression et irritation : c'est le mécanisme du syndrome du canal carpien.</a:t>
              </a:r>
              <a:endParaRPr lang="en-US" sz="1250" dirty="0"/>
            </a:p>
          </p:txBody>
        </p:sp>
      </p:grpSp>
      <p:grpSp>
        <p:nvGrpSpPr>
          <p:cNvPr id="9200" name="Bloc 3"/>
          <p:cNvGrpSpPr/>
          <p:nvPr/>
        </p:nvGrpSpPr>
        <p:grpSpPr>
          <a:xfrm>
            <a:off x="8127797" y="1965960"/>
            <a:ext cx="3332378" cy="3108960"/>
            <a:chOff x="8127797" y="1965960"/>
            <a:chExt cx="3332378" cy="3108960"/>
          </a:xfrm>
        </p:grpSpPr>
        <p:sp>
          <p:nvSpPr>
            <p:cNvPr id="20" name="Shape 16"/>
            <p:cNvSpPr/>
            <p:nvPr/>
          </p:nvSpPr>
          <p:spPr>
            <a:xfrm>
              <a:off x="8127797" y="1965960"/>
              <a:ext cx="3332378" cy="3108960"/>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bouclier-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Les vaisseaux sanguins</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Atteintes vasculaires, notamment sous l'effet des vibrations transmises aux mains.</a:t>
              </a:r>
              <a:endParaRPr lang="en-US" sz="1250" dirty="0"/>
            </a:p>
          </p:txBody>
        </p:sp>
      </p:grpSp>
      <p:grpSp>
        <p:nvGrpSpPr>
          <p:cNvPr id="9201" name="Bloc 4"/>
          <p:cNvGrpSpPr/>
          <p:nvPr/>
        </p:nvGrpSpPr>
        <p:grpSpPr>
          <a:xfrm>
            <a:off x="731520" y="5257800"/>
            <a:ext cx="10728655" cy="841248"/>
            <a:chOff x="731520" y="5257800"/>
            <a:chExt cx="10728655" cy="841248"/>
          </a:xfrm>
        </p:grpSpPr>
        <p:sp>
          <p:nvSpPr>
            <p:cNvPr id="25" name="Shape 20"/>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26" name="Text 21"/>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La définition courte   </a:t>
              </a:r>
              <a:r>
                <a:rPr lang="en-US" sz="1300" dirty="0">
                  <a:solidFill>
                    <a:srgbClr val="075767"/>
                  </a:solidFill>
                  <a:latin typeface="Lato" pitchFamily="34" charset="0"/>
                  <a:ea typeface="Lato" pitchFamily="34" charset="-122"/>
                  <a:cs typeface="Lato" pitchFamily="34" charset="-120"/>
                </a:rPr>
                <a:t>les TMS sont des atteintes des tissus situés autour des articulations. Ils s'installent lentement, et se voient tard.</a:t>
              </a:r>
              <a:endParaRPr lang="en-US" sz="1250" dirty="0"/>
            </a:p>
          </p:txBody>
        </p:sp>
      </p:grpSp>
      <p:pic>
        <p:nvPicPr>
          <p:cNvPr id="27"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8"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9" name="Shape 23"/>
          <p:cNvSpPr/>
          <p:nvPr/>
        </p:nvSpPr>
        <p:spPr>
          <a:xfrm>
            <a:off x="10591495" y="6181344"/>
            <a:ext cx="438912" cy="438912"/>
          </a:xfrm>
          <a:prstGeom prst="ellipse">
            <a:avLst/>
          </a:prstGeom>
          <a:solidFill>
            <a:srgbClr val="F06C23"/>
          </a:solidFill>
          <a:ln/>
        </p:spPr>
        <p:txBody>
          <a:bodyPr/>
          <a:lstStyle/>
          <a:p>
            <a:endParaRPr/>
          </a:p>
        </p:txBody>
      </p:sp>
      <p:sp>
        <p:nvSpPr>
          <p:cNvPr id="30"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31"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147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98"/>
                                        </p:tgtEl>
                                        <p:attrNameLst>
                                          <p:attrName>style.visibility</p:attrName>
                                        </p:attrNameLst>
                                      </p:cBhvr>
                                      <p:to>
                                        <p:strVal val="visible"/>
                                      </p:to>
                                    </p:set>
                                    <p:animEffect transition="in" filter="fade">
                                      <p:cBhvr>
                                        <p:cTn id="7" dur="450"/>
                                        <p:tgtEl>
                                          <p:spTgt spid="91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99"/>
                                        </p:tgtEl>
                                        <p:attrNameLst>
                                          <p:attrName>style.visibility</p:attrName>
                                        </p:attrNameLst>
                                      </p:cBhvr>
                                      <p:to>
                                        <p:strVal val="visible"/>
                                      </p:to>
                                    </p:set>
                                    <p:animEffect transition="in" filter="fade">
                                      <p:cBhvr>
                                        <p:cTn id="12" dur="450"/>
                                        <p:tgtEl>
                                          <p:spTgt spid="919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00"/>
                                        </p:tgtEl>
                                        <p:attrNameLst>
                                          <p:attrName>style.visibility</p:attrName>
                                        </p:attrNameLst>
                                      </p:cBhvr>
                                      <p:to>
                                        <p:strVal val="visible"/>
                                      </p:to>
                                    </p:set>
                                    <p:animEffect transition="in" filter="fade">
                                      <p:cBhvr>
                                        <p:cTn id="17" dur="450"/>
                                        <p:tgtEl>
                                          <p:spTgt spid="920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01"/>
                                        </p:tgtEl>
                                        <p:attrNameLst>
                                          <p:attrName>style.visibility</p:attrName>
                                        </p:attrNameLst>
                                      </p:cBhvr>
                                      <p:to>
                                        <p:strVal val="visible"/>
                                      </p:to>
                                    </p:set>
                                    <p:animEffect transition="in" filter="fade">
                                      <p:cBhvr>
                                        <p:cTn id="22" dur="450"/>
                                        <p:tgtEl>
                                          <p:spTgt spid="9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signes qui doivent alerter</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troubles musculo-squelettiques</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Aucun n'est spectaculaire. C'est précisément ce qui les rend faciles à ignorer.</a:t>
            </a:r>
            <a:endParaRPr lang="en-US" sz="1450" dirty="0"/>
          </a:p>
        </p:txBody>
      </p:sp>
      <p:sp>
        <p:nvSpPr>
          <p:cNvPr id="11" name="Text 9"/>
          <p:cNvSpPr txBox="1"/>
          <p:nvPr/>
        </p:nvSpPr>
        <p:spPr>
          <a:xfrm>
            <a:off x="731520" y="2487168"/>
            <a:ext cx="6035040"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Gêne ou douleurs dans les mouvements</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Perte de force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 salarié « n'y arrive plus » sur des gestes qu'il faisait sans y penser</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Perte de souplesse</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Perte de dextérité</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Chutes d'objets, gestes moins précis, ralentissement</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Engourdissements ou picotements</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Souvent nocturnes, souvent minimisés par le salarié lui-même</a:t>
            </a:r>
            <a:endParaRPr lang="en-US" sz="1300" dirty="0"/>
          </a:p>
        </p:txBody>
      </p:sp>
      <p:grpSp>
        <p:nvGrpSpPr>
          <p:cNvPr id="9202" name="Bloc 2"/>
          <p:cNvGrpSpPr/>
          <p:nvPr/>
        </p:nvGrpSpPr>
        <p:grpSpPr>
          <a:xfrm>
            <a:off x="7223760" y="1828800"/>
            <a:ext cx="4334256" cy="3282696"/>
            <a:chOff x="7223760" y="1828800"/>
            <a:chExt cx="4334256" cy="3282696"/>
          </a:xfrm>
        </p:grpSpPr>
        <p:sp>
          <p:nvSpPr>
            <p:cNvPr id="21" name="Rounded Rectangle 20"/>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31.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203" name="Bloc 4"/>
          <p:cNvGrpSpPr/>
          <p:nvPr/>
        </p:nvGrpSpPr>
        <p:grpSpPr>
          <a:xfrm>
            <a:off x="731520" y="5248656"/>
            <a:ext cx="10728655" cy="841248"/>
            <a:chOff x="731520" y="5248656"/>
            <a:chExt cx="10728655" cy="841248"/>
          </a:xfrm>
        </p:grpSpPr>
        <p:sp>
          <p:nvSpPr>
            <p:cNvPr id="13" name="Text 10"/>
            <p:cNvSpPr txBox="1"/>
            <p:nvPr/>
          </p:nvSpPr>
          <p:spPr>
            <a:xfrm>
              <a:off x="7223760" y="5349240"/>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Un salarié qui secoue sa main le matin dit quelque chose. Encore faut-il l'entendre.</a:t>
              </a:r>
              <a:endParaRPr lang="en-US" sz="950" dirty="0"/>
            </a:p>
          </p:txBody>
        </p:sp>
        <p:sp>
          <p:nvSpPr>
            <p:cNvPr id="14" name="Shape 11"/>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5" name="Text 12"/>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rôle de l'élu   </a:t>
              </a:r>
              <a:r>
                <a:rPr lang="en-US" sz="1300" dirty="0">
                  <a:solidFill>
                    <a:srgbClr val="075767"/>
                  </a:solidFill>
                  <a:latin typeface="Lato" pitchFamily="34" charset="0"/>
                  <a:ea typeface="Lato" pitchFamily="34" charset="-122"/>
                  <a:cs typeface="Lato" pitchFamily="34" charset="-120"/>
                </a:rPr>
                <a:t>ces signes se disent au vestiaire, pas en réunion. L'inspection et la proximité de terrain sont les seuls moyens de les capter.</a:t>
              </a:r>
              <a:endParaRPr lang="en-US" sz="1250" dirty="0"/>
            </a:p>
          </p:txBody>
        </p:sp>
      </p:gr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148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02"/>
                                        </p:tgtEl>
                                        <p:attrNameLst>
                                          <p:attrName>style.visibility</p:attrName>
                                        </p:attrNameLst>
                                      </p:cBhvr>
                                      <p:to>
                                        <p:strVal val="visible"/>
                                      </p:to>
                                    </p:set>
                                    <p:animEffect transition="in" filter="fade">
                                      <p:cBhvr>
                                        <p:cTn id="12" dur="450"/>
                                        <p:tgtEl>
                                          <p:spTgt spid="92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03"/>
                                        </p:tgtEl>
                                        <p:attrNameLst>
                                          <p:attrName>style.visibility</p:attrName>
                                        </p:attrNameLst>
                                      </p:cBhvr>
                                      <p:to>
                                        <p:strVal val="visible"/>
                                      </p:to>
                                    </p:set>
                                    <p:animEffect transition="in" filter="fade">
                                      <p:cBhvr>
                                        <p:cTn id="22" dur="450"/>
                                        <p:tgtEl>
                                          <p:spTgt spid="9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Où les TMS se localisent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troubles musculo-squelettiques</a:t>
            </a:r>
            <a:endParaRPr lang="en-US" sz="1400" dirty="0"/>
          </a:p>
        </p:txBody>
      </p:sp>
      <p:graphicFrame>
        <p:nvGraphicFramePr>
          <p:cNvPr id="129"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0728655" cy="914400"/>
        </p:xfrm>
        <a:graphic>
          <a:graphicData uri="http://schemas.openxmlformats.org/drawingml/2006/table">
            <a:tbl>
              <a:tblPr/>
              <a:tblGrid>
                <a:gridCol w="3108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873752">
                  <a:extLst>
                    <a:ext uri="{9D8B030D-6E8A-4147-A177-3AD203B41FA5}">
                      <a16:colId xmlns:a16="http://schemas.microsoft.com/office/drawing/2014/main" val="20002"/>
                    </a:ext>
                  </a:extLst>
                </a:gridCol>
              </a:tblGrid>
              <a:tr h="566928">
                <a:tc>
                  <a:txBody>
                    <a:bodyPr/>
                    <a:lstStyle/>
                    <a:p>
                      <a:pPr marL="0" indent="0">
                        <a:buNone/>
                      </a:pPr>
                      <a:r>
                        <a:rPr lang="en-US" sz="1250" b="1" dirty="0">
                          <a:solidFill>
                            <a:srgbClr val="FFFFFF"/>
                          </a:solidFill>
                          <a:latin typeface="Lato" pitchFamily="34" charset="0"/>
                          <a:ea typeface="Lato" pitchFamily="34" charset="-122"/>
                          <a:cs typeface="Lato" pitchFamily="34" charset="-120"/>
                        </a:rPr>
                        <a:t>Localisation</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Part des TMS reconnus</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tc>
                  <a:txBody>
                    <a:bodyPr/>
                    <a:lstStyle/>
                    <a:p>
                      <a:pPr marL="0" indent="0">
                        <a:buNone/>
                      </a:pPr>
                      <a:r>
                        <a:rPr lang="en-US" sz="1250" b="1" dirty="0">
                          <a:solidFill>
                            <a:srgbClr val="FFFFFF"/>
                          </a:solidFill>
                          <a:latin typeface="Lato" pitchFamily="34" charset="0"/>
                          <a:ea typeface="Lato" pitchFamily="34" charset="-122"/>
                          <a:cs typeface="Lato" pitchFamily="34" charset="-120"/>
                        </a:rPr>
                        <a:t>Pathologies les plus fréquentes</a:t>
                      </a:r>
                      <a:endParaRPr lang="en-US" sz="125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075767"/>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Main, poignet, doigt</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35 %</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Syndrome du canal carpien, tendinites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Épaule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C33F14"/>
                          </a:solidFill>
                          <a:latin typeface="Lato" pitchFamily="34" charset="0"/>
                          <a:ea typeface="Lato" pitchFamily="34" charset="-122"/>
                          <a:cs typeface="Lato" pitchFamily="34" charset="-120"/>
                        </a:rPr>
                        <a:t>33 %</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Douleurs, tendinopathie de la coiffe des rotateurs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Coude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22 %</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Épicondylite, arthrose du coude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Dos</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7 %</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Hernie discale</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66928">
                <a:tc>
                  <a:txBody>
                    <a:bodyPr/>
                    <a:lstStyle/>
                    <a:p>
                      <a:pPr marL="0" indent="0">
                        <a:buNone/>
                      </a:pPr>
                      <a:r>
                        <a:rPr lang="en-US" sz="1200" dirty="0">
                          <a:solidFill>
                            <a:srgbClr val="595959"/>
                          </a:solidFill>
                          <a:latin typeface="Lato" pitchFamily="34" charset="0"/>
                          <a:ea typeface="Lato" pitchFamily="34" charset="-122"/>
                          <a:cs typeface="Lato" pitchFamily="34" charset="-120"/>
                        </a:rPr>
                        <a:t>Genou</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2 %</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595959"/>
                          </a:solidFill>
                          <a:latin typeface="Lato" pitchFamily="34" charset="0"/>
                          <a:ea typeface="Lato" pitchFamily="34" charset="-122"/>
                          <a:cs typeface="Lato" pitchFamily="34" charset="-120"/>
                        </a:rPr>
                        <a:t>Lésion chronique du ménisque, hygroma</a:t>
                      </a:r>
                      <a:endParaRPr lang="en-US" sz="1200" dirty="0">
                        <a:latin typeface="Lato" charset="0"/>
                        <a:ea typeface="Lato" charset="0"/>
                        <a:cs typeface="Lato" charset="0"/>
                      </a:endParaRPr>
                    </a:p>
                  </a:txBody>
                  <a:tcPr marL="114300" marR="114300" marT="63500" marB="6350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8"/>
          <p:cNvSpPr txBox="1"/>
          <p:nvPr/>
        </p:nvSpPr>
        <p:spPr>
          <a:xfrm>
            <a:off x="731520" y="5623560"/>
            <a:ext cx="10728655" cy="365760"/>
          </a:xfrm>
          <a:prstGeom prst="rect">
            <a:avLst/>
          </a:prstGeom>
          <a:noFill/>
          <a:ln/>
        </p:spPr>
        <p:txBody>
          <a:bodyPr wrap="square" lIns="0" tIns="0" rIns="0" bIns="0" rtlCol="0" anchor="t"/>
          <a:lstStyle/>
          <a:p>
            <a:pPr marL="0" indent="0">
              <a:buNone/>
            </a:pPr>
            <a:r>
              <a:rPr lang="en-US" sz="1000" i="1" dirty="0">
                <a:solidFill>
                  <a:srgbClr val="595959"/>
                </a:solidFill>
                <a:latin typeface="Lato" pitchFamily="34" charset="0"/>
                <a:ea typeface="Lato" pitchFamily="34" charset="-122"/>
                <a:cs typeface="Lato" pitchFamily="34" charset="-120"/>
              </a:rPr>
              <a:t>Membre supérieur : 90 % des TMS reconnus. C'est là que l'analyse de poste doit porter en priorité.</a:t>
            </a:r>
            <a:endParaRPr lang="en-US" sz="10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9"/>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0"/>
          <p:cNvSpPr/>
          <p:nvPr/>
        </p:nvSpPr>
        <p:spPr>
          <a:xfrm>
            <a:off x="10591495" y="6181344"/>
            <a:ext cx="438912" cy="438912"/>
          </a:xfrm>
          <a:prstGeom prst="ellipse">
            <a:avLst/>
          </a:prstGeom>
          <a:solidFill>
            <a:srgbClr val="F06C23"/>
          </a:solidFill>
          <a:ln/>
        </p:spPr>
        <p:txBody>
          <a:bodyPr/>
          <a:lstStyle/>
          <a:p>
            <a:endParaRPr/>
          </a:p>
        </p:txBody>
      </p:sp>
      <p:sp>
        <p:nvSpPr>
          <p:cNvPr id="15" name="Text 11"/>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16" name="Text 12"/>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149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p:cTn id="7" dur="450"/>
                                        <p:tgtEl>
                                          <p:spTgt spid="1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trois familles de causes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troubles musculo-squelettiques</a:t>
            </a:r>
            <a:endParaRPr lang="en-US" sz="1400" dirty="0"/>
          </a:p>
        </p:txBody>
      </p:sp>
      <p:grpSp>
        <p:nvGrpSpPr>
          <p:cNvPr id="9204" name="Bloc 1"/>
          <p:cNvGrpSpPr/>
          <p:nvPr/>
        </p:nvGrpSpPr>
        <p:grpSpPr>
          <a:xfrm>
            <a:off x="731520" y="1965960"/>
            <a:ext cx="3332378" cy="3108960"/>
            <a:chOff x="731520" y="1965960"/>
            <a:chExt cx="3332378" cy="3108960"/>
          </a:xfrm>
        </p:grpSpPr>
        <p:sp>
          <p:nvSpPr>
            <p:cNvPr id="10" name="Shape 8"/>
            <p:cNvSpPr/>
            <p:nvPr/>
          </p:nvSpPr>
          <p:spPr>
            <a:xfrm>
              <a:off x="731520" y="1965960"/>
              <a:ext cx="3332378" cy="3108960"/>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bouclier-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Contraintes physiques</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Gestes répétitifs, port de charges lourdes, travail statique prolongé, postures contraignantes, froid et courants d'air.</a:t>
              </a:r>
              <a:endParaRPr lang="en-US" sz="1250" dirty="0"/>
            </a:p>
          </p:txBody>
        </p:sp>
      </p:grpSp>
      <p:grpSp>
        <p:nvGrpSpPr>
          <p:cNvPr id="9205" name="Bloc 2"/>
          <p:cNvGrpSpPr/>
          <p:nvPr/>
        </p:nvGrpSpPr>
        <p:grpSpPr>
          <a:xfrm>
            <a:off x="4429658" y="1965960"/>
            <a:ext cx="3332378" cy="3197961"/>
            <a:chOff x="4429658" y="1965960"/>
            <a:chExt cx="3332378" cy="3197961"/>
          </a:xfrm>
        </p:grpSpPr>
        <p:sp>
          <p:nvSpPr>
            <p:cNvPr id="15" name="Shape 12"/>
            <p:cNvSpPr/>
            <p:nvPr/>
          </p:nvSpPr>
          <p:spPr>
            <a:xfrm>
              <a:off x="4429658" y="1965960"/>
              <a:ext cx="3332378" cy="3197961"/>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horloge-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546201"/>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Contraintes d'organisation</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Délais trop courts, absence d'autonomie, manque de pauses, absence d'alternance des tâches.</a:t>
              </a:r>
              <a:endParaRPr lang="en-US" sz="1250" dirty="0"/>
            </a:p>
          </p:txBody>
        </p:sp>
      </p:grpSp>
      <p:grpSp>
        <p:nvGrpSpPr>
          <p:cNvPr id="9206" name="Bloc 3"/>
          <p:cNvGrpSpPr/>
          <p:nvPr/>
        </p:nvGrpSpPr>
        <p:grpSpPr>
          <a:xfrm>
            <a:off x="8127797" y="1965960"/>
            <a:ext cx="3332378" cy="3197961"/>
            <a:chOff x="8127797" y="1965960"/>
            <a:chExt cx="3332378" cy="3197961"/>
          </a:xfrm>
        </p:grpSpPr>
        <p:sp>
          <p:nvSpPr>
            <p:cNvPr id="20" name="Shape 16"/>
            <p:cNvSpPr/>
            <p:nvPr/>
          </p:nvSpPr>
          <p:spPr>
            <a:xfrm>
              <a:off x="8127797" y="1965960"/>
              <a:ext cx="3332378" cy="3197961"/>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dialogue-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546201"/>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Contraintes psychosociales</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Mauvaises relations de travail, manque de reconnaissance et de sens, exigences émotionnelles, incertitude sur l'avenir.</a:t>
              </a:r>
              <a:endParaRPr lang="en-US" sz="1250" dirty="0"/>
            </a:p>
          </p:txBody>
        </p:sp>
      </p:grpSp>
      <p:grpSp>
        <p:nvGrpSpPr>
          <p:cNvPr id="9207" name="Bloc 4"/>
          <p:cNvGrpSpPr/>
          <p:nvPr/>
        </p:nvGrpSpPr>
        <p:grpSpPr>
          <a:xfrm>
            <a:off x="731520" y="5257800"/>
            <a:ext cx="10728655" cy="841248"/>
            <a:chOff x="731520" y="5257800"/>
            <a:chExt cx="10728655" cy="841248"/>
          </a:xfrm>
        </p:grpSpPr>
        <p:sp>
          <p:nvSpPr>
            <p:cNvPr id="25" name="Shape 20"/>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26" name="Text 21"/>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point clé   </a:t>
              </a:r>
              <a:r>
                <a:rPr lang="en-US" sz="1300" dirty="0">
                  <a:solidFill>
                    <a:srgbClr val="075767"/>
                  </a:solidFill>
                  <a:latin typeface="Lato" pitchFamily="34" charset="0"/>
                  <a:ea typeface="Lato" pitchFamily="34" charset="-122"/>
                  <a:cs typeface="Lato" pitchFamily="34" charset="-120"/>
                </a:rPr>
                <a:t>les TMS ne sont pas qu'une affaire de gestes. Deux salariés au même poste, l'un reconnu et l'autre pas, se distinguent souvent par l'organisation et le vécu du travail.</a:t>
              </a:r>
              <a:endParaRPr lang="en-US" sz="1250" dirty="0"/>
            </a:p>
          </p:txBody>
        </p:sp>
      </p:grpSp>
      <p:pic>
        <p:nvPicPr>
          <p:cNvPr id="27"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8"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9" name="Shape 23"/>
          <p:cNvSpPr/>
          <p:nvPr/>
        </p:nvSpPr>
        <p:spPr>
          <a:xfrm>
            <a:off x="10591495" y="6181344"/>
            <a:ext cx="438912" cy="438912"/>
          </a:xfrm>
          <a:prstGeom prst="ellipse">
            <a:avLst/>
          </a:prstGeom>
          <a:solidFill>
            <a:srgbClr val="F06C23"/>
          </a:solidFill>
          <a:ln/>
        </p:spPr>
        <p:txBody>
          <a:bodyPr/>
          <a:lstStyle/>
          <a:p>
            <a:endParaRPr/>
          </a:p>
        </p:txBody>
      </p:sp>
      <p:sp>
        <p:nvSpPr>
          <p:cNvPr id="30"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31"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150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04"/>
                                        </p:tgtEl>
                                        <p:attrNameLst>
                                          <p:attrName>style.visibility</p:attrName>
                                        </p:attrNameLst>
                                      </p:cBhvr>
                                      <p:to>
                                        <p:strVal val="visible"/>
                                      </p:to>
                                    </p:set>
                                    <p:animEffect transition="in" filter="fade">
                                      <p:cBhvr>
                                        <p:cTn id="7" dur="450"/>
                                        <p:tgtEl>
                                          <p:spTgt spid="92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05"/>
                                        </p:tgtEl>
                                        <p:attrNameLst>
                                          <p:attrName>style.visibility</p:attrName>
                                        </p:attrNameLst>
                                      </p:cBhvr>
                                      <p:to>
                                        <p:strVal val="visible"/>
                                      </p:to>
                                    </p:set>
                                    <p:animEffect transition="in" filter="fade">
                                      <p:cBhvr>
                                        <p:cTn id="12" dur="450"/>
                                        <p:tgtEl>
                                          <p:spTgt spid="92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06"/>
                                        </p:tgtEl>
                                        <p:attrNameLst>
                                          <p:attrName>style.visibility</p:attrName>
                                        </p:attrNameLst>
                                      </p:cBhvr>
                                      <p:to>
                                        <p:strVal val="visible"/>
                                      </p:to>
                                    </p:set>
                                    <p:animEffect transition="in" filter="fade">
                                      <p:cBhvr>
                                        <p:cTn id="17" dur="450"/>
                                        <p:tgtEl>
                                          <p:spTgt spid="920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07"/>
                                        </p:tgtEl>
                                        <p:attrNameLst>
                                          <p:attrName>style.visibility</p:attrName>
                                        </p:attrNameLst>
                                      </p:cBhvr>
                                      <p:to>
                                        <p:strVal val="visible"/>
                                      </p:to>
                                    </p:set>
                                    <p:animEffect transition="in" filter="fade">
                                      <p:cBhvr>
                                        <p:cTn id="22" dur="450"/>
                                        <p:tgtEl>
                                          <p:spTgt spid="9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conséquences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troubles musculo-squelettiques</a:t>
            </a:r>
            <a:endParaRPr lang="en-US" sz="1400" dirty="0"/>
          </a:p>
        </p:txBody>
      </p:sp>
      <p:grpSp>
        <p:nvGrpSpPr>
          <p:cNvPr id="9208" name="Bloc 1"/>
          <p:cNvGrpSpPr/>
          <p:nvPr/>
        </p:nvGrpSpPr>
        <p:grpSpPr>
          <a:xfrm>
            <a:off x="731520" y="1828800"/>
            <a:ext cx="6035040" cy="3977640"/>
            <a:chOff x="731520" y="1828800"/>
            <a:chExt cx="6035040" cy="3977640"/>
          </a:xfrm>
        </p:grpSpPr>
        <p:sp>
          <p:nvSpPr>
            <p:cNvPr id="10" name="Text 8"/>
            <p:cNvSpPr txBox="1"/>
            <p:nvPr/>
          </p:nvSpPr>
          <p:spPr>
            <a:xfrm>
              <a:off x="731520" y="1828800"/>
              <a:ext cx="6035040" cy="1234440"/>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Nous ne sommes pas égaux face aux TMS : âge, état de santé, expérience professionnelle et contexte de travail pèsent.</a:t>
              </a:r>
              <a:endParaRPr lang="en-US" sz="1450" dirty="0"/>
            </a:p>
          </p:txBody>
        </p:sp>
        <p:sp>
          <p:nvSpPr>
            <p:cNvPr id="11" name="Text 9"/>
            <p:cNvSpPr txBox="1"/>
            <p:nvPr/>
          </p:nvSpPr>
          <p:spPr>
            <a:xfrm>
              <a:off x="731520" y="2487168"/>
              <a:ext cx="6035040"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Un impact qui déborde la vie professionnelle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 TMS suit le salarié chez lui : sommeil, gestes du quotidien, activités familiales</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L'arrêt de travail : effet encore réversible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C'est la fenêtre où l'aménagement du poste peut encore tout changer</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La maladie professionnelle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Reconnaissance par tableau, essentiellement les tableaux 57, 69, 79 et 97</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Le handicap et l'incapacité, partielle ou totale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Reclassement, inaptitude, désinsertion professionnelle</a:t>
              </a:r>
              <a:endParaRPr lang="en-US" sz="1300" dirty="0"/>
            </a:p>
          </p:txBody>
        </p:sp>
      </p:grpSp>
      <p:grpSp>
        <p:nvGrpSpPr>
          <p:cNvPr id="9209" name="Bloc 2"/>
          <p:cNvGrpSpPr/>
          <p:nvPr/>
        </p:nvGrpSpPr>
        <p:grpSpPr>
          <a:xfrm>
            <a:off x="7223760" y="1828800"/>
            <a:ext cx="4334256" cy="3282696"/>
            <a:chOff x="7223760" y="1828800"/>
            <a:chExt cx="4334256" cy="3282696"/>
          </a:xfrm>
        </p:grpSpPr>
        <p:sp>
          <p:nvSpPr>
            <p:cNvPr id="19" name="Rounded Rectangle 18"/>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32.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sp>
        <p:nvSpPr>
          <p:cNvPr id="13" name="Text 10"/>
          <p:cNvSpPr txBox="1"/>
          <p:nvPr/>
        </p:nvSpPr>
        <p:spPr>
          <a:xfrm>
            <a:off x="7223760" y="5632704"/>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Entre la gêne et l'inaptitude, il y a des années, et beaucoup d'occasions d'agir.</a:t>
            </a:r>
            <a:endParaRPr lang="en-US" sz="950" dirty="0"/>
          </a:p>
        </p:txBody>
      </p:sp>
      <p:pic>
        <p:nvPicPr>
          <p:cNvPr id="14"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5"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2"/>
          <p:cNvSpPr/>
          <p:nvPr/>
        </p:nvSpPr>
        <p:spPr>
          <a:xfrm>
            <a:off x="10591495" y="6181344"/>
            <a:ext cx="438912" cy="438912"/>
          </a:xfrm>
          <a:prstGeom prst="ellipse">
            <a:avLst/>
          </a:prstGeom>
          <a:solidFill>
            <a:srgbClr val="F06C23"/>
          </a:solidFill>
          <a:ln/>
        </p:spPr>
        <p:txBody>
          <a:bodyPr/>
          <a:lstStyle/>
          <a:p>
            <a:endParaRPr/>
          </a:p>
        </p:txBody>
      </p:sp>
      <p:sp>
        <p:nvSpPr>
          <p:cNvPr id="17"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18"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151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08"/>
                                        </p:tgtEl>
                                        <p:attrNameLst>
                                          <p:attrName>style.visibility</p:attrName>
                                        </p:attrNameLst>
                                      </p:cBhvr>
                                      <p:to>
                                        <p:strVal val="visible"/>
                                      </p:to>
                                    </p:set>
                                    <p:animEffect transition="in" filter="fade">
                                      <p:cBhvr>
                                        <p:cTn id="7" dur="450"/>
                                        <p:tgtEl>
                                          <p:spTgt spid="920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09"/>
                                        </p:tgtEl>
                                        <p:attrNameLst>
                                          <p:attrName>style.visibility</p:attrName>
                                        </p:attrNameLst>
                                      </p:cBhvr>
                                      <p:to>
                                        <p:strVal val="visible"/>
                                      </p:to>
                                    </p:set>
                                    <p:animEffect transition="in" filter="fade">
                                      <p:cBhvr>
                                        <p:cTn id="12" dur="450"/>
                                        <p:tgtEl>
                                          <p:spTgt spid="920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Agir : les solutions techniques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troubles musculo-squelettiques</a:t>
            </a:r>
            <a:endParaRPr lang="en-US" sz="1400" dirty="0"/>
          </a:p>
        </p:txBody>
      </p:sp>
      <p:grpSp>
        <p:nvGrpSpPr>
          <p:cNvPr id="9210" name="Bloc 1"/>
          <p:cNvGrpSpPr/>
          <p:nvPr/>
        </p:nvGrpSpPr>
        <p:grpSpPr>
          <a:xfrm>
            <a:off x="731520" y="1965960"/>
            <a:ext cx="3332378" cy="3108960"/>
            <a:chOff x="731520" y="1965960"/>
            <a:chExt cx="3332378" cy="3108960"/>
          </a:xfrm>
        </p:grpSpPr>
        <p:sp>
          <p:nvSpPr>
            <p:cNvPr id="10" name="Shape 8"/>
            <p:cNvSpPr/>
            <p:nvPr/>
          </p:nvSpPr>
          <p:spPr>
            <a:xfrm>
              <a:off x="731520" y="1965960"/>
              <a:ext cx="3332378" cy="3108960"/>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graphiqu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Analyser le poste</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Aménagement du poste sur la base d'une analyse réelle de l'activité, pas d'une fiche de poste.</a:t>
              </a:r>
              <a:endParaRPr lang="en-US" sz="1250" dirty="0"/>
            </a:p>
          </p:txBody>
        </p:sp>
      </p:grpSp>
      <p:grpSp>
        <p:nvGrpSpPr>
          <p:cNvPr id="9211"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idee-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Choisir le matériel</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Outils, aides à la manutention, exosquelettes, évalués en situation, jamais achetés sur catalogue.</a:t>
              </a:r>
              <a:endParaRPr lang="en-US" sz="1250" dirty="0"/>
            </a:p>
          </p:txBody>
        </p:sp>
      </p:grpSp>
      <p:grpSp>
        <p:nvGrpSpPr>
          <p:cNvPr id="9212" name="Bloc 3"/>
          <p:cNvGrpSpPr/>
          <p:nvPr/>
        </p:nvGrpSpPr>
        <p:grpSpPr>
          <a:xfrm>
            <a:off x="8127797" y="1965960"/>
            <a:ext cx="3332378" cy="3108960"/>
            <a:chOff x="8127797" y="1965960"/>
            <a:chExt cx="3332378" cy="3108960"/>
          </a:xfrm>
        </p:grpSpPr>
        <p:sp>
          <p:nvSpPr>
            <p:cNvPr id="20" name="Shape 16"/>
            <p:cNvSpPr/>
            <p:nvPr/>
          </p:nvSpPr>
          <p:spPr>
            <a:xfrm>
              <a:off x="8127797" y="1965960"/>
              <a:ext cx="3332378" cy="3108960"/>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equipe-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Faire participer</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Les salariés concernés participent au choix. Un équipement imposé finit au fond de l'atelier.</a:t>
              </a:r>
              <a:endParaRPr lang="en-US" sz="1250" dirty="0"/>
            </a:p>
          </p:txBody>
        </p:sp>
      </p:grpSp>
      <p:grpSp>
        <p:nvGrpSpPr>
          <p:cNvPr id="9213" name="Bloc 4"/>
          <p:cNvGrpSpPr/>
          <p:nvPr/>
        </p:nvGrpSpPr>
        <p:grpSpPr>
          <a:xfrm>
            <a:off x="731520" y="5257800"/>
            <a:ext cx="10728655" cy="841248"/>
            <a:chOff x="731520" y="5257800"/>
            <a:chExt cx="10728655" cy="841248"/>
          </a:xfrm>
        </p:grpSpPr>
        <p:sp>
          <p:nvSpPr>
            <p:cNvPr id="25" name="Shape 20"/>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26" name="Text 21"/>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principe mobilisé   </a:t>
              </a:r>
              <a:r>
                <a:rPr lang="en-US" sz="1300" dirty="0">
                  <a:solidFill>
                    <a:srgbClr val="075767"/>
                  </a:solidFill>
                  <a:latin typeface="Lato" pitchFamily="34" charset="0"/>
                  <a:ea typeface="Lato" pitchFamily="34" charset="-122"/>
                  <a:cs typeface="Lato" pitchFamily="34" charset="-120"/>
                </a:rPr>
                <a:t>principe général nº 4 : adapter le travail à l'homme. C'est le fondement juridique de toute demande d'aménagement.</a:t>
              </a:r>
              <a:endParaRPr lang="en-US" sz="1250" dirty="0"/>
            </a:p>
          </p:txBody>
        </p:sp>
      </p:grpSp>
      <p:pic>
        <p:nvPicPr>
          <p:cNvPr id="27"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8"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9" name="Shape 23"/>
          <p:cNvSpPr/>
          <p:nvPr/>
        </p:nvSpPr>
        <p:spPr>
          <a:xfrm>
            <a:off x="10591495" y="6181344"/>
            <a:ext cx="438912" cy="438912"/>
          </a:xfrm>
          <a:prstGeom prst="ellipse">
            <a:avLst/>
          </a:prstGeom>
          <a:solidFill>
            <a:srgbClr val="F06C23"/>
          </a:solidFill>
          <a:ln/>
        </p:spPr>
        <p:txBody>
          <a:bodyPr/>
          <a:lstStyle/>
          <a:p>
            <a:endParaRPr/>
          </a:p>
        </p:txBody>
      </p:sp>
      <p:sp>
        <p:nvSpPr>
          <p:cNvPr id="30"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31"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152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0"/>
                                        </p:tgtEl>
                                        <p:attrNameLst>
                                          <p:attrName>style.visibility</p:attrName>
                                        </p:attrNameLst>
                                      </p:cBhvr>
                                      <p:to>
                                        <p:strVal val="visible"/>
                                      </p:to>
                                    </p:set>
                                    <p:animEffect transition="in" filter="fade">
                                      <p:cBhvr>
                                        <p:cTn id="7" dur="450"/>
                                        <p:tgtEl>
                                          <p:spTgt spid="92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11"/>
                                        </p:tgtEl>
                                        <p:attrNameLst>
                                          <p:attrName>style.visibility</p:attrName>
                                        </p:attrNameLst>
                                      </p:cBhvr>
                                      <p:to>
                                        <p:strVal val="visible"/>
                                      </p:to>
                                    </p:set>
                                    <p:animEffect transition="in" filter="fade">
                                      <p:cBhvr>
                                        <p:cTn id="12" dur="450"/>
                                        <p:tgtEl>
                                          <p:spTgt spid="92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12"/>
                                        </p:tgtEl>
                                        <p:attrNameLst>
                                          <p:attrName>style.visibility</p:attrName>
                                        </p:attrNameLst>
                                      </p:cBhvr>
                                      <p:to>
                                        <p:strVal val="visible"/>
                                      </p:to>
                                    </p:set>
                                    <p:animEffect transition="in" filter="fade">
                                      <p:cBhvr>
                                        <p:cTn id="17" dur="450"/>
                                        <p:tgtEl>
                                          <p:spTgt spid="92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13"/>
                                        </p:tgtEl>
                                        <p:attrNameLst>
                                          <p:attrName>style.visibility</p:attrName>
                                        </p:attrNameLst>
                                      </p:cBhvr>
                                      <p:to>
                                        <p:strVal val="visible"/>
                                      </p:to>
                                    </p:set>
                                    <p:animEffect transition="in" filter="fade">
                                      <p:cBhvr>
                                        <p:cTn id="22" dur="450"/>
                                        <p:tgtEl>
                                          <p:spTgt spid="9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Agir : organisation et compétences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troubles musculo-squelettiques</a:t>
            </a:r>
            <a:endParaRPr lang="en-US" sz="1400" dirty="0"/>
          </a:p>
        </p:txBody>
      </p:sp>
      <p:grpSp>
        <p:nvGrpSpPr>
          <p:cNvPr id="9214" name="Bloc 1"/>
          <p:cNvGrpSpPr/>
          <p:nvPr/>
        </p:nvGrpSpPr>
        <p:grpSpPr>
          <a:xfrm>
            <a:off x="731520" y="1965960"/>
            <a:ext cx="3332378" cy="3108960"/>
            <a:chOff x="731520" y="1965960"/>
            <a:chExt cx="3332378" cy="3108960"/>
          </a:xfrm>
        </p:grpSpPr>
        <p:sp>
          <p:nvSpPr>
            <p:cNvPr id="10" name="Shape 8"/>
            <p:cNvSpPr/>
            <p:nvPr/>
          </p:nvSpPr>
          <p:spPr>
            <a:xfrm>
              <a:off x="731520" y="1965960"/>
              <a:ext cx="3332378" cy="3108960"/>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horlog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Organiser autrement</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Diversifier les tâches, organiser l'entraide, aménager les pauses, anticiper les aléas de production.</a:t>
              </a:r>
              <a:endParaRPr lang="en-US" sz="1250" dirty="0"/>
            </a:p>
          </p:txBody>
        </p:sp>
      </p:grpSp>
      <p:grpSp>
        <p:nvGrpSpPr>
          <p:cNvPr id="9215"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dialogue-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Clarifier les objectifs</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Éviter les injonctions contradictoires : « allez vite » et « soyez irréprochable » ne peuvent pas coexister.</a:t>
              </a:r>
              <a:endParaRPr lang="en-US" sz="1250" dirty="0"/>
            </a:p>
          </p:txBody>
        </p:sp>
      </p:grpSp>
      <p:grpSp>
        <p:nvGrpSpPr>
          <p:cNvPr id="9216" name="Bloc 3"/>
          <p:cNvGrpSpPr/>
          <p:nvPr/>
        </p:nvGrpSpPr>
        <p:grpSpPr>
          <a:xfrm>
            <a:off x="8127797" y="1965960"/>
            <a:ext cx="3332378" cy="3197961"/>
            <a:chOff x="8127797" y="1965960"/>
            <a:chExt cx="3332378" cy="3197961"/>
          </a:xfrm>
        </p:grpSpPr>
        <p:sp>
          <p:nvSpPr>
            <p:cNvPr id="20" name="Shape 16"/>
            <p:cNvSpPr/>
            <p:nvPr/>
          </p:nvSpPr>
          <p:spPr>
            <a:xfrm>
              <a:off x="8127797" y="1965960"/>
              <a:ext cx="3332378" cy="3197961"/>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document-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546201"/>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Développer les compétences</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Sensibilisation, formation, transmission des savoir-faire de métier, échauffements et étirements.</a:t>
              </a:r>
              <a:endParaRPr lang="en-US" sz="1250" dirty="0"/>
            </a:p>
          </p:txBody>
        </p:sp>
      </p:grpSp>
      <p:grpSp>
        <p:nvGrpSpPr>
          <p:cNvPr id="9217" name="Bloc 4"/>
          <p:cNvGrpSpPr/>
          <p:nvPr/>
        </p:nvGrpSpPr>
        <p:grpSpPr>
          <a:xfrm>
            <a:off x="731520" y="5257800"/>
            <a:ext cx="10728655" cy="841248"/>
            <a:chOff x="731520" y="5257800"/>
            <a:chExt cx="10728655" cy="841248"/>
          </a:xfrm>
        </p:grpSpPr>
        <p:sp>
          <p:nvSpPr>
            <p:cNvPr id="25" name="Shape 20"/>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26" name="Text 21"/>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bon ordre   </a:t>
              </a:r>
              <a:r>
                <a:rPr lang="en-US" sz="1300" dirty="0">
                  <a:solidFill>
                    <a:srgbClr val="075767"/>
                  </a:solidFill>
                  <a:latin typeface="Lato" pitchFamily="34" charset="0"/>
                  <a:ea typeface="Lato" pitchFamily="34" charset="-122"/>
                  <a:cs typeface="Lato" pitchFamily="34" charset="-120"/>
                </a:rPr>
                <a:t>technique, puis organisationnel, puis humain. Commencer par les échauffements, c'est traiter le symptôme en laissant la cause intacte.</a:t>
              </a:r>
              <a:endParaRPr lang="en-US" sz="1250" dirty="0"/>
            </a:p>
          </p:txBody>
        </p:sp>
      </p:grpSp>
      <p:pic>
        <p:nvPicPr>
          <p:cNvPr id="27"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8"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9" name="Shape 23"/>
          <p:cNvSpPr/>
          <p:nvPr/>
        </p:nvSpPr>
        <p:spPr>
          <a:xfrm>
            <a:off x="10591495" y="6181344"/>
            <a:ext cx="438912" cy="438912"/>
          </a:xfrm>
          <a:prstGeom prst="ellipse">
            <a:avLst/>
          </a:prstGeom>
          <a:solidFill>
            <a:srgbClr val="F06C23"/>
          </a:solidFill>
          <a:ln/>
        </p:spPr>
        <p:txBody>
          <a:bodyPr/>
          <a:lstStyle/>
          <a:p>
            <a:endParaRPr/>
          </a:p>
        </p:txBody>
      </p:sp>
      <p:sp>
        <p:nvSpPr>
          <p:cNvPr id="30"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31"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153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4"/>
                                        </p:tgtEl>
                                        <p:attrNameLst>
                                          <p:attrName>style.visibility</p:attrName>
                                        </p:attrNameLst>
                                      </p:cBhvr>
                                      <p:to>
                                        <p:strVal val="visible"/>
                                      </p:to>
                                    </p:set>
                                    <p:animEffect transition="in" filter="fade">
                                      <p:cBhvr>
                                        <p:cTn id="7" dur="450"/>
                                        <p:tgtEl>
                                          <p:spTgt spid="92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15"/>
                                        </p:tgtEl>
                                        <p:attrNameLst>
                                          <p:attrName>style.visibility</p:attrName>
                                        </p:attrNameLst>
                                      </p:cBhvr>
                                      <p:to>
                                        <p:strVal val="visible"/>
                                      </p:to>
                                    </p:set>
                                    <p:animEffect transition="in" filter="fade">
                                      <p:cBhvr>
                                        <p:cTn id="12" dur="450"/>
                                        <p:tgtEl>
                                          <p:spTgt spid="92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16"/>
                                        </p:tgtEl>
                                        <p:attrNameLst>
                                          <p:attrName>style.visibility</p:attrName>
                                        </p:attrNameLst>
                                      </p:cBhvr>
                                      <p:to>
                                        <p:strVal val="visible"/>
                                      </p:to>
                                    </p:set>
                                    <p:animEffect transition="in" filter="fade">
                                      <p:cBhvr>
                                        <p:cTn id="17" dur="450"/>
                                        <p:tgtEl>
                                          <p:spTgt spid="92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17"/>
                                        </p:tgtEl>
                                        <p:attrNameLst>
                                          <p:attrName>style.visibility</p:attrName>
                                        </p:attrNameLst>
                                      </p:cBhvr>
                                      <p:to>
                                        <p:strVal val="visible"/>
                                      </p:to>
                                    </p:set>
                                    <p:animEffect transition="in" filter="fade">
                                      <p:cBhvr>
                                        <p:cTn id="22" dur="450"/>
                                        <p:tgtEl>
                                          <p:spTgt spid="9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Améliorer une situation de travail</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troubles musculo-squelettiques</a:t>
            </a:r>
            <a:endParaRPr lang="en-US" sz="1400" dirty="0"/>
          </a:p>
        </p:txBody>
      </p:sp>
      <p:grpSp>
        <p:nvGrpSpPr>
          <p:cNvPr id="9218" name="Bloc 1"/>
          <p:cNvGrpSpPr/>
          <p:nvPr/>
        </p:nvGrpSpPr>
        <p:grpSpPr>
          <a:xfrm>
            <a:off x="731520" y="1828800"/>
            <a:ext cx="10728655" cy="3977640"/>
            <a:chOff x="731520" y="1828800"/>
            <a:chExt cx="10728655" cy="3977640"/>
          </a:xfrm>
        </p:grpSpPr>
        <p:sp>
          <p:nvSpPr>
            <p:cNvPr id="10" name="Shape 8"/>
            <p:cNvSpPr/>
            <p:nvPr/>
          </p:nvSpPr>
          <p:spPr>
            <a:xfrm>
              <a:off x="731520" y="1828800"/>
              <a:ext cx="10728655" cy="3977640"/>
            </a:xfrm>
            <a:prstGeom prst="roundRect">
              <a:avLst>
                <a:gd name="adj" fmla="val 1379"/>
              </a:avLst>
            </a:prstGeom>
            <a:solidFill>
              <a:srgbClr val="F2F2F2"/>
            </a:solidFill>
            <a:ln/>
          </p:spPr>
          <p:txBody>
            <a:bodyPr/>
            <a:lstStyle/>
            <a:p>
              <a:endParaRPr/>
            </a:p>
          </p:txBody>
        </p:sp>
        <p:sp>
          <p:nvSpPr>
            <p:cNvPr id="11" name="Shape 9"/>
            <p:cNvSpPr/>
            <p:nvPr/>
          </p:nvSpPr>
          <p:spPr>
            <a:xfrm>
              <a:off x="1097280" y="2121408"/>
              <a:ext cx="777240" cy="777240"/>
            </a:xfrm>
            <a:prstGeom prst="ellipse">
              <a:avLst/>
            </a:prstGeom>
            <a:solidFill>
              <a:srgbClr val="F06C23"/>
            </a:solidFill>
            <a:ln/>
          </p:spPr>
          <p:txBody>
            <a:bodyPr/>
            <a:lstStyle/>
            <a:p>
              <a:endParaRPr/>
            </a:p>
          </p:txBody>
        </p:sp>
        <p:pic>
          <p:nvPicPr>
            <p:cNvPr id="12" name="Image 0" descr="/home/claude/tmo/build/ico/equipe-blanc.png"/>
            <p:cNvPicPr>
              <a:picLocks noChangeAspect="1"/>
            </p:cNvPicPr>
            <p:nvPr/>
          </p:nvPicPr>
          <p:blipFill>
            <a:blip r:embed="rId3"/>
            <a:stretch>
              <a:fillRect/>
            </a:stretch>
          </p:blipFill>
          <p:spPr>
            <a:xfrm>
              <a:off x="1299362" y="2323490"/>
              <a:ext cx="373075" cy="373075"/>
            </a:xfrm>
            <a:prstGeom prst="rect">
              <a:avLst/>
            </a:prstGeom>
          </p:spPr>
        </p:pic>
        <p:sp>
          <p:nvSpPr>
            <p:cNvPr id="13" name="Shape 10"/>
            <p:cNvSpPr/>
            <p:nvPr/>
          </p:nvSpPr>
          <p:spPr>
            <a:xfrm>
              <a:off x="8854135" y="2139696"/>
              <a:ext cx="2240280" cy="457200"/>
            </a:xfrm>
            <a:prstGeom prst="roundRect">
              <a:avLst>
                <a:gd name="adj" fmla="val 24000"/>
              </a:avLst>
            </a:prstGeom>
            <a:solidFill>
              <a:srgbClr val="075767"/>
            </a:solidFill>
            <a:ln/>
          </p:spPr>
          <p:txBody>
            <a:bodyPr/>
            <a:lstStyle/>
            <a:p>
              <a:endParaRPr/>
            </a:p>
          </p:txBody>
        </p:sp>
        <p:sp>
          <p:nvSpPr>
            <p:cNvPr id="14" name="Text 11"/>
            <p:cNvSpPr txBox="1"/>
            <p:nvPr/>
          </p:nvSpPr>
          <p:spPr>
            <a:xfrm>
              <a:off x="8854135" y="2139696"/>
              <a:ext cx="22402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Lato" pitchFamily="34" charset="0"/>
                  <a:ea typeface="Lato" pitchFamily="34" charset="-122"/>
                  <a:cs typeface="Lato" pitchFamily="34" charset="-120"/>
                </a:rPr>
                <a:t>30' + restitution</a:t>
              </a:r>
              <a:endParaRPr lang="en-US" sz="1250" dirty="0"/>
            </a:p>
          </p:txBody>
        </p:sp>
        <p:sp>
          <p:nvSpPr>
            <p:cNvPr id="15" name="Text 12"/>
            <p:cNvSpPr txBox="1"/>
            <p:nvPr/>
          </p:nvSpPr>
          <p:spPr>
            <a:xfrm>
              <a:off x="2103120" y="2084832"/>
              <a:ext cx="4572000" cy="274320"/>
            </a:xfrm>
            <a:prstGeom prst="rect">
              <a:avLst/>
            </a:prstGeom>
            <a:noFill/>
            <a:ln/>
          </p:spPr>
          <p:txBody>
            <a:bodyPr wrap="square" lIns="0" tIns="0" rIns="0" bIns="0" rtlCol="0" anchor="ctr"/>
            <a:lstStyle/>
            <a:p>
              <a:pPr marL="0" indent="0">
                <a:buNone/>
              </a:pPr>
              <a:r>
                <a:rPr lang="en-US" sz="1100" b="1" kern="0" spc="160" dirty="0">
                  <a:solidFill>
                    <a:srgbClr val="C33F14"/>
                  </a:solidFill>
                  <a:latin typeface="Lato" pitchFamily="34" charset="0"/>
                  <a:ea typeface="Lato" pitchFamily="34" charset="-122"/>
                  <a:cs typeface="Lato" pitchFamily="34" charset="-120"/>
                </a:rPr>
                <a:t>EXERCICE</a:t>
              </a:r>
              <a:endParaRPr lang="en-US" sz="1100" dirty="0"/>
            </a:p>
          </p:txBody>
        </p:sp>
        <p:sp>
          <p:nvSpPr>
            <p:cNvPr id="16" name="Text 13"/>
            <p:cNvSpPr txBox="1"/>
            <p:nvPr/>
          </p:nvSpPr>
          <p:spPr>
            <a:xfrm>
              <a:off x="2103120" y="2377440"/>
              <a:ext cx="6522415" cy="658368"/>
            </a:xfrm>
            <a:prstGeom prst="rect">
              <a:avLst/>
            </a:prstGeom>
            <a:noFill/>
            <a:ln/>
          </p:spPr>
          <p:txBody>
            <a:bodyPr wrap="square" lIns="0" tIns="0" rIns="0" bIns="0" rtlCol="0" anchor="t"/>
            <a:lstStyle/>
            <a:p>
              <a:pPr marL="0" indent="0">
                <a:lnSpc>
                  <a:spcPct val="110000"/>
                </a:lnSpc>
                <a:buNone/>
              </a:pPr>
              <a:r>
                <a:rPr lang="en-US" sz="1600" b="1" dirty="0">
                  <a:solidFill>
                    <a:srgbClr val="075767"/>
                  </a:solidFill>
                  <a:latin typeface="Lato" pitchFamily="34" charset="0"/>
                  <a:ea typeface="Lato" pitchFamily="34" charset="-122"/>
                  <a:cs typeface="Lato" pitchFamily="34" charset="-120"/>
                </a:rPr>
                <a:t>À partir de l'exemple projeté, comment amélioreriez-vous la situation de travail du salarié ?</a:t>
              </a:r>
              <a:endParaRPr lang="en-US" sz="1600" dirty="0"/>
            </a:p>
          </p:txBody>
        </p:sp>
        <p:sp>
          <p:nvSpPr>
            <p:cNvPr id="17" name="Text 14"/>
            <p:cNvSpPr txBox="1"/>
            <p:nvPr/>
          </p:nvSpPr>
          <p:spPr>
            <a:xfrm>
              <a:off x="2103120" y="3127248"/>
              <a:ext cx="8716975" cy="25146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Quelles informations recueillir, et auprès de qui ?</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Quelles sources documentaires mobiliser ? (INRS, tableaux de maladies professionnelles, DUERP)</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Quels acteurs associer ? (médecin du travail, ergonome, encadrement de proximité, salariés concernés)</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Construisez l'argumentaire que vous porteriez en réunion de CSE</a:t>
              </a:r>
              <a:endParaRPr lang="en-US" sz="1400" dirty="0"/>
            </a:p>
          </p:txBody>
        </p:sp>
      </p:grpSp>
      <p:pic>
        <p:nvPicPr>
          <p:cNvPr id="18"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9" name="Text 15"/>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6"/>
          <p:cNvSpPr/>
          <p:nvPr/>
        </p:nvSpPr>
        <p:spPr>
          <a:xfrm>
            <a:off x="10591495" y="6181344"/>
            <a:ext cx="438912" cy="438912"/>
          </a:xfrm>
          <a:prstGeom prst="ellipse">
            <a:avLst/>
          </a:prstGeom>
          <a:solidFill>
            <a:srgbClr val="F06C23"/>
          </a:solidFill>
          <a:ln/>
        </p:spPr>
        <p:txBody>
          <a:bodyPr/>
          <a:lstStyle/>
          <a:p>
            <a:endParaRPr/>
          </a:p>
        </p:txBody>
      </p:sp>
      <p:sp>
        <p:nvSpPr>
          <p:cNvPr id="21" name="Text 17"/>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22" name="Text 18"/>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154</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fade">
                                      <p:cBhvr>
                                        <p:cTn id="7" dur="45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pic>
        <p:nvPicPr>
          <p:cNvPr id="2" name="Image 0" descr="/home/claude/tmo/build/photos/p33.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2A30">
              <a:alpha val="38000"/>
            </a:srgbClr>
          </a:solidFill>
          <a:ln/>
        </p:spPr>
        <p:txBody>
          <a:bodyPr/>
          <a:lstStyle/>
          <a:p>
            <a:endParaRPr/>
          </a:p>
        </p:txBody>
      </p:sp>
      <p:sp>
        <p:nvSpPr>
          <p:cNvPr id="4" name="Shape 1"/>
          <p:cNvSpPr/>
          <p:nvPr/>
        </p:nvSpPr>
        <p:spPr>
          <a:xfrm>
            <a:off x="0" y="4343400"/>
            <a:ext cx="12191695" cy="2514600"/>
          </a:xfrm>
          <a:prstGeom prst="rect">
            <a:avLst/>
          </a:prstGeom>
          <a:solidFill>
            <a:srgbClr val="082A30">
              <a:alpha val="88000"/>
            </a:srgbClr>
          </a:solidFill>
          <a:ln/>
        </p:spPr>
        <p:txBody>
          <a:bodyPr/>
          <a:lstStyle/>
          <a:p>
            <a:endParaRPr/>
          </a:p>
        </p:txBody>
      </p:sp>
      <p:sp>
        <p:nvSpPr>
          <p:cNvPr id="5" name="Text 2"/>
          <p:cNvSpPr txBox="1"/>
          <p:nvPr/>
        </p:nvSpPr>
        <p:spPr>
          <a:xfrm>
            <a:off x="731520" y="4709160"/>
            <a:ext cx="8686800" cy="685800"/>
          </a:xfrm>
          <a:prstGeom prst="rect">
            <a:avLst/>
          </a:prstGeom>
          <a:noFill/>
          <a:ln/>
        </p:spPr>
        <p:txBody>
          <a:bodyPr wrap="square" lIns="0" tIns="0" rIns="0" bIns="0" rtlCol="0" anchor="t"/>
          <a:lstStyle/>
          <a:p>
            <a:pPr marL="0" indent="0">
              <a:buNone/>
            </a:pPr>
            <a:r>
              <a:rPr lang="en-US" sz="3000" b="1" kern="0" spc="-100" dirty="0">
                <a:solidFill>
                  <a:srgbClr val="FFFFFF"/>
                </a:solidFill>
                <a:latin typeface="Lato" pitchFamily="34" charset="0"/>
                <a:ea typeface="Lato" pitchFamily="34" charset="-122"/>
                <a:cs typeface="Lato" pitchFamily="34" charset="-120"/>
              </a:rPr>
              <a:t>Le harcèlement moral</a:t>
            </a:r>
            <a:endParaRPr lang="en-US" sz="3000" dirty="0"/>
          </a:p>
        </p:txBody>
      </p:sp>
      <p:sp>
        <p:nvSpPr>
          <p:cNvPr id="6" name="Text 3"/>
          <p:cNvSpPr txBox="1"/>
          <p:nvPr/>
        </p:nvSpPr>
        <p:spPr>
          <a:xfrm>
            <a:off x="731520" y="5413248"/>
            <a:ext cx="8961120" cy="731520"/>
          </a:xfrm>
          <a:prstGeom prst="rect">
            <a:avLst/>
          </a:prstGeom>
          <a:noFill/>
          <a:ln/>
        </p:spPr>
        <p:txBody>
          <a:bodyPr wrap="square" lIns="0" tIns="0" rIns="0" bIns="0" rtlCol="0" anchor="t"/>
          <a:lstStyle/>
          <a:p>
            <a:pPr marL="0" indent="0">
              <a:lnSpc>
                <a:spcPct val="110000"/>
              </a:lnSpc>
              <a:buNone/>
            </a:pPr>
            <a:r>
              <a:rPr lang="en-US" sz="1450" dirty="0">
                <a:solidFill>
                  <a:srgbClr val="C1D5D9"/>
                </a:solidFill>
                <a:latin typeface="Lato" pitchFamily="34" charset="0"/>
                <a:ea typeface="Lato" pitchFamily="34" charset="-122"/>
                <a:cs typeface="Lato" pitchFamily="34" charset="-120"/>
              </a:rPr>
              <a:t>Une infraction pénale, une obligation de prévention pour l'employeur, et un rôle précis pour le CSE.</a:t>
            </a:r>
            <a:endParaRPr lang="en-US" sz="1450" dirty="0"/>
          </a:p>
        </p:txBody>
      </p:sp>
      <p:pic>
        <p:nvPicPr>
          <p:cNvPr id="7" name="Image 1" descr="/home/claude/tmo/build/logo.png"/>
          <p:cNvPicPr>
            <a:picLocks noChangeAspect="1"/>
          </p:cNvPicPr>
          <p:nvPr/>
        </p:nvPicPr>
        <p:blipFill>
          <a:blip r:embed="rId4"/>
          <a:stretch>
            <a:fillRect/>
          </a:stretch>
        </p:blipFill>
        <p:spPr>
          <a:xfrm>
            <a:off x="10893247" y="4892040"/>
            <a:ext cx="566928" cy="566928"/>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 définition du code du travail</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harcèlement moral</a:t>
            </a:r>
            <a:endParaRPr lang="en-US" sz="1400" dirty="0"/>
          </a:p>
        </p:txBody>
      </p:sp>
      <p:grpSp>
        <p:nvGrpSpPr>
          <p:cNvPr id="9219"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1152-1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Aucun salarié ne doit subir les agissements répétés de harcèlement moral qui ont pour objet ou pour effet une dégradation des conditions de travail susceptible de porter atteinte à ses droits et à sa dignité, d'altérer sa santé physique ou mentale ou de compromettre son avenir professionnel.</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67335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Des agissements répétés : un fait isolé, aussi grave soit-il, relève d'une autre qualification</a:t>
            </a:r>
            <a:endParaRPr lang="en-US" sz="135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 pour objet ou pour effet » : l'intention de nuire n'est pas nécessaire</a:t>
            </a:r>
            <a:endParaRPr lang="en-US" sz="135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Trois conséquences alternatives suffisent : atteinte aux droits et à la dignité, altération de la santé, ou avenir professionnel compromis</a:t>
            </a:r>
            <a:endParaRPr lang="en-US" sz="135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La protection s'applique aux salariés, aux stagiaires et aux apprentis, et même en l'absence de lien hiérarchique avec l'auteur</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156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9"/>
                                        </p:tgtEl>
                                        <p:attrNameLst>
                                          <p:attrName>style.visibility</p:attrName>
                                        </p:attrNameLst>
                                      </p:cBhvr>
                                      <p:to>
                                        <p:strVal val="visible"/>
                                      </p:to>
                                    </p:set>
                                    <p:animEffect transition="in" filter="fade">
                                      <p:cBhvr>
                                        <p:cTn id="7" dur="450"/>
                                        <p:tgtEl>
                                          <p:spTgt spid="92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volet pénal</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harcèlement moral</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Le harcèlement moral au travail est aussi un délit, réprimé par le code pénal.</a:t>
            </a:r>
            <a:endParaRPr lang="en-US" sz="1450" dirty="0"/>
          </a:p>
        </p:txBody>
      </p:sp>
      <p:sp>
        <p:nvSpPr>
          <p:cNvPr id="11" name="Text 9"/>
          <p:cNvSpPr txBox="1"/>
          <p:nvPr/>
        </p:nvSpPr>
        <p:spPr>
          <a:xfrm>
            <a:off x="731520" y="2487168"/>
            <a:ext cx="10728655"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Article 222-33-2 du code pénal : harcèlement moral au travail</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 Le fait de harceler autrui par des propos ou comportements répétés ayant pour objet ou pour effet une dégradation des conditions de travail susceptible de porter atteinte à ses droits et à sa dignité, d'altérer sa santé physique ou mentale ou de compromettre son avenir professionnel est puni de deux ans d'emprisonnement et de 30 000 € d'amende. »</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Article 222-33-2-2 : harcèlement moral hors cadre professionnel</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Vise la dégradation des conditions de vie ; la peine varie selon la durée de l'incapacité totale de travail et la vulnérabilité de la victime</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Le harcèlement de meute est constitué</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Quand plusieurs personnes agissent de manière concertée, même si chacune n'a pas agi de façon répétée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Ou successivement, sans concertation, en sachant que leurs propos caractérisent une répétition</a:t>
            </a:r>
            <a:endParaRPr lang="en-US" sz="14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1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1"/>
          <p:cNvSpPr/>
          <p:nvPr/>
        </p:nvSpPr>
        <p:spPr>
          <a:xfrm>
            <a:off x="10591495" y="6181344"/>
            <a:ext cx="438912" cy="438912"/>
          </a:xfrm>
          <a:prstGeom prst="ellipse">
            <a:avLst/>
          </a:prstGeom>
          <a:solidFill>
            <a:srgbClr val="F06C23"/>
          </a:solidFill>
          <a:ln/>
        </p:spPr>
        <p:txBody>
          <a:bodyPr/>
          <a:lstStyle/>
          <a:p>
            <a:endParaRPr/>
          </a:p>
        </p:txBody>
      </p:sp>
      <p:sp>
        <p:nvSpPr>
          <p:cNvPr id="15" name="Text 1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16" name="Text 1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157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formes que cela prend</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harcèlement moral</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Aucune de ces formes n'est spectaculaire prise isolément. C'est la répétition qui les qualifie.</a:t>
            </a:r>
            <a:endParaRPr lang="en-US" sz="1450" dirty="0"/>
          </a:p>
        </p:txBody>
      </p:sp>
      <p:sp>
        <p:nvSpPr>
          <p:cNvPr id="11" name="Text 9"/>
          <p:cNvSpPr txBox="1"/>
          <p:nvPr/>
        </p:nvSpPr>
        <p:spPr>
          <a:xfrm>
            <a:off x="731520" y="2487168"/>
            <a:ext cx="6035040"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Critiques incessantes, sarcasmes répétés</a:t>
            </a:r>
            <a:endParaRPr lang="en-US" sz="130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Brimades, humiliations</a:t>
            </a:r>
            <a:endParaRPr lang="en-US" sz="130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Propos calomnieux, insultes, menaces</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 Mise au placard », conditions de travail dégradantes</a:t>
            </a:r>
            <a:endParaRPr lang="en-US" sz="130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Refus de toute communication</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Absence de consignes, ou consignes contradictoires</a:t>
            </a:r>
            <a:endParaRPr lang="en-US" sz="130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Privation de travail, ou charge de travail excessive et abusive</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Tâches dépourvues de sens ou sans rapport avec les fonctions</a:t>
            </a:r>
            <a:endParaRPr lang="en-US" sz="130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Propos ou comportements à connotation sexuelle portant atteinte à la dignité par leur caractère dégradant ou humiliant</a:t>
            </a:r>
            <a:endParaRPr lang="en-US" sz="1300" dirty="0"/>
          </a:p>
        </p:txBody>
      </p:sp>
      <p:grpSp>
        <p:nvGrpSpPr>
          <p:cNvPr id="9220" name="Bloc 2"/>
          <p:cNvGrpSpPr/>
          <p:nvPr/>
        </p:nvGrpSpPr>
        <p:grpSpPr>
          <a:xfrm>
            <a:off x="7223760" y="1828800"/>
            <a:ext cx="4334256" cy="3282696"/>
            <a:chOff x="7223760" y="1828800"/>
            <a:chExt cx="4334256" cy="3282696"/>
          </a:xfrm>
        </p:grpSpPr>
        <p:sp>
          <p:nvSpPr>
            <p:cNvPr id="19" name="Rounded Rectangle 18"/>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34.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sp>
        <p:nvSpPr>
          <p:cNvPr id="13" name="Text 10"/>
          <p:cNvSpPr txBox="1"/>
          <p:nvPr/>
        </p:nvSpPr>
        <p:spPr>
          <a:xfrm>
            <a:off x="7223760" y="5056632"/>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Ce qui se voit en réunion n'est jamais ce qui se joue au quotidien.</a:t>
            </a:r>
            <a:endParaRPr lang="en-US" sz="950" dirty="0"/>
          </a:p>
        </p:txBody>
      </p:sp>
      <p:pic>
        <p:nvPicPr>
          <p:cNvPr id="14"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5"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2"/>
          <p:cNvSpPr/>
          <p:nvPr/>
        </p:nvSpPr>
        <p:spPr>
          <a:xfrm>
            <a:off x="10591495" y="6181344"/>
            <a:ext cx="438912" cy="438912"/>
          </a:xfrm>
          <a:prstGeom prst="ellipse">
            <a:avLst/>
          </a:prstGeom>
          <a:solidFill>
            <a:srgbClr val="F06C23"/>
          </a:solidFill>
          <a:ln/>
        </p:spPr>
        <p:txBody>
          <a:bodyPr/>
          <a:lstStyle/>
          <a:p>
            <a:endParaRPr/>
          </a:p>
        </p:txBody>
      </p:sp>
      <p:sp>
        <p:nvSpPr>
          <p:cNvPr id="17"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18"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158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20"/>
                                        </p:tgtEl>
                                        <p:attrNameLst>
                                          <p:attrName>style.visibility</p:attrName>
                                        </p:attrNameLst>
                                      </p:cBhvr>
                                      <p:to>
                                        <p:strVal val="visible"/>
                                      </p:to>
                                    </p:set>
                                    <p:animEffect transition="in" filter="fade">
                                      <p:cBhvr>
                                        <p:cTn id="12" dur="450"/>
                                        <p:tgtEl>
                                          <p:spTgt spid="92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obligations de l'employeur</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harcèlement moral</a:t>
            </a:r>
            <a:endParaRPr lang="en-US" sz="1400" dirty="0"/>
          </a:p>
        </p:txBody>
      </p:sp>
      <p:grpSp>
        <p:nvGrpSpPr>
          <p:cNvPr id="9221" name="Bloc 1"/>
          <p:cNvGrpSpPr/>
          <p:nvPr/>
        </p:nvGrpSpPr>
        <p:grpSpPr>
          <a:xfrm>
            <a:off x="731520" y="1828800"/>
            <a:ext cx="6263640" cy="1534363"/>
            <a:chOff x="731520" y="1828800"/>
            <a:chExt cx="6263640" cy="1534363"/>
          </a:xfrm>
        </p:grpSpPr>
        <p:sp>
          <p:nvSpPr>
            <p:cNvPr id="10" name="Shape 8"/>
            <p:cNvSpPr/>
            <p:nvPr/>
          </p:nvSpPr>
          <p:spPr>
            <a:xfrm>
              <a:off x="731520" y="1828800"/>
              <a:ext cx="6263640" cy="1534363"/>
            </a:xfrm>
            <a:prstGeom prst="roundRect">
              <a:avLst>
                <a:gd name="adj" fmla="val 3333"/>
              </a:avLst>
            </a:prstGeom>
            <a:solidFill>
              <a:srgbClr val="FCEDE6"/>
            </a:solidFill>
            <a:ln/>
          </p:spPr>
          <p:txBody>
            <a:bodyPr/>
            <a:lstStyle/>
            <a:p>
              <a:endParaRPr/>
            </a:p>
          </p:txBody>
        </p:sp>
        <p:sp>
          <p:nvSpPr>
            <p:cNvPr id="11" name="Shape 9"/>
            <p:cNvSpPr/>
            <p:nvPr/>
          </p:nvSpPr>
          <p:spPr>
            <a:xfrm>
              <a:off x="987552" y="2103120"/>
              <a:ext cx="777240" cy="777240"/>
            </a:xfrm>
            <a:prstGeom prst="ellipse">
              <a:avLst/>
            </a:prstGeom>
            <a:solidFill>
              <a:srgbClr val="F06C23"/>
            </a:solidFill>
            <a:ln/>
          </p:spPr>
          <p:txBody>
            <a:bodyPr/>
            <a:lstStyle/>
            <a:p>
              <a:endParaRPr/>
            </a:p>
          </p:txBody>
        </p:sp>
        <p:pic>
          <p:nvPicPr>
            <p:cNvPr id="12" name="Image 0" descr="/home/claude/tmo/build/ico/alerte-blanc.png"/>
            <p:cNvPicPr>
              <a:picLocks noChangeAspect="1"/>
            </p:cNvPicPr>
            <p:nvPr/>
          </p:nvPicPr>
          <p:blipFill>
            <a:blip r:embed="rId3"/>
            <a:stretch>
              <a:fillRect/>
            </a:stretch>
          </p:blipFill>
          <p:spPr>
            <a:xfrm>
              <a:off x="1189634" y="2305202"/>
              <a:ext cx="373075" cy="373075"/>
            </a:xfrm>
            <a:prstGeom prst="rect">
              <a:avLst/>
            </a:prstGeom>
          </p:spPr>
        </p:pic>
        <p:sp>
          <p:nvSpPr>
            <p:cNvPr id="13" name="Text 10"/>
            <p:cNvSpPr txBox="1"/>
            <p:nvPr/>
          </p:nvSpPr>
          <p:spPr>
            <a:xfrm>
              <a:off x="1965960" y="1993392"/>
              <a:ext cx="4754880" cy="482803"/>
            </a:xfrm>
            <a:prstGeom prst="rect">
              <a:avLst/>
            </a:prstGeom>
            <a:noFill/>
            <a:ln/>
          </p:spPr>
          <p:txBody>
            <a:bodyPr wrap="square" lIns="0" tIns="0" rIns="0" bIns="0" rtlCol="0" anchor="t"/>
            <a:lstStyle/>
            <a:p>
              <a:pPr marL="0" indent="0">
                <a:buNone/>
              </a:pPr>
              <a:r>
                <a:rPr lang="en-US" sz="1350" b="1" dirty="0">
                  <a:solidFill>
                    <a:srgbClr val="C33F14"/>
                  </a:solidFill>
                  <a:latin typeface="Lato" pitchFamily="34" charset="0"/>
                  <a:ea typeface="Lato" pitchFamily="34" charset="-122"/>
                  <a:cs typeface="Lato" pitchFamily="34" charset="-120"/>
                </a:rPr>
                <a:t>Une obligation de prévention, pas seulement de réaction</a:t>
              </a:r>
              <a:endParaRPr lang="en-US" sz="1350" dirty="0"/>
            </a:p>
          </p:txBody>
        </p:sp>
        <p:sp>
          <p:nvSpPr>
            <p:cNvPr id="14" name="Text 11"/>
            <p:cNvSpPr txBox="1"/>
            <p:nvPr/>
          </p:nvSpPr>
          <p:spPr>
            <a:xfrm>
              <a:off x="1965960" y="2340864"/>
              <a:ext cx="4754880" cy="777240"/>
            </a:xfrm>
            <a:prstGeom prst="rect">
              <a:avLst/>
            </a:prstGeom>
            <a:noFill/>
            <a:ln/>
          </p:spPr>
          <p:txBody>
            <a:bodyPr wrap="square" lIns="0" tIns="0" rIns="0" bIns="0" rtlCol="0" anchor="t"/>
            <a:lstStyle/>
            <a:p>
              <a:pPr marL="0" indent="0">
                <a:lnSpc>
                  <a:spcPct val="110000"/>
                </a:lnSpc>
                <a:buNone/>
              </a:pPr>
              <a:r>
                <a:rPr lang="en-US" sz="1350" dirty="0">
                  <a:solidFill>
                    <a:srgbClr val="075767"/>
                  </a:solidFill>
                  <a:latin typeface="Lato" pitchFamily="34" charset="0"/>
                  <a:ea typeface="Lato" pitchFamily="34" charset="-122"/>
                  <a:cs typeface="Lato" pitchFamily="34" charset="-120"/>
                </a:rPr>
                <a:t>L'employeur doit prendre toutes les mesures nécessaires en vue de prévenir le harcèlement moral, avant tout signalement.</a:t>
              </a:r>
              <a:endParaRPr lang="en-US" sz="1350" dirty="0"/>
            </a:p>
          </p:txBody>
        </p:sp>
      </p:grpSp>
      <p:sp>
        <p:nvSpPr>
          <p:cNvPr id="15" name="Text 12"/>
          <p:cNvSpPr txBox="1"/>
          <p:nvPr/>
        </p:nvSpPr>
        <p:spPr>
          <a:xfrm>
            <a:off x="731520" y="3429000"/>
            <a:ext cx="6263640" cy="267919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Porter à la connaissance des salariés les dispositions du code pénal réprimant le harcèlement moral</a:t>
            </a:r>
            <a:endParaRPr lang="en-US" sz="135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Collaborer avec les représentants du personnel et avec le CSE</a:t>
            </a:r>
            <a:endParaRPr lang="en-US" sz="135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 service de prévention et de santé au travail participe également à cette prévention</a:t>
            </a:r>
            <a:endParaRPr lang="en-US" sz="135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Les personnes qui dénoncent ou combattent le harcèlement ne peuvent pas être sanctionnées pour ce motif</a:t>
            </a:r>
            <a:endParaRPr lang="en-US" sz="135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Seule exception : la mauvaise foi caractérisée, c'est-à-dire la dénonciation de faits dont l'auteur connaît l'inexactitude, dans le seul but de nuire</a:t>
            </a:r>
            <a:endParaRPr lang="en-US" sz="1350" dirty="0"/>
          </a:p>
        </p:txBody>
      </p:sp>
      <p:grpSp>
        <p:nvGrpSpPr>
          <p:cNvPr id="9222" name="Bloc 2"/>
          <p:cNvGrpSpPr/>
          <p:nvPr/>
        </p:nvGrpSpPr>
        <p:grpSpPr>
          <a:xfrm>
            <a:off x="7452360" y="1828800"/>
            <a:ext cx="4105656" cy="3099816"/>
            <a:chOff x="7452360" y="1828800"/>
            <a:chExt cx="4105656" cy="3099816"/>
          </a:xfrm>
        </p:grpSpPr>
        <p:sp>
          <p:nvSpPr>
            <p:cNvPr id="23" name="Rounded Rectangle 22"/>
            <p:cNvSpPr/>
            <p:nvPr/>
          </p:nvSpPr>
          <p:spPr>
            <a:xfrm>
              <a:off x="7580376" y="1956816"/>
              <a:ext cx="3977640" cy="297180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Image 1" descr="/home/claude/tmo/build/photos/p35.jpg"/>
            <p:cNvPicPr>
              <a:picLocks noChangeAspect="1"/>
            </p:cNvPicPr>
            <p:nvPr/>
          </p:nvPicPr>
          <p:blipFill>
            <a:blip r:embed="rId4"/>
            <a:srcRect/>
            <a:stretch/>
          </p:blipFill>
          <p:spPr>
            <a:xfrm>
              <a:off x="7452360" y="1828800"/>
              <a:ext cx="3977640" cy="2971800"/>
            </a:xfrm>
            <a:prstGeom prst="roundRect">
              <a:avLst>
                <a:gd name="adj" fmla="val 2200"/>
              </a:avLst>
            </a:prstGeom>
            <a:effectLst>
              <a:outerShdw blurRad="190500" dist="38100" dir="5400000" rotWithShape="0">
                <a:srgbClr val="075767">
                  <a:alpha val="22000"/>
                </a:srgbClr>
              </a:outerShdw>
              <a:softEdge rad="32004"/>
            </a:effectLst>
          </p:spPr>
        </p:pic>
      </p:grpSp>
      <p:sp>
        <p:nvSpPr>
          <p:cNvPr id="17" name="Text 13"/>
          <p:cNvSpPr txBox="1"/>
          <p:nvPr/>
        </p:nvSpPr>
        <p:spPr>
          <a:xfrm>
            <a:off x="7452360" y="4873752"/>
            <a:ext cx="39776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La protection du dénonciateur est la condition pour que les signalements existent.</a:t>
            </a:r>
            <a:endParaRPr lang="en-US" sz="950" dirty="0"/>
          </a:p>
        </p:txBody>
      </p:sp>
      <p:pic>
        <p:nvPicPr>
          <p:cNvPr id="18" name="Image 2"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9"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5"/>
          <p:cNvSpPr/>
          <p:nvPr/>
        </p:nvSpPr>
        <p:spPr>
          <a:xfrm>
            <a:off x="10591495" y="6181344"/>
            <a:ext cx="438912" cy="438912"/>
          </a:xfrm>
          <a:prstGeom prst="ellipse">
            <a:avLst/>
          </a:prstGeom>
          <a:solidFill>
            <a:srgbClr val="F06C23"/>
          </a:solidFill>
          <a:ln/>
        </p:spPr>
        <p:txBody>
          <a:bodyPr/>
          <a:lstStyle/>
          <a:p>
            <a:endParaRPr/>
          </a:p>
        </p:txBody>
      </p:sp>
      <p:sp>
        <p:nvSpPr>
          <p:cNvPr id="21"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22"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159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21"/>
                                        </p:tgtEl>
                                        <p:attrNameLst>
                                          <p:attrName>style.visibility</p:attrName>
                                        </p:attrNameLst>
                                      </p:cBhvr>
                                      <p:to>
                                        <p:strVal val="visible"/>
                                      </p:to>
                                    </p:set>
                                    <p:animEffect transition="in" filter="fade">
                                      <p:cBhvr>
                                        <p:cTn id="7" dur="450"/>
                                        <p:tgtEl>
                                          <p:spTgt spid="92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22"/>
                                        </p:tgtEl>
                                        <p:attrNameLst>
                                          <p:attrName>style.visibility</p:attrName>
                                        </p:attrNameLst>
                                      </p:cBhvr>
                                      <p:to>
                                        <p:strVal val="visible"/>
                                      </p:to>
                                    </p:set>
                                    <p:animEffect transition="in" filter="fade">
                                      <p:cBhvr>
                                        <p:cTn id="12" dur="450"/>
                                        <p:tgtEl>
                                          <p:spTgt spid="92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recours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harcèlement moral</a:t>
            </a:r>
            <a:endParaRPr lang="en-US" sz="1400" dirty="0"/>
          </a:p>
        </p:txBody>
      </p:sp>
      <p:sp>
        <p:nvSpPr>
          <p:cNvPr id="10" name="Text 8"/>
          <p:cNvSpPr txBox="1"/>
          <p:nvPr/>
        </p:nvSpPr>
        <p:spPr>
          <a:xfrm>
            <a:off x="731520" y="1828800"/>
            <a:ext cx="10728655" cy="312724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Le droit d'alerte pour atteinte aux droits des personnes (article L. 2312-59)</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 premier réflexe de l'élu : il oblige l'employeur à enquêter sans délai</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Le signalement à l'inspection du travail</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L'agent de contrôle vérifie les faits, peut mener une enquête et, s'il constate une infraction, informe le procureur de la République</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La médiation</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Le conseil de prud'hommes</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Preuves directes (courriels, écrits) ou indirectes (témoignages)</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Action possible jusqu'à cinq ans après le dernier fait de harcèlement</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Voie civile distincte : l'employeur qui n'a pas prévenu engage sa responsabilité, même s'il n'est pas l'auteur des faits</a:t>
            </a:r>
            <a:endParaRPr lang="en-US" sz="1300" dirty="0"/>
          </a:p>
        </p:txBody>
      </p:sp>
      <p:grpSp>
        <p:nvGrpSpPr>
          <p:cNvPr id="9223" name="Bloc 2"/>
          <p:cNvGrpSpPr/>
          <p:nvPr/>
        </p:nvGrpSpPr>
        <p:grpSpPr>
          <a:xfrm>
            <a:off x="731520" y="4956048"/>
            <a:ext cx="10728655" cy="841248"/>
            <a:chOff x="731520" y="4956048"/>
            <a:chExt cx="10728655" cy="841248"/>
          </a:xfrm>
        </p:grpSpPr>
        <p:sp>
          <p:nvSpPr>
            <p:cNvPr id="11" name="Shape 9"/>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2" name="Text 10"/>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point de méthode   </a:t>
              </a:r>
              <a:r>
                <a:rPr lang="en-US" sz="1300" dirty="0">
                  <a:solidFill>
                    <a:srgbClr val="075767"/>
                  </a:solidFill>
                  <a:latin typeface="Lato" pitchFamily="34" charset="0"/>
                  <a:ea typeface="Lato" pitchFamily="34" charset="-122"/>
                  <a:cs typeface="Lato" pitchFamily="34" charset="-120"/>
                </a:rPr>
                <a:t>constituer le dossier au fil de l'eau : chaque fait daté, chaque témoignage écrit. Reconstituer cinq ans après est presque impossible.</a:t>
              </a:r>
              <a:endParaRPr lang="en-US" sz="1250" dirty="0"/>
            </a:p>
          </p:txBody>
        </p:sp>
      </p:grpSp>
      <p:pic>
        <p:nvPicPr>
          <p:cNvPr id="13"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4"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5" name="Shape 12"/>
          <p:cNvSpPr/>
          <p:nvPr/>
        </p:nvSpPr>
        <p:spPr>
          <a:xfrm>
            <a:off x="10591495" y="6181344"/>
            <a:ext cx="438912" cy="438912"/>
          </a:xfrm>
          <a:prstGeom prst="ellipse">
            <a:avLst/>
          </a:prstGeom>
          <a:solidFill>
            <a:srgbClr val="F06C23"/>
          </a:solidFill>
          <a:ln/>
        </p:spPr>
        <p:txBody>
          <a:bodyPr/>
          <a:lstStyle/>
          <a:p>
            <a:endParaRPr/>
          </a:p>
        </p:txBody>
      </p:sp>
      <p:sp>
        <p:nvSpPr>
          <p:cNvPr id="16"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17"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160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23"/>
                                        </p:tgtEl>
                                        <p:attrNameLst>
                                          <p:attrName>style.visibility</p:attrName>
                                        </p:attrNameLst>
                                      </p:cBhvr>
                                      <p:to>
                                        <p:strVal val="visible"/>
                                      </p:to>
                                    </p:set>
                                    <p:animEffect transition="in" filter="fade">
                                      <p:cBhvr>
                                        <p:cTn id="12" dur="450"/>
                                        <p:tgtEl>
                                          <p:spTgt spid="9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 voie pénale et le Défenseur des droits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harcèlement moral</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Deux recours qui viennent en complément du conseil de prud'hommes, et non à sa place.</a:t>
            </a:r>
            <a:endParaRPr lang="en-US" sz="1450" dirty="0"/>
          </a:p>
        </p:txBody>
      </p:sp>
      <p:sp>
        <p:nvSpPr>
          <p:cNvPr id="11" name="Text 9"/>
          <p:cNvSpPr txBox="1"/>
          <p:nvPr/>
        </p:nvSpPr>
        <p:spPr>
          <a:xfrm>
            <a:off x="731520" y="2487168"/>
            <a:ext cx="6035040"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La procédure pénale : poursuite de l'auteur direct</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 victime peut porter plainte dans un délai de six ans à compter du fait le plus récent de harcèlement : derniers propos tenus, dernier courriel</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 justice prend alors en compte tous les faits venant du même auteur, même si le harcèlement dure depuis plusieurs années</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Le Défenseur des droits</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Compétent notamment lorsque le harcèlement se double d'une discrimination : saisine gratuite, en ligne ou par courrier</a:t>
            </a:r>
            <a:endParaRPr lang="en-US" sz="1400" dirty="0"/>
          </a:p>
        </p:txBody>
      </p:sp>
      <p:grpSp>
        <p:nvGrpSpPr>
          <p:cNvPr id="9224" name="Bloc 2"/>
          <p:cNvGrpSpPr/>
          <p:nvPr/>
        </p:nvGrpSpPr>
        <p:grpSpPr>
          <a:xfrm>
            <a:off x="7223760" y="1828800"/>
            <a:ext cx="4334256" cy="3282696"/>
            <a:chOff x="7223760" y="1828800"/>
            <a:chExt cx="4334256" cy="3282696"/>
          </a:xfrm>
        </p:grpSpPr>
        <p:sp>
          <p:nvSpPr>
            <p:cNvPr id="21" name="Rounded Rectangle 20"/>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36.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225" name="Bloc 4"/>
          <p:cNvGrpSpPr/>
          <p:nvPr/>
        </p:nvGrpSpPr>
        <p:grpSpPr>
          <a:xfrm>
            <a:off x="731520" y="5248656"/>
            <a:ext cx="10728655" cy="841248"/>
            <a:chOff x="731520" y="5248656"/>
            <a:chExt cx="10728655" cy="841248"/>
          </a:xfrm>
        </p:grpSpPr>
        <p:sp>
          <p:nvSpPr>
            <p:cNvPr id="13" name="Text 10"/>
            <p:cNvSpPr txBox="1"/>
            <p:nvPr/>
          </p:nvSpPr>
          <p:spPr>
            <a:xfrm>
              <a:off x="7223760" y="5349240"/>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Six ans au pénal, cinq ans aux prud'hommes : deux compteurs distincts.</a:t>
              </a:r>
              <a:endParaRPr lang="en-US" sz="950" dirty="0"/>
            </a:p>
          </p:txBody>
        </p:sp>
        <p:sp>
          <p:nvSpPr>
            <p:cNvPr id="14" name="Shape 11"/>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5" name="Text 12"/>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point de méthode   </a:t>
              </a:r>
              <a:r>
                <a:rPr lang="en-US" sz="1300" dirty="0">
                  <a:solidFill>
                    <a:srgbClr val="075767"/>
                  </a:solidFill>
                  <a:latin typeface="Lato" pitchFamily="34" charset="0"/>
                  <a:ea typeface="Lato" pitchFamily="34" charset="-122"/>
                  <a:cs typeface="Lato" pitchFamily="34" charset="-120"/>
                </a:rPr>
                <a:t>c'est le fait le plus récent qui fait courir le délai. Un harcèlement ancien mais qui se poursuit reste donc entièrement poursuivable.</a:t>
              </a:r>
              <a:endParaRPr lang="en-US" sz="1250" dirty="0"/>
            </a:p>
          </p:txBody>
        </p:sp>
      </p:gr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161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24"/>
                                        </p:tgtEl>
                                        <p:attrNameLst>
                                          <p:attrName>style.visibility</p:attrName>
                                        </p:attrNameLst>
                                      </p:cBhvr>
                                      <p:to>
                                        <p:strVal val="visible"/>
                                      </p:to>
                                    </p:set>
                                    <p:animEffect transition="in" filter="fade">
                                      <p:cBhvr>
                                        <p:cTn id="12" dur="450"/>
                                        <p:tgtEl>
                                          <p:spTgt spid="92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25"/>
                                        </p:tgtEl>
                                        <p:attrNameLst>
                                          <p:attrName>style.visibility</p:attrName>
                                        </p:attrNameLst>
                                      </p:cBhvr>
                                      <p:to>
                                        <p:strVal val="visible"/>
                                      </p:to>
                                    </p:set>
                                    <p:animEffect transition="in" filter="fade">
                                      <p:cBhvr>
                                        <p:cTn id="22" dur="450"/>
                                        <p:tgtEl>
                                          <p:spTgt spid="9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Face à un témoignage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 harcèlement moral</a:t>
            </a:r>
            <a:endParaRPr lang="en-US" sz="1400" dirty="0"/>
          </a:p>
        </p:txBody>
      </p:sp>
      <p:grpSp>
        <p:nvGrpSpPr>
          <p:cNvPr id="9226" name="Bloc 1"/>
          <p:cNvGrpSpPr/>
          <p:nvPr/>
        </p:nvGrpSpPr>
        <p:grpSpPr>
          <a:xfrm>
            <a:off x="731520" y="1828800"/>
            <a:ext cx="10728655" cy="3977640"/>
            <a:chOff x="731520" y="1828800"/>
            <a:chExt cx="10728655" cy="3977640"/>
          </a:xfrm>
        </p:grpSpPr>
        <p:sp>
          <p:nvSpPr>
            <p:cNvPr id="10" name="Shape 8"/>
            <p:cNvSpPr/>
            <p:nvPr/>
          </p:nvSpPr>
          <p:spPr>
            <a:xfrm>
              <a:off x="731520" y="1828800"/>
              <a:ext cx="10728655" cy="3977640"/>
            </a:xfrm>
            <a:prstGeom prst="roundRect">
              <a:avLst>
                <a:gd name="adj" fmla="val 1379"/>
              </a:avLst>
            </a:prstGeom>
            <a:solidFill>
              <a:srgbClr val="F2F2F2"/>
            </a:solidFill>
            <a:ln/>
          </p:spPr>
          <p:txBody>
            <a:bodyPr/>
            <a:lstStyle/>
            <a:p>
              <a:endParaRPr/>
            </a:p>
          </p:txBody>
        </p:sp>
        <p:sp>
          <p:nvSpPr>
            <p:cNvPr id="11" name="Shape 9"/>
            <p:cNvSpPr/>
            <p:nvPr/>
          </p:nvSpPr>
          <p:spPr>
            <a:xfrm>
              <a:off x="1097280" y="2121408"/>
              <a:ext cx="777240" cy="777240"/>
            </a:xfrm>
            <a:prstGeom prst="ellipse">
              <a:avLst/>
            </a:prstGeom>
            <a:solidFill>
              <a:srgbClr val="F06C23"/>
            </a:solidFill>
            <a:ln/>
          </p:spPr>
          <p:txBody>
            <a:bodyPr/>
            <a:lstStyle/>
            <a:p>
              <a:endParaRPr/>
            </a:p>
          </p:txBody>
        </p:sp>
        <p:pic>
          <p:nvPicPr>
            <p:cNvPr id="12" name="Image 0" descr="/home/claude/tmo/build/ico/equipe-blanc.png"/>
            <p:cNvPicPr>
              <a:picLocks noChangeAspect="1"/>
            </p:cNvPicPr>
            <p:nvPr/>
          </p:nvPicPr>
          <p:blipFill>
            <a:blip r:embed="rId3"/>
            <a:stretch>
              <a:fillRect/>
            </a:stretch>
          </p:blipFill>
          <p:spPr>
            <a:xfrm>
              <a:off x="1299362" y="2323490"/>
              <a:ext cx="373075" cy="373075"/>
            </a:xfrm>
            <a:prstGeom prst="rect">
              <a:avLst/>
            </a:prstGeom>
          </p:spPr>
        </p:pic>
        <p:sp>
          <p:nvSpPr>
            <p:cNvPr id="13" name="Shape 10"/>
            <p:cNvSpPr/>
            <p:nvPr/>
          </p:nvSpPr>
          <p:spPr>
            <a:xfrm>
              <a:off x="8854135" y="2139696"/>
              <a:ext cx="2240280" cy="457200"/>
            </a:xfrm>
            <a:prstGeom prst="roundRect">
              <a:avLst>
                <a:gd name="adj" fmla="val 24000"/>
              </a:avLst>
            </a:prstGeom>
            <a:solidFill>
              <a:srgbClr val="075767"/>
            </a:solidFill>
            <a:ln/>
          </p:spPr>
          <p:txBody>
            <a:bodyPr/>
            <a:lstStyle/>
            <a:p>
              <a:endParaRPr/>
            </a:p>
          </p:txBody>
        </p:sp>
        <p:sp>
          <p:nvSpPr>
            <p:cNvPr id="14" name="Text 11"/>
            <p:cNvSpPr txBox="1"/>
            <p:nvPr/>
          </p:nvSpPr>
          <p:spPr>
            <a:xfrm>
              <a:off x="8854135" y="2139696"/>
              <a:ext cx="22402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Lato" pitchFamily="34" charset="0"/>
                  <a:ea typeface="Lato" pitchFamily="34" charset="-122"/>
                  <a:cs typeface="Lato" pitchFamily="34" charset="-120"/>
                </a:rPr>
                <a:t>30' + restitution</a:t>
              </a:r>
              <a:endParaRPr lang="en-US" sz="1250" dirty="0"/>
            </a:p>
          </p:txBody>
        </p:sp>
        <p:sp>
          <p:nvSpPr>
            <p:cNvPr id="15" name="Text 12"/>
            <p:cNvSpPr txBox="1"/>
            <p:nvPr/>
          </p:nvSpPr>
          <p:spPr>
            <a:xfrm>
              <a:off x="2103120" y="2084832"/>
              <a:ext cx="4572000" cy="274320"/>
            </a:xfrm>
            <a:prstGeom prst="rect">
              <a:avLst/>
            </a:prstGeom>
            <a:noFill/>
            <a:ln/>
          </p:spPr>
          <p:txBody>
            <a:bodyPr wrap="square" lIns="0" tIns="0" rIns="0" bIns="0" rtlCol="0" anchor="ctr"/>
            <a:lstStyle/>
            <a:p>
              <a:pPr marL="0" indent="0">
                <a:buNone/>
              </a:pPr>
              <a:r>
                <a:rPr lang="en-US" sz="1100" b="1" kern="0" spc="160" dirty="0">
                  <a:solidFill>
                    <a:srgbClr val="C33F14"/>
                  </a:solidFill>
                  <a:latin typeface="Lato" pitchFamily="34" charset="0"/>
                  <a:ea typeface="Lato" pitchFamily="34" charset="-122"/>
                  <a:cs typeface="Lato" pitchFamily="34" charset="-120"/>
                </a:rPr>
                <a:t>EXERCICE</a:t>
              </a:r>
              <a:endParaRPr lang="en-US" sz="1100" dirty="0"/>
            </a:p>
          </p:txBody>
        </p:sp>
        <p:sp>
          <p:nvSpPr>
            <p:cNvPr id="16" name="Text 13"/>
            <p:cNvSpPr txBox="1"/>
            <p:nvPr/>
          </p:nvSpPr>
          <p:spPr>
            <a:xfrm>
              <a:off x="2103120" y="2377440"/>
              <a:ext cx="6522415" cy="658368"/>
            </a:xfrm>
            <a:prstGeom prst="rect">
              <a:avLst/>
            </a:prstGeom>
            <a:noFill/>
            <a:ln/>
          </p:spPr>
          <p:txBody>
            <a:bodyPr wrap="square" lIns="0" tIns="0" rIns="0" bIns="0" rtlCol="0" anchor="t"/>
            <a:lstStyle/>
            <a:p>
              <a:pPr marL="0" indent="0">
                <a:lnSpc>
                  <a:spcPct val="110000"/>
                </a:lnSpc>
                <a:buNone/>
              </a:pPr>
              <a:r>
                <a:rPr lang="en-US" sz="1600" b="1" dirty="0">
                  <a:solidFill>
                    <a:srgbClr val="075767"/>
                  </a:solidFill>
                  <a:latin typeface="Lato" pitchFamily="34" charset="0"/>
                  <a:ea typeface="Lato" pitchFamily="34" charset="-122"/>
                  <a:cs typeface="Lato" pitchFamily="34" charset="-120"/>
                </a:rPr>
                <a:t>Vous êtes membre du CSE. Un salarié vous confie une situation de harcèlement moral.</a:t>
              </a:r>
              <a:endParaRPr lang="en-US" sz="1600" dirty="0"/>
            </a:p>
          </p:txBody>
        </p:sp>
        <p:sp>
          <p:nvSpPr>
            <p:cNvPr id="17" name="Text 14"/>
            <p:cNvSpPr txBox="1"/>
            <p:nvPr/>
          </p:nvSpPr>
          <p:spPr>
            <a:xfrm>
              <a:off x="2103120" y="3127248"/>
              <a:ext cx="8716975" cy="25146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Que faites-vous, concrètement, dans les 48 heures ?</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Construisez l'argumentaire que vous porterez auprès de l'employeur</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Quelles actions de prévention préconisez-vous, au-delà du cas individuel ?</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Quels acteurs impliquez-vous dans ce dossier, et à quel moment ?</a:t>
              </a:r>
              <a:endParaRPr lang="en-US" sz="1400" dirty="0"/>
            </a:p>
          </p:txBody>
        </p:sp>
      </p:grpSp>
      <p:pic>
        <p:nvPicPr>
          <p:cNvPr id="18"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9" name="Text 15"/>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6"/>
          <p:cNvSpPr/>
          <p:nvPr/>
        </p:nvSpPr>
        <p:spPr>
          <a:xfrm>
            <a:off x="10591495" y="6181344"/>
            <a:ext cx="438912" cy="438912"/>
          </a:xfrm>
          <a:prstGeom prst="ellipse">
            <a:avLst/>
          </a:prstGeom>
          <a:solidFill>
            <a:srgbClr val="F06C23"/>
          </a:solidFill>
          <a:ln/>
        </p:spPr>
        <p:txBody>
          <a:bodyPr/>
          <a:lstStyle/>
          <a:p>
            <a:endParaRPr/>
          </a:p>
        </p:txBody>
      </p:sp>
      <p:sp>
        <p:nvSpPr>
          <p:cNvPr id="21" name="Text 17"/>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09</a:t>
            </a:r>
            <a:endParaRPr lang="en-US" sz="1100" dirty="0"/>
          </a:p>
        </p:txBody>
      </p:sp>
      <p:sp>
        <p:nvSpPr>
          <p:cNvPr id="22" name="Text 18"/>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162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26"/>
                                        </p:tgtEl>
                                        <p:attrNameLst>
                                          <p:attrName>style.visibility</p:attrName>
                                        </p:attrNameLst>
                                      </p:cBhvr>
                                      <p:to>
                                        <p:strVal val="visible"/>
                                      </p:to>
                                    </p:set>
                                    <p:animEffect transition="in" filter="fade">
                                      <p:cBhvr>
                                        <p:cTn id="7" dur="450"/>
                                        <p:tgtEl>
                                          <p:spTgt spid="9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name="Slide 142">
    <p:bg>
      <p:bgPr>
        <a:solidFill>
          <a:srgbClr val="075767"/>
        </a:solidFill>
        <a:effectLst/>
      </p:bgPr>
    </p:bg>
    <p:spTree>
      <p:nvGrpSpPr>
        <p:cNvPr id="1" name=""/>
        <p:cNvGrpSpPr/>
        <p:nvPr/>
      </p:nvGrpSpPr>
      <p:grpSpPr>
        <a:xfrm>
          <a:off x="0" y="0"/>
          <a:ext cx="0" cy="0"/>
          <a:chOff x="0" y="0"/>
          <a:chExt cx="0" cy="0"/>
        </a:xfrm>
      </p:grpSpPr>
      <p:sp>
        <p:nvSpPr>
          <p:cNvPr id="2" name="Shape 0"/>
          <p:cNvSpPr/>
          <p:nvPr/>
        </p:nvSpPr>
        <p:spPr>
          <a:xfrm rot="420000">
            <a:off x="5760720" y="-3749040"/>
            <a:ext cx="10972800" cy="8229600"/>
          </a:xfrm>
          <a:prstGeom prst="ellipse">
            <a:avLst/>
          </a:prstGeom>
          <a:solidFill>
            <a:srgbClr val="0A6C78"/>
          </a:solidFill>
          <a:ln/>
        </p:spPr>
        <p:txBody>
          <a:bodyPr/>
          <a:lstStyle/>
          <a:p>
            <a:endParaRPr/>
          </a:p>
        </p:txBody>
      </p:sp>
      <p:sp>
        <p:nvSpPr>
          <p:cNvPr id="3" name="Shape 1"/>
          <p:cNvSpPr/>
          <p:nvPr/>
        </p:nvSpPr>
        <p:spPr>
          <a:xfrm>
            <a:off x="868680" y="5788152"/>
            <a:ext cx="274320" cy="274320"/>
          </a:xfrm>
          <a:prstGeom prst="ellipse">
            <a:avLst/>
          </a:prstGeom>
          <a:solidFill>
            <a:srgbClr val="F06C23"/>
          </a:solidFill>
          <a:ln/>
        </p:spPr>
        <p:txBody>
          <a:bodyPr/>
          <a:lstStyle/>
          <a:p>
            <a:endParaRPr/>
          </a:p>
        </p:txBody>
      </p:sp>
      <p:sp>
        <p:nvSpPr>
          <p:cNvPr id="4" name="Shape 2"/>
          <p:cNvSpPr/>
          <p:nvPr/>
        </p:nvSpPr>
        <p:spPr>
          <a:xfrm>
            <a:off x="1353312" y="5943600"/>
            <a:ext cx="146304" cy="146304"/>
          </a:xfrm>
          <a:prstGeom prst="ellipse">
            <a:avLst/>
          </a:prstGeom>
          <a:solidFill>
            <a:srgbClr val="C1D5D9"/>
          </a:solidFill>
          <a:ln/>
        </p:spPr>
        <p:txBody>
          <a:bodyPr/>
          <a:lstStyle/>
          <a:p>
            <a:endParaRPr/>
          </a:p>
        </p:txBody>
      </p:sp>
      <p:sp>
        <p:nvSpPr>
          <p:cNvPr id="5" name="Shape 3"/>
          <p:cNvSpPr/>
          <p:nvPr/>
        </p:nvSpPr>
        <p:spPr>
          <a:xfrm>
            <a:off x="1645920" y="5650992"/>
            <a:ext cx="100584" cy="100584"/>
          </a:xfrm>
          <a:prstGeom prst="ellipse">
            <a:avLst/>
          </a:prstGeom>
          <a:solidFill>
            <a:srgbClr val="C1D5D9"/>
          </a:solidFill>
          <a:ln/>
        </p:spPr>
        <p:txBody>
          <a:bodyPr/>
          <a:lstStyle/>
          <a:p>
            <a:endParaRPr/>
          </a:p>
        </p:txBody>
      </p:sp>
      <p:sp>
        <p:nvSpPr>
          <p:cNvPr id="6" name="Text 4"/>
          <p:cNvSpPr txBox="1"/>
          <p:nvPr/>
        </p:nvSpPr>
        <p:spPr>
          <a:xfrm>
            <a:off x="822960" y="1325880"/>
            <a:ext cx="2377440" cy="1691640"/>
          </a:xfrm>
          <a:prstGeom prst="rect">
            <a:avLst/>
          </a:prstGeom>
          <a:noFill/>
          <a:ln/>
        </p:spPr>
        <p:txBody>
          <a:bodyPr wrap="square" lIns="0" tIns="0" rIns="0" bIns="0" rtlCol="0" anchor="t"/>
          <a:lstStyle/>
          <a:p>
            <a:pPr marL="0" indent="0">
              <a:buNone/>
            </a:pPr>
            <a:r>
              <a:rPr lang="en-US" sz="9600" b="1" kern="0" spc="-300" dirty="0">
                <a:solidFill>
                  <a:srgbClr val="F58B60"/>
                </a:solidFill>
                <a:latin typeface="Lato" pitchFamily="34" charset="0"/>
                <a:ea typeface="Lato" pitchFamily="34" charset="-122"/>
                <a:cs typeface="Lato" pitchFamily="34" charset="-120"/>
              </a:rPr>
              <a:t>10</a:t>
            </a:r>
            <a:endParaRPr lang="en-US" sz="9600" dirty="0"/>
          </a:p>
        </p:txBody>
      </p:sp>
      <p:sp>
        <p:nvSpPr>
          <p:cNvPr id="7" name="Text 5"/>
          <p:cNvSpPr txBox="1"/>
          <p:nvPr/>
        </p:nvSpPr>
        <p:spPr>
          <a:xfrm>
            <a:off x="868680" y="3017520"/>
            <a:ext cx="5303520" cy="1536192"/>
          </a:xfrm>
          <a:prstGeom prst="rect">
            <a:avLst/>
          </a:prstGeom>
          <a:noFill/>
          <a:ln/>
        </p:spPr>
        <p:txBody>
          <a:bodyPr wrap="square" lIns="0" tIns="0" rIns="0" bIns="0" rtlCol="0" anchor="t"/>
          <a:lstStyle/>
          <a:p>
            <a:pPr marL="0" indent="0">
              <a:buNone/>
            </a:pPr>
            <a:r>
              <a:rPr lang="en-US" sz="3400" b="1" kern="0" spc="-150" dirty="0">
                <a:solidFill>
                  <a:srgbClr val="FFFFFF"/>
                </a:solidFill>
                <a:latin typeface="Lato" pitchFamily="34" charset="0"/>
                <a:ea typeface="Lato" pitchFamily="34" charset="-122"/>
                <a:cs typeface="Lato" pitchFamily="34" charset="-120"/>
              </a:rPr>
              <a:t>Les risques</a:t>
            </a:r>
            <a:endParaRPr lang="en-US" sz="3400" dirty="0"/>
          </a:p>
          <a:p>
            <a:pPr marL="0" indent="0">
              <a:buNone/>
            </a:pPr>
            <a:r>
              <a:rPr lang="en-US" sz="3400" b="1" kern="0" spc="-150" dirty="0">
                <a:solidFill>
                  <a:srgbClr val="FFFFFF"/>
                </a:solidFill>
                <a:latin typeface="Lato" pitchFamily="34" charset="0"/>
                <a:ea typeface="Lato" pitchFamily="34" charset="-122"/>
                <a:cs typeface="Lato" pitchFamily="34" charset="-120"/>
              </a:rPr>
              <a:t>psychosociaux</a:t>
            </a:r>
            <a:endParaRPr lang="en-US" sz="3400" dirty="0"/>
          </a:p>
        </p:txBody>
      </p:sp>
      <p:sp>
        <p:nvSpPr>
          <p:cNvPr id="8" name="Text 6"/>
          <p:cNvSpPr txBox="1"/>
          <p:nvPr/>
        </p:nvSpPr>
        <p:spPr>
          <a:xfrm>
            <a:off x="868680" y="4023360"/>
            <a:ext cx="5029200" cy="914400"/>
          </a:xfrm>
          <a:prstGeom prst="rect">
            <a:avLst/>
          </a:prstGeom>
          <a:noFill/>
          <a:ln/>
        </p:spPr>
        <p:txBody>
          <a:bodyPr wrap="square" lIns="0" tIns="0" rIns="0" bIns="0" rtlCol="0" anchor="t"/>
          <a:lstStyle/>
          <a:p>
            <a:pPr marL="0" indent="0">
              <a:lnSpc>
                <a:spcPct val="115000"/>
              </a:lnSpc>
              <a:buNone/>
            </a:pPr>
            <a:r>
              <a:rPr lang="en-US" sz="1500" dirty="0">
                <a:solidFill>
                  <a:srgbClr val="C1D5D9"/>
                </a:solidFill>
                <a:latin typeface="Lato" pitchFamily="34" charset="0"/>
                <a:ea typeface="Lato" pitchFamily="34" charset="-122"/>
                <a:cs typeface="Lato" pitchFamily="34" charset="-120"/>
              </a:rPr>
              <a:t>Six facteurs, deux modèles scientifiques, une démarche en cinq étapes.</a:t>
            </a:r>
            <a:endParaRPr lang="en-US" sz="1500" dirty="0"/>
          </a:p>
        </p:txBody>
      </p:sp>
      <p:sp>
        <p:nvSpPr>
          <p:cNvPr id="12" name="Rounded Rectangle 11"/>
          <p:cNvSpPr/>
          <p:nvPr/>
        </p:nvSpPr>
        <p:spPr>
          <a:xfrm>
            <a:off x="6711696" y="1316736"/>
            <a:ext cx="4892040" cy="448056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mage 0" descr="/home/claude/tmo/build/photos/p37.jpg"/>
          <p:cNvPicPr>
            <a:picLocks noChangeAspect="1"/>
          </p:cNvPicPr>
          <p:nvPr/>
        </p:nvPicPr>
        <p:blipFill>
          <a:blip r:embed="rId3"/>
          <a:srcRect/>
          <a:stretch/>
        </p:blipFill>
        <p:spPr>
          <a:xfrm>
            <a:off x="6583680" y="1188720"/>
            <a:ext cx="4892040" cy="4480560"/>
          </a:xfrm>
          <a:prstGeom prst="roundRect">
            <a:avLst>
              <a:gd name="adj" fmla="val 2200"/>
            </a:avLst>
          </a:prstGeom>
          <a:effectLst>
            <a:outerShdw blurRad="190500" dist="38100" dir="5400000" rotWithShape="0">
              <a:srgbClr val="075767">
                <a:alpha val="22000"/>
              </a:srgbClr>
            </a:outerShdw>
            <a:softEdge rad="32004"/>
          </a:effectLst>
        </p:spPr>
      </p:pic>
      <p:sp>
        <p:nvSpPr>
          <p:cNvPr id="10" name="Shape 7"/>
          <p:cNvSpPr/>
          <p:nvPr/>
        </p:nvSpPr>
        <p:spPr>
          <a:xfrm>
            <a:off x="10929823" y="6071616"/>
            <a:ext cx="603504" cy="603504"/>
          </a:xfrm>
          <a:prstGeom prst="ellipse">
            <a:avLst/>
          </a:prstGeom>
          <a:solidFill>
            <a:srgbClr val="FFFFFF"/>
          </a:solidFill>
          <a:ln/>
        </p:spPr>
        <p:txBody>
          <a:bodyPr/>
          <a:lstStyle/>
          <a:p>
            <a:endParaRPr/>
          </a:p>
        </p:txBody>
      </p:sp>
      <p:pic>
        <p:nvPicPr>
          <p:cNvPr id="11" name="Image 1" descr="/home/claude/tmo/build/logo.png"/>
          <p:cNvPicPr>
            <a:picLocks noChangeAspect="1"/>
          </p:cNvPicPr>
          <p:nvPr/>
        </p:nvPicPr>
        <p:blipFill>
          <a:blip r:embed="rId4"/>
          <a:stretch>
            <a:fillRect/>
          </a:stretch>
        </p:blipFill>
        <p:spPr>
          <a:xfrm>
            <a:off x="10957255" y="6099048"/>
            <a:ext cx="548640" cy="548640"/>
          </a:xfrm>
          <a:prstGeom prst="rect">
            <a:avLst/>
          </a:prstGeom>
        </p:spPr>
      </p:pic>
    </p:spTree>
  </p:cSld>
  <p:clrMapOvr>
    <a:masterClrMapping/>
  </p:clrMapOvr>
  <p:transition spd="med"/>
</p:sld>
</file>

<file path=ppt/slides/slide165.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La définition de référence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grpSp>
        <p:nvGrpSpPr>
          <p:cNvPr id="9227"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4121-1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450" i="1" dirty="0">
                  <a:solidFill>
                    <a:srgbClr val="075767"/>
                  </a:solidFill>
                  <a:latin typeface="Lato" pitchFamily="34" charset="0"/>
                  <a:ea typeface="Lato" pitchFamily="34" charset="-122"/>
                  <a:cs typeface="Lato" pitchFamily="34" charset="-120"/>
                </a:rPr>
                <a:t>Les risques pour la santé mentale, physique et sociale, engendrés par les conditions d'emploi et les facteurs organisationnels et relationnels susceptibles d'interagir avec le fonctionnement mental.</a:t>
              </a:r>
              <a:endParaRPr lang="en-US" sz="14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cette définition change</a:t>
            </a:r>
            <a:endParaRPr lang="en-US" sz="1550" dirty="0"/>
          </a:p>
        </p:txBody>
      </p:sp>
      <p:sp>
        <p:nvSpPr>
          <p:cNvPr id="16" name="Text 13"/>
          <p:cNvSpPr txBox="1"/>
          <p:nvPr/>
        </p:nvSpPr>
        <p:spPr>
          <a:xfrm>
            <a:off x="731520" y="4434840"/>
            <a:ext cx="10728655" cy="16015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Collège d'expertise sur le suivi des risques psychosociaux au travail, présidé par Michel Gollac, sociologue, rapport de 2011</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 Conditions d'emploi » et « santé sociale » signent une approche sociologique des causes et des conséquences</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Le risque est dans le travail et son organisation, pas dans la fragilité supposée des personnes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fondement juridique reste l'article L. 4121-1 : la santé mentale y est protégée au même titre que la santé physique</a:t>
            </a:r>
            <a:endParaRPr lang="en-US" sz="1350" dirty="0"/>
          </a:p>
        </p:txBody>
      </p:sp>
      <p:pic>
        <p:nvPicPr>
          <p:cNvPr id="17" name="Image 1"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164</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27"/>
                                        </p:tgtEl>
                                        <p:attrNameLst>
                                          <p:attrName>style.visibility</p:attrName>
                                        </p:attrNameLst>
                                      </p:cBhvr>
                                      <p:to>
                                        <p:strVal val="visible"/>
                                      </p:to>
                                    </p:set>
                                    <p:animEffect transition="in" filter="fade">
                                      <p:cBhvr>
                                        <p:cTn id="7" dur="450"/>
                                        <p:tgtEl>
                                          <p:spTgt spid="92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Deux autres définitions utiles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L'Agence européenne de Bilbao</a:t>
            </a:r>
            <a:endParaRPr lang="en-US" sz="1700" dirty="0"/>
          </a:p>
        </p:txBody>
      </p:sp>
      <p:sp>
        <p:nvSpPr>
          <p:cNvPr id="11" name="Text 9"/>
          <p:cNvSpPr txBox="1"/>
          <p:nvPr/>
        </p:nvSpPr>
        <p:spPr>
          <a:xfrm>
            <a:off x="73152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 Les risques psychosociaux concernent notamment les situations de travail à risques de stress, de violences internes et de violences externes. »</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Mission : fournir des informations sur la santé au travail partageables entre les pays de l'Union</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Elle met l'accent sur les formes incontestables et reconnues que prennent les RPS</a:t>
            </a:r>
            <a:endParaRPr lang="en-US" sz="1350" dirty="0"/>
          </a:p>
        </p:txBody>
      </p:sp>
      <p:sp>
        <p:nvSpPr>
          <p:cNvPr id="12" name="Text 10"/>
          <p:cNvSpPr txBox="1"/>
          <p:nvPr/>
        </p:nvSpPr>
        <p:spPr>
          <a:xfrm>
            <a:off x="630936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Le ministère du Travail</a:t>
            </a:r>
            <a:endParaRPr lang="en-US" sz="1700" dirty="0"/>
          </a:p>
        </p:txBody>
      </p:sp>
      <p:sp>
        <p:nvSpPr>
          <p:cNvPr id="13" name="Text 11"/>
          <p:cNvSpPr txBox="1"/>
          <p:nvPr/>
        </p:nvSpPr>
        <p:spPr>
          <a:xfrm>
            <a:off x="630936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 Des risques professionnels qui portent atteinte à l'intégrité physique et à la santé mentale des salariés : stress, harcèlement, épuisement professionnel, violence au travail. »</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Ils peuvent entraîner dépressions, maladies psychosomatiques, troubles du sommeil</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Mais aussi générer des TMS, des maladies cardiovasculaires, voire des accidents du travail</a:t>
            </a:r>
            <a:endParaRPr lang="en-US" sz="1350" dirty="0"/>
          </a:p>
        </p:txBody>
      </p:sp>
      <p:grpSp>
        <p:nvGrpSpPr>
          <p:cNvPr id="9228" name="Bloc 5"/>
          <p:cNvGrpSpPr/>
          <p:nvPr/>
        </p:nvGrpSpPr>
        <p:grpSpPr>
          <a:xfrm>
            <a:off x="731520" y="4956048"/>
            <a:ext cx="10728655" cy="841248"/>
            <a:chOff x="731520" y="4956048"/>
            <a:chExt cx="10728655" cy="841248"/>
          </a:xfrm>
        </p:grpSpPr>
        <p:sp>
          <p:nvSpPr>
            <p:cNvPr id="14" name="Shape 12"/>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5" name="Text 13"/>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point commun   </a:t>
              </a:r>
              <a:r>
                <a:rPr lang="en-US" sz="1300" dirty="0">
                  <a:solidFill>
                    <a:srgbClr val="075767"/>
                  </a:solidFill>
                  <a:latin typeface="Lato" pitchFamily="34" charset="0"/>
                  <a:ea typeface="Lato" pitchFamily="34" charset="-122"/>
                  <a:cs typeface="Lato" pitchFamily="34" charset="-120"/>
                </a:rPr>
                <a:t>les trois définitions désignent des situations de travail, jamais des profils de personnes. C'est le premier argument à opposer aux approches individualisantes.</a:t>
              </a:r>
              <a:endParaRPr lang="en-US" sz="1250" dirty="0"/>
            </a:p>
          </p:txBody>
        </p:sp>
      </p:grpSp>
      <p:pic>
        <p:nvPicPr>
          <p:cNvPr id="16"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7"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5"/>
          <p:cNvSpPr/>
          <p:nvPr/>
        </p:nvSpPr>
        <p:spPr>
          <a:xfrm>
            <a:off x="10591495" y="6181344"/>
            <a:ext cx="438912" cy="438912"/>
          </a:xfrm>
          <a:prstGeom prst="ellipse">
            <a:avLst/>
          </a:prstGeom>
          <a:solidFill>
            <a:srgbClr val="F06C23"/>
          </a:solidFill>
          <a:ln/>
        </p:spPr>
        <p:txBody>
          <a:bodyPr/>
          <a:lstStyle/>
          <a:p>
            <a:endParaRPr/>
          </a:p>
        </p:txBody>
      </p:sp>
      <p:sp>
        <p:nvSpPr>
          <p:cNvPr id="19"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0"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165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28"/>
                                        </p:tgtEl>
                                        <p:attrNameLst>
                                          <p:attrName>style.visibility</p:attrName>
                                        </p:attrNameLst>
                                      </p:cBhvr>
                                      <p:to>
                                        <p:strVal val="visible"/>
                                      </p:to>
                                    </p:set>
                                    <p:animEffect transition="in" filter="fade">
                                      <p:cBhvr>
                                        <p:cTn id="27" dur="450"/>
                                        <p:tgtEl>
                                          <p:spTgt spid="9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que disent les études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Les RPS ne sont pas une question d'opinion : le corpus scientifique est ancien et convergent.</a:t>
            </a:r>
            <a:endParaRPr lang="en-US" sz="1450" dirty="0"/>
          </a:p>
        </p:txBody>
      </p:sp>
      <p:sp>
        <p:nvSpPr>
          <p:cNvPr id="11" name="Text 9"/>
          <p:cNvSpPr txBox="1"/>
          <p:nvPr/>
        </p:nvSpPr>
        <p:spPr>
          <a:xfrm>
            <a:off x="731520" y="2487168"/>
            <a:ext cx="6035040" cy="3538606"/>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L'épidémiologie psychosociale, synthétisée dans le TP13 des Documents pour le médecin du travail</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Les connaissances médicales et en neurophysiologie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Les données issues des consultations de souffrance au travail</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La clinique de l'intervention : psychodynamique du travail, psychologie du travail, ergonomie, clinique du travail</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Expertise collective INSERM de 2011 sur le stress d'origine professionnelle : effets délétères documentés au-delà de 50 heures de travail par semaine</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Conditions d'emploi précaires (CDD, intérim) et précarité ressentie dans la fonction publique, notamment lors des changements d'outil ou d'organisation</a:t>
            </a:r>
            <a:endParaRPr lang="en-US" sz="1400" dirty="0"/>
          </a:p>
        </p:txBody>
      </p:sp>
      <p:grpSp>
        <p:nvGrpSpPr>
          <p:cNvPr id="9229" name="Bloc 2"/>
          <p:cNvGrpSpPr/>
          <p:nvPr/>
        </p:nvGrpSpPr>
        <p:grpSpPr>
          <a:xfrm>
            <a:off x="7223760" y="1828800"/>
            <a:ext cx="4334256" cy="3282696"/>
            <a:chOff x="7223760" y="1828800"/>
            <a:chExt cx="4334256" cy="3282696"/>
          </a:xfrm>
        </p:grpSpPr>
        <p:sp>
          <p:nvSpPr>
            <p:cNvPr id="19" name="Rounded Rectangle 18"/>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38.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sp>
        <p:nvSpPr>
          <p:cNvPr id="13" name="Text 10"/>
          <p:cNvSpPr txBox="1"/>
          <p:nvPr/>
        </p:nvSpPr>
        <p:spPr>
          <a:xfrm>
            <a:off x="7223760" y="5056632"/>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Le débat n'est plus scientifique. Il est organisationnel.</a:t>
            </a:r>
            <a:endParaRPr lang="en-US" sz="950" dirty="0"/>
          </a:p>
        </p:txBody>
      </p:sp>
      <p:pic>
        <p:nvPicPr>
          <p:cNvPr id="14"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5"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2"/>
          <p:cNvSpPr/>
          <p:nvPr/>
        </p:nvSpPr>
        <p:spPr>
          <a:xfrm>
            <a:off x="10591495" y="6181344"/>
            <a:ext cx="438912" cy="438912"/>
          </a:xfrm>
          <a:prstGeom prst="ellipse">
            <a:avLst/>
          </a:prstGeom>
          <a:solidFill>
            <a:srgbClr val="F06C23"/>
          </a:solidFill>
          <a:ln/>
        </p:spPr>
        <p:txBody>
          <a:bodyPr/>
          <a:lstStyle/>
          <a:p>
            <a:endParaRPr/>
          </a:p>
        </p:txBody>
      </p:sp>
      <p:sp>
        <p:nvSpPr>
          <p:cNvPr id="17"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18"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166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29"/>
                                        </p:tgtEl>
                                        <p:attrNameLst>
                                          <p:attrName>style.visibility</p:attrName>
                                        </p:attrNameLst>
                                      </p:cBhvr>
                                      <p:to>
                                        <p:strVal val="visible"/>
                                      </p:to>
                                    </p:set>
                                    <p:animEffect transition="in" filter="fade">
                                      <p:cBhvr>
                                        <p:cTn id="12" dur="450"/>
                                        <p:tgtEl>
                                          <p:spTgt spid="92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six facteurs de Gollac (1 à 3)</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grpSp>
        <p:nvGrpSpPr>
          <p:cNvPr id="9230" name="Bloc 1"/>
          <p:cNvGrpSpPr/>
          <p:nvPr/>
        </p:nvGrpSpPr>
        <p:grpSpPr>
          <a:xfrm>
            <a:off x="731520" y="1965960"/>
            <a:ext cx="3332378" cy="3197961"/>
            <a:chOff x="731520" y="1965960"/>
            <a:chExt cx="3332378" cy="3197961"/>
          </a:xfrm>
        </p:grpSpPr>
        <p:sp>
          <p:nvSpPr>
            <p:cNvPr id="10" name="Shape 8"/>
            <p:cNvSpPr/>
            <p:nvPr/>
          </p:nvSpPr>
          <p:spPr>
            <a:xfrm>
              <a:off x="731520" y="1965960"/>
              <a:ext cx="3332378" cy="3197961"/>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horlog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546201"/>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Intensité et temps de travail</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Surcharge, objectifs irréalistes ou flous, longues journées, instructions contradictoires, horaires atypiques ou imprévisibles.</a:t>
              </a:r>
              <a:endParaRPr lang="en-US" sz="1250" dirty="0"/>
            </a:p>
          </p:txBody>
        </p:sp>
      </p:grpSp>
      <p:grpSp>
        <p:nvGrpSpPr>
          <p:cNvPr id="9231"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dialogue-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Exigences émotionnelles</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Tensions avec le public, contact avec la souffrance ou la détresse, obligation de cacher ses émotions.</a:t>
              </a:r>
              <a:endParaRPr lang="en-US" sz="1250" dirty="0"/>
            </a:p>
          </p:txBody>
        </p:sp>
      </p:grpSp>
      <p:grpSp>
        <p:nvGrpSpPr>
          <p:cNvPr id="9232" name="Bloc 3"/>
          <p:cNvGrpSpPr/>
          <p:nvPr/>
        </p:nvGrpSpPr>
        <p:grpSpPr>
          <a:xfrm>
            <a:off x="8127797" y="1965960"/>
            <a:ext cx="3332378" cy="3108960"/>
            <a:chOff x="8127797" y="1965960"/>
            <a:chExt cx="3332378" cy="3108960"/>
          </a:xfrm>
        </p:grpSpPr>
        <p:sp>
          <p:nvSpPr>
            <p:cNvPr id="20" name="Shape 16"/>
            <p:cNvSpPr/>
            <p:nvPr/>
          </p:nvSpPr>
          <p:spPr>
            <a:xfrm>
              <a:off x="8127797" y="1965960"/>
              <a:ext cx="3332378" cy="3108960"/>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equipe-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Manque d'autonomie</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Faibles marges de manœuvre, rythme imposé, impossibilité de développer ses compétences, absence de participation aux décisions.</a:t>
              </a:r>
              <a:endParaRPr lang="en-US" sz="1250" dirty="0"/>
            </a:p>
          </p:txBody>
        </p:sp>
      </p:grpSp>
      <p:pic>
        <p:nvPicPr>
          <p:cNvPr id="25"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6" name="Text 2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7" name="Shape 21"/>
          <p:cNvSpPr/>
          <p:nvPr/>
        </p:nvSpPr>
        <p:spPr>
          <a:xfrm>
            <a:off x="10591495" y="6181344"/>
            <a:ext cx="438912" cy="438912"/>
          </a:xfrm>
          <a:prstGeom prst="ellipse">
            <a:avLst/>
          </a:prstGeom>
          <a:solidFill>
            <a:srgbClr val="F06C23"/>
          </a:solidFill>
          <a:ln/>
        </p:spPr>
        <p:txBody>
          <a:bodyPr/>
          <a:lstStyle/>
          <a:p>
            <a:endParaRPr/>
          </a:p>
        </p:txBody>
      </p:sp>
      <p:sp>
        <p:nvSpPr>
          <p:cNvPr id="28" name="Text 2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9" name="Text 2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167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30"/>
                                        </p:tgtEl>
                                        <p:attrNameLst>
                                          <p:attrName>style.visibility</p:attrName>
                                        </p:attrNameLst>
                                      </p:cBhvr>
                                      <p:to>
                                        <p:strVal val="visible"/>
                                      </p:to>
                                    </p:set>
                                    <p:animEffect transition="in" filter="fade">
                                      <p:cBhvr>
                                        <p:cTn id="7" dur="450"/>
                                        <p:tgtEl>
                                          <p:spTgt spid="92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31"/>
                                        </p:tgtEl>
                                        <p:attrNameLst>
                                          <p:attrName>style.visibility</p:attrName>
                                        </p:attrNameLst>
                                      </p:cBhvr>
                                      <p:to>
                                        <p:strVal val="visible"/>
                                      </p:to>
                                    </p:set>
                                    <p:animEffect transition="in" filter="fade">
                                      <p:cBhvr>
                                        <p:cTn id="12" dur="450"/>
                                        <p:tgtEl>
                                          <p:spTgt spid="92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32"/>
                                        </p:tgtEl>
                                        <p:attrNameLst>
                                          <p:attrName>style.visibility</p:attrName>
                                        </p:attrNameLst>
                                      </p:cBhvr>
                                      <p:to>
                                        <p:strVal val="visible"/>
                                      </p:to>
                                    </p:set>
                                    <p:animEffect transition="in" filter="fade">
                                      <p:cBhvr>
                                        <p:cTn id="17" dur="450"/>
                                        <p:tgtEl>
                                          <p:spTgt spid="9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six facteurs de Gollac (4 à 6)</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grpSp>
        <p:nvGrpSpPr>
          <p:cNvPr id="9233" name="Bloc 1"/>
          <p:cNvGrpSpPr/>
          <p:nvPr/>
        </p:nvGrpSpPr>
        <p:grpSpPr>
          <a:xfrm>
            <a:off x="731520" y="1965960"/>
            <a:ext cx="3332378" cy="3197961"/>
            <a:chOff x="731520" y="1965960"/>
            <a:chExt cx="3332378" cy="3197961"/>
          </a:xfrm>
        </p:grpSpPr>
        <p:sp>
          <p:nvSpPr>
            <p:cNvPr id="10" name="Shape 8"/>
            <p:cNvSpPr/>
            <p:nvPr/>
          </p:nvSpPr>
          <p:spPr>
            <a:xfrm>
              <a:off x="731520" y="1965960"/>
              <a:ext cx="3332378" cy="3197961"/>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alert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546201"/>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Rapports sociaux dégradés</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Relations conflictuelles avec les collègues ou la hiérarchie, absence de perspective de carrière, harcèlement moral.</a:t>
              </a:r>
              <a:endParaRPr lang="en-US" sz="1250" dirty="0"/>
            </a:p>
          </p:txBody>
        </p:sp>
      </p:grpSp>
      <p:grpSp>
        <p:nvGrpSpPr>
          <p:cNvPr id="9234"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bouclier-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Conflits de valeurs</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Ne pas être fier de son travail, ne pas pouvoir faire un travail de qualité, la « qualité empêchée ».</a:t>
              </a:r>
              <a:endParaRPr lang="en-US" sz="1250" dirty="0"/>
            </a:p>
          </p:txBody>
        </p:sp>
      </p:grpSp>
      <p:grpSp>
        <p:nvGrpSpPr>
          <p:cNvPr id="9235" name="Bloc 3"/>
          <p:cNvGrpSpPr/>
          <p:nvPr/>
        </p:nvGrpSpPr>
        <p:grpSpPr>
          <a:xfrm>
            <a:off x="8127797" y="1965960"/>
            <a:ext cx="3332378" cy="3108960"/>
            <a:chOff x="8127797" y="1965960"/>
            <a:chExt cx="3332378" cy="3108960"/>
          </a:xfrm>
        </p:grpSpPr>
        <p:sp>
          <p:nvSpPr>
            <p:cNvPr id="20" name="Shape 16"/>
            <p:cNvSpPr/>
            <p:nvPr/>
          </p:nvSpPr>
          <p:spPr>
            <a:xfrm>
              <a:off x="8127797" y="1965960"/>
              <a:ext cx="3332378" cy="3108960"/>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document-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Insécurité de la situation</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Peur de perdre son emploi, non-maintien du salaire, contrat précaire, restructurations, incertitude sur l'avenir du métier.</a:t>
              </a:r>
              <a:endParaRPr lang="en-US" sz="1250" dirty="0"/>
            </a:p>
          </p:txBody>
        </p:sp>
      </p:grpSp>
      <p:grpSp>
        <p:nvGrpSpPr>
          <p:cNvPr id="9236" name="Bloc 4"/>
          <p:cNvGrpSpPr/>
          <p:nvPr/>
        </p:nvGrpSpPr>
        <p:grpSpPr>
          <a:xfrm>
            <a:off x="731520" y="5257800"/>
            <a:ext cx="10728655" cy="841248"/>
            <a:chOff x="731520" y="5257800"/>
            <a:chExt cx="10728655" cy="841248"/>
          </a:xfrm>
        </p:grpSpPr>
        <p:sp>
          <p:nvSpPr>
            <p:cNvPr id="25" name="Shape 20"/>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26" name="Text 21"/>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facteur sous-estimé   </a:t>
              </a:r>
              <a:r>
                <a:rPr lang="en-US" sz="1300" dirty="0">
                  <a:solidFill>
                    <a:srgbClr val="075767"/>
                  </a:solidFill>
                  <a:latin typeface="Lato" pitchFamily="34" charset="0"/>
                  <a:ea typeface="Lato" pitchFamily="34" charset="-122"/>
                  <a:cs typeface="Lato" pitchFamily="34" charset="-120"/>
                </a:rPr>
                <a:t>le conflit de valeurs. Empêcher quelqu'un de bien faire son travail est l'un des facteurs les plus destructeurs, et l'un des moins mesurés.</a:t>
              </a:r>
              <a:endParaRPr lang="en-US" sz="1250" dirty="0"/>
            </a:p>
          </p:txBody>
        </p:sp>
      </p:grpSp>
      <p:pic>
        <p:nvPicPr>
          <p:cNvPr id="27"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8"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9" name="Shape 23"/>
          <p:cNvSpPr/>
          <p:nvPr/>
        </p:nvSpPr>
        <p:spPr>
          <a:xfrm>
            <a:off x="10591495" y="6181344"/>
            <a:ext cx="438912" cy="438912"/>
          </a:xfrm>
          <a:prstGeom prst="ellipse">
            <a:avLst/>
          </a:prstGeom>
          <a:solidFill>
            <a:srgbClr val="F06C23"/>
          </a:solidFill>
          <a:ln/>
        </p:spPr>
        <p:txBody>
          <a:bodyPr/>
          <a:lstStyle/>
          <a:p>
            <a:endParaRPr/>
          </a:p>
        </p:txBody>
      </p:sp>
      <p:sp>
        <p:nvSpPr>
          <p:cNvPr id="30"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31"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168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33"/>
                                        </p:tgtEl>
                                        <p:attrNameLst>
                                          <p:attrName>style.visibility</p:attrName>
                                        </p:attrNameLst>
                                      </p:cBhvr>
                                      <p:to>
                                        <p:strVal val="visible"/>
                                      </p:to>
                                    </p:set>
                                    <p:animEffect transition="in" filter="fade">
                                      <p:cBhvr>
                                        <p:cTn id="7" dur="450"/>
                                        <p:tgtEl>
                                          <p:spTgt spid="92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34"/>
                                        </p:tgtEl>
                                        <p:attrNameLst>
                                          <p:attrName>style.visibility</p:attrName>
                                        </p:attrNameLst>
                                      </p:cBhvr>
                                      <p:to>
                                        <p:strVal val="visible"/>
                                      </p:to>
                                    </p:set>
                                    <p:animEffect transition="in" filter="fade">
                                      <p:cBhvr>
                                        <p:cTn id="12" dur="450"/>
                                        <p:tgtEl>
                                          <p:spTgt spid="92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35"/>
                                        </p:tgtEl>
                                        <p:attrNameLst>
                                          <p:attrName>style.visibility</p:attrName>
                                        </p:attrNameLst>
                                      </p:cBhvr>
                                      <p:to>
                                        <p:strVal val="visible"/>
                                      </p:to>
                                    </p:set>
                                    <p:animEffect transition="in" filter="fade">
                                      <p:cBhvr>
                                        <p:cTn id="17" dur="450"/>
                                        <p:tgtEl>
                                          <p:spTgt spid="923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36"/>
                                        </p:tgtEl>
                                        <p:attrNameLst>
                                          <p:attrName>style.visibility</p:attrName>
                                        </p:attrNameLst>
                                      </p:cBhvr>
                                      <p:to>
                                        <p:strVal val="visible"/>
                                      </p:to>
                                    </p:set>
                                    <p:animEffect transition="in" filter="fade">
                                      <p:cBhvr>
                                        <p:cTn id="22" dur="450"/>
                                        <p:tgtEl>
                                          <p:spTgt spid="9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Du déséquilibre à la maladie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pic>
        <p:nvPicPr>
          <p:cNvPr id="29"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30" name="Text 27"/>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31" name="Shape 28"/>
          <p:cNvSpPr/>
          <p:nvPr/>
        </p:nvSpPr>
        <p:spPr>
          <a:xfrm>
            <a:off x="10591495" y="6181344"/>
            <a:ext cx="438912" cy="438912"/>
          </a:xfrm>
          <a:prstGeom prst="ellipse">
            <a:avLst/>
          </a:prstGeom>
          <a:solidFill>
            <a:srgbClr val="F06C23"/>
          </a:solidFill>
          <a:ln/>
        </p:spPr>
        <p:txBody>
          <a:bodyPr/>
          <a:lstStyle/>
          <a:p>
            <a:endParaRPr/>
          </a:p>
        </p:txBody>
      </p:sp>
      <p:sp>
        <p:nvSpPr>
          <p:cNvPr id="32" name="Text 29"/>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33" name="Text 30"/>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169</a:t>
            </a:r>
            <a:endParaRPr lang="en-US" sz="1000" dirty="0"/>
          </a:p>
        </p:txBody>
      </p:sp>
      <p:sp>
        <p:nvSpPr>
          <p:cNvPr id="34" name="TextBox 33"/>
          <p:cNvSpPr txBox="1"/>
          <p:nvPr/>
        </p:nvSpPr>
        <p:spPr>
          <a:xfrm>
            <a:off x="731520" y="1828800"/>
            <a:ext cx="10725912" cy="548640"/>
          </a:xfrm>
          <a:prstGeom prst="rect">
            <a:avLst/>
          </a:prstGeom>
          <a:noFill/>
        </p:spPr>
        <p:txBody>
          <a:bodyPr wrap="square" lIns="0" tIns="0" rIns="0" bIns="0" anchor="t">
            <a:spAutoFit/>
          </a:bodyPr>
          <a:lstStyle/>
          <a:p>
            <a:pPr algn="l"/>
            <a:r>
              <a:rPr sz="1450" b="1" i="0">
                <a:solidFill>
                  <a:srgbClr val="075767"/>
                </a:solidFill>
                <a:latin typeface="Lato"/>
              </a:rPr>
              <a:t>Conséquences délétères pour la santé : l'atteinte suit la durée d'exposition, et chaque palier est plus difficile à défaire que le précédent.</a:t>
            </a:r>
          </a:p>
        </p:txBody>
      </p:sp>
      <p:sp>
        <p:nvSpPr>
          <p:cNvPr id="35" name="Rounded Rectangle 34"/>
          <p:cNvSpPr/>
          <p:nvPr/>
        </p:nvSpPr>
        <p:spPr>
          <a:xfrm>
            <a:off x="731520" y="3913632"/>
            <a:ext cx="2066543" cy="1078992"/>
          </a:xfrm>
          <a:prstGeom prst="roundRect">
            <a:avLst>
              <a:gd name="adj" fmla="val 10000"/>
            </a:avLst>
          </a:prstGeom>
          <a:solidFill>
            <a:srgbClr val="9EC7CF"/>
          </a:solidFill>
          <a:ln>
            <a:noFill/>
          </a:ln>
          <a:effectLst/>
        </p:spPr>
        <p:style>
          <a:lnRef idx="1">
            <a:schemeClr val="accent1"/>
          </a:lnRef>
          <a:fillRef idx="3">
            <a:schemeClr val="accent1"/>
          </a:fillRef>
          <a:effectRef idx="2">
            <a:schemeClr val="accent1"/>
          </a:effectRef>
          <a:fontRef idx="minor">
            <a:schemeClr val="lt1"/>
          </a:fontRef>
        </p:style>
        <p:txBody>
          <a:bodyPr wrap="square" tIns="73152" rtlCol="0" anchor="t"/>
          <a:lstStyle/>
          <a:p>
            <a:pPr algn="ctr"/>
            <a:r>
              <a:rPr sz="1150" b="1">
                <a:solidFill>
                  <a:srgbClr val="075767"/>
                </a:solidFill>
                <a:latin typeface="Lato"/>
              </a:rPr>
              <a:t>Perception
d'un déséquilibre</a:t>
            </a:r>
          </a:p>
          <a:p>
            <a:pPr algn="ctr">
              <a:spcBef>
                <a:spcPts val="400"/>
              </a:spcBef>
            </a:pPr>
            <a:r>
              <a:rPr sz="950">
                <a:solidFill>
                  <a:srgbClr val="075767"/>
                </a:solidFill>
                <a:latin typeface="Lato"/>
              </a:rPr>
              <a:t>entre les contraintes du travail
et les ressources disponibles</a:t>
            </a:r>
          </a:p>
        </p:txBody>
      </p:sp>
      <p:sp>
        <p:nvSpPr>
          <p:cNvPr id="36" name="Rounded Rectangle 35"/>
          <p:cNvSpPr/>
          <p:nvPr/>
        </p:nvSpPr>
        <p:spPr>
          <a:xfrm>
            <a:off x="2980944" y="3529584"/>
            <a:ext cx="2066543" cy="1078992"/>
          </a:xfrm>
          <a:prstGeom prst="roundRect">
            <a:avLst>
              <a:gd name="adj" fmla="val 10000"/>
            </a:avLst>
          </a:prstGeom>
          <a:solidFill>
            <a:srgbClr val="7CB2BE"/>
          </a:solidFill>
          <a:ln>
            <a:noFill/>
          </a:ln>
          <a:effectLst/>
        </p:spPr>
        <p:style>
          <a:lnRef idx="1">
            <a:schemeClr val="accent1"/>
          </a:lnRef>
          <a:fillRef idx="3">
            <a:schemeClr val="accent1"/>
          </a:fillRef>
          <a:effectRef idx="2">
            <a:schemeClr val="accent1"/>
          </a:effectRef>
          <a:fontRef idx="minor">
            <a:schemeClr val="lt1"/>
          </a:fontRef>
        </p:style>
        <p:txBody>
          <a:bodyPr wrap="square" tIns="73152" rtlCol="0" anchor="t"/>
          <a:lstStyle/>
          <a:p>
            <a:pPr algn="ctr"/>
            <a:r>
              <a:rPr sz="1150" b="1">
                <a:solidFill>
                  <a:srgbClr val="075767"/>
                </a:solidFill>
                <a:latin typeface="Lato"/>
              </a:rPr>
              <a:t>Symptômes de tension</a:t>
            </a:r>
          </a:p>
          <a:p>
            <a:pPr algn="ctr">
              <a:spcBef>
                <a:spcPts val="400"/>
              </a:spcBef>
            </a:pPr>
            <a:r>
              <a:rPr sz="950">
                <a:solidFill>
                  <a:srgbClr val="075767"/>
                </a:solidFill>
                <a:latin typeface="Lato"/>
              </a:rPr>
              <a:t>état de stress aigu</a:t>
            </a:r>
          </a:p>
        </p:txBody>
      </p:sp>
      <p:sp>
        <p:nvSpPr>
          <p:cNvPr id="37" name="Rounded Rectangle 36"/>
          <p:cNvSpPr/>
          <p:nvPr/>
        </p:nvSpPr>
        <p:spPr>
          <a:xfrm>
            <a:off x="5230368" y="3145536"/>
            <a:ext cx="2066543" cy="1078992"/>
          </a:xfrm>
          <a:prstGeom prst="roundRect">
            <a:avLst>
              <a:gd name="adj" fmla="val 10000"/>
            </a:avLst>
          </a:prstGeom>
          <a:solidFill>
            <a:srgbClr val="5A9CAD"/>
          </a:solidFill>
          <a:ln>
            <a:noFill/>
          </a:ln>
          <a:effectLst/>
        </p:spPr>
        <p:style>
          <a:lnRef idx="1">
            <a:schemeClr val="accent1"/>
          </a:lnRef>
          <a:fillRef idx="3">
            <a:schemeClr val="accent1"/>
          </a:fillRef>
          <a:effectRef idx="2">
            <a:schemeClr val="accent1"/>
          </a:effectRef>
          <a:fontRef idx="minor">
            <a:schemeClr val="lt1"/>
          </a:fontRef>
        </p:style>
        <p:txBody>
          <a:bodyPr wrap="square" tIns="73152" rtlCol="0" anchor="t"/>
          <a:lstStyle/>
          <a:p>
            <a:pPr algn="ctr"/>
            <a:r>
              <a:rPr sz="1150" b="1">
                <a:solidFill>
                  <a:srgbClr val="FFFFFF"/>
                </a:solidFill>
                <a:latin typeface="Lato"/>
              </a:rPr>
              <a:t>Symptômes de
décompensation</a:t>
            </a:r>
          </a:p>
          <a:p>
            <a:pPr algn="ctr">
              <a:spcBef>
                <a:spcPts val="400"/>
              </a:spcBef>
            </a:pPr>
            <a:r>
              <a:rPr sz="950">
                <a:solidFill>
                  <a:srgbClr val="FFFFFF"/>
                </a:solidFill>
                <a:latin typeface="Lato"/>
              </a:rPr>
              <a:t>état de stress chronique</a:t>
            </a:r>
          </a:p>
        </p:txBody>
      </p:sp>
      <p:sp>
        <p:nvSpPr>
          <p:cNvPr id="38" name="Rounded Rectangle 37"/>
          <p:cNvSpPr/>
          <p:nvPr/>
        </p:nvSpPr>
        <p:spPr>
          <a:xfrm>
            <a:off x="7479792" y="2761488"/>
            <a:ext cx="2066543" cy="1078992"/>
          </a:xfrm>
          <a:prstGeom prst="roundRect">
            <a:avLst>
              <a:gd name="adj" fmla="val 10000"/>
            </a:avLst>
          </a:prstGeom>
          <a:solidFill>
            <a:srgbClr val="337F93"/>
          </a:solidFill>
          <a:ln>
            <a:noFill/>
          </a:ln>
          <a:effectLst/>
        </p:spPr>
        <p:style>
          <a:lnRef idx="1">
            <a:schemeClr val="accent1"/>
          </a:lnRef>
          <a:fillRef idx="3">
            <a:schemeClr val="accent1"/>
          </a:fillRef>
          <a:effectRef idx="2">
            <a:schemeClr val="accent1"/>
          </a:effectRef>
          <a:fontRef idx="minor">
            <a:schemeClr val="lt1"/>
          </a:fontRef>
        </p:style>
        <p:txBody>
          <a:bodyPr wrap="square" tIns="73152" rtlCol="0" anchor="t"/>
          <a:lstStyle/>
          <a:p>
            <a:pPr algn="ctr"/>
            <a:r>
              <a:rPr sz="1150" b="1">
                <a:solidFill>
                  <a:srgbClr val="FFFFFF"/>
                </a:solidFill>
                <a:latin typeface="Lato"/>
              </a:rPr>
              <a:t>Syndrome métabolique</a:t>
            </a:r>
          </a:p>
          <a:p>
            <a:pPr algn="ctr">
              <a:spcBef>
                <a:spcPts val="400"/>
              </a:spcBef>
            </a:pPr>
            <a:r>
              <a:rPr sz="950">
                <a:solidFill>
                  <a:srgbClr val="FFFFFF"/>
                </a:solidFill>
                <a:latin typeface="Lato"/>
              </a:rPr>
              <a:t>tension, glycémie, tour de taille,
triglycérides</a:t>
            </a:r>
          </a:p>
        </p:txBody>
      </p:sp>
      <p:sp>
        <p:nvSpPr>
          <p:cNvPr id="39" name="Rounded Rectangle 38"/>
          <p:cNvSpPr/>
          <p:nvPr/>
        </p:nvSpPr>
        <p:spPr>
          <a:xfrm>
            <a:off x="9729216" y="2377440"/>
            <a:ext cx="2066543" cy="1078992"/>
          </a:xfrm>
          <a:prstGeom prst="roundRect">
            <a:avLst>
              <a:gd name="adj" fmla="val 10000"/>
            </a:avLst>
          </a:prstGeom>
          <a:solidFill>
            <a:srgbClr val="075767"/>
          </a:solidFill>
          <a:ln>
            <a:noFill/>
          </a:ln>
          <a:effectLst/>
        </p:spPr>
        <p:style>
          <a:lnRef idx="1">
            <a:schemeClr val="accent1"/>
          </a:lnRef>
          <a:fillRef idx="3">
            <a:schemeClr val="accent1"/>
          </a:fillRef>
          <a:effectRef idx="2">
            <a:schemeClr val="accent1"/>
          </a:effectRef>
          <a:fontRef idx="minor">
            <a:schemeClr val="lt1"/>
          </a:fontRef>
        </p:style>
        <p:txBody>
          <a:bodyPr wrap="square" tIns="73152" rtlCol="0" anchor="t"/>
          <a:lstStyle/>
          <a:p>
            <a:pPr algn="ctr"/>
            <a:r>
              <a:rPr sz="1150" b="1">
                <a:solidFill>
                  <a:srgbClr val="FFFFFF"/>
                </a:solidFill>
                <a:latin typeface="Lato"/>
              </a:rPr>
              <a:t>Maladies</a:t>
            </a:r>
          </a:p>
          <a:p>
            <a:pPr algn="ctr">
              <a:spcBef>
                <a:spcPts val="400"/>
              </a:spcBef>
            </a:pPr>
            <a:r>
              <a:rPr sz="950">
                <a:solidFill>
                  <a:srgbClr val="FFFFFF"/>
                </a:solidFill>
                <a:latin typeface="Lato"/>
              </a:rPr>
              <a:t>cardio-vasculaires, dépression,
anxiété, TMS, désordres
immuno-allergiques</a:t>
            </a:r>
          </a:p>
        </p:txBody>
      </p:sp>
      <p:sp>
        <p:nvSpPr>
          <p:cNvPr id="40" name="Right Arrow 39"/>
          <p:cNvSpPr/>
          <p:nvPr/>
        </p:nvSpPr>
        <p:spPr>
          <a:xfrm>
            <a:off x="731520" y="5047488"/>
            <a:ext cx="10725912" cy="146304"/>
          </a:xfrm>
          <a:prstGeom prst="rightArrow">
            <a:avLst/>
          </a:prstGeom>
          <a:solidFill>
            <a:srgbClr val="458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5230368"/>
            <a:ext cx="1097280" cy="219456"/>
          </a:xfrm>
          <a:prstGeom prst="rect">
            <a:avLst/>
          </a:prstGeom>
          <a:noFill/>
        </p:spPr>
        <p:txBody>
          <a:bodyPr wrap="square" lIns="0" tIns="0" rIns="0" bIns="0" anchor="t">
            <a:spAutoFit/>
          </a:bodyPr>
          <a:lstStyle/>
          <a:p>
            <a:pPr algn="l"/>
            <a:r>
              <a:rPr sz="1000" b="0" i="1">
                <a:solidFill>
                  <a:srgbClr val="45818D"/>
                </a:solidFill>
                <a:latin typeface="Lato"/>
              </a:rPr>
              <a:t>temps</a:t>
            </a:r>
          </a:p>
        </p:txBody>
      </p:sp>
      <p:sp>
        <p:nvSpPr>
          <p:cNvPr id="42" name="Rounded Rectangle 41"/>
          <p:cNvSpPr/>
          <p:nvPr/>
        </p:nvSpPr>
        <p:spPr>
          <a:xfrm>
            <a:off x="731520" y="5449824"/>
            <a:ext cx="4315968" cy="310896"/>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75767"/>
                </a:solidFill>
                <a:latin typeface="Lato"/>
              </a:rPr>
              <a:t>Phase d'alarme</a:t>
            </a:r>
          </a:p>
        </p:txBody>
      </p:sp>
      <p:sp>
        <p:nvSpPr>
          <p:cNvPr id="43" name="Rounded Rectangle 42"/>
          <p:cNvSpPr/>
          <p:nvPr/>
        </p:nvSpPr>
        <p:spPr>
          <a:xfrm>
            <a:off x="5230368" y="5449824"/>
            <a:ext cx="4315968" cy="310896"/>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75767"/>
                </a:solidFill>
                <a:latin typeface="Lato"/>
              </a:rPr>
              <a:t>Phase de résistance</a:t>
            </a:r>
          </a:p>
        </p:txBody>
      </p:sp>
      <p:sp>
        <p:nvSpPr>
          <p:cNvPr id="44" name="Rounded Rectangle 43"/>
          <p:cNvSpPr/>
          <p:nvPr/>
        </p:nvSpPr>
        <p:spPr>
          <a:xfrm>
            <a:off x="9729216" y="5449824"/>
            <a:ext cx="2066543" cy="310896"/>
          </a:xfrm>
          <a:prstGeom prst="roundRect">
            <a:avLst>
              <a:gd name="adj" fmla="val 5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75767"/>
                </a:solidFill>
                <a:latin typeface="Lato"/>
              </a:rPr>
              <a:t>Phase d'épuisement</a:t>
            </a:r>
          </a:p>
        </p:txBody>
      </p:sp>
      <p:sp>
        <p:nvSpPr>
          <p:cNvPr id="45" name="TextBox 44"/>
          <p:cNvSpPr txBox="1"/>
          <p:nvPr/>
        </p:nvSpPr>
        <p:spPr>
          <a:xfrm>
            <a:off x="731520" y="5870448"/>
            <a:ext cx="10725912" cy="256032"/>
          </a:xfrm>
          <a:prstGeom prst="rect">
            <a:avLst/>
          </a:prstGeom>
          <a:noFill/>
        </p:spPr>
        <p:txBody>
          <a:bodyPr wrap="square" lIns="0" tIns="0" rIns="0" bIns="0" anchor="t">
            <a:spAutoFit/>
          </a:bodyPr>
          <a:lstStyle/>
          <a:p>
            <a:pPr algn="l"/>
            <a:r>
              <a:rPr sz="1100" b="0" i="0">
                <a:solidFill>
                  <a:srgbClr val="595959"/>
                </a:solidFill>
                <a:latin typeface="Lato"/>
              </a:rPr>
              <a:t>En bout de chaîne : état de stress post-traumatique et majoration du risque d'accidents cardiaques.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5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45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45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5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45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5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5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450"/>
                                        <p:tgtEl>
                                          <p:spTgt spid="4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45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450"/>
                                        <p:tgtEl>
                                          <p:spTgt spid="4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450"/>
                                        <p:tgtEl>
                                          <p:spTgt spid="4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fade">
                                      <p:cBhvr>
                                        <p:cTn id="62" dur="4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Deux modèles pour objectiver</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Karasek (1979-1990)</a:t>
            </a:r>
            <a:endParaRPr lang="en-US" sz="1700" dirty="0"/>
          </a:p>
        </p:txBody>
      </p:sp>
      <p:sp>
        <p:nvSpPr>
          <p:cNvPr id="11" name="Text 9"/>
          <p:cNvSpPr txBox="1"/>
          <p:nvPr/>
        </p:nvSpPr>
        <p:spPr>
          <a:xfrm>
            <a:off x="731520" y="2331720"/>
            <a:ext cx="4983480" cy="34747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Demande psychologique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Charge de travail, vitesse d'exécution, interruptions</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Latitude décisionnelle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Marge de manœuvre, créativité ou répétitivité, possibilité de faire valoir ses compétences</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Soutien social</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Aide apportée par les collègues et l'encadrement de proximité</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Job strain : forte demande + faible latitude. Iso-strain : job strain + faible soutien social.</a:t>
            </a:r>
            <a:endParaRPr lang="en-US" sz="1350" dirty="0"/>
          </a:p>
        </p:txBody>
      </p:sp>
      <p:sp>
        <p:nvSpPr>
          <p:cNvPr id="12" name="Text 10"/>
          <p:cNvSpPr txBox="1"/>
          <p:nvPr/>
        </p:nvSpPr>
        <p:spPr>
          <a:xfrm>
            <a:off x="630936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Siegrist (1996)</a:t>
            </a:r>
            <a:endParaRPr lang="en-US" sz="1700" dirty="0"/>
          </a:p>
        </p:txBody>
      </p:sp>
      <p:sp>
        <p:nvSpPr>
          <p:cNvPr id="13" name="Text 11"/>
          <p:cNvSpPr txBox="1"/>
          <p:nvPr/>
        </p:nvSpPr>
        <p:spPr>
          <a:xfrm>
            <a:off x="6309360" y="2331720"/>
            <a:ext cx="4983480" cy="34747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Les efforts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Charge de travail et interruptions, comme la demande de Karasek</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Les récompenses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Retours monétaires ou symboliques, perspectives d'emploi et de carrière</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Le surinvestissement</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Implication de la personne et anxiété que le travail génère chez elle</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Déséquilibre efforts / récompenses : beaucoup d'efforts, peu de reconnaissance.</a:t>
            </a:r>
            <a:endParaRPr lang="en-US" sz="135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170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combinaisons délétères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2103120"/>
            <a:ext cx="3576218" cy="1188720"/>
          </a:xfrm>
          <a:prstGeom prst="rect">
            <a:avLst/>
          </a:prstGeom>
          <a:noFill/>
          <a:ln/>
        </p:spPr>
        <p:txBody>
          <a:bodyPr wrap="square" lIns="0" tIns="0" rIns="0" bIns="0" rtlCol="0" anchor="ctr"/>
          <a:lstStyle/>
          <a:p>
            <a:pPr marL="0" indent="0" algn="ctr">
              <a:buNone/>
            </a:pPr>
            <a:r>
              <a:rPr lang="en-US" sz="6400" b="1" kern="0" spc="-200" dirty="0">
                <a:solidFill>
                  <a:srgbClr val="C33F14"/>
                </a:solidFill>
                <a:latin typeface="Lato" pitchFamily="34" charset="0"/>
                <a:ea typeface="Lato" pitchFamily="34" charset="-122"/>
                <a:cs typeface="Lato" pitchFamily="34" charset="-120"/>
              </a:rPr>
              <a:t>↑ + ↓</a:t>
            </a:r>
            <a:endParaRPr lang="en-US" sz="6400" dirty="0"/>
          </a:p>
        </p:txBody>
      </p:sp>
      <p:sp>
        <p:nvSpPr>
          <p:cNvPr id="11" name="Text 9"/>
          <p:cNvSpPr txBox="1"/>
          <p:nvPr/>
        </p:nvSpPr>
        <p:spPr>
          <a:xfrm>
            <a:off x="731520" y="3337560"/>
            <a:ext cx="3576218" cy="365760"/>
          </a:xfrm>
          <a:prstGeom prst="rect">
            <a:avLst/>
          </a:prstGeom>
          <a:noFill/>
          <a:ln/>
        </p:spPr>
        <p:txBody>
          <a:bodyPr wrap="square" lIns="0" tIns="0" rIns="0" bIns="0" rtlCol="0" anchor="t"/>
          <a:lstStyle/>
          <a:p>
            <a:pPr marL="0" indent="0" algn="ctr">
              <a:buNone/>
            </a:pPr>
            <a:r>
              <a:rPr lang="en-US" sz="1600" b="1" dirty="0">
                <a:solidFill>
                  <a:srgbClr val="075767"/>
                </a:solidFill>
                <a:latin typeface="Lato" pitchFamily="34" charset="0"/>
                <a:ea typeface="Lato" pitchFamily="34" charset="-122"/>
                <a:cs typeface="Lato" pitchFamily="34" charset="-120"/>
              </a:rPr>
              <a:t>Job strain</a:t>
            </a:r>
            <a:endParaRPr lang="en-US" sz="1600" dirty="0"/>
          </a:p>
        </p:txBody>
      </p:sp>
      <p:sp>
        <p:nvSpPr>
          <p:cNvPr id="12" name="Text 10"/>
          <p:cNvSpPr txBox="1"/>
          <p:nvPr/>
        </p:nvSpPr>
        <p:spPr>
          <a:xfrm>
            <a:off x="960120" y="3730752"/>
            <a:ext cx="3119018" cy="822960"/>
          </a:xfrm>
          <a:prstGeom prst="rect">
            <a:avLst/>
          </a:prstGeom>
          <a:noFill/>
          <a:ln/>
        </p:spPr>
        <p:txBody>
          <a:bodyPr wrap="square" lIns="0" tIns="0" rIns="0" bIns="0" rtlCol="0" anchor="t"/>
          <a:lstStyle/>
          <a:p>
            <a:pPr marL="0" indent="0" algn="ctr">
              <a:buNone/>
            </a:pPr>
            <a:r>
              <a:rPr lang="en-US" sz="1200" dirty="0">
                <a:solidFill>
                  <a:srgbClr val="595959"/>
                </a:solidFill>
                <a:latin typeface="Lato" pitchFamily="34" charset="0"/>
                <a:ea typeface="Lato" pitchFamily="34" charset="-122"/>
                <a:cs typeface="Lato" pitchFamily="34" charset="-120"/>
              </a:rPr>
              <a:t>Exigences de la tâche élevées et latitude décisionnelle faible (Karasek)</a:t>
            </a:r>
            <a:endParaRPr lang="en-US" sz="1200" dirty="0"/>
          </a:p>
        </p:txBody>
      </p:sp>
      <p:sp>
        <p:nvSpPr>
          <p:cNvPr id="13" name="Text 11"/>
          <p:cNvSpPr txBox="1"/>
          <p:nvPr/>
        </p:nvSpPr>
        <p:spPr>
          <a:xfrm>
            <a:off x="4307738" y="2103120"/>
            <a:ext cx="3576218" cy="1188720"/>
          </a:xfrm>
          <a:prstGeom prst="rect">
            <a:avLst/>
          </a:prstGeom>
          <a:noFill/>
          <a:ln/>
        </p:spPr>
        <p:txBody>
          <a:bodyPr wrap="square" lIns="0" tIns="0" rIns="0" bIns="0" rtlCol="0" anchor="ctr"/>
          <a:lstStyle/>
          <a:p>
            <a:pPr marL="0" indent="0" algn="ctr">
              <a:buNone/>
            </a:pPr>
            <a:r>
              <a:rPr lang="en-US" sz="6400" b="1" kern="0" spc="-200" dirty="0">
                <a:solidFill>
                  <a:srgbClr val="075767"/>
                </a:solidFill>
                <a:latin typeface="Lato" pitchFamily="34" charset="0"/>
                <a:ea typeface="Lato" pitchFamily="34" charset="-122"/>
                <a:cs typeface="Lato" pitchFamily="34" charset="-120"/>
              </a:rPr>
              <a:t>+ ↓</a:t>
            </a:r>
            <a:endParaRPr lang="en-US" sz="6400" dirty="0"/>
          </a:p>
        </p:txBody>
      </p:sp>
      <p:sp>
        <p:nvSpPr>
          <p:cNvPr id="14" name="Text 12"/>
          <p:cNvSpPr txBox="1"/>
          <p:nvPr/>
        </p:nvSpPr>
        <p:spPr>
          <a:xfrm>
            <a:off x="4307738" y="3337560"/>
            <a:ext cx="3576218" cy="365760"/>
          </a:xfrm>
          <a:prstGeom prst="rect">
            <a:avLst/>
          </a:prstGeom>
          <a:noFill/>
          <a:ln/>
        </p:spPr>
        <p:txBody>
          <a:bodyPr wrap="square" lIns="0" tIns="0" rIns="0" bIns="0" rtlCol="0" anchor="t"/>
          <a:lstStyle/>
          <a:p>
            <a:pPr marL="0" indent="0" algn="ctr">
              <a:buNone/>
            </a:pPr>
            <a:r>
              <a:rPr lang="en-US" sz="1600" b="1" dirty="0">
                <a:solidFill>
                  <a:srgbClr val="075767"/>
                </a:solidFill>
                <a:latin typeface="Lato" pitchFamily="34" charset="0"/>
                <a:ea typeface="Lato" pitchFamily="34" charset="-122"/>
                <a:cs typeface="Lato" pitchFamily="34" charset="-120"/>
              </a:rPr>
              <a:t>Iso-strain</a:t>
            </a:r>
            <a:endParaRPr lang="en-US" sz="1600" dirty="0"/>
          </a:p>
        </p:txBody>
      </p:sp>
      <p:sp>
        <p:nvSpPr>
          <p:cNvPr id="15" name="Text 13"/>
          <p:cNvSpPr txBox="1"/>
          <p:nvPr/>
        </p:nvSpPr>
        <p:spPr>
          <a:xfrm>
            <a:off x="4536338" y="3730752"/>
            <a:ext cx="3119018" cy="822960"/>
          </a:xfrm>
          <a:prstGeom prst="rect">
            <a:avLst/>
          </a:prstGeom>
          <a:noFill/>
          <a:ln/>
        </p:spPr>
        <p:txBody>
          <a:bodyPr wrap="square" lIns="0" tIns="0" rIns="0" bIns="0" rtlCol="0" anchor="t"/>
          <a:lstStyle/>
          <a:p>
            <a:pPr marL="0" indent="0" algn="ctr">
              <a:buNone/>
            </a:pPr>
            <a:r>
              <a:rPr lang="en-US" sz="1200" dirty="0">
                <a:solidFill>
                  <a:srgbClr val="595959"/>
                </a:solidFill>
                <a:latin typeface="Lato" pitchFamily="34" charset="0"/>
                <a:ea typeface="Lato" pitchFamily="34" charset="-122"/>
                <a:cs typeface="Lato" pitchFamily="34" charset="-120"/>
              </a:rPr>
              <a:t>Le job strain aggravé par un faible soutien social</a:t>
            </a:r>
            <a:endParaRPr lang="en-US" sz="1200" dirty="0"/>
          </a:p>
        </p:txBody>
      </p:sp>
      <p:sp>
        <p:nvSpPr>
          <p:cNvPr id="16" name="Text 14"/>
          <p:cNvSpPr txBox="1"/>
          <p:nvPr/>
        </p:nvSpPr>
        <p:spPr>
          <a:xfrm>
            <a:off x="7883957" y="2103120"/>
            <a:ext cx="3576218" cy="1188720"/>
          </a:xfrm>
          <a:prstGeom prst="rect">
            <a:avLst/>
          </a:prstGeom>
          <a:noFill/>
          <a:ln/>
        </p:spPr>
        <p:txBody>
          <a:bodyPr wrap="square" lIns="0" tIns="0" rIns="0" bIns="0" rtlCol="0" anchor="ctr"/>
          <a:lstStyle/>
          <a:p>
            <a:pPr marL="0" indent="0" algn="ctr">
              <a:buNone/>
            </a:pPr>
            <a:r>
              <a:rPr lang="en-US" sz="6400" b="1" kern="0" spc="-200" dirty="0">
                <a:solidFill>
                  <a:srgbClr val="C33F14"/>
                </a:solidFill>
                <a:latin typeface="Lato" pitchFamily="34" charset="0"/>
                <a:ea typeface="Lato" pitchFamily="34" charset="-122"/>
                <a:cs typeface="Lato" pitchFamily="34" charset="-120"/>
              </a:rPr>
              <a:t>↑ / ↓</a:t>
            </a:r>
            <a:endParaRPr lang="en-US" sz="6400" dirty="0"/>
          </a:p>
        </p:txBody>
      </p:sp>
      <p:sp>
        <p:nvSpPr>
          <p:cNvPr id="17" name="Text 15"/>
          <p:cNvSpPr txBox="1"/>
          <p:nvPr/>
        </p:nvSpPr>
        <p:spPr>
          <a:xfrm>
            <a:off x="7883957" y="3337560"/>
            <a:ext cx="3576218" cy="365760"/>
          </a:xfrm>
          <a:prstGeom prst="rect">
            <a:avLst/>
          </a:prstGeom>
          <a:noFill/>
          <a:ln/>
        </p:spPr>
        <p:txBody>
          <a:bodyPr wrap="square" lIns="0" tIns="0" rIns="0" bIns="0" rtlCol="0" anchor="t"/>
          <a:lstStyle/>
          <a:p>
            <a:pPr marL="0" indent="0" algn="ctr">
              <a:buNone/>
            </a:pPr>
            <a:r>
              <a:rPr lang="en-US" sz="1600" b="1" dirty="0">
                <a:solidFill>
                  <a:srgbClr val="075767"/>
                </a:solidFill>
                <a:latin typeface="Lato" pitchFamily="34" charset="0"/>
                <a:ea typeface="Lato" pitchFamily="34" charset="-122"/>
                <a:cs typeface="Lato" pitchFamily="34" charset="-120"/>
              </a:rPr>
              <a:t>Déséquilibre E/R</a:t>
            </a:r>
            <a:endParaRPr lang="en-US" sz="1600" dirty="0"/>
          </a:p>
        </p:txBody>
      </p:sp>
      <p:sp>
        <p:nvSpPr>
          <p:cNvPr id="18" name="Text 16"/>
          <p:cNvSpPr txBox="1"/>
          <p:nvPr/>
        </p:nvSpPr>
        <p:spPr>
          <a:xfrm>
            <a:off x="8112557" y="3730752"/>
            <a:ext cx="3119018" cy="822960"/>
          </a:xfrm>
          <a:prstGeom prst="rect">
            <a:avLst/>
          </a:prstGeom>
          <a:noFill/>
          <a:ln/>
        </p:spPr>
        <p:txBody>
          <a:bodyPr wrap="square" lIns="0" tIns="0" rIns="0" bIns="0" rtlCol="0" anchor="t"/>
          <a:lstStyle/>
          <a:p>
            <a:pPr marL="0" indent="0" algn="ctr">
              <a:buNone/>
            </a:pPr>
            <a:r>
              <a:rPr lang="en-US" sz="1200" dirty="0">
                <a:solidFill>
                  <a:srgbClr val="595959"/>
                </a:solidFill>
                <a:latin typeface="Lato" pitchFamily="34" charset="0"/>
                <a:ea typeface="Lato" pitchFamily="34" charset="-122"/>
                <a:cs typeface="Lato" pitchFamily="34" charset="-120"/>
              </a:rPr>
              <a:t>Efforts importants et récompenses faibles (Siegrist)</a:t>
            </a:r>
            <a:endParaRPr lang="en-US" sz="1200" dirty="0"/>
          </a:p>
        </p:txBody>
      </p:sp>
      <p:sp>
        <p:nvSpPr>
          <p:cNvPr id="19" name="Text 17"/>
          <p:cNvSpPr txBox="1"/>
          <p:nvPr/>
        </p:nvSpPr>
        <p:spPr>
          <a:xfrm>
            <a:off x="731520" y="4709160"/>
            <a:ext cx="10728655" cy="320040"/>
          </a:xfrm>
          <a:prstGeom prst="rect">
            <a:avLst/>
          </a:prstGeom>
          <a:noFill/>
          <a:ln/>
        </p:spPr>
        <p:txBody>
          <a:bodyPr wrap="square" lIns="0" tIns="0" rIns="0" bIns="0" rtlCol="0" anchor="ctr"/>
          <a:lstStyle/>
          <a:p>
            <a:pPr marL="0" indent="0">
              <a:buNone/>
            </a:pPr>
            <a:r>
              <a:rPr lang="en-US" sz="1000" i="1" dirty="0">
                <a:solidFill>
                  <a:srgbClr val="595959"/>
                </a:solidFill>
                <a:latin typeface="Lato" pitchFamily="34" charset="0"/>
                <a:ea typeface="Lato" pitchFamily="34" charset="-122"/>
                <a:cs typeface="Lato" pitchFamily="34" charset="-120"/>
              </a:rPr>
              <a:t>Ces combinaisons sont associées, dans plusieurs cohortes, à une augmentation du risque cardiovasculaire et dépressif.</a:t>
            </a:r>
            <a:endParaRPr lang="en-US" sz="1000" dirty="0"/>
          </a:p>
        </p:txBody>
      </p:sp>
      <p:pic>
        <p:nvPicPr>
          <p:cNvPr id="20"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21" name="Text 18"/>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2" name="Shape 19"/>
          <p:cNvSpPr/>
          <p:nvPr/>
        </p:nvSpPr>
        <p:spPr>
          <a:xfrm>
            <a:off x="10591495" y="6181344"/>
            <a:ext cx="438912" cy="438912"/>
          </a:xfrm>
          <a:prstGeom prst="ellipse">
            <a:avLst/>
          </a:prstGeom>
          <a:solidFill>
            <a:srgbClr val="F06C23"/>
          </a:solidFill>
          <a:ln/>
        </p:spPr>
        <p:txBody>
          <a:bodyPr/>
          <a:lstStyle/>
          <a:p>
            <a:endParaRPr/>
          </a:p>
        </p:txBody>
      </p:sp>
      <p:sp>
        <p:nvSpPr>
          <p:cNvPr id="23" name="Text 20"/>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4" name="Text 21"/>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171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700" b="1" kern="0" spc="-150" dirty="0">
                <a:solidFill>
                  <a:srgbClr val="075767"/>
                </a:solidFill>
                <a:latin typeface="Lato" pitchFamily="34" charset="0"/>
                <a:ea typeface="Lato" pitchFamily="34" charset="-122"/>
                <a:cs typeface="Lato" pitchFamily="34" charset="-120"/>
              </a:rPr>
              <a:t>Le stress chronique : ce que le corps encaisse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grpSp>
        <p:nvGrpSpPr>
          <p:cNvPr id="9237" name="Bloc 1"/>
          <p:cNvGrpSpPr/>
          <p:nvPr/>
        </p:nvGrpSpPr>
        <p:grpSpPr>
          <a:xfrm>
            <a:off x="731520" y="1828800"/>
            <a:ext cx="6263640" cy="1371600"/>
            <a:chOff x="731520" y="1828800"/>
            <a:chExt cx="6263640" cy="1371600"/>
          </a:xfrm>
        </p:grpSpPr>
        <p:sp>
          <p:nvSpPr>
            <p:cNvPr id="10" name="Shape 8"/>
            <p:cNvSpPr/>
            <p:nvPr/>
          </p:nvSpPr>
          <p:spPr>
            <a:xfrm>
              <a:off x="731520" y="1828800"/>
              <a:ext cx="6263640" cy="1371600"/>
            </a:xfrm>
            <a:prstGeom prst="roundRect">
              <a:avLst>
                <a:gd name="adj" fmla="val 3333"/>
              </a:avLst>
            </a:prstGeom>
            <a:solidFill>
              <a:srgbClr val="FCEDE6"/>
            </a:solidFill>
            <a:ln/>
          </p:spPr>
          <p:txBody>
            <a:bodyPr/>
            <a:lstStyle/>
            <a:p>
              <a:endParaRPr/>
            </a:p>
          </p:txBody>
        </p:sp>
        <p:sp>
          <p:nvSpPr>
            <p:cNvPr id="11" name="Shape 9"/>
            <p:cNvSpPr/>
            <p:nvPr/>
          </p:nvSpPr>
          <p:spPr>
            <a:xfrm>
              <a:off x="987552" y="2103120"/>
              <a:ext cx="777240" cy="777240"/>
            </a:xfrm>
            <a:prstGeom prst="ellipse">
              <a:avLst/>
            </a:prstGeom>
            <a:solidFill>
              <a:srgbClr val="F06C23"/>
            </a:solidFill>
            <a:ln/>
          </p:spPr>
          <p:txBody>
            <a:bodyPr/>
            <a:lstStyle/>
            <a:p>
              <a:endParaRPr/>
            </a:p>
          </p:txBody>
        </p:sp>
        <p:pic>
          <p:nvPicPr>
            <p:cNvPr id="12" name="Image 0" descr="/home/claude/tmo/build/ico/alerte-blanc.png"/>
            <p:cNvPicPr>
              <a:picLocks noChangeAspect="1"/>
            </p:cNvPicPr>
            <p:nvPr/>
          </p:nvPicPr>
          <p:blipFill>
            <a:blip r:embed="rId3"/>
            <a:stretch>
              <a:fillRect/>
            </a:stretch>
          </p:blipFill>
          <p:spPr>
            <a:xfrm>
              <a:off x="1189634" y="2305202"/>
              <a:ext cx="373075" cy="373075"/>
            </a:xfrm>
            <a:prstGeom prst="rect">
              <a:avLst/>
            </a:prstGeom>
          </p:spPr>
        </p:pic>
        <p:sp>
          <p:nvSpPr>
            <p:cNvPr id="13" name="Text 10"/>
            <p:cNvSpPr txBox="1"/>
            <p:nvPr/>
          </p:nvSpPr>
          <p:spPr>
            <a:xfrm>
              <a:off x="1965960" y="1993392"/>
              <a:ext cx="4754880" cy="320040"/>
            </a:xfrm>
            <a:prstGeom prst="rect">
              <a:avLst/>
            </a:prstGeom>
            <a:noFill/>
            <a:ln/>
          </p:spPr>
          <p:txBody>
            <a:bodyPr wrap="square" lIns="0" tIns="0" rIns="0" bIns="0" rtlCol="0" anchor="t"/>
            <a:lstStyle/>
            <a:p>
              <a:pPr marL="0" indent="0">
                <a:buNone/>
              </a:pPr>
              <a:r>
                <a:rPr lang="en-US" sz="1350" b="1" dirty="0">
                  <a:solidFill>
                    <a:srgbClr val="C33F14"/>
                  </a:solidFill>
                  <a:latin typeface="Lato" pitchFamily="34" charset="0"/>
                  <a:ea typeface="Lato" pitchFamily="34" charset="-122"/>
                  <a:cs typeface="Lato" pitchFamily="34" charset="-120"/>
                </a:rPr>
                <a:t>Au-delà de 45 à 50 heures hebdomadaires</a:t>
              </a:r>
              <a:endParaRPr lang="en-US" sz="1350" dirty="0"/>
            </a:p>
          </p:txBody>
        </p:sp>
        <p:sp>
          <p:nvSpPr>
            <p:cNvPr id="14" name="Text 11"/>
            <p:cNvSpPr txBox="1"/>
            <p:nvPr/>
          </p:nvSpPr>
          <p:spPr>
            <a:xfrm>
              <a:off x="1965960" y="2340864"/>
              <a:ext cx="4754880" cy="777240"/>
            </a:xfrm>
            <a:prstGeom prst="rect">
              <a:avLst/>
            </a:prstGeom>
            <a:noFill/>
            <a:ln/>
          </p:spPr>
          <p:txBody>
            <a:bodyPr wrap="square" lIns="0" tIns="0" rIns="0" bIns="0" rtlCol="0" anchor="t"/>
            <a:lstStyle/>
            <a:p>
              <a:pPr marL="0" indent="0">
                <a:lnSpc>
                  <a:spcPct val="110000"/>
                </a:lnSpc>
                <a:buNone/>
              </a:pPr>
              <a:r>
                <a:rPr lang="en-US" sz="1350" dirty="0">
                  <a:solidFill>
                    <a:srgbClr val="075767"/>
                  </a:solidFill>
                  <a:latin typeface="Lato" pitchFamily="34" charset="0"/>
                  <a:ea typeface="Lato" pitchFamily="34" charset="-122"/>
                  <a:cs typeface="Lato" pitchFamily="34" charset="-120"/>
                </a:rPr>
                <a:t>Les liens avec la santé sont établis par plusieurs études de bonne qualité, souvent transversales (TP13 des DMT).</a:t>
              </a:r>
              <a:endParaRPr lang="en-US" sz="1350" dirty="0"/>
            </a:p>
          </p:txBody>
        </p:sp>
      </p:grpSp>
      <p:sp>
        <p:nvSpPr>
          <p:cNvPr id="15" name="Text 12"/>
          <p:cNvSpPr txBox="1"/>
          <p:nvPr/>
        </p:nvSpPr>
        <p:spPr>
          <a:xfrm>
            <a:off x="731520" y="3429000"/>
            <a:ext cx="6263640" cy="22860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Coronaropathies et syndrome métabolique</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Fatigue généralisée, troubles du sommeil, réveils entre 3 h et 4 h, au pic de cortisol</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Stress post-traumatique, burn-out</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Consommation de médicaments psychoactifs</a:t>
            </a:r>
            <a:endParaRPr lang="en-US" sz="1350" dirty="0"/>
          </a:p>
        </p:txBody>
      </p:sp>
      <p:grpSp>
        <p:nvGrpSpPr>
          <p:cNvPr id="9238" name="Bloc 2"/>
          <p:cNvGrpSpPr/>
          <p:nvPr/>
        </p:nvGrpSpPr>
        <p:grpSpPr>
          <a:xfrm>
            <a:off x="7452360" y="1828800"/>
            <a:ext cx="4105656" cy="3099816"/>
            <a:chOff x="7452360" y="1828800"/>
            <a:chExt cx="4105656" cy="3099816"/>
          </a:xfrm>
        </p:grpSpPr>
        <p:sp>
          <p:nvSpPr>
            <p:cNvPr id="23" name="Rounded Rectangle 22"/>
            <p:cNvSpPr/>
            <p:nvPr/>
          </p:nvSpPr>
          <p:spPr>
            <a:xfrm>
              <a:off x="7580376" y="1956816"/>
              <a:ext cx="3977640" cy="297180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Image 1" descr="/home/claude/tmo/build/photos/p39.jpg"/>
            <p:cNvPicPr>
              <a:picLocks noChangeAspect="1"/>
            </p:cNvPicPr>
            <p:nvPr/>
          </p:nvPicPr>
          <p:blipFill>
            <a:blip r:embed="rId4"/>
            <a:srcRect/>
            <a:stretch/>
          </p:blipFill>
          <p:spPr>
            <a:xfrm>
              <a:off x="7452360" y="1828800"/>
              <a:ext cx="3977640" cy="2971800"/>
            </a:xfrm>
            <a:prstGeom prst="roundRect">
              <a:avLst>
                <a:gd name="adj" fmla="val 2200"/>
              </a:avLst>
            </a:prstGeom>
            <a:effectLst>
              <a:outerShdw blurRad="190500" dist="38100" dir="5400000" rotWithShape="0">
                <a:srgbClr val="075767">
                  <a:alpha val="22000"/>
                </a:srgbClr>
              </a:outerShdw>
              <a:softEdge rad="32004"/>
            </a:effectLst>
          </p:spPr>
        </p:pic>
      </p:grpSp>
      <p:sp>
        <p:nvSpPr>
          <p:cNvPr id="17" name="Text 13"/>
          <p:cNvSpPr txBox="1"/>
          <p:nvPr/>
        </p:nvSpPr>
        <p:spPr>
          <a:xfrm>
            <a:off x="7452360" y="4873752"/>
            <a:ext cx="39776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Le réveil de 3 heures du matin est un signe clinique, pas une habitude.</a:t>
            </a:r>
            <a:endParaRPr lang="en-US" sz="950" dirty="0"/>
          </a:p>
        </p:txBody>
      </p:sp>
      <p:pic>
        <p:nvPicPr>
          <p:cNvPr id="18" name="Image 2" descr="/home/claude/tmo/build/logo.png"/>
          <p:cNvPicPr>
            <a:picLocks noChangeAspect="1"/>
          </p:cNvPicPr>
          <p:nvPr/>
        </p:nvPicPr>
        <p:blipFill>
          <a:blip r:embed="rId5"/>
          <a:stretch>
            <a:fillRect/>
          </a:stretch>
        </p:blipFill>
        <p:spPr>
          <a:xfrm>
            <a:off x="731520" y="6199632"/>
            <a:ext cx="402336" cy="402336"/>
          </a:xfrm>
          <a:prstGeom prst="rect">
            <a:avLst/>
          </a:prstGeom>
        </p:spPr>
      </p:pic>
      <p:sp>
        <p:nvSpPr>
          <p:cNvPr id="19"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5"/>
          <p:cNvSpPr/>
          <p:nvPr/>
        </p:nvSpPr>
        <p:spPr>
          <a:xfrm>
            <a:off x="10591495" y="6181344"/>
            <a:ext cx="438912" cy="438912"/>
          </a:xfrm>
          <a:prstGeom prst="ellipse">
            <a:avLst/>
          </a:prstGeom>
          <a:solidFill>
            <a:srgbClr val="F06C23"/>
          </a:solidFill>
          <a:ln/>
        </p:spPr>
        <p:txBody>
          <a:bodyPr/>
          <a:lstStyle/>
          <a:p>
            <a:endParaRPr/>
          </a:p>
        </p:txBody>
      </p:sp>
      <p:sp>
        <p:nvSpPr>
          <p:cNvPr id="21"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2"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172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37"/>
                                        </p:tgtEl>
                                        <p:attrNameLst>
                                          <p:attrName>style.visibility</p:attrName>
                                        </p:attrNameLst>
                                      </p:cBhvr>
                                      <p:to>
                                        <p:strVal val="visible"/>
                                      </p:to>
                                    </p:set>
                                    <p:animEffect transition="in" filter="fade">
                                      <p:cBhvr>
                                        <p:cTn id="7" dur="450"/>
                                        <p:tgtEl>
                                          <p:spTgt spid="92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38"/>
                                        </p:tgtEl>
                                        <p:attrNameLst>
                                          <p:attrName>style.visibility</p:attrName>
                                        </p:attrNameLst>
                                      </p:cBhvr>
                                      <p:to>
                                        <p:strVal val="visible"/>
                                      </p:to>
                                    </p:set>
                                    <p:animEffect transition="in" filter="fade">
                                      <p:cBhvr>
                                        <p:cTn id="12" dur="450"/>
                                        <p:tgtEl>
                                          <p:spTgt spid="92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cas de Camille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grpSp>
        <p:nvGrpSpPr>
          <p:cNvPr id="9239" name="Bloc 1"/>
          <p:cNvGrpSpPr/>
          <p:nvPr/>
        </p:nvGrpSpPr>
        <p:grpSpPr>
          <a:xfrm>
            <a:off x="731520" y="1828800"/>
            <a:ext cx="10728655" cy="4269394"/>
            <a:chOff x="731520" y="1828800"/>
            <a:chExt cx="10728655" cy="4269394"/>
          </a:xfrm>
        </p:grpSpPr>
        <p:sp>
          <p:nvSpPr>
            <p:cNvPr id="10" name="Shape 8"/>
            <p:cNvSpPr/>
            <p:nvPr/>
          </p:nvSpPr>
          <p:spPr>
            <a:xfrm>
              <a:off x="731520" y="1828800"/>
              <a:ext cx="10728655" cy="4269394"/>
            </a:xfrm>
            <a:prstGeom prst="roundRect">
              <a:avLst>
                <a:gd name="adj" fmla="val 1379"/>
              </a:avLst>
            </a:prstGeom>
            <a:solidFill>
              <a:srgbClr val="F2F2F2"/>
            </a:solidFill>
            <a:ln/>
          </p:spPr>
          <p:txBody>
            <a:bodyPr/>
            <a:lstStyle/>
            <a:p>
              <a:endParaRPr/>
            </a:p>
          </p:txBody>
        </p:sp>
        <p:sp>
          <p:nvSpPr>
            <p:cNvPr id="11" name="Shape 9"/>
            <p:cNvSpPr/>
            <p:nvPr/>
          </p:nvSpPr>
          <p:spPr>
            <a:xfrm>
              <a:off x="1097280" y="2121408"/>
              <a:ext cx="777240" cy="777240"/>
            </a:xfrm>
            <a:prstGeom prst="ellipse">
              <a:avLst/>
            </a:prstGeom>
            <a:solidFill>
              <a:srgbClr val="F06C23"/>
            </a:solidFill>
            <a:ln/>
          </p:spPr>
          <p:txBody>
            <a:bodyPr/>
            <a:lstStyle/>
            <a:p>
              <a:endParaRPr/>
            </a:p>
          </p:txBody>
        </p:sp>
        <p:pic>
          <p:nvPicPr>
            <p:cNvPr id="12" name="Image 0" descr="/home/claude/tmo/build/ico/equipe-blanc.png"/>
            <p:cNvPicPr>
              <a:picLocks noChangeAspect="1"/>
            </p:cNvPicPr>
            <p:nvPr/>
          </p:nvPicPr>
          <p:blipFill>
            <a:blip r:embed="rId3"/>
            <a:stretch>
              <a:fillRect/>
            </a:stretch>
          </p:blipFill>
          <p:spPr>
            <a:xfrm>
              <a:off x="1299362" y="2323490"/>
              <a:ext cx="373075" cy="373075"/>
            </a:xfrm>
            <a:prstGeom prst="rect">
              <a:avLst/>
            </a:prstGeom>
          </p:spPr>
        </p:pic>
        <p:sp>
          <p:nvSpPr>
            <p:cNvPr id="13" name="Shape 10"/>
            <p:cNvSpPr/>
            <p:nvPr/>
          </p:nvSpPr>
          <p:spPr>
            <a:xfrm>
              <a:off x="8854135" y="2139696"/>
              <a:ext cx="2240280" cy="457200"/>
            </a:xfrm>
            <a:prstGeom prst="roundRect">
              <a:avLst>
                <a:gd name="adj" fmla="val 24000"/>
              </a:avLst>
            </a:prstGeom>
            <a:solidFill>
              <a:srgbClr val="075767"/>
            </a:solidFill>
            <a:ln/>
          </p:spPr>
          <p:txBody>
            <a:bodyPr/>
            <a:lstStyle/>
            <a:p>
              <a:endParaRPr/>
            </a:p>
          </p:txBody>
        </p:sp>
        <p:sp>
          <p:nvSpPr>
            <p:cNvPr id="14" name="Text 11"/>
            <p:cNvSpPr txBox="1"/>
            <p:nvPr/>
          </p:nvSpPr>
          <p:spPr>
            <a:xfrm>
              <a:off x="8854135" y="2139696"/>
              <a:ext cx="22402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Lato" pitchFamily="34" charset="0"/>
                  <a:ea typeface="Lato" pitchFamily="34" charset="-122"/>
                  <a:cs typeface="Lato" pitchFamily="34" charset="-120"/>
                </a:rPr>
                <a:t>30' + restitution</a:t>
              </a:r>
              <a:endParaRPr lang="en-US" sz="1250" dirty="0"/>
            </a:p>
          </p:txBody>
        </p:sp>
        <p:sp>
          <p:nvSpPr>
            <p:cNvPr id="15" name="Text 12"/>
            <p:cNvSpPr txBox="1"/>
            <p:nvPr/>
          </p:nvSpPr>
          <p:spPr>
            <a:xfrm>
              <a:off x="2103120" y="2084832"/>
              <a:ext cx="4572000" cy="274320"/>
            </a:xfrm>
            <a:prstGeom prst="rect">
              <a:avLst/>
            </a:prstGeom>
            <a:noFill/>
            <a:ln/>
          </p:spPr>
          <p:txBody>
            <a:bodyPr wrap="square" lIns="0" tIns="0" rIns="0" bIns="0" rtlCol="0" anchor="ctr"/>
            <a:lstStyle/>
            <a:p>
              <a:pPr marL="0" indent="0">
                <a:buNone/>
              </a:pPr>
              <a:r>
                <a:rPr lang="en-US" sz="1100" b="1" kern="0" spc="160" dirty="0">
                  <a:solidFill>
                    <a:srgbClr val="C33F14"/>
                  </a:solidFill>
                  <a:latin typeface="Lato" pitchFamily="34" charset="0"/>
                  <a:ea typeface="Lato" pitchFamily="34" charset="-122"/>
                  <a:cs typeface="Lato" pitchFamily="34" charset="-120"/>
                </a:rPr>
                <a:t>EXERCICE</a:t>
              </a:r>
              <a:endParaRPr lang="en-US" sz="1100" dirty="0"/>
            </a:p>
          </p:txBody>
        </p:sp>
        <p:sp>
          <p:nvSpPr>
            <p:cNvPr id="16" name="Text 13"/>
            <p:cNvSpPr txBox="1"/>
            <p:nvPr/>
          </p:nvSpPr>
          <p:spPr>
            <a:xfrm>
              <a:off x="2103120" y="2377440"/>
              <a:ext cx="6522415" cy="658368"/>
            </a:xfrm>
            <a:prstGeom prst="rect">
              <a:avLst/>
            </a:prstGeom>
            <a:noFill/>
            <a:ln/>
          </p:spPr>
          <p:txBody>
            <a:bodyPr wrap="square" lIns="0" tIns="0" rIns="0" bIns="0" rtlCol="0" anchor="t"/>
            <a:lstStyle/>
            <a:p>
              <a:pPr marL="0" indent="0">
                <a:lnSpc>
                  <a:spcPct val="110000"/>
                </a:lnSpc>
                <a:buNone/>
              </a:pPr>
              <a:r>
                <a:rPr lang="en-US" sz="1600" b="1" dirty="0">
                  <a:solidFill>
                    <a:srgbClr val="075767"/>
                  </a:solidFill>
                  <a:latin typeface="Lato" pitchFamily="34" charset="0"/>
                  <a:ea typeface="Lato" pitchFamily="34" charset="-122"/>
                  <a:cs typeface="Lato" pitchFamily="34" charset="-120"/>
                </a:rPr>
                <a:t>À partir du témoignage, complétez le tableau en trois colonnes.</a:t>
              </a:r>
              <a:endParaRPr lang="en-US" sz="1600" dirty="0"/>
            </a:p>
          </p:txBody>
        </p:sp>
        <p:sp>
          <p:nvSpPr>
            <p:cNvPr id="17" name="Text 14"/>
            <p:cNvSpPr txBox="1"/>
            <p:nvPr/>
          </p:nvSpPr>
          <p:spPr>
            <a:xfrm>
              <a:off x="2103120" y="3127248"/>
              <a:ext cx="8716975" cy="2806354"/>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Colonne 1 : Les causes : les contraintes de travail</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Bruit en open space · interruptions par les appels des collègues · changement d'organisation lié à la fusion (dix dossiers de plus, baisse d'effectif) · surcharge, intensité, horaires · benchmark permanent · violence interne · baisse du soutien social</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Colonne 2 : Les effets</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Stress chronique · irritabilité · isolement · cernes et fatigue · troubles visuels · réaction cutanée (elle se gratte le poignet)</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Colonne 3 : Les conséquences : atteintes à la santé</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Prise de médicaments · tabagisme · cervicalgie · malaise cardiaque d'un collègue</a:t>
              </a:r>
              <a:endParaRPr lang="en-US" sz="1400" dirty="0"/>
            </a:p>
          </p:txBody>
        </p:sp>
      </p:grpSp>
      <p:pic>
        <p:nvPicPr>
          <p:cNvPr id="18"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9" name="Text 15"/>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6"/>
          <p:cNvSpPr/>
          <p:nvPr/>
        </p:nvSpPr>
        <p:spPr>
          <a:xfrm>
            <a:off x="10591495" y="6181344"/>
            <a:ext cx="438912" cy="438912"/>
          </a:xfrm>
          <a:prstGeom prst="ellipse">
            <a:avLst/>
          </a:prstGeom>
          <a:solidFill>
            <a:srgbClr val="F06C23"/>
          </a:solidFill>
          <a:ln/>
        </p:spPr>
        <p:txBody>
          <a:bodyPr/>
          <a:lstStyle/>
          <a:p>
            <a:endParaRPr/>
          </a:p>
        </p:txBody>
      </p:sp>
      <p:sp>
        <p:nvSpPr>
          <p:cNvPr id="21" name="Text 17"/>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2" name="Text 18"/>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173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39"/>
                                        </p:tgtEl>
                                        <p:attrNameLst>
                                          <p:attrName>style.visibility</p:attrName>
                                        </p:attrNameLst>
                                      </p:cBhvr>
                                      <p:to>
                                        <p:strVal val="visible"/>
                                      </p:to>
                                    </p:set>
                                    <p:animEffect transition="in" filter="fade">
                                      <p:cBhvr>
                                        <p:cTn id="7" dur="450"/>
                                        <p:tgtEl>
                                          <p:spTgt spid="9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pic>
        <p:nvPicPr>
          <p:cNvPr id="2" name="Image 0" descr="/home/claude/tmo/build/photos/p40.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2A30">
              <a:alpha val="38000"/>
            </a:srgbClr>
          </a:solidFill>
          <a:ln/>
        </p:spPr>
        <p:txBody>
          <a:bodyPr/>
          <a:lstStyle/>
          <a:p>
            <a:endParaRPr/>
          </a:p>
        </p:txBody>
      </p:sp>
      <p:sp>
        <p:nvSpPr>
          <p:cNvPr id="4" name="Shape 1"/>
          <p:cNvSpPr/>
          <p:nvPr/>
        </p:nvSpPr>
        <p:spPr>
          <a:xfrm>
            <a:off x="0" y="4343400"/>
            <a:ext cx="12191695" cy="2514600"/>
          </a:xfrm>
          <a:prstGeom prst="rect">
            <a:avLst/>
          </a:prstGeom>
          <a:solidFill>
            <a:srgbClr val="082A30">
              <a:alpha val="88000"/>
            </a:srgbClr>
          </a:solidFill>
          <a:ln/>
        </p:spPr>
        <p:txBody>
          <a:bodyPr/>
          <a:lstStyle/>
          <a:p>
            <a:endParaRPr/>
          </a:p>
        </p:txBody>
      </p:sp>
      <p:sp>
        <p:nvSpPr>
          <p:cNvPr id="5" name="Text 2"/>
          <p:cNvSpPr txBox="1"/>
          <p:nvPr/>
        </p:nvSpPr>
        <p:spPr>
          <a:xfrm>
            <a:off x="731520" y="4709160"/>
            <a:ext cx="8686800" cy="685800"/>
          </a:xfrm>
          <a:prstGeom prst="rect">
            <a:avLst/>
          </a:prstGeom>
          <a:noFill/>
          <a:ln/>
        </p:spPr>
        <p:txBody>
          <a:bodyPr wrap="square" lIns="0" tIns="0" rIns="0" bIns="0" rtlCol="0" anchor="t"/>
          <a:lstStyle/>
          <a:p>
            <a:pPr marL="0" indent="0">
              <a:buNone/>
            </a:pPr>
            <a:r>
              <a:rPr lang="en-US" sz="3000" b="1" kern="0" spc="-100" dirty="0">
                <a:solidFill>
                  <a:srgbClr val="FFFFFF"/>
                </a:solidFill>
                <a:latin typeface="Lato" pitchFamily="34" charset="0"/>
                <a:ea typeface="Lato" pitchFamily="34" charset="-122"/>
                <a:cs typeface="Lato" pitchFamily="34" charset="-120"/>
              </a:rPr>
              <a:t>Les violences au travail</a:t>
            </a:r>
            <a:endParaRPr lang="en-US" sz="3000" dirty="0"/>
          </a:p>
        </p:txBody>
      </p:sp>
      <p:sp>
        <p:nvSpPr>
          <p:cNvPr id="6" name="Text 3"/>
          <p:cNvSpPr txBox="1"/>
          <p:nvPr/>
        </p:nvSpPr>
        <p:spPr>
          <a:xfrm>
            <a:off x="731520" y="5413248"/>
            <a:ext cx="8961120" cy="731520"/>
          </a:xfrm>
          <a:prstGeom prst="rect">
            <a:avLst/>
          </a:prstGeom>
          <a:noFill/>
          <a:ln/>
        </p:spPr>
        <p:txBody>
          <a:bodyPr wrap="square" lIns="0" tIns="0" rIns="0" bIns="0" rtlCol="0" anchor="t"/>
          <a:lstStyle/>
          <a:p>
            <a:pPr marL="0" indent="0">
              <a:lnSpc>
                <a:spcPct val="110000"/>
              </a:lnSpc>
              <a:buNone/>
            </a:pPr>
            <a:r>
              <a:rPr lang="en-US" sz="1450" dirty="0">
                <a:solidFill>
                  <a:srgbClr val="C1D5D9"/>
                </a:solidFill>
                <a:latin typeface="Lato" pitchFamily="34" charset="0"/>
                <a:ea typeface="Lato" pitchFamily="34" charset="-122"/>
                <a:cs typeface="Lato" pitchFamily="34" charset="-120"/>
              </a:rPr>
              <a:t>Internes et externes : deux mécanismes différents, deux leviers de prévention différents.</a:t>
            </a:r>
            <a:endParaRPr lang="en-US" sz="1450" dirty="0"/>
          </a:p>
        </p:txBody>
      </p:sp>
      <p:pic>
        <p:nvPicPr>
          <p:cNvPr id="7" name="Image 1" descr="/home/claude/tmo/build/logo.png"/>
          <p:cNvPicPr>
            <a:picLocks noChangeAspect="1"/>
          </p:cNvPicPr>
          <p:nvPr/>
        </p:nvPicPr>
        <p:blipFill>
          <a:blip r:embed="rId4"/>
          <a:stretch>
            <a:fillRect/>
          </a:stretch>
        </p:blipFill>
        <p:spPr>
          <a:xfrm>
            <a:off x="10893247" y="4892040"/>
            <a:ext cx="566928" cy="566928"/>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100" b="1" kern="0" spc="-150" dirty="0">
                <a:solidFill>
                  <a:srgbClr val="075767"/>
                </a:solidFill>
                <a:latin typeface="Lato" pitchFamily="34" charset="0"/>
                <a:ea typeface="Lato" pitchFamily="34" charset="-122"/>
                <a:cs typeface="Lato" pitchFamily="34" charset="-120"/>
              </a:rPr>
              <a:t>Comment une organisation fabrique de la violence interne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Shape 8"/>
          <p:cNvSpPr/>
          <p:nvPr/>
        </p:nvSpPr>
        <p:spPr>
          <a:xfrm>
            <a:off x="2057400" y="2743200"/>
            <a:ext cx="8076895" cy="0"/>
          </a:xfrm>
          <a:prstGeom prst="line">
            <a:avLst/>
          </a:prstGeom>
          <a:noFill/>
          <a:ln w="25400">
            <a:solidFill>
              <a:srgbClr val="C1D5D9"/>
            </a:solidFill>
            <a:prstDash val="solid"/>
          </a:ln>
        </p:spPr>
        <p:txBody>
          <a:bodyPr/>
          <a:lstStyle/>
          <a:p>
            <a:endParaRPr/>
          </a:p>
        </p:txBody>
      </p:sp>
      <p:grpSp>
        <p:nvGrpSpPr>
          <p:cNvPr id="9240" name="Bloc 1"/>
          <p:cNvGrpSpPr/>
          <p:nvPr/>
        </p:nvGrpSpPr>
        <p:grpSpPr>
          <a:xfrm>
            <a:off x="1691640" y="2377440"/>
            <a:ext cx="731520" cy="731520"/>
            <a:chOff x="1691640" y="2377440"/>
            <a:chExt cx="731520" cy="731520"/>
          </a:xfrm>
        </p:grpSpPr>
        <p:sp>
          <p:nvSpPr>
            <p:cNvPr id="11" name="Shape 9"/>
            <p:cNvSpPr/>
            <p:nvPr/>
          </p:nvSpPr>
          <p:spPr>
            <a:xfrm>
              <a:off x="1691640" y="2377440"/>
              <a:ext cx="731520" cy="731520"/>
            </a:xfrm>
            <a:prstGeom prst="ellipse">
              <a:avLst/>
            </a:prstGeom>
            <a:solidFill>
              <a:srgbClr val="075767"/>
            </a:solidFill>
            <a:ln w="38100">
              <a:solidFill>
                <a:srgbClr val="FFFFFF"/>
              </a:solidFill>
              <a:prstDash val="solid"/>
            </a:ln>
          </p:spPr>
          <p:txBody>
            <a:bodyPr/>
            <a:lstStyle/>
            <a:p>
              <a:endParaRPr/>
            </a:p>
          </p:txBody>
        </p:sp>
        <p:sp>
          <p:nvSpPr>
            <p:cNvPr id="12" name="Text 10"/>
            <p:cNvSpPr txBox="1"/>
            <p:nvPr/>
          </p:nvSpPr>
          <p:spPr>
            <a:xfrm>
              <a:off x="1691640"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1</a:t>
              </a:r>
              <a:endParaRPr lang="en-US" sz="1900" dirty="0"/>
            </a:p>
          </p:txBody>
        </p:sp>
      </p:grpSp>
      <p:sp>
        <p:nvSpPr>
          <p:cNvPr id="13" name="Text 11"/>
          <p:cNvSpPr txBox="1"/>
          <p:nvPr/>
        </p:nvSpPr>
        <p:spPr>
          <a:xfrm>
            <a:off x="777240"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Divergence d'attentes</a:t>
            </a:r>
            <a:endParaRPr lang="en-US" sz="1550" dirty="0"/>
          </a:p>
        </p:txBody>
      </p:sp>
      <p:sp>
        <p:nvSpPr>
          <p:cNvPr id="14" name="Text 12"/>
          <p:cNvSpPr txBox="1"/>
          <p:nvPr/>
        </p:nvSpPr>
        <p:spPr>
          <a:xfrm>
            <a:off x="777240"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Fusion, nouveaux modes opératoires, concurrence entre services, primes individuelles</a:t>
            </a:r>
            <a:endParaRPr lang="en-US" sz="1150" dirty="0"/>
          </a:p>
        </p:txBody>
      </p:sp>
      <p:grpSp>
        <p:nvGrpSpPr>
          <p:cNvPr id="9241" name="Bloc 2"/>
          <p:cNvGrpSpPr/>
          <p:nvPr/>
        </p:nvGrpSpPr>
        <p:grpSpPr>
          <a:xfrm>
            <a:off x="4383938" y="2377440"/>
            <a:ext cx="731520" cy="731520"/>
            <a:chOff x="4383938" y="2377440"/>
            <a:chExt cx="731520" cy="731520"/>
          </a:xfrm>
        </p:grpSpPr>
        <p:sp>
          <p:nvSpPr>
            <p:cNvPr id="15" name="Shape 13"/>
            <p:cNvSpPr/>
            <p:nvPr/>
          </p:nvSpPr>
          <p:spPr>
            <a:xfrm>
              <a:off x="4383938" y="2377440"/>
              <a:ext cx="731520" cy="731520"/>
            </a:xfrm>
            <a:prstGeom prst="ellipse">
              <a:avLst/>
            </a:prstGeom>
            <a:solidFill>
              <a:srgbClr val="075767"/>
            </a:solidFill>
            <a:ln w="38100">
              <a:solidFill>
                <a:srgbClr val="FFFFFF"/>
              </a:solidFill>
              <a:prstDash val="solid"/>
            </a:ln>
          </p:spPr>
          <p:txBody>
            <a:bodyPr/>
            <a:lstStyle/>
            <a:p>
              <a:endParaRPr/>
            </a:p>
          </p:txBody>
        </p:sp>
        <p:sp>
          <p:nvSpPr>
            <p:cNvPr id="16" name="Text 14"/>
            <p:cNvSpPr txBox="1"/>
            <p:nvPr/>
          </p:nvSpPr>
          <p:spPr>
            <a:xfrm>
              <a:off x="4383938"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2</a:t>
              </a:r>
              <a:endParaRPr lang="en-US" sz="1900" dirty="0"/>
            </a:p>
          </p:txBody>
        </p:sp>
      </p:grpSp>
      <p:sp>
        <p:nvSpPr>
          <p:cNvPr id="17" name="Text 15"/>
          <p:cNvSpPr txBox="1"/>
          <p:nvPr/>
        </p:nvSpPr>
        <p:spPr>
          <a:xfrm>
            <a:off x="3469538" y="3273552"/>
            <a:ext cx="2560320" cy="603504"/>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Désaccord professionnel</a:t>
            </a:r>
            <a:endParaRPr lang="en-US" sz="1550" dirty="0"/>
          </a:p>
        </p:txBody>
      </p:sp>
      <p:sp>
        <p:nvSpPr>
          <p:cNvPr id="18" name="Text 16"/>
          <p:cNvSpPr txBox="1"/>
          <p:nvPr/>
        </p:nvSpPr>
        <p:spPr>
          <a:xfrm>
            <a:off x="3469538"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Concurrence ou divergence dans l'organisation de la production, manque d'effectif</a:t>
            </a:r>
            <a:endParaRPr lang="en-US" sz="1150" dirty="0"/>
          </a:p>
        </p:txBody>
      </p:sp>
      <p:grpSp>
        <p:nvGrpSpPr>
          <p:cNvPr id="9242" name="Bloc 3"/>
          <p:cNvGrpSpPr/>
          <p:nvPr/>
        </p:nvGrpSpPr>
        <p:grpSpPr>
          <a:xfrm>
            <a:off x="7076237" y="2377440"/>
            <a:ext cx="731520" cy="731520"/>
            <a:chOff x="7076237" y="2377440"/>
            <a:chExt cx="731520" cy="731520"/>
          </a:xfrm>
        </p:grpSpPr>
        <p:sp>
          <p:nvSpPr>
            <p:cNvPr id="19" name="Shape 17"/>
            <p:cNvSpPr/>
            <p:nvPr/>
          </p:nvSpPr>
          <p:spPr>
            <a:xfrm>
              <a:off x="7076237" y="2377440"/>
              <a:ext cx="731520" cy="731520"/>
            </a:xfrm>
            <a:prstGeom prst="ellipse">
              <a:avLst/>
            </a:prstGeom>
            <a:solidFill>
              <a:srgbClr val="075767"/>
            </a:solidFill>
            <a:ln w="38100">
              <a:solidFill>
                <a:srgbClr val="FFFFFF"/>
              </a:solidFill>
              <a:prstDash val="solid"/>
            </a:ln>
          </p:spPr>
          <p:txBody>
            <a:bodyPr/>
            <a:lstStyle/>
            <a:p>
              <a:endParaRPr/>
            </a:p>
          </p:txBody>
        </p:sp>
        <p:sp>
          <p:nvSpPr>
            <p:cNvPr id="20" name="Text 18"/>
            <p:cNvSpPr txBox="1"/>
            <p:nvPr/>
          </p:nvSpPr>
          <p:spPr>
            <a:xfrm>
              <a:off x="7076237"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3</a:t>
              </a:r>
              <a:endParaRPr lang="en-US" sz="1900" dirty="0"/>
            </a:p>
          </p:txBody>
        </p:sp>
      </p:grpSp>
      <p:sp>
        <p:nvSpPr>
          <p:cNvPr id="21" name="Text 19"/>
          <p:cNvSpPr txBox="1"/>
          <p:nvPr/>
        </p:nvSpPr>
        <p:spPr>
          <a:xfrm>
            <a:off x="6161837" y="3273552"/>
            <a:ext cx="2560320" cy="384048"/>
          </a:xfrm>
          <a:prstGeom prst="rect">
            <a:avLst/>
          </a:prstGeom>
          <a:noFill/>
          <a:ln/>
        </p:spPr>
        <p:txBody>
          <a:bodyPr wrap="square" lIns="0" tIns="0" rIns="0" bIns="0" rtlCol="0" anchor="t"/>
          <a:lstStyle/>
          <a:p>
            <a:pPr marL="0" indent="0" algn="ctr">
              <a:buNone/>
            </a:pPr>
            <a:r>
              <a:rPr lang="en-US" sz="1300" b="1" dirty="0">
                <a:solidFill>
                  <a:srgbClr val="075767"/>
                </a:solidFill>
                <a:latin typeface="Lato" pitchFamily="34" charset="0"/>
                <a:ea typeface="Lato" pitchFamily="34" charset="-122"/>
                <a:cs typeface="Lato" pitchFamily="34" charset="-120"/>
              </a:rPr>
              <a:t>Arbitrage absent ou brutal</a:t>
            </a:r>
            <a:endParaRPr lang="en-US" sz="1550" dirty="0"/>
          </a:p>
        </p:txBody>
      </p:sp>
      <p:sp>
        <p:nvSpPr>
          <p:cNvPr id="22" name="Text 20"/>
          <p:cNvSpPr txBox="1"/>
          <p:nvPr/>
        </p:nvSpPr>
        <p:spPr>
          <a:xfrm>
            <a:off x="6161837"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Aucun arbitrage rendu, ou un arbitrage qui met un opérateur en échec professionnel</a:t>
            </a:r>
            <a:endParaRPr lang="en-US" sz="1150" dirty="0"/>
          </a:p>
        </p:txBody>
      </p:sp>
      <p:grpSp>
        <p:nvGrpSpPr>
          <p:cNvPr id="9243" name="Bloc 4"/>
          <p:cNvGrpSpPr/>
          <p:nvPr/>
        </p:nvGrpSpPr>
        <p:grpSpPr>
          <a:xfrm>
            <a:off x="9768535" y="2377440"/>
            <a:ext cx="731520" cy="731520"/>
            <a:chOff x="9768535" y="2377440"/>
            <a:chExt cx="731520" cy="731520"/>
          </a:xfrm>
        </p:grpSpPr>
        <p:sp>
          <p:nvSpPr>
            <p:cNvPr id="23" name="Shape 21"/>
            <p:cNvSpPr/>
            <p:nvPr/>
          </p:nvSpPr>
          <p:spPr>
            <a:xfrm>
              <a:off x="9768535" y="2377440"/>
              <a:ext cx="731520" cy="731520"/>
            </a:xfrm>
            <a:prstGeom prst="ellipse">
              <a:avLst/>
            </a:prstGeom>
            <a:solidFill>
              <a:srgbClr val="F06C23"/>
            </a:solidFill>
            <a:ln w="38100">
              <a:solidFill>
                <a:srgbClr val="FFFFFF"/>
              </a:solidFill>
              <a:prstDash val="solid"/>
            </a:ln>
          </p:spPr>
          <p:txBody>
            <a:bodyPr/>
            <a:lstStyle/>
            <a:p>
              <a:endParaRPr/>
            </a:p>
          </p:txBody>
        </p:sp>
        <p:sp>
          <p:nvSpPr>
            <p:cNvPr id="24" name="Text 22"/>
            <p:cNvSpPr txBox="1"/>
            <p:nvPr/>
          </p:nvSpPr>
          <p:spPr>
            <a:xfrm>
              <a:off x="9768535"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4</a:t>
              </a:r>
              <a:endParaRPr lang="en-US" sz="1900" dirty="0"/>
            </a:p>
          </p:txBody>
        </p:sp>
      </p:grpSp>
      <p:sp>
        <p:nvSpPr>
          <p:cNvPr id="25" name="Text 23"/>
          <p:cNvSpPr txBox="1"/>
          <p:nvPr/>
        </p:nvSpPr>
        <p:spPr>
          <a:xfrm>
            <a:off x="8854135" y="3273552"/>
            <a:ext cx="2560320"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Isolement du collectif</a:t>
            </a:r>
            <a:endParaRPr lang="en-US" sz="1550" dirty="0"/>
          </a:p>
        </p:txBody>
      </p:sp>
      <p:sp>
        <p:nvSpPr>
          <p:cNvPr id="26" name="Text 24"/>
          <p:cNvSpPr txBox="1"/>
          <p:nvPr/>
        </p:nvSpPr>
        <p:spPr>
          <a:xfrm>
            <a:off x="8854135" y="3694176"/>
            <a:ext cx="2560320"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L'opérateur se retrouve seul face au désaccord, le passage à l'acte devient possible</a:t>
            </a:r>
            <a:endParaRPr lang="en-US" sz="1150" dirty="0"/>
          </a:p>
        </p:txBody>
      </p:sp>
      <p:grpSp>
        <p:nvGrpSpPr>
          <p:cNvPr id="9244" name="Bloc 14"/>
          <p:cNvGrpSpPr/>
          <p:nvPr/>
        </p:nvGrpSpPr>
        <p:grpSpPr>
          <a:xfrm>
            <a:off x="731520" y="5248656"/>
            <a:ext cx="10728655" cy="841248"/>
            <a:chOff x="731520" y="5248656"/>
            <a:chExt cx="10728655" cy="841248"/>
          </a:xfrm>
        </p:grpSpPr>
        <p:sp>
          <p:nvSpPr>
            <p:cNvPr id="27" name="Shape 25"/>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28" name="Text 26"/>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La lecture à retenir   </a:t>
              </a:r>
              <a:r>
                <a:rPr lang="en-US" sz="1300" dirty="0">
                  <a:solidFill>
                    <a:srgbClr val="075767"/>
                  </a:solidFill>
                  <a:latin typeface="Lato" pitchFamily="34" charset="0"/>
                  <a:ea typeface="Lato" pitchFamily="34" charset="-122"/>
                  <a:cs typeface="Lato" pitchFamily="34" charset="-120"/>
                </a:rPr>
                <a:t>« il a pété un câble » désigne la fin de la chaîne. La prévention se joue aux trois premières étapes, dans l'organisation.</a:t>
              </a:r>
              <a:endParaRPr lang="en-US" sz="1250" dirty="0"/>
            </a:p>
          </p:txBody>
        </p:sp>
      </p:grpSp>
      <p:pic>
        <p:nvPicPr>
          <p:cNvPr id="29"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30" name="Text 27"/>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31" name="Shape 28"/>
          <p:cNvSpPr/>
          <p:nvPr/>
        </p:nvSpPr>
        <p:spPr>
          <a:xfrm>
            <a:off x="10591495" y="6181344"/>
            <a:ext cx="438912" cy="438912"/>
          </a:xfrm>
          <a:prstGeom prst="ellipse">
            <a:avLst/>
          </a:prstGeom>
          <a:solidFill>
            <a:srgbClr val="F06C23"/>
          </a:solidFill>
          <a:ln/>
        </p:spPr>
        <p:txBody>
          <a:bodyPr/>
          <a:lstStyle/>
          <a:p>
            <a:endParaRPr/>
          </a:p>
        </p:txBody>
      </p:sp>
      <p:sp>
        <p:nvSpPr>
          <p:cNvPr id="32" name="Text 29"/>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33" name="Text 30"/>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175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40"/>
                                        </p:tgtEl>
                                        <p:attrNameLst>
                                          <p:attrName>style.visibility</p:attrName>
                                        </p:attrNameLst>
                                      </p:cBhvr>
                                      <p:to>
                                        <p:strVal val="visible"/>
                                      </p:to>
                                    </p:set>
                                    <p:animEffect transition="in" filter="fade">
                                      <p:cBhvr>
                                        <p:cTn id="7" dur="450"/>
                                        <p:tgtEl>
                                          <p:spTgt spid="92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41"/>
                                        </p:tgtEl>
                                        <p:attrNameLst>
                                          <p:attrName>style.visibility</p:attrName>
                                        </p:attrNameLst>
                                      </p:cBhvr>
                                      <p:to>
                                        <p:strVal val="visible"/>
                                      </p:to>
                                    </p:set>
                                    <p:animEffect transition="in" filter="fade">
                                      <p:cBhvr>
                                        <p:cTn id="12" dur="450"/>
                                        <p:tgtEl>
                                          <p:spTgt spid="924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42"/>
                                        </p:tgtEl>
                                        <p:attrNameLst>
                                          <p:attrName>style.visibility</p:attrName>
                                        </p:attrNameLst>
                                      </p:cBhvr>
                                      <p:to>
                                        <p:strVal val="visible"/>
                                      </p:to>
                                    </p:set>
                                    <p:animEffect transition="in" filter="fade">
                                      <p:cBhvr>
                                        <p:cTn id="17" dur="450"/>
                                        <p:tgtEl>
                                          <p:spTgt spid="924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43"/>
                                        </p:tgtEl>
                                        <p:attrNameLst>
                                          <p:attrName>style.visibility</p:attrName>
                                        </p:attrNameLst>
                                      </p:cBhvr>
                                      <p:to>
                                        <p:strVal val="visible"/>
                                      </p:to>
                                    </p:set>
                                    <p:animEffect transition="in" filter="fade">
                                      <p:cBhvr>
                                        <p:cTn id="22" dur="450"/>
                                        <p:tgtEl>
                                          <p:spTgt spid="924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5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5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45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9244"/>
                                        </p:tgtEl>
                                        <p:attrNameLst>
                                          <p:attrName>style.visibility</p:attrName>
                                        </p:attrNameLst>
                                      </p:cBhvr>
                                      <p:to>
                                        <p:strVal val="visible"/>
                                      </p:to>
                                    </p:set>
                                    <p:animEffect transition="in" filter="fade">
                                      <p:cBhvr>
                                        <p:cTn id="72" dur="450"/>
                                        <p:tgtEl>
                                          <p:spTgt spid="9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2500" b="1" kern="0" spc="-150" dirty="0">
                <a:solidFill>
                  <a:srgbClr val="075767"/>
                </a:solidFill>
                <a:latin typeface="Lato" pitchFamily="34" charset="0"/>
                <a:ea typeface="Lato" pitchFamily="34" charset="-122"/>
                <a:cs typeface="Lato" pitchFamily="34" charset="-120"/>
              </a:rPr>
              <a:t>Les causes fréquentes de désaccord professionnel</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Repérées par la clinique du travail, l'analyse d'accidents et l'enquête SUMER.</a:t>
            </a:r>
            <a:endParaRPr lang="en-US" sz="1450" dirty="0"/>
          </a:p>
        </p:txBody>
      </p:sp>
      <p:sp>
        <p:nvSpPr>
          <p:cNvPr id="11" name="Text 9"/>
          <p:cNvSpPr txBox="1"/>
          <p:nvPr/>
        </p:nvSpPr>
        <p:spPr>
          <a:xfrm>
            <a:off x="731520" y="2487168"/>
            <a:ext cx="6035040"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Un manque de formation, d'information ou d'expérience de l'un des opérateurs</a:t>
            </a:r>
            <a:endParaRPr lang="en-US" sz="1400" dirty="0"/>
          </a:p>
          <a:p>
            <a:pPr marL="203200"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Une compétence qui dépasse les attributions du poste</a:t>
            </a:r>
            <a:endParaRPr lang="en-US" sz="1400" dirty="0"/>
          </a:p>
          <a:p>
            <a:pPr marL="203200"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Une concurrence sur le rôle de chacun ou sur la répartition des tâches</a:t>
            </a:r>
            <a:endParaRPr lang="en-US" sz="1400" dirty="0"/>
          </a:p>
          <a:p>
            <a:pPr marL="203200"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Une divergence sur la façon de faire le travail, donc sur la coopération</a:t>
            </a:r>
            <a:endParaRPr lang="en-US" sz="1400" dirty="0"/>
          </a:p>
          <a:p>
            <a:pPr marL="203200"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Des intérêts de production différents entre deux salariés qui doivent coopérer</a:t>
            </a:r>
            <a:endParaRPr lang="en-US" sz="1400" dirty="0"/>
          </a:p>
          <a:p>
            <a:pPr marL="203200" indent="-203200">
              <a:lnSpc>
                <a:spcPct val="110000"/>
              </a:lnSpc>
              <a:spcAft>
                <a:spcPts val="700"/>
              </a:spcAft>
              <a:buSzPct val="100000"/>
              <a:buChar char="•"/>
            </a:pPr>
            <a:r>
              <a:rPr lang="en-US" sz="1200" dirty="0">
                <a:solidFill>
                  <a:srgbClr val="595959"/>
                </a:solidFill>
                <a:latin typeface="Lato" pitchFamily="34" charset="0"/>
                <a:ea typeface="Lato" pitchFamily="34" charset="-122"/>
                <a:cs typeface="Lato" pitchFamily="34" charset="-120"/>
              </a:rPr>
              <a:t>La dépendance à un autre salarié pour pouvoir faire son propre travail</a:t>
            </a:r>
            <a:endParaRPr lang="en-US" sz="1400" dirty="0"/>
          </a:p>
          <a:p>
            <a:pPr marL="203200" indent="-203200">
              <a:lnSpc>
                <a:spcPct val="110000"/>
              </a:lnSpc>
              <a:spcAft>
                <a:spcPts val="700"/>
              </a:spcAft>
              <a:buSzPct val="100000"/>
              <a:buChar char="•"/>
            </a:pPr>
            <a:r>
              <a:rPr lang="en-US" sz="1200" b="1" dirty="0">
                <a:solidFill>
                  <a:srgbClr val="075767"/>
                </a:solidFill>
                <a:latin typeface="Lato" pitchFamily="34" charset="0"/>
                <a:ea typeface="Lato" pitchFamily="34" charset="-122"/>
                <a:cs typeface="Lato" pitchFamily="34" charset="-120"/>
              </a:rPr>
              <a:t>Et surtout : l'absence d'arbitrage professionnel sur ces désaccords, ou un arbitrage qui place un opérateur dans la crainte de l'échec</a:t>
            </a:r>
            <a:endParaRPr lang="en-US" sz="1400" dirty="0"/>
          </a:p>
        </p:txBody>
      </p:sp>
      <p:grpSp>
        <p:nvGrpSpPr>
          <p:cNvPr id="9245" name="Bloc 2"/>
          <p:cNvGrpSpPr/>
          <p:nvPr/>
        </p:nvGrpSpPr>
        <p:grpSpPr>
          <a:xfrm>
            <a:off x="7223760" y="1828800"/>
            <a:ext cx="4334256" cy="3282696"/>
            <a:chOff x="7223760" y="1828800"/>
            <a:chExt cx="4334256" cy="3282696"/>
          </a:xfrm>
        </p:grpSpPr>
        <p:sp>
          <p:nvSpPr>
            <p:cNvPr id="21" name="Rounded Rectangle 20"/>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41.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246" name="Bloc 4"/>
          <p:cNvGrpSpPr/>
          <p:nvPr/>
        </p:nvGrpSpPr>
        <p:grpSpPr>
          <a:xfrm>
            <a:off x="731520" y="5248656"/>
            <a:ext cx="10728655" cy="841248"/>
            <a:chOff x="731520" y="5248656"/>
            <a:chExt cx="10728655" cy="841248"/>
          </a:xfrm>
        </p:grpSpPr>
        <p:sp>
          <p:nvSpPr>
            <p:cNvPr id="13" name="Text 10"/>
            <p:cNvSpPr txBox="1"/>
            <p:nvPr/>
          </p:nvSpPr>
          <p:spPr>
            <a:xfrm>
              <a:off x="7223760" y="5349240"/>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Un désaccord non arbitré ne disparaît pas : il s'enkyste.</a:t>
              </a:r>
              <a:endParaRPr lang="en-US" sz="950" dirty="0"/>
            </a:p>
          </p:txBody>
        </p:sp>
        <p:sp>
          <p:nvSpPr>
            <p:cNvPr id="14" name="Shape 11"/>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5" name="Text 12"/>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rôle de l'encadrement   </a:t>
              </a:r>
              <a:r>
                <a:rPr lang="en-US" sz="1300" dirty="0">
                  <a:solidFill>
                    <a:srgbClr val="075767"/>
                  </a:solidFill>
                  <a:latin typeface="Lato" pitchFamily="34" charset="0"/>
                  <a:ea typeface="Lato" pitchFamily="34" charset="-122"/>
                  <a:cs typeface="Lato" pitchFamily="34" charset="-120"/>
                </a:rPr>
                <a:t>arbitrer est un acte de prévention. Ne pas trancher n'est pas neutre, c'est laisser le conflit se régler entre les personnes.</a:t>
              </a:r>
              <a:endParaRPr lang="en-US" sz="1250" dirty="0"/>
            </a:p>
          </p:txBody>
        </p:sp>
      </p:gr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176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45"/>
                                        </p:tgtEl>
                                        <p:attrNameLst>
                                          <p:attrName>style.visibility</p:attrName>
                                        </p:attrNameLst>
                                      </p:cBhvr>
                                      <p:to>
                                        <p:strVal val="visible"/>
                                      </p:to>
                                    </p:set>
                                    <p:animEffect transition="in" filter="fade">
                                      <p:cBhvr>
                                        <p:cTn id="12" dur="450"/>
                                        <p:tgtEl>
                                          <p:spTgt spid="924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46"/>
                                        </p:tgtEl>
                                        <p:attrNameLst>
                                          <p:attrName>style.visibility</p:attrName>
                                        </p:attrNameLst>
                                      </p:cBhvr>
                                      <p:to>
                                        <p:strVal val="visible"/>
                                      </p:to>
                                    </p:set>
                                    <p:animEffect transition="in" filter="fade">
                                      <p:cBhvr>
                                        <p:cTn id="22" dur="450"/>
                                        <p:tgtEl>
                                          <p:spTgt spid="9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violences externes : le mécanisme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Une incompatibilité entre les attentes créées chez l'usager et les ressources de l'opérateur en contact pour y faire face.</a:t>
            </a:r>
            <a:endParaRPr lang="en-US" sz="1450" dirty="0"/>
          </a:p>
        </p:txBody>
      </p:sp>
      <p:sp>
        <p:nvSpPr>
          <p:cNvPr id="11" name="Text 9"/>
          <p:cNvSpPr txBox="1"/>
          <p:nvPr/>
        </p:nvSpPr>
        <p:spPr>
          <a:xfrm>
            <a:off x="731520" y="2487168"/>
            <a:ext cx="10728655" cy="231343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D'où viennent les attentes des usagers, clients ou publics ?</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Des annonces commerciales ou institutionnelles, des engagements contractuels sur le produit, le service ou les délais</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D'une information fausse, ou trop complexe, sur les caractéristiques du produit ou du service</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D'une organisation du contact qui met l'usager en relation avec un opérateur qui ne peut pas satisfaire sa demande</a:t>
            </a:r>
            <a:endParaRPr lang="en-US" sz="1400" dirty="0"/>
          </a:p>
        </p:txBody>
      </p:sp>
      <p:grpSp>
        <p:nvGrpSpPr>
          <p:cNvPr id="9247" name="Bloc 3"/>
          <p:cNvGrpSpPr/>
          <p:nvPr/>
        </p:nvGrpSpPr>
        <p:grpSpPr>
          <a:xfrm>
            <a:off x="731520" y="4956048"/>
            <a:ext cx="10728655" cy="841248"/>
            <a:chOff x="731520" y="4956048"/>
            <a:chExt cx="10728655" cy="841248"/>
          </a:xfrm>
        </p:grpSpPr>
        <p:sp>
          <p:nvSpPr>
            <p:cNvPr id="12" name="Shape 10"/>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3" name="Text 11"/>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déplacement de regard   </a:t>
              </a:r>
              <a:r>
                <a:rPr lang="en-US" sz="1300" dirty="0">
                  <a:solidFill>
                    <a:srgbClr val="075767"/>
                  </a:solidFill>
                  <a:latin typeface="Lato" pitchFamily="34" charset="0"/>
                  <a:ea typeface="Lato" pitchFamily="34" charset="-122"/>
                  <a:cs typeface="Lato" pitchFamily="34" charset="-120"/>
                </a:rPr>
                <a:t>la violence externe n'est pas seulement le fait d'un usager agressif : elle est fabriquée en amont, par la promesse faite et par l'organisation du contact.</a:t>
              </a:r>
              <a:endParaRPr lang="en-US" sz="1250" dirty="0"/>
            </a:p>
          </p:txBody>
        </p:sp>
      </p:gr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177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47"/>
                                        </p:tgtEl>
                                        <p:attrNameLst>
                                          <p:attrName>style.visibility</p:attrName>
                                        </p:attrNameLst>
                                      </p:cBhvr>
                                      <p:to>
                                        <p:strVal val="visible"/>
                                      </p:to>
                                    </p:set>
                                    <p:animEffect transition="in" filter="fade">
                                      <p:cBhvr>
                                        <p:cTn id="17" dur="450"/>
                                        <p:tgtEl>
                                          <p:spTgt spid="9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que les locaux et l'espace aggravent</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Une organisation spatiale peut majorer le risque d'acte agressif, ou ses conséquences.</a:t>
            </a:r>
            <a:endParaRPr lang="en-US" sz="1450" dirty="0"/>
          </a:p>
        </p:txBody>
      </p:sp>
      <p:sp>
        <p:nvSpPr>
          <p:cNvPr id="11" name="Text 9"/>
          <p:cNvSpPr txBox="1"/>
          <p:nvPr/>
        </p:nvSpPr>
        <p:spPr>
          <a:xfrm>
            <a:off x="731520" y="2487168"/>
            <a:ext cx="603504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En facilitant la proximité physique avec l'opérateur, l'exemple du plexiglas dans les bus</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En donnant l'impression que l'opérateur est isolé</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En n'identifiant pas suffisamment dans l'espace la circulation et le rôle de chacun</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En ne donnant aucune solution de fuite à l'opérateur</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En ne lui donnant pas la possibilité de prévenir rapidement en cas d'agression</a:t>
            </a:r>
            <a:endParaRPr lang="en-US" sz="1400" dirty="0"/>
          </a:p>
        </p:txBody>
      </p:sp>
      <p:grpSp>
        <p:nvGrpSpPr>
          <p:cNvPr id="9248" name="Bloc 2"/>
          <p:cNvGrpSpPr/>
          <p:nvPr/>
        </p:nvGrpSpPr>
        <p:grpSpPr>
          <a:xfrm>
            <a:off x="7223760" y="1828800"/>
            <a:ext cx="4334256" cy="3282696"/>
            <a:chOff x="7223760" y="1828800"/>
            <a:chExt cx="4334256" cy="3282696"/>
          </a:xfrm>
        </p:grpSpPr>
        <p:sp>
          <p:nvSpPr>
            <p:cNvPr id="21" name="Rounded Rectangle 20"/>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42.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249" name="Bloc 4"/>
          <p:cNvGrpSpPr/>
          <p:nvPr/>
        </p:nvGrpSpPr>
        <p:grpSpPr>
          <a:xfrm>
            <a:off x="731520" y="4956048"/>
            <a:ext cx="10728655" cy="841248"/>
            <a:chOff x="731520" y="4956048"/>
            <a:chExt cx="10728655" cy="841248"/>
          </a:xfrm>
        </p:grpSpPr>
        <p:sp>
          <p:nvSpPr>
            <p:cNvPr id="13" name="Text 10"/>
            <p:cNvSpPr txBox="1"/>
            <p:nvPr/>
          </p:nvSpPr>
          <p:spPr>
            <a:xfrm>
              <a:off x="7223760" y="5056632"/>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Un accueil se conçoit aussi comme un dispositif de sécurité.</a:t>
              </a:r>
              <a:endParaRPr lang="en-US" sz="950" dirty="0"/>
            </a:p>
          </p:txBody>
        </p:sp>
        <p:sp>
          <p:nvSpPr>
            <p:cNvPr id="14" name="Shape 11"/>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5" name="Text 12"/>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La grille d'inspection   </a:t>
              </a:r>
              <a:r>
                <a:rPr lang="en-US" sz="1300" dirty="0">
                  <a:solidFill>
                    <a:srgbClr val="075767"/>
                  </a:solidFill>
                  <a:latin typeface="Lato" pitchFamily="34" charset="0"/>
                  <a:ea typeface="Lato" pitchFamily="34" charset="-122"/>
                  <a:cs typeface="Lato" pitchFamily="34" charset="-120"/>
                </a:rPr>
                <a:t>ces cinq points font d'excellentes questions d'inspection pour tout local recevant du public.</a:t>
              </a:r>
              <a:endParaRPr lang="en-US" sz="1250" dirty="0"/>
            </a:p>
          </p:txBody>
        </p:sp>
      </p:gr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178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48"/>
                                        </p:tgtEl>
                                        <p:attrNameLst>
                                          <p:attrName>style.visibility</p:attrName>
                                        </p:attrNameLst>
                                      </p:cBhvr>
                                      <p:to>
                                        <p:strVal val="visible"/>
                                      </p:to>
                                    </p:set>
                                    <p:animEffect transition="in" filter="fade">
                                      <p:cBhvr>
                                        <p:cTn id="12" dur="450"/>
                                        <p:tgtEl>
                                          <p:spTgt spid="92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49"/>
                                        </p:tgtEl>
                                        <p:attrNameLst>
                                          <p:attrName>style.visibility</p:attrName>
                                        </p:attrNameLst>
                                      </p:cBhvr>
                                      <p:to>
                                        <p:strVal val="visible"/>
                                      </p:to>
                                    </p:set>
                                    <p:animEffect transition="in" filter="fade">
                                      <p:cBhvr>
                                        <p:cTn id="22" dur="450"/>
                                        <p:tgtEl>
                                          <p:spTgt spid="9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L'épuisement professionnel : trois formes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grpSp>
        <p:nvGrpSpPr>
          <p:cNvPr id="9250" name="Bloc 1"/>
          <p:cNvGrpSpPr/>
          <p:nvPr/>
        </p:nvGrpSpPr>
        <p:grpSpPr>
          <a:xfrm>
            <a:off x="731520" y="1965960"/>
            <a:ext cx="3332378" cy="3108960"/>
            <a:chOff x="731520" y="1965960"/>
            <a:chExt cx="3332378" cy="3108960"/>
          </a:xfrm>
        </p:grpSpPr>
        <p:sp>
          <p:nvSpPr>
            <p:cNvPr id="10" name="Shape 8"/>
            <p:cNvSpPr/>
            <p:nvPr/>
          </p:nvSpPr>
          <p:spPr>
            <a:xfrm>
              <a:off x="731520" y="1965960"/>
              <a:ext cx="3332378" cy="3108960"/>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alert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Le burn-out</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Mal-être physique et mental lié à une surcharge d'activité. Être immobilisé d'un coup, se sentir submergé.</a:t>
              </a:r>
              <a:endParaRPr lang="en-US" sz="1250" dirty="0"/>
            </a:p>
          </p:txBody>
        </p:sp>
      </p:grpSp>
      <p:grpSp>
        <p:nvGrpSpPr>
          <p:cNvPr id="9251"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horloge-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Le bore-out</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Ennui intense et insatisfaction. Perte progressive du goût du travail, ne plus croire en ses capacités ni en sa valeur.</a:t>
              </a:r>
              <a:endParaRPr lang="en-US" sz="1250" dirty="0"/>
            </a:p>
          </p:txBody>
        </p:sp>
      </p:grpSp>
      <p:grpSp>
        <p:nvGrpSpPr>
          <p:cNvPr id="9252" name="Bloc 3"/>
          <p:cNvGrpSpPr/>
          <p:nvPr/>
        </p:nvGrpSpPr>
        <p:grpSpPr>
          <a:xfrm>
            <a:off x="8127797" y="1965960"/>
            <a:ext cx="3332378" cy="3108960"/>
            <a:chOff x="8127797" y="1965960"/>
            <a:chExt cx="3332378" cy="3108960"/>
          </a:xfrm>
        </p:grpSpPr>
        <p:sp>
          <p:nvSpPr>
            <p:cNvPr id="20" name="Shape 16"/>
            <p:cNvSpPr/>
            <p:nvPr/>
          </p:nvSpPr>
          <p:spPr>
            <a:xfrm>
              <a:off x="8127797" y="1965960"/>
              <a:ext cx="3332378" cy="3108960"/>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document-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Le brown-out</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Perte de sens. Une liste de tâches qui ne se réduit jamais, un manque d'intérêt pour un travail qu'on ne comprend plus.</a:t>
              </a:r>
              <a:endParaRPr lang="en-US" sz="1250" dirty="0"/>
            </a:p>
          </p:txBody>
        </p:sp>
      </p:grpSp>
      <p:grpSp>
        <p:nvGrpSpPr>
          <p:cNvPr id="9253" name="Bloc 4"/>
          <p:cNvGrpSpPr/>
          <p:nvPr/>
        </p:nvGrpSpPr>
        <p:grpSpPr>
          <a:xfrm>
            <a:off x="731520" y="5257800"/>
            <a:ext cx="10728655" cy="841248"/>
            <a:chOff x="731520" y="5257800"/>
            <a:chExt cx="10728655" cy="841248"/>
          </a:xfrm>
        </p:grpSpPr>
        <p:sp>
          <p:nvSpPr>
            <p:cNvPr id="25" name="Shape 20"/>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26" name="Text 21"/>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point commun   </a:t>
              </a:r>
              <a:r>
                <a:rPr lang="en-US" sz="1300" dirty="0">
                  <a:solidFill>
                    <a:srgbClr val="075767"/>
                  </a:solidFill>
                  <a:latin typeface="Lato" pitchFamily="34" charset="0"/>
                  <a:ea typeface="Lato" pitchFamily="34" charset="-122"/>
                  <a:cs typeface="Lato" pitchFamily="34" charset="-120"/>
                </a:rPr>
                <a:t>les trois traduisent un rapport dégradé au travail, pas une faiblesse individuelle. Aucun ne figure dans un tableau de maladie professionnelle.</a:t>
              </a:r>
              <a:endParaRPr lang="en-US" sz="1250" dirty="0"/>
            </a:p>
          </p:txBody>
        </p:sp>
      </p:grpSp>
      <p:pic>
        <p:nvPicPr>
          <p:cNvPr id="27"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8"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9" name="Shape 23"/>
          <p:cNvSpPr/>
          <p:nvPr/>
        </p:nvSpPr>
        <p:spPr>
          <a:xfrm>
            <a:off x="10591495" y="6181344"/>
            <a:ext cx="438912" cy="438912"/>
          </a:xfrm>
          <a:prstGeom prst="ellipse">
            <a:avLst/>
          </a:prstGeom>
          <a:solidFill>
            <a:srgbClr val="F06C23"/>
          </a:solidFill>
          <a:ln/>
        </p:spPr>
        <p:txBody>
          <a:bodyPr/>
          <a:lstStyle/>
          <a:p>
            <a:endParaRPr/>
          </a:p>
        </p:txBody>
      </p:sp>
      <p:sp>
        <p:nvSpPr>
          <p:cNvPr id="30"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31"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179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50"/>
                                        </p:tgtEl>
                                        <p:attrNameLst>
                                          <p:attrName>style.visibility</p:attrName>
                                        </p:attrNameLst>
                                      </p:cBhvr>
                                      <p:to>
                                        <p:strVal val="visible"/>
                                      </p:to>
                                    </p:set>
                                    <p:animEffect transition="in" filter="fade">
                                      <p:cBhvr>
                                        <p:cTn id="7" dur="450"/>
                                        <p:tgtEl>
                                          <p:spTgt spid="92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51"/>
                                        </p:tgtEl>
                                        <p:attrNameLst>
                                          <p:attrName>style.visibility</p:attrName>
                                        </p:attrNameLst>
                                      </p:cBhvr>
                                      <p:to>
                                        <p:strVal val="visible"/>
                                      </p:to>
                                    </p:set>
                                    <p:animEffect transition="in" filter="fade">
                                      <p:cBhvr>
                                        <p:cTn id="12" dur="450"/>
                                        <p:tgtEl>
                                          <p:spTgt spid="925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52"/>
                                        </p:tgtEl>
                                        <p:attrNameLst>
                                          <p:attrName>style.visibility</p:attrName>
                                        </p:attrNameLst>
                                      </p:cBhvr>
                                      <p:to>
                                        <p:strVal val="visible"/>
                                      </p:to>
                                    </p:set>
                                    <p:animEffect transition="in" filter="fade">
                                      <p:cBhvr>
                                        <p:cTn id="17" dur="450"/>
                                        <p:tgtEl>
                                          <p:spTgt spid="925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53"/>
                                        </p:tgtEl>
                                        <p:attrNameLst>
                                          <p:attrName>style.visibility</p:attrName>
                                        </p:attrNameLst>
                                      </p:cBhvr>
                                      <p:to>
                                        <p:strVal val="visible"/>
                                      </p:to>
                                    </p:set>
                                    <p:animEffect transition="in" filter="fade">
                                      <p:cBhvr>
                                        <p:cTn id="22" dur="450"/>
                                        <p:tgtEl>
                                          <p:spTgt spid="9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signaux</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Aucun n'est spécifique. C'est leur accumulation et leur durée qui font signe.</a:t>
            </a:r>
            <a:endParaRPr lang="en-US" sz="1450" dirty="0"/>
          </a:p>
        </p:txBody>
      </p:sp>
      <p:sp>
        <p:nvSpPr>
          <p:cNvPr id="11" name="Text 9"/>
          <p:cNvSpPr txBox="1"/>
          <p:nvPr/>
        </p:nvSpPr>
        <p:spPr>
          <a:xfrm>
            <a:off x="731520" y="2487168"/>
            <a:ext cx="6035040" cy="231343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Problèmes de sommeil</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Nerfs à vif, irritabilité</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Manque de confiance en soi</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Mal-être psychologique</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Perte de sens, pleurs, envie de rien</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Ne plus avoir envie de se lever le matin pour aller travailler</a:t>
            </a:r>
            <a:endParaRPr lang="en-US" sz="1400" dirty="0"/>
          </a:p>
        </p:txBody>
      </p:sp>
      <p:grpSp>
        <p:nvGrpSpPr>
          <p:cNvPr id="9254" name="Bloc 2"/>
          <p:cNvGrpSpPr/>
          <p:nvPr/>
        </p:nvGrpSpPr>
        <p:grpSpPr>
          <a:xfrm>
            <a:off x="7223760" y="1828800"/>
            <a:ext cx="4334256" cy="3282696"/>
            <a:chOff x="7223760" y="1828800"/>
            <a:chExt cx="4334256" cy="3282696"/>
          </a:xfrm>
        </p:grpSpPr>
        <p:sp>
          <p:nvSpPr>
            <p:cNvPr id="21" name="Rounded Rectangle 20"/>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43.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255" name="Bloc 4"/>
          <p:cNvGrpSpPr/>
          <p:nvPr/>
        </p:nvGrpSpPr>
        <p:grpSpPr>
          <a:xfrm>
            <a:off x="731520" y="4956048"/>
            <a:ext cx="10728655" cy="841248"/>
            <a:chOff x="731520" y="4956048"/>
            <a:chExt cx="10728655" cy="841248"/>
          </a:xfrm>
        </p:grpSpPr>
        <p:sp>
          <p:nvSpPr>
            <p:cNvPr id="13" name="Text 10"/>
            <p:cNvSpPr txBox="1"/>
            <p:nvPr/>
          </p:nvSpPr>
          <p:spPr>
            <a:xfrm>
              <a:off x="7223760" y="5056632"/>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Ce sont des signaux d'organisation, pas des traits de personnalité.</a:t>
              </a:r>
              <a:endParaRPr lang="en-US" sz="950" dirty="0"/>
            </a:p>
          </p:txBody>
        </p:sp>
        <p:sp>
          <p:nvSpPr>
            <p:cNvPr id="14" name="Shape 11"/>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5" name="Text 12"/>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Ce que fait un élu   il ne diagnostique pas. Il oriente vers le service de prévention et de santé au travail, et il porte le sujet collectif en réunion.</a:t>
              </a:r>
              <a:endParaRPr lang="en-US" sz="1250" dirty="0"/>
            </a:p>
          </p:txBody>
        </p:sp>
      </p:gr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180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54"/>
                                        </p:tgtEl>
                                        <p:attrNameLst>
                                          <p:attrName>style.visibility</p:attrName>
                                        </p:attrNameLst>
                                      </p:cBhvr>
                                      <p:to>
                                        <p:strVal val="visible"/>
                                      </p:to>
                                    </p:set>
                                    <p:animEffect transition="in" filter="fade">
                                      <p:cBhvr>
                                        <p:cTn id="12" dur="450"/>
                                        <p:tgtEl>
                                          <p:spTgt spid="925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55"/>
                                        </p:tgtEl>
                                        <p:attrNameLst>
                                          <p:attrName>style.visibility</p:attrName>
                                        </p:attrNameLst>
                                      </p:cBhvr>
                                      <p:to>
                                        <p:strVal val="visible"/>
                                      </p:to>
                                    </p:set>
                                    <p:animEffect transition="in" filter="fade">
                                      <p:cBhvr>
                                        <p:cTn id="22" dur="450"/>
                                        <p:tgtEl>
                                          <p:spTgt spid="9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pic>
        <p:nvPicPr>
          <p:cNvPr id="2" name="Image 0" descr="/home/claude/tmo/build/photos/p44.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2A30">
              <a:alpha val="38000"/>
            </a:srgbClr>
          </a:solidFill>
          <a:ln/>
        </p:spPr>
        <p:txBody>
          <a:bodyPr/>
          <a:lstStyle/>
          <a:p>
            <a:endParaRPr/>
          </a:p>
        </p:txBody>
      </p:sp>
      <p:sp>
        <p:nvSpPr>
          <p:cNvPr id="4" name="Shape 1"/>
          <p:cNvSpPr/>
          <p:nvPr/>
        </p:nvSpPr>
        <p:spPr>
          <a:xfrm>
            <a:off x="0" y="4343400"/>
            <a:ext cx="12191695" cy="2514600"/>
          </a:xfrm>
          <a:prstGeom prst="rect">
            <a:avLst/>
          </a:prstGeom>
          <a:solidFill>
            <a:srgbClr val="082A30">
              <a:alpha val="88000"/>
            </a:srgbClr>
          </a:solidFill>
          <a:ln/>
        </p:spPr>
        <p:txBody>
          <a:bodyPr/>
          <a:lstStyle/>
          <a:p>
            <a:endParaRPr/>
          </a:p>
        </p:txBody>
      </p:sp>
      <p:sp>
        <p:nvSpPr>
          <p:cNvPr id="5" name="Text 2"/>
          <p:cNvSpPr txBox="1"/>
          <p:nvPr/>
        </p:nvSpPr>
        <p:spPr>
          <a:xfrm>
            <a:off x="731520" y="4709160"/>
            <a:ext cx="8686800" cy="685800"/>
          </a:xfrm>
          <a:prstGeom prst="rect">
            <a:avLst/>
          </a:prstGeom>
          <a:noFill/>
          <a:ln/>
        </p:spPr>
        <p:txBody>
          <a:bodyPr wrap="square" lIns="0" tIns="0" rIns="0" bIns="0" rtlCol="0" anchor="t"/>
          <a:lstStyle/>
          <a:p>
            <a:pPr marL="0" indent="0">
              <a:buNone/>
            </a:pPr>
            <a:r>
              <a:rPr lang="en-US" sz="3000" b="1" kern="0" spc="-100" dirty="0">
                <a:solidFill>
                  <a:srgbClr val="FFFFFF"/>
                </a:solidFill>
                <a:latin typeface="Lato" pitchFamily="34" charset="0"/>
                <a:ea typeface="Lato" pitchFamily="34" charset="-122"/>
                <a:cs typeface="Lato" pitchFamily="34" charset="-120"/>
              </a:rPr>
              <a:t>La démarche de prévention</a:t>
            </a:r>
            <a:endParaRPr lang="en-US" sz="3000" dirty="0"/>
          </a:p>
        </p:txBody>
      </p:sp>
      <p:sp>
        <p:nvSpPr>
          <p:cNvPr id="6" name="Text 3"/>
          <p:cNvSpPr txBox="1"/>
          <p:nvPr/>
        </p:nvSpPr>
        <p:spPr>
          <a:xfrm>
            <a:off x="731520" y="5413248"/>
            <a:ext cx="8961120" cy="731520"/>
          </a:xfrm>
          <a:prstGeom prst="rect">
            <a:avLst/>
          </a:prstGeom>
          <a:noFill/>
          <a:ln/>
        </p:spPr>
        <p:txBody>
          <a:bodyPr wrap="square" lIns="0" tIns="0" rIns="0" bIns="0" rtlCol="0" anchor="t"/>
          <a:lstStyle/>
          <a:p>
            <a:pPr marL="0" indent="0">
              <a:lnSpc>
                <a:spcPct val="110000"/>
              </a:lnSpc>
              <a:buNone/>
            </a:pPr>
            <a:r>
              <a:rPr lang="en-US" sz="1450" dirty="0">
                <a:solidFill>
                  <a:srgbClr val="C1D5D9"/>
                </a:solidFill>
                <a:latin typeface="Lato" pitchFamily="34" charset="0"/>
                <a:ea typeface="Lato" pitchFamily="34" charset="-122"/>
                <a:cs typeface="Lato" pitchFamily="34" charset="-120"/>
              </a:rPr>
              <a:t>Cinq étapes, quatre portes d'entrée, et une longue liste d'erreurs à ne pas commettre.</a:t>
            </a:r>
            <a:endParaRPr lang="en-US" sz="1450" dirty="0"/>
          </a:p>
        </p:txBody>
      </p:sp>
      <p:pic>
        <p:nvPicPr>
          <p:cNvPr id="7" name="Image 1" descr="/home/claude/tmo/build/logo.png"/>
          <p:cNvPicPr>
            <a:picLocks noChangeAspect="1"/>
          </p:cNvPicPr>
          <p:nvPr/>
        </p:nvPicPr>
        <p:blipFill>
          <a:blip r:embed="rId4"/>
          <a:stretch>
            <a:fillRect/>
          </a:stretch>
        </p:blipFill>
        <p:spPr>
          <a:xfrm>
            <a:off x="10893247" y="4892040"/>
            <a:ext cx="566928" cy="566928"/>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Quatre façons de découvrir des RPS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grpSp>
        <p:nvGrpSpPr>
          <p:cNvPr id="9256" name="Bloc 1"/>
          <p:cNvGrpSpPr/>
          <p:nvPr/>
        </p:nvGrpSpPr>
        <p:grpSpPr>
          <a:xfrm>
            <a:off x="731520" y="1965960"/>
            <a:ext cx="2407844" cy="3197961"/>
            <a:chOff x="731520" y="1965960"/>
            <a:chExt cx="2407844" cy="3197961"/>
          </a:xfrm>
        </p:grpSpPr>
        <p:sp>
          <p:nvSpPr>
            <p:cNvPr id="10" name="Shape 8"/>
            <p:cNvSpPr/>
            <p:nvPr/>
          </p:nvSpPr>
          <p:spPr>
            <a:xfrm>
              <a:off x="731520" y="1965960"/>
              <a:ext cx="2407844" cy="3197961"/>
            </a:xfrm>
            <a:prstGeom prst="roundRect">
              <a:avLst>
                <a:gd name="adj" fmla="val 1899"/>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alert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1859204" cy="546201"/>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Une alerte ou un signalement</a:t>
              </a:r>
              <a:endParaRPr lang="en-US" sz="1550" dirty="0"/>
            </a:p>
          </p:txBody>
        </p:sp>
        <p:sp>
          <p:nvSpPr>
            <p:cNvPr id="14" name="Text 11"/>
            <p:cNvSpPr txBox="1"/>
            <p:nvPr/>
          </p:nvSpPr>
          <p:spPr>
            <a:xfrm>
              <a:off x="1005840" y="3611880"/>
              <a:ext cx="1859204"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Une plainte, un signalement, un droit d'alerte. Porte d'entrée la plus fréquente, et la plus tardive.</a:t>
              </a:r>
              <a:endParaRPr lang="en-US" sz="1250" dirty="0"/>
            </a:p>
          </p:txBody>
        </p:sp>
      </p:grpSp>
      <p:grpSp>
        <p:nvGrpSpPr>
          <p:cNvPr id="9257" name="Bloc 2"/>
          <p:cNvGrpSpPr/>
          <p:nvPr/>
        </p:nvGrpSpPr>
        <p:grpSpPr>
          <a:xfrm>
            <a:off x="3505124" y="1965960"/>
            <a:ext cx="2407844" cy="3197961"/>
            <a:chOff x="3505124" y="1965960"/>
            <a:chExt cx="2407844" cy="3197961"/>
          </a:xfrm>
        </p:grpSpPr>
        <p:sp>
          <p:nvSpPr>
            <p:cNvPr id="15" name="Shape 12"/>
            <p:cNvSpPr/>
            <p:nvPr/>
          </p:nvSpPr>
          <p:spPr>
            <a:xfrm>
              <a:off x="3505124" y="1965960"/>
              <a:ext cx="2407844" cy="3197961"/>
            </a:xfrm>
            <a:prstGeom prst="roundRect">
              <a:avLst>
                <a:gd name="adj" fmla="val 1899"/>
              </a:avLst>
            </a:prstGeom>
            <a:solidFill>
              <a:srgbClr val="F2F2F2"/>
            </a:solidFill>
            <a:ln/>
          </p:spPr>
          <p:txBody>
            <a:bodyPr/>
            <a:lstStyle/>
            <a:p>
              <a:endParaRPr/>
            </a:p>
          </p:txBody>
        </p:sp>
        <p:sp>
          <p:nvSpPr>
            <p:cNvPr id="16" name="Shape 13"/>
            <p:cNvSpPr/>
            <p:nvPr/>
          </p:nvSpPr>
          <p:spPr>
            <a:xfrm>
              <a:off x="3779444" y="2240280"/>
              <a:ext cx="731520" cy="731520"/>
            </a:xfrm>
            <a:prstGeom prst="ellipse">
              <a:avLst/>
            </a:prstGeom>
            <a:solidFill>
              <a:srgbClr val="075767"/>
            </a:solidFill>
            <a:ln/>
          </p:spPr>
          <p:txBody>
            <a:bodyPr/>
            <a:lstStyle/>
            <a:p>
              <a:endParaRPr/>
            </a:p>
          </p:txBody>
        </p:sp>
        <p:pic>
          <p:nvPicPr>
            <p:cNvPr id="17" name="Image 1" descr="/home/claude/tmo/build/ico/document-blanc.png"/>
            <p:cNvPicPr>
              <a:picLocks noChangeAspect="1"/>
            </p:cNvPicPr>
            <p:nvPr/>
          </p:nvPicPr>
          <p:blipFill>
            <a:blip r:embed="rId4"/>
            <a:stretch>
              <a:fillRect/>
            </a:stretch>
          </p:blipFill>
          <p:spPr>
            <a:xfrm>
              <a:off x="3969639" y="2430475"/>
              <a:ext cx="351130" cy="351130"/>
            </a:xfrm>
            <a:prstGeom prst="rect">
              <a:avLst/>
            </a:prstGeom>
          </p:spPr>
        </p:pic>
        <p:sp>
          <p:nvSpPr>
            <p:cNvPr id="18" name="Text 14"/>
            <p:cNvSpPr txBox="1"/>
            <p:nvPr/>
          </p:nvSpPr>
          <p:spPr>
            <a:xfrm>
              <a:off x="3779444" y="3108960"/>
              <a:ext cx="1859204" cy="546201"/>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Une atteinte déclarée</a:t>
              </a:r>
              <a:endParaRPr lang="en-US" sz="1550" dirty="0"/>
            </a:p>
          </p:txBody>
        </p:sp>
        <p:sp>
          <p:nvSpPr>
            <p:cNvPr id="19" name="Text 15"/>
            <p:cNvSpPr txBox="1"/>
            <p:nvPr/>
          </p:nvSpPr>
          <p:spPr>
            <a:xfrm>
              <a:off x="3779444" y="3611880"/>
              <a:ext cx="1859204"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Un accident du travail ou une maladie professionnelle déclarée en lien avec les RPS.</a:t>
              </a:r>
              <a:endParaRPr lang="en-US" sz="1250" dirty="0"/>
            </a:p>
          </p:txBody>
        </p:sp>
      </p:grpSp>
      <p:grpSp>
        <p:nvGrpSpPr>
          <p:cNvPr id="9258" name="Bloc 3"/>
          <p:cNvGrpSpPr/>
          <p:nvPr/>
        </p:nvGrpSpPr>
        <p:grpSpPr>
          <a:xfrm>
            <a:off x="6278728" y="1965960"/>
            <a:ext cx="2407844" cy="3108960"/>
            <a:chOff x="6278728" y="1965960"/>
            <a:chExt cx="2407844" cy="3108960"/>
          </a:xfrm>
        </p:grpSpPr>
        <p:sp>
          <p:nvSpPr>
            <p:cNvPr id="20" name="Shape 16"/>
            <p:cNvSpPr/>
            <p:nvPr/>
          </p:nvSpPr>
          <p:spPr>
            <a:xfrm>
              <a:off x="6278728" y="1965960"/>
              <a:ext cx="2407844" cy="3108960"/>
            </a:xfrm>
            <a:prstGeom prst="roundRect">
              <a:avLst>
                <a:gd name="adj" fmla="val 1899"/>
              </a:avLst>
            </a:prstGeom>
            <a:solidFill>
              <a:srgbClr val="F2F2F2"/>
            </a:solidFill>
            <a:ln/>
          </p:spPr>
          <p:txBody>
            <a:bodyPr/>
            <a:lstStyle/>
            <a:p>
              <a:endParaRPr/>
            </a:p>
          </p:txBody>
        </p:sp>
        <p:sp>
          <p:nvSpPr>
            <p:cNvPr id="21" name="Shape 17"/>
            <p:cNvSpPr/>
            <p:nvPr/>
          </p:nvSpPr>
          <p:spPr>
            <a:xfrm>
              <a:off x="6553048" y="2240280"/>
              <a:ext cx="731520" cy="731520"/>
            </a:xfrm>
            <a:prstGeom prst="ellipse">
              <a:avLst/>
            </a:prstGeom>
            <a:solidFill>
              <a:srgbClr val="075767"/>
            </a:solidFill>
            <a:ln/>
          </p:spPr>
          <p:txBody>
            <a:bodyPr/>
            <a:lstStyle/>
            <a:p>
              <a:endParaRPr/>
            </a:p>
          </p:txBody>
        </p:sp>
        <p:pic>
          <p:nvPicPr>
            <p:cNvPr id="22" name="Image 2" descr="/home/claude/tmo/build/ico/graphique-blanc.png"/>
            <p:cNvPicPr>
              <a:picLocks noChangeAspect="1"/>
            </p:cNvPicPr>
            <p:nvPr/>
          </p:nvPicPr>
          <p:blipFill>
            <a:blip r:embed="rId5"/>
            <a:stretch>
              <a:fillRect/>
            </a:stretch>
          </p:blipFill>
          <p:spPr>
            <a:xfrm>
              <a:off x="6743243" y="2430475"/>
              <a:ext cx="351130" cy="351130"/>
            </a:xfrm>
            <a:prstGeom prst="rect">
              <a:avLst/>
            </a:prstGeom>
          </p:spPr>
        </p:pic>
        <p:sp>
          <p:nvSpPr>
            <p:cNvPr id="23" name="Text 18"/>
            <p:cNvSpPr txBox="1"/>
            <p:nvPr/>
          </p:nvSpPr>
          <p:spPr>
            <a:xfrm>
              <a:off x="6553048" y="3108960"/>
              <a:ext cx="1859204"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Une évaluation</a:t>
              </a:r>
              <a:endParaRPr lang="en-US" sz="1550" dirty="0"/>
            </a:p>
          </p:txBody>
        </p:sp>
        <p:sp>
          <p:nvSpPr>
            <p:cNvPr id="24" name="Text 19"/>
            <p:cNvSpPr txBox="1"/>
            <p:nvPr/>
          </p:nvSpPr>
          <p:spPr>
            <a:xfrm>
              <a:off x="6553048" y="3611880"/>
              <a:ext cx="1859204"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L'évaluation des RPS dans les situations de travail existantes, intégrée au DUERP.</a:t>
              </a:r>
              <a:endParaRPr lang="en-US" sz="1250" dirty="0"/>
            </a:p>
          </p:txBody>
        </p:sp>
      </p:grpSp>
      <p:grpSp>
        <p:nvGrpSpPr>
          <p:cNvPr id="9259" name="Bloc 4"/>
          <p:cNvGrpSpPr/>
          <p:nvPr/>
        </p:nvGrpSpPr>
        <p:grpSpPr>
          <a:xfrm>
            <a:off x="9052331" y="1965960"/>
            <a:ext cx="2407844" cy="3108960"/>
            <a:chOff x="9052331" y="1965960"/>
            <a:chExt cx="2407844" cy="3108960"/>
          </a:xfrm>
        </p:grpSpPr>
        <p:sp>
          <p:nvSpPr>
            <p:cNvPr id="25" name="Shape 20"/>
            <p:cNvSpPr/>
            <p:nvPr/>
          </p:nvSpPr>
          <p:spPr>
            <a:xfrm>
              <a:off x="9052331" y="1965960"/>
              <a:ext cx="2407844" cy="3108960"/>
            </a:xfrm>
            <a:prstGeom prst="roundRect">
              <a:avLst>
                <a:gd name="adj" fmla="val 1899"/>
              </a:avLst>
            </a:prstGeom>
            <a:solidFill>
              <a:srgbClr val="F2F2F2"/>
            </a:solidFill>
            <a:ln/>
          </p:spPr>
          <p:txBody>
            <a:bodyPr/>
            <a:lstStyle/>
            <a:p>
              <a:endParaRPr/>
            </a:p>
          </p:txBody>
        </p:sp>
        <p:sp>
          <p:nvSpPr>
            <p:cNvPr id="26" name="Shape 21"/>
            <p:cNvSpPr/>
            <p:nvPr/>
          </p:nvSpPr>
          <p:spPr>
            <a:xfrm>
              <a:off x="9326651" y="2240280"/>
              <a:ext cx="731520" cy="731520"/>
            </a:xfrm>
            <a:prstGeom prst="ellipse">
              <a:avLst/>
            </a:prstGeom>
            <a:solidFill>
              <a:srgbClr val="075767"/>
            </a:solidFill>
            <a:ln/>
          </p:spPr>
          <p:txBody>
            <a:bodyPr/>
            <a:lstStyle/>
            <a:p>
              <a:endParaRPr/>
            </a:p>
          </p:txBody>
        </p:sp>
        <p:pic>
          <p:nvPicPr>
            <p:cNvPr id="27" name="Image 3" descr="/home/claude/tmo/build/ico/idee-blanc.png"/>
            <p:cNvPicPr>
              <a:picLocks noChangeAspect="1"/>
            </p:cNvPicPr>
            <p:nvPr/>
          </p:nvPicPr>
          <p:blipFill>
            <a:blip r:embed="rId6"/>
            <a:stretch>
              <a:fillRect/>
            </a:stretch>
          </p:blipFill>
          <p:spPr>
            <a:xfrm>
              <a:off x="9516847" y="2430475"/>
              <a:ext cx="351130" cy="351130"/>
            </a:xfrm>
            <a:prstGeom prst="rect">
              <a:avLst/>
            </a:prstGeom>
          </p:spPr>
        </p:pic>
        <p:sp>
          <p:nvSpPr>
            <p:cNvPr id="28" name="Text 22"/>
            <p:cNvSpPr txBox="1"/>
            <p:nvPr/>
          </p:nvSpPr>
          <p:spPr>
            <a:xfrm>
              <a:off x="9326651" y="3108960"/>
              <a:ext cx="1859204"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Un projet</a:t>
              </a:r>
              <a:endParaRPr lang="en-US" sz="1550" dirty="0"/>
            </a:p>
          </p:txBody>
        </p:sp>
        <p:sp>
          <p:nvSpPr>
            <p:cNvPr id="29" name="Text 23"/>
            <p:cNvSpPr txBox="1"/>
            <p:nvPr/>
          </p:nvSpPr>
          <p:spPr>
            <a:xfrm>
              <a:off x="9326651" y="3611880"/>
              <a:ext cx="1859204"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L'évaluation en amont d'un projet modifiant les conditions de travail. La plus facile, et la plus rare.</a:t>
              </a:r>
              <a:endParaRPr lang="en-US" sz="1250" dirty="0"/>
            </a:p>
          </p:txBody>
        </p:sp>
      </p:grpSp>
      <p:grpSp>
        <p:nvGrpSpPr>
          <p:cNvPr id="9260" name="Bloc 5"/>
          <p:cNvGrpSpPr/>
          <p:nvPr/>
        </p:nvGrpSpPr>
        <p:grpSpPr>
          <a:xfrm>
            <a:off x="731520" y="5257800"/>
            <a:ext cx="10728655" cy="841248"/>
            <a:chOff x="731520" y="5257800"/>
            <a:chExt cx="10728655" cy="841248"/>
          </a:xfrm>
        </p:grpSpPr>
        <p:sp>
          <p:nvSpPr>
            <p:cNvPr id="30" name="Shape 24"/>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31" name="Text 25"/>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L'ordre de difficulté   </a:t>
              </a:r>
              <a:r>
                <a:rPr lang="en-US" sz="1300" dirty="0">
                  <a:solidFill>
                    <a:srgbClr val="075767"/>
                  </a:solidFill>
                  <a:latin typeface="Lato" pitchFamily="34" charset="0"/>
                  <a:ea typeface="Lato" pitchFamily="34" charset="-122"/>
                  <a:cs typeface="Lato" pitchFamily="34" charset="-120"/>
                </a:rPr>
                <a:t>de la plus facile à la plus difficile : le projet, l'évaluation, l'atteinte déclarée, l'alerte. Plus on entre tard, plus c'est coûteux pour tout le monde.</a:t>
              </a:r>
              <a:endParaRPr lang="en-US" sz="1250" dirty="0"/>
            </a:p>
          </p:txBody>
        </p:sp>
      </p:grpSp>
      <p:pic>
        <p:nvPicPr>
          <p:cNvPr id="32" name="Image 4" descr="/home/claude/tmo/build/logo.png"/>
          <p:cNvPicPr>
            <a:picLocks noChangeAspect="1"/>
          </p:cNvPicPr>
          <p:nvPr/>
        </p:nvPicPr>
        <p:blipFill>
          <a:blip r:embed="rId7"/>
          <a:stretch>
            <a:fillRect/>
          </a:stretch>
        </p:blipFill>
        <p:spPr>
          <a:xfrm>
            <a:off x="731520" y="6199632"/>
            <a:ext cx="402336" cy="402336"/>
          </a:xfrm>
          <a:prstGeom prst="rect">
            <a:avLst/>
          </a:prstGeom>
        </p:spPr>
      </p:pic>
      <p:sp>
        <p:nvSpPr>
          <p:cNvPr id="33" name="Text 26"/>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34" name="Shape 27"/>
          <p:cNvSpPr/>
          <p:nvPr/>
        </p:nvSpPr>
        <p:spPr>
          <a:xfrm>
            <a:off x="10591495" y="6181344"/>
            <a:ext cx="438912" cy="438912"/>
          </a:xfrm>
          <a:prstGeom prst="ellipse">
            <a:avLst/>
          </a:prstGeom>
          <a:solidFill>
            <a:srgbClr val="F06C23"/>
          </a:solidFill>
          <a:ln/>
        </p:spPr>
        <p:txBody>
          <a:bodyPr/>
          <a:lstStyle/>
          <a:p>
            <a:endParaRPr/>
          </a:p>
        </p:txBody>
      </p:sp>
      <p:sp>
        <p:nvSpPr>
          <p:cNvPr id="35" name="Text 28"/>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36" name="Text 29"/>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182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56"/>
                                        </p:tgtEl>
                                        <p:attrNameLst>
                                          <p:attrName>style.visibility</p:attrName>
                                        </p:attrNameLst>
                                      </p:cBhvr>
                                      <p:to>
                                        <p:strVal val="visible"/>
                                      </p:to>
                                    </p:set>
                                    <p:animEffect transition="in" filter="fade">
                                      <p:cBhvr>
                                        <p:cTn id="7" dur="450"/>
                                        <p:tgtEl>
                                          <p:spTgt spid="92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57"/>
                                        </p:tgtEl>
                                        <p:attrNameLst>
                                          <p:attrName>style.visibility</p:attrName>
                                        </p:attrNameLst>
                                      </p:cBhvr>
                                      <p:to>
                                        <p:strVal val="visible"/>
                                      </p:to>
                                    </p:set>
                                    <p:animEffect transition="in" filter="fade">
                                      <p:cBhvr>
                                        <p:cTn id="12" dur="450"/>
                                        <p:tgtEl>
                                          <p:spTgt spid="925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58"/>
                                        </p:tgtEl>
                                        <p:attrNameLst>
                                          <p:attrName>style.visibility</p:attrName>
                                        </p:attrNameLst>
                                      </p:cBhvr>
                                      <p:to>
                                        <p:strVal val="visible"/>
                                      </p:to>
                                    </p:set>
                                    <p:animEffect transition="in" filter="fade">
                                      <p:cBhvr>
                                        <p:cTn id="17" dur="450"/>
                                        <p:tgtEl>
                                          <p:spTgt spid="925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59"/>
                                        </p:tgtEl>
                                        <p:attrNameLst>
                                          <p:attrName>style.visibility</p:attrName>
                                        </p:attrNameLst>
                                      </p:cBhvr>
                                      <p:to>
                                        <p:strVal val="visible"/>
                                      </p:to>
                                    </p:set>
                                    <p:animEffect transition="in" filter="fade">
                                      <p:cBhvr>
                                        <p:cTn id="22" dur="450"/>
                                        <p:tgtEl>
                                          <p:spTgt spid="925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60"/>
                                        </p:tgtEl>
                                        <p:attrNameLst>
                                          <p:attrName>style.visibility</p:attrName>
                                        </p:attrNameLst>
                                      </p:cBhvr>
                                      <p:to>
                                        <p:strVal val="visible"/>
                                      </p:to>
                                    </p:set>
                                    <p:animEffect transition="in" filter="fade">
                                      <p:cBhvr>
                                        <p:cTn id="27" dur="450"/>
                                        <p:tgtEl>
                                          <p:spTgt spid="9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cinq étapes de la démarche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Shape 8"/>
          <p:cNvSpPr/>
          <p:nvPr/>
        </p:nvSpPr>
        <p:spPr>
          <a:xfrm>
            <a:off x="2057400" y="2743200"/>
            <a:ext cx="8076895" cy="0"/>
          </a:xfrm>
          <a:prstGeom prst="line">
            <a:avLst/>
          </a:prstGeom>
          <a:noFill/>
          <a:ln w="25400">
            <a:solidFill>
              <a:srgbClr val="C1D5D9"/>
            </a:solidFill>
            <a:prstDash val="solid"/>
          </a:ln>
        </p:spPr>
        <p:txBody>
          <a:bodyPr/>
          <a:lstStyle/>
          <a:p>
            <a:endParaRPr/>
          </a:p>
        </p:txBody>
      </p:sp>
      <p:grpSp>
        <p:nvGrpSpPr>
          <p:cNvPr id="9261" name="Bloc 1"/>
          <p:cNvGrpSpPr/>
          <p:nvPr/>
        </p:nvGrpSpPr>
        <p:grpSpPr>
          <a:xfrm>
            <a:off x="1691640" y="2377440"/>
            <a:ext cx="731520" cy="731520"/>
            <a:chOff x="1691640" y="2377440"/>
            <a:chExt cx="731520" cy="731520"/>
          </a:xfrm>
        </p:grpSpPr>
        <p:sp>
          <p:nvSpPr>
            <p:cNvPr id="11" name="Shape 9"/>
            <p:cNvSpPr/>
            <p:nvPr/>
          </p:nvSpPr>
          <p:spPr>
            <a:xfrm>
              <a:off x="1691640" y="2377440"/>
              <a:ext cx="731520" cy="731520"/>
            </a:xfrm>
            <a:prstGeom prst="ellipse">
              <a:avLst/>
            </a:prstGeom>
            <a:solidFill>
              <a:srgbClr val="F06C23"/>
            </a:solidFill>
            <a:ln w="38100">
              <a:solidFill>
                <a:srgbClr val="FFFFFF"/>
              </a:solidFill>
              <a:prstDash val="solid"/>
            </a:ln>
          </p:spPr>
          <p:txBody>
            <a:bodyPr/>
            <a:lstStyle/>
            <a:p>
              <a:endParaRPr/>
            </a:p>
          </p:txBody>
        </p:sp>
        <p:sp>
          <p:nvSpPr>
            <p:cNvPr id="12" name="Text 10"/>
            <p:cNvSpPr txBox="1"/>
            <p:nvPr/>
          </p:nvSpPr>
          <p:spPr>
            <a:xfrm>
              <a:off x="1691640"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1</a:t>
              </a:r>
              <a:endParaRPr lang="en-US" sz="1900" dirty="0"/>
            </a:p>
          </p:txBody>
        </p:sp>
      </p:grpSp>
      <p:sp>
        <p:nvSpPr>
          <p:cNvPr id="13" name="Text 11"/>
          <p:cNvSpPr txBox="1"/>
          <p:nvPr/>
        </p:nvSpPr>
        <p:spPr>
          <a:xfrm>
            <a:off x="997308" y="3273552"/>
            <a:ext cx="2120185"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Préparer</a:t>
            </a:r>
            <a:endParaRPr lang="en-US" sz="1550" dirty="0"/>
          </a:p>
        </p:txBody>
      </p:sp>
      <p:sp>
        <p:nvSpPr>
          <p:cNvPr id="14" name="Text 12"/>
          <p:cNvSpPr txBox="1"/>
          <p:nvPr/>
        </p:nvSpPr>
        <p:spPr>
          <a:xfrm>
            <a:off x="997308" y="3694176"/>
            <a:ext cx="2120185"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Cadrer, engager, protéger la parole</a:t>
            </a:r>
            <a:endParaRPr lang="en-US" sz="1150" dirty="0"/>
          </a:p>
        </p:txBody>
      </p:sp>
      <p:grpSp>
        <p:nvGrpSpPr>
          <p:cNvPr id="9262" name="Bloc 2"/>
          <p:cNvGrpSpPr/>
          <p:nvPr/>
        </p:nvGrpSpPr>
        <p:grpSpPr>
          <a:xfrm>
            <a:off x="3710864" y="2377440"/>
            <a:ext cx="731520" cy="731520"/>
            <a:chOff x="3710864" y="2377440"/>
            <a:chExt cx="731520" cy="731520"/>
          </a:xfrm>
        </p:grpSpPr>
        <p:sp>
          <p:nvSpPr>
            <p:cNvPr id="15" name="Shape 13"/>
            <p:cNvSpPr/>
            <p:nvPr/>
          </p:nvSpPr>
          <p:spPr>
            <a:xfrm>
              <a:off x="3710864" y="2377440"/>
              <a:ext cx="731520" cy="731520"/>
            </a:xfrm>
            <a:prstGeom prst="ellipse">
              <a:avLst/>
            </a:prstGeom>
            <a:solidFill>
              <a:srgbClr val="075767"/>
            </a:solidFill>
            <a:ln w="38100">
              <a:solidFill>
                <a:srgbClr val="FFFFFF"/>
              </a:solidFill>
              <a:prstDash val="solid"/>
            </a:ln>
          </p:spPr>
          <p:txBody>
            <a:bodyPr/>
            <a:lstStyle/>
            <a:p>
              <a:endParaRPr/>
            </a:p>
          </p:txBody>
        </p:sp>
        <p:sp>
          <p:nvSpPr>
            <p:cNvPr id="16" name="Text 14"/>
            <p:cNvSpPr txBox="1"/>
            <p:nvPr/>
          </p:nvSpPr>
          <p:spPr>
            <a:xfrm>
              <a:off x="3710864"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2</a:t>
              </a:r>
              <a:endParaRPr lang="en-US" sz="1900" dirty="0"/>
            </a:p>
          </p:txBody>
        </p:sp>
      </p:grpSp>
      <p:sp>
        <p:nvSpPr>
          <p:cNvPr id="17" name="Text 15"/>
          <p:cNvSpPr txBox="1"/>
          <p:nvPr/>
        </p:nvSpPr>
        <p:spPr>
          <a:xfrm>
            <a:off x="3016531" y="3273552"/>
            <a:ext cx="2120185"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Analyser</a:t>
            </a:r>
            <a:endParaRPr lang="en-US" sz="1550" dirty="0"/>
          </a:p>
        </p:txBody>
      </p:sp>
      <p:sp>
        <p:nvSpPr>
          <p:cNvPr id="18" name="Text 16"/>
          <p:cNvSpPr txBox="1"/>
          <p:nvPr/>
        </p:nvSpPr>
        <p:spPr>
          <a:xfrm>
            <a:off x="3016531" y="3694176"/>
            <a:ext cx="2120185"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Les situations de travail réel</a:t>
            </a:r>
            <a:endParaRPr lang="en-US" sz="1150" dirty="0"/>
          </a:p>
        </p:txBody>
      </p:sp>
      <p:grpSp>
        <p:nvGrpSpPr>
          <p:cNvPr id="9263" name="Bloc 3"/>
          <p:cNvGrpSpPr/>
          <p:nvPr/>
        </p:nvGrpSpPr>
        <p:grpSpPr>
          <a:xfrm>
            <a:off x="5730088" y="2377440"/>
            <a:ext cx="731520" cy="731520"/>
            <a:chOff x="5730088" y="2377440"/>
            <a:chExt cx="731520" cy="731520"/>
          </a:xfrm>
        </p:grpSpPr>
        <p:sp>
          <p:nvSpPr>
            <p:cNvPr id="19" name="Shape 17"/>
            <p:cNvSpPr/>
            <p:nvPr/>
          </p:nvSpPr>
          <p:spPr>
            <a:xfrm>
              <a:off x="5730088" y="2377440"/>
              <a:ext cx="731520" cy="731520"/>
            </a:xfrm>
            <a:prstGeom prst="ellipse">
              <a:avLst/>
            </a:prstGeom>
            <a:solidFill>
              <a:srgbClr val="075767"/>
            </a:solidFill>
            <a:ln w="38100">
              <a:solidFill>
                <a:srgbClr val="FFFFFF"/>
              </a:solidFill>
              <a:prstDash val="solid"/>
            </a:ln>
          </p:spPr>
          <p:txBody>
            <a:bodyPr/>
            <a:lstStyle/>
            <a:p>
              <a:endParaRPr/>
            </a:p>
          </p:txBody>
        </p:sp>
        <p:sp>
          <p:nvSpPr>
            <p:cNvPr id="20" name="Text 18"/>
            <p:cNvSpPr txBox="1"/>
            <p:nvPr/>
          </p:nvSpPr>
          <p:spPr>
            <a:xfrm>
              <a:off x="5730088"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3</a:t>
              </a:r>
              <a:endParaRPr lang="en-US" sz="1900" dirty="0"/>
            </a:p>
          </p:txBody>
        </p:sp>
      </p:grpSp>
      <p:sp>
        <p:nvSpPr>
          <p:cNvPr id="21" name="Text 19"/>
          <p:cNvSpPr txBox="1"/>
          <p:nvPr/>
        </p:nvSpPr>
        <p:spPr>
          <a:xfrm>
            <a:off x="5035755" y="3273552"/>
            <a:ext cx="2120185"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Élaborer</a:t>
            </a:r>
            <a:endParaRPr lang="en-US" sz="1550" dirty="0"/>
          </a:p>
        </p:txBody>
      </p:sp>
      <p:sp>
        <p:nvSpPr>
          <p:cNvPr id="22" name="Text 20"/>
          <p:cNvSpPr txBox="1"/>
          <p:nvPr/>
        </p:nvSpPr>
        <p:spPr>
          <a:xfrm>
            <a:off x="5035755" y="3694176"/>
            <a:ext cx="2120185"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Un plan d'action précis et chiffré</a:t>
            </a:r>
            <a:endParaRPr lang="en-US" sz="1150" dirty="0"/>
          </a:p>
        </p:txBody>
      </p:sp>
      <p:grpSp>
        <p:nvGrpSpPr>
          <p:cNvPr id="9264" name="Bloc 4"/>
          <p:cNvGrpSpPr/>
          <p:nvPr/>
        </p:nvGrpSpPr>
        <p:grpSpPr>
          <a:xfrm>
            <a:off x="7749311" y="2377440"/>
            <a:ext cx="731520" cy="731520"/>
            <a:chOff x="7749311" y="2377440"/>
            <a:chExt cx="731520" cy="731520"/>
          </a:xfrm>
        </p:grpSpPr>
        <p:sp>
          <p:nvSpPr>
            <p:cNvPr id="23" name="Shape 21"/>
            <p:cNvSpPr/>
            <p:nvPr/>
          </p:nvSpPr>
          <p:spPr>
            <a:xfrm>
              <a:off x="7749311" y="2377440"/>
              <a:ext cx="731520" cy="731520"/>
            </a:xfrm>
            <a:prstGeom prst="ellipse">
              <a:avLst/>
            </a:prstGeom>
            <a:solidFill>
              <a:srgbClr val="075767"/>
            </a:solidFill>
            <a:ln w="38100">
              <a:solidFill>
                <a:srgbClr val="FFFFFF"/>
              </a:solidFill>
              <a:prstDash val="solid"/>
            </a:ln>
          </p:spPr>
          <p:txBody>
            <a:bodyPr/>
            <a:lstStyle/>
            <a:p>
              <a:endParaRPr/>
            </a:p>
          </p:txBody>
        </p:sp>
        <p:sp>
          <p:nvSpPr>
            <p:cNvPr id="24" name="Text 22"/>
            <p:cNvSpPr txBox="1"/>
            <p:nvPr/>
          </p:nvSpPr>
          <p:spPr>
            <a:xfrm>
              <a:off x="7749311"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4</a:t>
              </a:r>
              <a:endParaRPr lang="en-US" sz="1900" dirty="0"/>
            </a:p>
          </p:txBody>
        </p:sp>
      </p:grpSp>
      <p:sp>
        <p:nvSpPr>
          <p:cNvPr id="25" name="Text 23"/>
          <p:cNvSpPr txBox="1"/>
          <p:nvPr/>
        </p:nvSpPr>
        <p:spPr>
          <a:xfrm>
            <a:off x="7054979" y="3273552"/>
            <a:ext cx="2120185"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Mettre en œuvre</a:t>
            </a:r>
            <a:endParaRPr lang="en-US" sz="1550" dirty="0"/>
          </a:p>
        </p:txBody>
      </p:sp>
      <p:sp>
        <p:nvSpPr>
          <p:cNvPr id="26" name="Text 24"/>
          <p:cNvSpPr txBox="1"/>
          <p:nvPr/>
        </p:nvSpPr>
        <p:spPr>
          <a:xfrm>
            <a:off x="7054979" y="3694176"/>
            <a:ext cx="2120185"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Par les personnes désignées</a:t>
            </a:r>
            <a:endParaRPr lang="en-US" sz="1150" dirty="0"/>
          </a:p>
        </p:txBody>
      </p:sp>
      <p:grpSp>
        <p:nvGrpSpPr>
          <p:cNvPr id="9265" name="Bloc 5"/>
          <p:cNvGrpSpPr/>
          <p:nvPr/>
        </p:nvGrpSpPr>
        <p:grpSpPr>
          <a:xfrm>
            <a:off x="9768535" y="2377440"/>
            <a:ext cx="731520" cy="731520"/>
            <a:chOff x="9768535" y="2377440"/>
            <a:chExt cx="731520" cy="731520"/>
          </a:xfrm>
        </p:grpSpPr>
        <p:sp>
          <p:nvSpPr>
            <p:cNvPr id="27" name="Shape 25"/>
            <p:cNvSpPr/>
            <p:nvPr/>
          </p:nvSpPr>
          <p:spPr>
            <a:xfrm>
              <a:off x="9768535" y="2377440"/>
              <a:ext cx="731520" cy="731520"/>
            </a:xfrm>
            <a:prstGeom prst="ellipse">
              <a:avLst/>
            </a:prstGeom>
            <a:solidFill>
              <a:srgbClr val="075767"/>
            </a:solidFill>
            <a:ln w="38100">
              <a:solidFill>
                <a:srgbClr val="FFFFFF"/>
              </a:solidFill>
              <a:prstDash val="solid"/>
            </a:ln>
          </p:spPr>
          <p:txBody>
            <a:bodyPr/>
            <a:lstStyle/>
            <a:p>
              <a:endParaRPr/>
            </a:p>
          </p:txBody>
        </p:sp>
        <p:sp>
          <p:nvSpPr>
            <p:cNvPr id="28" name="Text 26"/>
            <p:cNvSpPr txBox="1"/>
            <p:nvPr/>
          </p:nvSpPr>
          <p:spPr>
            <a:xfrm>
              <a:off x="9768535" y="2377440"/>
              <a:ext cx="731520" cy="731520"/>
            </a:xfrm>
            <a:prstGeom prst="rect">
              <a:avLst/>
            </a:prstGeom>
            <a:noFill/>
            <a:ln/>
          </p:spPr>
          <p:txBody>
            <a:bodyPr wrap="square" lIns="0" tIns="0" rIns="0" bIns="0" rtlCol="0" anchor="ctr"/>
            <a:lstStyle/>
            <a:p>
              <a:pPr marL="0" indent="0" algn="ctr">
                <a:buNone/>
              </a:pPr>
              <a:r>
                <a:rPr lang="en-US" sz="1900" b="1" dirty="0">
                  <a:solidFill>
                    <a:srgbClr val="FFFFFF"/>
                  </a:solidFill>
                  <a:latin typeface="Lato" pitchFamily="34" charset="0"/>
                  <a:ea typeface="Lato" pitchFamily="34" charset="-122"/>
                  <a:cs typeface="Lato" pitchFamily="34" charset="-120"/>
                </a:rPr>
                <a:t>5</a:t>
              </a:r>
              <a:endParaRPr lang="en-US" sz="1900" dirty="0"/>
            </a:p>
          </p:txBody>
        </p:sp>
      </p:grpSp>
      <p:sp>
        <p:nvSpPr>
          <p:cNvPr id="29" name="Text 27"/>
          <p:cNvSpPr txBox="1"/>
          <p:nvPr/>
        </p:nvSpPr>
        <p:spPr>
          <a:xfrm>
            <a:off x="9074203" y="3273552"/>
            <a:ext cx="2120185" cy="384048"/>
          </a:xfrm>
          <a:prstGeom prst="rect">
            <a:avLst/>
          </a:prstGeom>
          <a:noFill/>
          <a:ln/>
        </p:spPr>
        <p:txBody>
          <a:bodyPr wrap="square" lIns="0" tIns="0" rIns="0" bIns="0" rtlCol="0" anchor="t"/>
          <a:lstStyle/>
          <a:p>
            <a:pPr marL="0" indent="0" algn="ctr">
              <a:buNone/>
            </a:pPr>
            <a:r>
              <a:rPr lang="en-US" sz="1550" b="1" dirty="0">
                <a:solidFill>
                  <a:srgbClr val="075767"/>
                </a:solidFill>
                <a:latin typeface="Lato" pitchFamily="34" charset="0"/>
                <a:ea typeface="Lato" pitchFamily="34" charset="-122"/>
                <a:cs typeface="Lato" pitchFamily="34" charset="-120"/>
              </a:rPr>
              <a:t>Suivre</a:t>
            </a:r>
            <a:endParaRPr lang="en-US" sz="1550" dirty="0"/>
          </a:p>
        </p:txBody>
      </p:sp>
      <p:sp>
        <p:nvSpPr>
          <p:cNvPr id="30" name="Text 28"/>
          <p:cNvSpPr txBox="1"/>
          <p:nvPr/>
        </p:nvSpPr>
        <p:spPr>
          <a:xfrm>
            <a:off x="9074203" y="3694176"/>
            <a:ext cx="2120185" cy="1188720"/>
          </a:xfrm>
          <a:prstGeom prst="rect">
            <a:avLst/>
          </a:prstGeom>
          <a:noFill/>
          <a:ln/>
        </p:spPr>
        <p:txBody>
          <a:bodyPr wrap="square" lIns="0" tIns="0" rIns="0" bIns="0" rtlCol="0" anchor="t"/>
          <a:lstStyle/>
          <a:p>
            <a:pPr marL="0" indent="0" algn="ctr">
              <a:lnSpc>
                <a:spcPct val="112000"/>
              </a:lnSpc>
              <a:buNone/>
            </a:pPr>
            <a:r>
              <a:rPr lang="en-US" sz="1150" dirty="0">
                <a:solidFill>
                  <a:srgbClr val="595959"/>
                </a:solidFill>
                <a:latin typeface="Lato" pitchFamily="34" charset="0"/>
                <a:ea typeface="Lato" pitchFamily="34" charset="-122"/>
                <a:cs typeface="Lato" pitchFamily="34" charset="-120"/>
              </a:rPr>
              <a:t>Évaluer les actions et leurs effets</a:t>
            </a:r>
            <a:endParaRPr lang="en-US" sz="1150" dirty="0"/>
          </a:p>
        </p:txBody>
      </p:sp>
      <p:grpSp>
        <p:nvGrpSpPr>
          <p:cNvPr id="9266" name="Bloc 17"/>
          <p:cNvGrpSpPr/>
          <p:nvPr/>
        </p:nvGrpSpPr>
        <p:grpSpPr>
          <a:xfrm>
            <a:off x="731520" y="5029200"/>
            <a:ext cx="10728655" cy="841248"/>
            <a:chOff x="731520" y="5029200"/>
            <a:chExt cx="10728655" cy="841248"/>
          </a:xfrm>
        </p:grpSpPr>
        <p:sp>
          <p:nvSpPr>
            <p:cNvPr id="31" name="Shape 29"/>
            <p:cNvSpPr/>
            <p:nvPr/>
          </p:nvSpPr>
          <p:spPr>
            <a:xfrm>
              <a:off x="731520" y="5029200"/>
              <a:ext cx="10728655" cy="841248"/>
            </a:xfrm>
            <a:prstGeom prst="roundRect">
              <a:avLst>
                <a:gd name="adj" fmla="val 6522"/>
              </a:avLst>
            </a:prstGeom>
            <a:solidFill>
              <a:srgbClr val="D7E8EB"/>
            </a:solidFill>
            <a:ln/>
          </p:spPr>
          <p:txBody>
            <a:bodyPr/>
            <a:lstStyle/>
            <a:p>
              <a:endParaRPr/>
            </a:p>
          </p:txBody>
        </p:sp>
        <p:sp>
          <p:nvSpPr>
            <p:cNvPr id="32" name="Text 30"/>
            <p:cNvSpPr txBox="1"/>
            <p:nvPr/>
          </p:nvSpPr>
          <p:spPr>
            <a:xfrm>
              <a:off x="1024128" y="50292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Source   </a:t>
              </a:r>
              <a:r>
                <a:rPr lang="en-US" sz="1300" dirty="0">
                  <a:solidFill>
                    <a:srgbClr val="075767"/>
                  </a:solidFill>
                  <a:latin typeface="Lato" pitchFamily="34" charset="0"/>
                  <a:ea typeface="Lato" pitchFamily="34" charset="-122"/>
                  <a:cs typeface="Lato" pitchFamily="34" charset="-120"/>
                </a:rPr>
                <a:t>démarche INRS de prévention des risques psychosociaux.</a:t>
              </a:r>
              <a:endParaRPr lang="en-US" sz="1250" dirty="0"/>
            </a:p>
          </p:txBody>
        </p:sp>
      </p:grpSp>
      <p:pic>
        <p:nvPicPr>
          <p:cNvPr id="33"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34" name="Text 3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35" name="Shape 32"/>
          <p:cNvSpPr/>
          <p:nvPr/>
        </p:nvSpPr>
        <p:spPr>
          <a:xfrm>
            <a:off x="10591495" y="6181344"/>
            <a:ext cx="438912" cy="438912"/>
          </a:xfrm>
          <a:prstGeom prst="ellipse">
            <a:avLst/>
          </a:prstGeom>
          <a:solidFill>
            <a:srgbClr val="F06C23"/>
          </a:solidFill>
          <a:ln/>
        </p:spPr>
        <p:txBody>
          <a:bodyPr/>
          <a:lstStyle/>
          <a:p>
            <a:endParaRPr/>
          </a:p>
        </p:txBody>
      </p:sp>
      <p:sp>
        <p:nvSpPr>
          <p:cNvPr id="36" name="Text 3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37" name="Text 3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183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61"/>
                                        </p:tgtEl>
                                        <p:attrNameLst>
                                          <p:attrName>style.visibility</p:attrName>
                                        </p:attrNameLst>
                                      </p:cBhvr>
                                      <p:to>
                                        <p:strVal val="visible"/>
                                      </p:to>
                                    </p:set>
                                    <p:animEffect transition="in" filter="fade">
                                      <p:cBhvr>
                                        <p:cTn id="7" dur="450"/>
                                        <p:tgtEl>
                                          <p:spTgt spid="92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62"/>
                                        </p:tgtEl>
                                        <p:attrNameLst>
                                          <p:attrName>style.visibility</p:attrName>
                                        </p:attrNameLst>
                                      </p:cBhvr>
                                      <p:to>
                                        <p:strVal val="visible"/>
                                      </p:to>
                                    </p:set>
                                    <p:animEffect transition="in" filter="fade">
                                      <p:cBhvr>
                                        <p:cTn id="12" dur="450"/>
                                        <p:tgtEl>
                                          <p:spTgt spid="926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63"/>
                                        </p:tgtEl>
                                        <p:attrNameLst>
                                          <p:attrName>style.visibility</p:attrName>
                                        </p:attrNameLst>
                                      </p:cBhvr>
                                      <p:to>
                                        <p:strVal val="visible"/>
                                      </p:to>
                                    </p:set>
                                    <p:animEffect transition="in" filter="fade">
                                      <p:cBhvr>
                                        <p:cTn id="17" dur="450"/>
                                        <p:tgtEl>
                                          <p:spTgt spid="926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64"/>
                                        </p:tgtEl>
                                        <p:attrNameLst>
                                          <p:attrName>style.visibility</p:attrName>
                                        </p:attrNameLst>
                                      </p:cBhvr>
                                      <p:to>
                                        <p:strVal val="visible"/>
                                      </p:to>
                                    </p:set>
                                    <p:animEffect transition="in" filter="fade">
                                      <p:cBhvr>
                                        <p:cTn id="22" dur="450"/>
                                        <p:tgtEl>
                                          <p:spTgt spid="926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65"/>
                                        </p:tgtEl>
                                        <p:attrNameLst>
                                          <p:attrName>style.visibility</p:attrName>
                                        </p:attrNameLst>
                                      </p:cBhvr>
                                      <p:to>
                                        <p:strVal val="visible"/>
                                      </p:to>
                                    </p:set>
                                    <p:animEffect transition="in" filter="fade">
                                      <p:cBhvr>
                                        <p:cTn id="27" dur="450"/>
                                        <p:tgtEl>
                                          <p:spTgt spid="926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5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5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5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5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5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45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45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45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45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450"/>
                                        <p:tgtEl>
                                          <p:spTgt spid="30"/>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9266"/>
                                        </p:tgtEl>
                                        <p:attrNameLst>
                                          <p:attrName>style.visibility</p:attrName>
                                        </p:attrNameLst>
                                      </p:cBhvr>
                                      <p:to>
                                        <p:strVal val="visible"/>
                                      </p:to>
                                    </p:set>
                                    <p:animEffect transition="in" filter="fade">
                                      <p:cBhvr>
                                        <p:cTn id="87" dur="450"/>
                                        <p:tgtEl>
                                          <p:spTgt spid="9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Préparer : les conditions de réussite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10728655"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Ce qui se joue à cette étape détermine tout le reste. Une démarche mal cadrée ne se rattrape pas.</a:t>
            </a:r>
            <a:endParaRPr lang="en-US" sz="1450" dirty="0"/>
          </a:p>
        </p:txBody>
      </p:sp>
      <p:sp>
        <p:nvSpPr>
          <p:cNvPr id="11" name="Text 9"/>
          <p:cNvSpPr txBox="1"/>
          <p:nvPr/>
        </p:nvSpPr>
        <p:spPr>
          <a:xfrm>
            <a:off x="731520" y="2487168"/>
            <a:ext cx="10728655" cy="3319272"/>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Une démarche centrée sur le travail et les situations de travail, uniquement</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Ni sur les personnes, ni sur leur personnalité</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Une démarche participative, impliquant les représentants du personnel et le service de santé au travail</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L'engagement de l'employeur d'être présent à toutes les étapes et de donner les moyens de l'analyse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Du temps, des informations, des documents</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Protéger la parole des salariés</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Notamment ceux qui sont contraints de ne pas respecter les consignes ou les procédures pour tenir le travail</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Des conditions écrites et signées par la direction et les représentants du personnel</a:t>
            </a:r>
            <a:endParaRPr lang="en-US" sz="130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Créer une commission RPS, et s'engager à mettre en œuvre les actions déterminées</a:t>
            </a:r>
            <a:endParaRPr lang="en-US" sz="1300" dirty="0"/>
          </a:p>
        </p:txBody>
      </p:sp>
      <p:pic>
        <p:nvPicPr>
          <p:cNvPr id="12"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3" name="Text 10"/>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4" name="Shape 11"/>
          <p:cNvSpPr/>
          <p:nvPr/>
        </p:nvSpPr>
        <p:spPr>
          <a:xfrm>
            <a:off x="10591495" y="6181344"/>
            <a:ext cx="438912" cy="438912"/>
          </a:xfrm>
          <a:prstGeom prst="ellipse">
            <a:avLst/>
          </a:prstGeom>
          <a:solidFill>
            <a:srgbClr val="F06C23"/>
          </a:solidFill>
          <a:ln/>
        </p:spPr>
        <p:txBody>
          <a:bodyPr/>
          <a:lstStyle/>
          <a:p>
            <a:endParaRPr/>
          </a:p>
        </p:txBody>
      </p:sp>
      <p:sp>
        <p:nvSpPr>
          <p:cNvPr id="15" name="Text 12"/>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16" name="Text 13"/>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184</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Préparer : selon la porte d'entrée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En cas d'évaluation ou de projet</a:t>
            </a:r>
            <a:endParaRPr lang="en-US" sz="1700" dirty="0"/>
          </a:p>
        </p:txBody>
      </p:sp>
      <p:sp>
        <p:nvSpPr>
          <p:cNvPr id="11" name="Text 9"/>
          <p:cNvSpPr txBox="1"/>
          <p:nvPr/>
        </p:nvSpPr>
        <p:spPr>
          <a:xfrm>
            <a:off x="731520" y="2331720"/>
            <a:ext cx="4983480" cy="34747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Faire l'inventaire de toutes les situations et de tous les changements envisagés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Choisir ensemble les situations et les thématiques à aborder</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Choisir ensemble les salariés qui participeront</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Favoriser le volontariat dans la désignation</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Ne pas mettre les encadrants en porte-à-faux lors d'une consultation collective</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Ne pas créer de tribunal : rester dans une démarche constructive</a:t>
            </a:r>
            <a:endParaRPr lang="en-US" sz="1350" dirty="0"/>
          </a:p>
        </p:txBody>
      </p:sp>
      <p:sp>
        <p:nvSpPr>
          <p:cNvPr id="12" name="Text 10"/>
          <p:cNvSpPr txBox="1"/>
          <p:nvPr/>
        </p:nvSpPr>
        <p:spPr>
          <a:xfrm>
            <a:off x="630936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En cas d'alerte ou de signalement</a:t>
            </a:r>
            <a:endParaRPr lang="en-US" sz="1700" dirty="0"/>
          </a:p>
        </p:txBody>
      </p:sp>
      <p:sp>
        <p:nvSpPr>
          <p:cNvPr id="13" name="Text 11"/>
          <p:cNvSpPr txBox="1"/>
          <p:nvPr/>
        </p:nvSpPr>
        <p:spPr>
          <a:xfrm>
            <a:off x="6309360" y="2331720"/>
            <a:ext cx="4983480" cy="34747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Offrir la possibilité d'orienter vers le service de santé au travail ou le service prévention de la CARSAT</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En cas de violence interne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Informer le salarié demandeur que d'autres personnes du service et les représentants du personnel seront impliqués dans l'analyse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Ce point conditionne son consentement éclairé : il doit savoir avant, pas après</a:t>
            </a:r>
            <a:endParaRPr lang="en-US" sz="135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185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cinq erreurs à ne pas commettre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grpSp>
        <p:nvGrpSpPr>
          <p:cNvPr id="9267" name="Bloc 1"/>
          <p:cNvGrpSpPr/>
          <p:nvPr/>
        </p:nvGrpSpPr>
        <p:grpSpPr>
          <a:xfrm>
            <a:off x="731520" y="1828800"/>
            <a:ext cx="10728655" cy="1371600"/>
            <a:chOff x="731520" y="1828800"/>
            <a:chExt cx="10728655" cy="1371600"/>
          </a:xfrm>
        </p:grpSpPr>
        <p:sp>
          <p:nvSpPr>
            <p:cNvPr id="10" name="Shape 8"/>
            <p:cNvSpPr/>
            <p:nvPr/>
          </p:nvSpPr>
          <p:spPr>
            <a:xfrm>
              <a:off x="731520" y="1828800"/>
              <a:ext cx="10728655" cy="1371600"/>
            </a:xfrm>
            <a:prstGeom prst="roundRect">
              <a:avLst>
                <a:gd name="adj" fmla="val 3333"/>
              </a:avLst>
            </a:prstGeom>
            <a:solidFill>
              <a:srgbClr val="FCEDE6"/>
            </a:solidFill>
            <a:ln/>
          </p:spPr>
          <p:txBody>
            <a:bodyPr/>
            <a:lstStyle/>
            <a:p>
              <a:endParaRPr/>
            </a:p>
          </p:txBody>
        </p:sp>
        <p:sp>
          <p:nvSpPr>
            <p:cNvPr id="11" name="Shape 9"/>
            <p:cNvSpPr/>
            <p:nvPr/>
          </p:nvSpPr>
          <p:spPr>
            <a:xfrm>
              <a:off x="987552" y="2103120"/>
              <a:ext cx="777240" cy="777240"/>
            </a:xfrm>
            <a:prstGeom prst="ellipse">
              <a:avLst/>
            </a:prstGeom>
            <a:solidFill>
              <a:srgbClr val="F06C23"/>
            </a:solidFill>
            <a:ln/>
          </p:spPr>
          <p:txBody>
            <a:bodyPr/>
            <a:lstStyle/>
            <a:p>
              <a:endParaRPr/>
            </a:p>
          </p:txBody>
        </p:sp>
        <p:pic>
          <p:nvPicPr>
            <p:cNvPr id="12" name="Image 0" descr="/home/claude/tmo/build/ico/alerte-blanc.png"/>
            <p:cNvPicPr>
              <a:picLocks noChangeAspect="1"/>
            </p:cNvPicPr>
            <p:nvPr/>
          </p:nvPicPr>
          <p:blipFill>
            <a:blip r:embed="rId3"/>
            <a:stretch>
              <a:fillRect/>
            </a:stretch>
          </p:blipFill>
          <p:spPr>
            <a:xfrm>
              <a:off x="1189634" y="2305202"/>
              <a:ext cx="373075" cy="373075"/>
            </a:xfrm>
            <a:prstGeom prst="rect">
              <a:avLst/>
            </a:prstGeom>
          </p:spPr>
        </p:pic>
        <p:sp>
          <p:nvSpPr>
            <p:cNvPr id="13" name="Text 10"/>
            <p:cNvSpPr txBox="1"/>
            <p:nvPr/>
          </p:nvSpPr>
          <p:spPr>
            <a:xfrm>
              <a:off x="1965960" y="1993392"/>
              <a:ext cx="9219895" cy="320040"/>
            </a:xfrm>
            <a:prstGeom prst="rect">
              <a:avLst/>
            </a:prstGeom>
            <a:noFill/>
            <a:ln/>
          </p:spPr>
          <p:txBody>
            <a:bodyPr wrap="square" lIns="0" tIns="0" rIns="0" bIns="0" rtlCol="0" anchor="t"/>
            <a:lstStyle/>
            <a:p>
              <a:pPr marL="0" indent="0">
                <a:buNone/>
              </a:pPr>
              <a:r>
                <a:rPr lang="en-US" sz="1350" b="1" dirty="0">
                  <a:solidFill>
                    <a:srgbClr val="C33F14"/>
                  </a:solidFill>
                  <a:latin typeface="Lato" pitchFamily="34" charset="0"/>
                  <a:ea typeface="Lato" pitchFamily="34" charset="-122"/>
                  <a:cs typeface="Lato" pitchFamily="34" charset="-120"/>
                </a:rPr>
                <a:t>Elles suffisent à faire échouer une démarche entière</a:t>
              </a:r>
              <a:endParaRPr lang="en-US" sz="1350" dirty="0"/>
            </a:p>
          </p:txBody>
        </p:sp>
        <p:sp>
          <p:nvSpPr>
            <p:cNvPr id="14" name="Text 11"/>
            <p:cNvSpPr txBox="1"/>
            <p:nvPr/>
          </p:nvSpPr>
          <p:spPr>
            <a:xfrm>
              <a:off x="1965960" y="2340864"/>
              <a:ext cx="9219895" cy="777240"/>
            </a:xfrm>
            <a:prstGeom prst="rect">
              <a:avLst/>
            </a:prstGeom>
            <a:noFill/>
            <a:ln/>
          </p:spPr>
          <p:txBody>
            <a:bodyPr wrap="square" lIns="0" tIns="0" rIns="0" bIns="0" rtlCol="0" anchor="t"/>
            <a:lstStyle/>
            <a:p>
              <a:pPr marL="0" indent="0">
                <a:lnSpc>
                  <a:spcPct val="110000"/>
                </a:lnSpc>
                <a:buNone/>
              </a:pPr>
              <a:r>
                <a:rPr lang="en-US" sz="1350" dirty="0">
                  <a:solidFill>
                    <a:srgbClr val="075767"/>
                  </a:solidFill>
                  <a:latin typeface="Lato" pitchFamily="34" charset="0"/>
                  <a:ea typeface="Lato" pitchFamily="34" charset="-122"/>
                  <a:cs typeface="Lato" pitchFamily="34" charset="-120"/>
                </a:rPr>
                <a:t>Chacune a été observée sur le terrain, et chacune se prévient à l'étape de préparation.</a:t>
              </a:r>
              <a:endParaRPr lang="en-US" sz="1350" dirty="0"/>
            </a:p>
          </p:txBody>
        </p:sp>
      </p:grpSp>
      <p:sp>
        <p:nvSpPr>
          <p:cNvPr id="15" name="Text 12"/>
          <p:cNvSpPr txBox="1"/>
          <p:nvPr/>
        </p:nvSpPr>
        <p:spPr>
          <a:xfrm>
            <a:off x="731520" y="3429000"/>
            <a:ext cx="10728655" cy="22860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Considérer qu'un diagnostic fait par une personne externe est la solution, le diagnostic n'est qu'un point de départ</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Ne rien mettre par écrit</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Croire que l'on connaît d'emblée les conditions du poste mieux que quiconque</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Mettre en œuvre des mesures de prévention qui seront très vite inefficaces</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Lancer la démarche quand les salariés concernés sont absents ou en congés</a:t>
            </a:r>
            <a:endParaRPr lang="en-US" sz="1350" dirty="0"/>
          </a:p>
        </p:txBody>
      </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186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67"/>
                                        </p:tgtEl>
                                        <p:attrNameLst>
                                          <p:attrName>style.visibility</p:attrName>
                                        </p:attrNameLst>
                                      </p:cBhvr>
                                      <p:to>
                                        <p:strVal val="visible"/>
                                      </p:to>
                                    </p:set>
                                    <p:animEffect transition="in" filter="fade">
                                      <p:cBhvr>
                                        <p:cTn id="7" dur="450"/>
                                        <p:tgtEl>
                                          <p:spTgt spid="92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Analyser le travail réel</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Identifier les facteurs de risques psychosociaux dans les situations de travail, avec quel outil ?</a:t>
            </a:r>
            <a:endParaRPr lang="en-US" sz="1450" dirty="0"/>
          </a:p>
        </p:txBody>
      </p:sp>
      <p:sp>
        <p:nvSpPr>
          <p:cNvPr id="11" name="Text 9"/>
          <p:cNvSpPr txBox="1"/>
          <p:nvPr/>
        </p:nvSpPr>
        <p:spPr>
          <a:xfrm>
            <a:off x="731520" y="2487168"/>
            <a:ext cx="6035040"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Les six facteurs à rechercher</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Intensité et temps de travail · exigences émotionnelles · faible autonomie · rapports sociaux dégradés · conflits de valeurs · insécurité de la situation de travail</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L'outil RPS-DU de l'INRS</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Un outil de questionnement en 26 points, structuré par les six facteurs, brochure ED 6403</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Conçu pour intégrer les RPS au document unique, pas pour produire un diagnostic parallèle</a:t>
            </a:r>
            <a:endParaRPr lang="en-US" sz="1400" dirty="0"/>
          </a:p>
        </p:txBody>
      </p:sp>
      <p:grpSp>
        <p:nvGrpSpPr>
          <p:cNvPr id="9268" name="Bloc 2"/>
          <p:cNvGrpSpPr/>
          <p:nvPr/>
        </p:nvGrpSpPr>
        <p:grpSpPr>
          <a:xfrm>
            <a:off x="7223760" y="1828800"/>
            <a:ext cx="4334256" cy="3282696"/>
            <a:chOff x="7223760" y="1828800"/>
            <a:chExt cx="4334256" cy="3282696"/>
          </a:xfrm>
        </p:grpSpPr>
        <p:sp>
          <p:nvSpPr>
            <p:cNvPr id="21" name="Rounded Rectangle 20"/>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45.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269" name="Bloc 4"/>
          <p:cNvGrpSpPr/>
          <p:nvPr/>
        </p:nvGrpSpPr>
        <p:grpSpPr>
          <a:xfrm>
            <a:off x="731520" y="5248656"/>
            <a:ext cx="10728655" cy="841248"/>
            <a:chOff x="731520" y="5248656"/>
            <a:chExt cx="10728655" cy="841248"/>
          </a:xfrm>
        </p:grpSpPr>
        <p:sp>
          <p:nvSpPr>
            <p:cNvPr id="13" name="Text 10"/>
            <p:cNvSpPr txBox="1"/>
            <p:nvPr/>
          </p:nvSpPr>
          <p:spPr>
            <a:xfrm>
              <a:off x="7223760" y="5349240"/>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Vingt-six questions, six facteurs : la grille tient sur deux pages.</a:t>
              </a:r>
              <a:endParaRPr lang="en-US" sz="950" dirty="0"/>
            </a:p>
          </p:txBody>
        </p:sp>
        <p:sp>
          <p:nvSpPr>
            <p:cNvPr id="14" name="Shape 11"/>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5" name="Text 12"/>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Pourquoi cet outil   </a:t>
              </a:r>
              <a:r>
                <a:rPr lang="en-US" sz="1300" dirty="0">
                  <a:solidFill>
                    <a:srgbClr val="075767"/>
                  </a:solidFill>
                  <a:latin typeface="Lato" pitchFamily="34" charset="0"/>
                  <a:ea typeface="Lato" pitchFamily="34" charset="-122"/>
                  <a:cs typeface="Lato" pitchFamily="34" charset="-120"/>
                </a:rPr>
                <a:t>il est gratuit, il est reconnu par l'employeur comme par l'inspection, et il se remplit en collectif. Trois arguments décisifs en réunion.</a:t>
              </a:r>
              <a:endParaRPr lang="en-US" sz="1250" dirty="0"/>
            </a:p>
          </p:txBody>
        </p:sp>
      </p:gr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187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68"/>
                                        </p:tgtEl>
                                        <p:attrNameLst>
                                          <p:attrName>style.visibility</p:attrName>
                                        </p:attrNameLst>
                                      </p:cBhvr>
                                      <p:to>
                                        <p:strVal val="visible"/>
                                      </p:to>
                                    </p:set>
                                    <p:animEffect transition="in" filter="fade">
                                      <p:cBhvr>
                                        <p:cTn id="12" dur="450"/>
                                        <p:tgtEl>
                                          <p:spTgt spid="926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69"/>
                                        </p:tgtEl>
                                        <p:attrNameLst>
                                          <p:attrName>style.visibility</p:attrName>
                                        </p:attrNameLst>
                                      </p:cBhvr>
                                      <p:to>
                                        <p:strVal val="visible"/>
                                      </p:to>
                                    </p:set>
                                    <p:animEffect transition="in" filter="fade">
                                      <p:cBhvr>
                                        <p:cTn id="22" dur="450"/>
                                        <p:tgtEl>
                                          <p:spTgt spid="9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Mettre en place la démarche d'évaluation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10728655" cy="29718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C'est une prérogative du CSE : le refus de l'employeur doit être motivé</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Obtenir l'engagement écrit de l'employeur</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Constituer un groupe de travail</a:t>
            </a:r>
            <a:endParaRPr lang="en-US" sz="1400" dirty="0"/>
          </a:p>
          <a:p>
            <a:pPr marL="406400" lvl="1"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CSSCT, service de prévention et de santé au travail, représentant de l'employeur, préventeur, intervenants externes, psychologue du travail</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Définir un planning : dates, lieux, services concernés</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Initier les entretiens collectifs</a:t>
            </a:r>
            <a:endParaRPr lang="en-US" sz="1400" dirty="0"/>
          </a:p>
        </p:txBody>
      </p:sp>
      <p:grpSp>
        <p:nvGrpSpPr>
          <p:cNvPr id="9270" name="Bloc 2"/>
          <p:cNvGrpSpPr/>
          <p:nvPr/>
        </p:nvGrpSpPr>
        <p:grpSpPr>
          <a:xfrm>
            <a:off x="731520" y="4956048"/>
            <a:ext cx="10728655" cy="841248"/>
            <a:chOff x="731520" y="4956048"/>
            <a:chExt cx="10728655" cy="841248"/>
          </a:xfrm>
        </p:grpSpPr>
        <p:sp>
          <p:nvSpPr>
            <p:cNvPr id="11" name="Shape 9"/>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2" name="Text 10"/>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premier pas   </a:t>
              </a:r>
              <a:r>
                <a:rPr lang="en-US" sz="1300" dirty="0">
                  <a:solidFill>
                    <a:srgbClr val="075767"/>
                  </a:solidFill>
                  <a:latin typeface="Lato" pitchFamily="34" charset="0"/>
                  <a:ea typeface="Lato" pitchFamily="34" charset="-122"/>
                  <a:cs typeface="Lato" pitchFamily="34" charset="-120"/>
                </a:rPr>
                <a:t>demander l'inscription du point à l'ordre du jour, par écrit. Un refus non motivé est un manquement caractérisé.</a:t>
              </a:r>
              <a:endParaRPr lang="en-US" sz="1250" dirty="0"/>
            </a:p>
          </p:txBody>
        </p:sp>
      </p:grpSp>
      <p:pic>
        <p:nvPicPr>
          <p:cNvPr id="13"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4"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5" name="Shape 12"/>
          <p:cNvSpPr/>
          <p:nvPr/>
        </p:nvSpPr>
        <p:spPr>
          <a:xfrm>
            <a:off x="10591495" y="6181344"/>
            <a:ext cx="438912" cy="438912"/>
          </a:xfrm>
          <a:prstGeom prst="ellipse">
            <a:avLst/>
          </a:prstGeom>
          <a:solidFill>
            <a:srgbClr val="F06C23"/>
          </a:solidFill>
          <a:ln/>
        </p:spPr>
        <p:txBody>
          <a:bodyPr/>
          <a:lstStyle/>
          <a:p>
            <a:endParaRPr/>
          </a:p>
        </p:txBody>
      </p:sp>
      <p:sp>
        <p:nvSpPr>
          <p:cNvPr id="16"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17"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188</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70"/>
                                        </p:tgtEl>
                                        <p:attrNameLst>
                                          <p:attrName>style.visibility</p:attrName>
                                        </p:attrNameLst>
                                      </p:cBhvr>
                                      <p:to>
                                        <p:strVal val="visible"/>
                                      </p:to>
                                    </p:set>
                                    <p:animEffect transition="in" filter="fade">
                                      <p:cBhvr>
                                        <p:cTn id="12" dur="450"/>
                                        <p:tgtEl>
                                          <p:spTgt spid="9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Conduire les entretiens collectifs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10728655" cy="29718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La prévenance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Date, organisation, engagement de confidentialité, transmission des documents en amont</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L'utilisation de la grille d'évaluation</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Six thèmes, 26 questions, adaptée à la cotation de l'entreprise</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Deux questions d'ouverture, toujours dans cet ordre</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Qu'est-ce qui pose problème, crée des tensions, des difficultés, entrave le travail ?</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Qu'est-ce qui fonctionne bien, est apprécié, motivant, facilite le travail ?</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La conclusion</a:t>
            </a:r>
            <a:endParaRPr lang="en-US" sz="1300" dirty="0"/>
          </a:p>
          <a:p>
            <a:pPr marL="406400" lvl="1"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 Y a-t-il des points qui n'ont pas été abordés et qu'il vous semble important de signaler ? »</a:t>
            </a:r>
            <a:endParaRPr lang="en-US" sz="1300" dirty="0"/>
          </a:p>
        </p:txBody>
      </p:sp>
      <p:grpSp>
        <p:nvGrpSpPr>
          <p:cNvPr id="9271" name="Bloc 2"/>
          <p:cNvGrpSpPr/>
          <p:nvPr/>
        </p:nvGrpSpPr>
        <p:grpSpPr>
          <a:xfrm>
            <a:off x="731520" y="4956048"/>
            <a:ext cx="10728655" cy="841248"/>
            <a:chOff x="731520" y="4956048"/>
            <a:chExt cx="10728655" cy="841248"/>
          </a:xfrm>
        </p:grpSpPr>
        <p:sp>
          <p:nvSpPr>
            <p:cNvPr id="11" name="Shape 9"/>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2" name="Text 10"/>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La question qui sauve   </a:t>
              </a:r>
              <a:r>
                <a:rPr lang="en-US" sz="1300" dirty="0">
                  <a:solidFill>
                    <a:srgbClr val="075767"/>
                  </a:solidFill>
                  <a:latin typeface="Lato" pitchFamily="34" charset="0"/>
                  <a:ea typeface="Lato" pitchFamily="34" charset="-122"/>
                  <a:cs typeface="Lato" pitchFamily="34" charset="-120"/>
                </a:rPr>
                <a:t>la question de conclusion fait souvent remonter l'essentiel. Ne jamais l'escamoter faute de temps.</a:t>
              </a:r>
              <a:endParaRPr lang="en-US" sz="1250" dirty="0"/>
            </a:p>
          </p:txBody>
        </p:sp>
      </p:grpSp>
      <p:pic>
        <p:nvPicPr>
          <p:cNvPr id="13"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4" name="Text 11"/>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5" name="Shape 12"/>
          <p:cNvSpPr/>
          <p:nvPr/>
        </p:nvSpPr>
        <p:spPr>
          <a:xfrm>
            <a:off x="10591495" y="6181344"/>
            <a:ext cx="438912" cy="438912"/>
          </a:xfrm>
          <a:prstGeom prst="ellipse">
            <a:avLst/>
          </a:prstGeom>
          <a:solidFill>
            <a:srgbClr val="F06C23"/>
          </a:solidFill>
          <a:ln/>
        </p:spPr>
        <p:txBody>
          <a:bodyPr/>
          <a:lstStyle/>
          <a:p>
            <a:endParaRPr/>
          </a:p>
        </p:txBody>
      </p:sp>
      <p:sp>
        <p:nvSpPr>
          <p:cNvPr id="16" name="Text 13"/>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17" name="Text 14"/>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189</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71"/>
                                        </p:tgtEl>
                                        <p:attrNameLst>
                                          <p:attrName>style.visibility</p:attrName>
                                        </p:attrNameLst>
                                      </p:cBhvr>
                                      <p:to>
                                        <p:strVal val="visible"/>
                                      </p:to>
                                    </p:set>
                                    <p:animEffect transition="in" filter="fade">
                                      <p:cBhvr>
                                        <p:cTn id="12" dur="450"/>
                                        <p:tgtEl>
                                          <p:spTgt spid="9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Élaborer le plan d'action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Qui élabore, qui valide</a:t>
            </a:r>
            <a:endParaRPr lang="en-US" sz="1700" dirty="0"/>
          </a:p>
        </p:txBody>
      </p:sp>
      <p:sp>
        <p:nvSpPr>
          <p:cNvPr id="11" name="Text 9"/>
          <p:cNvSpPr txBox="1"/>
          <p:nvPr/>
        </p:nvSpPr>
        <p:spPr>
          <a:xfrm>
            <a:off x="731520" y="2331720"/>
            <a:ext cx="4983480" cy="34747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Les propositions sont formulées par la commission RPS ou les représentants du personnel</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Elles sont discutées, complétées ou amendées en réunion de CSE</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L'employeur valide le plan d'action et l'inscrit au PAPRIPACT</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Il reste garant de la mise en œuvre, même s'il la délègue à l'encadrement ou aux acteurs internes de la prévention</a:t>
            </a:r>
            <a:endParaRPr lang="en-US" sz="1350" dirty="0"/>
          </a:p>
        </p:txBody>
      </p:sp>
      <p:sp>
        <p:nvSpPr>
          <p:cNvPr id="12" name="Text 10"/>
          <p:cNvSpPr txBox="1"/>
          <p:nvPr/>
        </p:nvSpPr>
        <p:spPr>
          <a:xfrm>
            <a:off x="630936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Comment</a:t>
            </a:r>
            <a:endParaRPr lang="en-US" sz="1700" dirty="0"/>
          </a:p>
        </p:txBody>
      </p:sp>
      <p:sp>
        <p:nvSpPr>
          <p:cNvPr id="13" name="Text 11"/>
          <p:cNvSpPr txBox="1"/>
          <p:nvPr/>
        </p:nvSpPr>
        <p:spPr>
          <a:xfrm>
            <a:off x="6309360" y="2331720"/>
            <a:ext cx="4983480" cy="34747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CSE ou la commission hiérarchise les points à traiter et planifie les actions</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Différencier les solutions rapides des actions à moyen et long terme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Les actions visent la suppression ou, à défaut, la réduction des facteurs de risques identifiés</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Donner de la visibilité au personnel sur l'ensemble des actions prévues</a:t>
            </a:r>
            <a:endParaRPr lang="en-US" sz="1350" dirty="0"/>
          </a:p>
        </p:txBody>
      </p:sp>
      <p:pic>
        <p:nvPicPr>
          <p:cNvPr id="14"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5"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6" name="Shape 13"/>
          <p:cNvSpPr/>
          <p:nvPr/>
        </p:nvSpPr>
        <p:spPr>
          <a:xfrm>
            <a:off x="10591495" y="6181344"/>
            <a:ext cx="438912" cy="438912"/>
          </a:xfrm>
          <a:prstGeom prst="ellipse">
            <a:avLst/>
          </a:prstGeom>
          <a:solidFill>
            <a:srgbClr val="F06C23"/>
          </a:solidFill>
          <a:ln/>
        </p:spPr>
        <p:txBody>
          <a:bodyPr/>
          <a:lstStyle/>
          <a:p>
            <a:endParaRPr/>
          </a:p>
        </p:txBody>
      </p:sp>
      <p:sp>
        <p:nvSpPr>
          <p:cNvPr id="17"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18"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190</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Ce que doit contenir le plan d'action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6035040" cy="566928"/>
          </a:xfrm>
          <a:prstGeom prst="rect">
            <a:avLst/>
          </a:prstGeom>
          <a:noFill/>
          <a:ln/>
        </p:spPr>
        <p:txBody>
          <a:bodyPr wrap="square" lIns="0" tIns="0" rIns="0" bIns="0" rtlCol="0" anchor="t"/>
          <a:lstStyle/>
          <a:p>
            <a:pPr marL="0" indent="0">
              <a:lnSpc>
                <a:spcPct val="110000"/>
              </a:lnSpc>
              <a:buNone/>
            </a:pPr>
            <a:r>
              <a:rPr lang="en-US" sz="1450" b="1" dirty="0">
                <a:solidFill>
                  <a:srgbClr val="075767"/>
                </a:solidFill>
                <a:latin typeface="Lato" pitchFamily="34" charset="0"/>
                <a:ea typeface="Lato" pitchFamily="34" charset="-122"/>
                <a:cs typeface="Lato" pitchFamily="34" charset="-120"/>
              </a:rPr>
              <a:t>Pratique, précis, et vérifiable. Huit éléments, tous nécessaires.</a:t>
            </a:r>
            <a:endParaRPr lang="en-US" sz="1450" dirty="0"/>
          </a:p>
        </p:txBody>
      </p:sp>
      <p:sp>
        <p:nvSpPr>
          <p:cNvPr id="11" name="Text 9"/>
          <p:cNvSpPr txBox="1"/>
          <p:nvPr/>
        </p:nvSpPr>
        <p:spPr>
          <a:xfrm>
            <a:off x="731520" y="2487168"/>
            <a:ext cx="6035040" cy="2761488"/>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La situation de travail qui pose problème</a:t>
            </a:r>
            <a:endParaRPr lang="en-US" sz="130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Les types d'actions à envisager</a:t>
            </a:r>
            <a:endParaRPr lang="en-US" sz="130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Les objectifs à atteindre</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Les personnes désignées pour mettre en œuvre les actions</a:t>
            </a:r>
            <a:endParaRPr lang="en-US" sz="130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Les coûts</a:t>
            </a:r>
            <a:endParaRPr lang="en-US" sz="130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Les délais</a:t>
            </a:r>
            <a:endParaRPr lang="en-US" sz="1300" dirty="0"/>
          </a:p>
          <a:p>
            <a:pPr marL="203200" indent="-203200">
              <a:lnSpc>
                <a:spcPct val="110000"/>
              </a:lnSpc>
              <a:spcAft>
                <a:spcPts val="700"/>
              </a:spcAft>
              <a:buSzPct val="100000"/>
              <a:buChar char="•"/>
            </a:pPr>
            <a:r>
              <a:rPr lang="en-US" sz="1300" b="1" dirty="0">
                <a:solidFill>
                  <a:srgbClr val="075767"/>
                </a:solidFill>
                <a:latin typeface="Lato" pitchFamily="34" charset="0"/>
                <a:ea typeface="Lato" pitchFamily="34" charset="-122"/>
                <a:cs typeface="Lato" pitchFamily="34" charset="-120"/>
              </a:rPr>
              <a:t>Les critères d'évaluation</a:t>
            </a:r>
            <a:endParaRPr lang="en-US" sz="1300" dirty="0"/>
          </a:p>
          <a:p>
            <a:pPr marL="203200" indent="-203200">
              <a:lnSpc>
                <a:spcPct val="110000"/>
              </a:lnSpc>
              <a:spcAft>
                <a:spcPts val="700"/>
              </a:spcAft>
              <a:buSzPct val="100000"/>
              <a:buChar char="•"/>
            </a:pPr>
            <a:r>
              <a:rPr lang="en-US" sz="1300" dirty="0">
                <a:solidFill>
                  <a:srgbClr val="595959"/>
                </a:solidFill>
                <a:latin typeface="Lato" pitchFamily="34" charset="0"/>
                <a:ea typeface="Lato" pitchFamily="34" charset="-122"/>
                <a:cs typeface="Lato" pitchFamily="34" charset="-120"/>
              </a:rPr>
              <a:t>La manière d'informer les salariés sur les mesures décidées et leur mise en œuvre</a:t>
            </a:r>
            <a:endParaRPr lang="en-US" sz="1300" dirty="0"/>
          </a:p>
        </p:txBody>
      </p:sp>
      <p:grpSp>
        <p:nvGrpSpPr>
          <p:cNvPr id="9272" name="Bloc 2"/>
          <p:cNvGrpSpPr/>
          <p:nvPr/>
        </p:nvGrpSpPr>
        <p:grpSpPr>
          <a:xfrm>
            <a:off x="7223760" y="1828800"/>
            <a:ext cx="4334256" cy="3282696"/>
            <a:chOff x="7223760" y="1828800"/>
            <a:chExt cx="4334256" cy="3282696"/>
          </a:xfrm>
        </p:grpSpPr>
        <p:sp>
          <p:nvSpPr>
            <p:cNvPr id="21" name="Rounded Rectangle 20"/>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mage 0" descr="/home/claude/tmo/build/photos/p46.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273" name="Bloc 4"/>
          <p:cNvGrpSpPr/>
          <p:nvPr/>
        </p:nvGrpSpPr>
        <p:grpSpPr>
          <a:xfrm>
            <a:off x="731520" y="5248656"/>
            <a:ext cx="10728655" cy="841248"/>
            <a:chOff x="731520" y="5248656"/>
            <a:chExt cx="10728655" cy="841248"/>
          </a:xfrm>
        </p:grpSpPr>
        <p:sp>
          <p:nvSpPr>
            <p:cNvPr id="13" name="Text 10"/>
            <p:cNvSpPr txBox="1"/>
            <p:nvPr/>
          </p:nvSpPr>
          <p:spPr>
            <a:xfrm>
              <a:off x="7223760" y="5349240"/>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Un plan sans nom, sans date et sans coût n'est pas un plan.</a:t>
              </a:r>
              <a:endParaRPr lang="en-US" sz="950" dirty="0"/>
            </a:p>
          </p:txBody>
        </p:sp>
        <p:sp>
          <p:nvSpPr>
            <p:cNvPr id="14" name="Shape 11"/>
            <p:cNvSpPr/>
            <p:nvPr/>
          </p:nvSpPr>
          <p:spPr>
            <a:xfrm>
              <a:off x="731520" y="5248656"/>
              <a:ext cx="10728655" cy="841248"/>
            </a:xfrm>
            <a:prstGeom prst="roundRect">
              <a:avLst>
                <a:gd name="adj" fmla="val 6522"/>
              </a:avLst>
            </a:prstGeom>
            <a:solidFill>
              <a:srgbClr val="D7E8EB"/>
            </a:solidFill>
            <a:ln/>
          </p:spPr>
          <p:txBody>
            <a:bodyPr/>
            <a:lstStyle/>
            <a:p>
              <a:endParaRPr/>
            </a:p>
          </p:txBody>
        </p:sp>
        <p:sp>
          <p:nvSpPr>
            <p:cNvPr id="15" name="Text 12"/>
            <p:cNvSpPr txBox="1"/>
            <p:nvPr/>
          </p:nvSpPr>
          <p:spPr>
            <a:xfrm>
              <a:off x="1024128" y="5248656"/>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test   </a:t>
              </a:r>
              <a:r>
                <a:rPr lang="en-US" sz="1300" dirty="0">
                  <a:solidFill>
                    <a:srgbClr val="075767"/>
                  </a:solidFill>
                  <a:latin typeface="Lato" pitchFamily="34" charset="0"/>
                  <a:ea typeface="Lato" pitchFamily="34" charset="-122"/>
                  <a:cs typeface="Lato" pitchFamily="34" charset="-120"/>
                </a:rPr>
                <a:t>reprendre le plan un an après. Si l'on ne peut pas dire objectivement ce qui a été fait, c'est qu'il manquait des critères d'évaluation.</a:t>
              </a:r>
              <a:endParaRPr lang="en-US" sz="1250" dirty="0"/>
            </a:p>
          </p:txBody>
        </p:sp>
      </p:grpSp>
      <p:pic>
        <p:nvPicPr>
          <p:cNvPr id="16"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7" name="Text 13"/>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4"/>
          <p:cNvSpPr/>
          <p:nvPr/>
        </p:nvSpPr>
        <p:spPr>
          <a:xfrm>
            <a:off x="10591495" y="6181344"/>
            <a:ext cx="438912" cy="438912"/>
          </a:xfrm>
          <a:prstGeom prst="ellipse">
            <a:avLst/>
          </a:prstGeom>
          <a:solidFill>
            <a:srgbClr val="F06C23"/>
          </a:solidFill>
          <a:ln/>
        </p:spPr>
        <p:txBody>
          <a:bodyPr/>
          <a:lstStyle/>
          <a:p>
            <a:endParaRPr/>
          </a:p>
        </p:txBody>
      </p:sp>
      <p:sp>
        <p:nvSpPr>
          <p:cNvPr id="19" name="Text 15"/>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0" name="Text 16"/>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191</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72"/>
                                        </p:tgtEl>
                                        <p:attrNameLst>
                                          <p:attrName>style.visibility</p:attrName>
                                        </p:attrNameLst>
                                      </p:cBhvr>
                                      <p:to>
                                        <p:strVal val="visible"/>
                                      </p:to>
                                    </p:set>
                                    <p:animEffect transition="in" filter="fade">
                                      <p:cBhvr>
                                        <p:cTn id="12" dur="450"/>
                                        <p:tgtEl>
                                          <p:spTgt spid="92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73"/>
                                        </p:tgtEl>
                                        <p:attrNameLst>
                                          <p:attrName>style.visibility</p:attrName>
                                        </p:attrNameLst>
                                      </p:cBhvr>
                                      <p:to>
                                        <p:strVal val="visible"/>
                                      </p:to>
                                    </p:set>
                                    <p:animEffect transition="in" filter="fade">
                                      <p:cBhvr>
                                        <p:cTn id="22" dur="450"/>
                                        <p:tgtEl>
                                          <p:spTgt spid="9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Mettre en œuvre, puis suivre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Mettre en œuvre</a:t>
            </a:r>
            <a:endParaRPr lang="en-US" sz="1700" dirty="0"/>
          </a:p>
        </p:txBody>
      </p:sp>
      <p:sp>
        <p:nvSpPr>
          <p:cNvPr id="11" name="Text 9"/>
          <p:cNvSpPr txBox="1"/>
          <p:nvPr/>
        </p:nvSpPr>
        <p:spPr>
          <a:xfrm>
            <a:off x="73152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 plan est mis en œuvre par les personnes désignées</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Un tableau de bord suit l'avancement</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La mise en œuvre peut reposer sur plusieurs acteurs</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L'employeur reste responsable de la réalisation</a:t>
            </a:r>
            <a:endParaRPr lang="en-US" sz="1350" dirty="0"/>
          </a:p>
        </p:txBody>
      </p:sp>
      <p:sp>
        <p:nvSpPr>
          <p:cNvPr id="12" name="Text 10"/>
          <p:cNvSpPr txBox="1"/>
          <p:nvPr/>
        </p:nvSpPr>
        <p:spPr>
          <a:xfrm>
            <a:off x="6309360" y="1828800"/>
            <a:ext cx="5029200" cy="411480"/>
          </a:xfrm>
          <a:prstGeom prst="rect">
            <a:avLst/>
          </a:prstGeom>
          <a:noFill/>
          <a:ln/>
        </p:spPr>
        <p:txBody>
          <a:bodyPr wrap="square" lIns="0" tIns="0" rIns="0" bIns="0" rtlCol="0" anchor="t"/>
          <a:lstStyle/>
          <a:p>
            <a:pPr marL="0" indent="0">
              <a:buNone/>
            </a:pPr>
            <a:r>
              <a:rPr lang="en-US" sz="1700" b="1" dirty="0">
                <a:solidFill>
                  <a:srgbClr val="075767"/>
                </a:solidFill>
                <a:latin typeface="Lato" pitchFamily="34" charset="0"/>
                <a:ea typeface="Lato" pitchFamily="34" charset="-122"/>
                <a:cs typeface="Lato" pitchFamily="34" charset="-120"/>
              </a:rPr>
              <a:t>Suivre et évaluer</a:t>
            </a:r>
            <a:endParaRPr lang="en-US" sz="1700" dirty="0"/>
          </a:p>
        </p:txBody>
      </p:sp>
      <p:sp>
        <p:nvSpPr>
          <p:cNvPr id="13" name="Text 11"/>
          <p:cNvSpPr txBox="1"/>
          <p:nvPr/>
        </p:nvSpPr>
        <p:spPr>
          <a:xfrm>
            <a:off x="6309360" y="2331720"/>
            <a:ext cx="4983480" cy="246888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La commission RPS et le CSE s'accordent sur les critères d'évaluation et les indicateurs à suivre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La méthodologie et les responsables sont définis dès la phase préparatoire</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Les personnes désignées se réunissent au démarrage puis à cadence régulière</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L'ordre du jour de chaque CSE doit prévoir un suivi spécifique RPS</a:t>
            </a:r>
            <a:endParaRPr lang="en-US" sz="1350" dirty="0"/>
          </a:p>
        </p:txBody>
      </p:sp>
      <p:grpSp>
        <p:nvGrpSpPr>
          <p:cNvPr id="9274" name="Bloc 5"/>
          <p:cNvGrpSpPr/>
          <p:nvPr/>
        </p:nvGrpSpPr>
        <p:grpSpPr>
          <a:xfrm>
            <a:off x="731520" y="4956048"/>
            <a:ext cx="10728655" cy="841248"/>
            <a:chOff x="731520" y="4956048"/>
            <a:chExt cx="10728655" cy="841248"/>
          </a:xfrm>
        </p:grpSpPr>
        <p:sp>
          <p:nvSpPr>
            <p:cNvPr id="14" name="Shape 12"/>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5" name="Text 13"/>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point de bascule   </a:t>
              </a:r>
              <a:r>
                <a:rPr lang="en-US" sz="1300" dirty="0">
                  <a:solidFill>
                    <a:srgbClr val="075767"/>
                  </a:solidFill>
                  <a:latin typeface="Lato" pitchFamily="34" charset="0"/>
                  <a:ea typeface="Lato" pitchFamily="34" charset="-122"/>
                  <a:cs typeface="Lato" pitchFamily="34" charset="-120"/>
                </a:rPr>
                <a:t>un suivi inscrit à l'ordre du jour de chaque séance est ce qui empêche une démarche RPS de s'éteindre au bout de six mois.</a:t>
              </a:r>
              <a:endParaRPr lang="en-US" sz="1250" dirty="0"/>
            </a:p>
          </p:txBody>
        </p:sp>
      </p:grpSp>
      <p:pic>
        <p:nvPicPr>
          <p:cNvPr id="16" name="Image 0" descr="/home/claude/tmo/build/logo.png"/>
          <p:cNvPicPr>
            <a:picLocks noChangeAspect="1"/>
          </p:cNvPicPr>
          <p:nvPr/>
        </p:nvPicPr>
        <p:blipFill>
          <a:blip r:embed="rId3"/>
          <a:stretch>
            <a:fillRect/>
          </a:stretch>
        </p:blipFill>
        <p:spPr>
          <a:xfrm>
            <a:off x="731520" y="6199632"/>
            <a:ext cx="402336" cy="402336"/>
          </a:xfrm>
          <a:prstGeom prst="rect">
            <a:avLst/>
          </a:prstGeom>
        </p:spPr>
      </p:pic>
      <p:sp>
        <p:nvSpPr>
          <p:cNvPr id="17"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8" name="Shape 15"/>
          <p:cNvSpPr/>
          <p:nvPr/>
        </p:nvSpPr>
        <p:spPr>
          <a:xfrm>
            <a:off x="10591495" y="6181344"/>
            <a:ext cx="438912" cy="438912"/>
          </a:xfrm>
          <a:prstGeom prst="ellipse">
            <a:avLst/>
          </a:prstGeom>
          <a:solidFill>
            <a:srgbClr val="F06C23"/>
          </a:solidFill>
          <a:ln/>
        </p:spPr>
        <p:txBody>
          <a:bodyPr/>
          <a:lstStyle/>
          <a:p>
            <a:endParaRPr/>
          </a:p>
        </p:txBody>
      </p:sp>
      <p:sp>
        <p:nvSpPr>
          <p:cNvPr id="19"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0"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192</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74"/>
                                        </p:tgtEl>
                                        <p:attrNameLst>
                                          <p:attrName>style.visibility</p:attrName>
                                        </p:attrNameLst>
                                      </p:cBhvr>
                                      <p:to>
                                        <p:strVal val="visible"/>
                                      </p:to>
                                    </p:set>
                                    <p:animEffect transition="in" filter="fade">
                                      <p:cBhvr>
                                        <p:cTn id="27" dur="450"/>
                                        <p:tgtEl>
                                          <p:spTgt spid="9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effets recherchés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grpSp>
        <p:nvGrpSpPr>
          <p:cNvPr id="9275" name="Bloc 1"/>
          <p:cNvGrpSpPr/>
          <p:nvPr/>
        </p:nvGrpSpPr>
        <p:grpSpPr>
          <a:xfrm>
            <a:off x="731520" y="1965960"/>
            <a:ext cx="3332378" cy="3108960"/>
            <a:chOff x="731520" y="1965960"/>
            <a:chExt cx="3332378" cy="3108960"/>
          </a:xfrm>
        </p:grpSpPr>
        <p:sp>
          <p:nvSpPr>
            <p:cNvPr id="10" name="Shape 8"/>
            <p:cNvSpPr/>
            <p:nvPr/>
          </p:nvSpPr>
          <p:spPr>
            <a:xfrm>
              <a:off x="731520" y="1965960"/>
              <a:ext cx="3332378" cy="3108960"/>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equipe-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Sur les acteurs</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Meilleure connaissance des facteurs RPS par la hiérarchie, réunions interservices pour les dossiers complexes.</a:t>
              </a:r>
              <a:endParaRPr lang="en-US" sz="1250" dirty="0"/>
            </a:p>
          </p:txBody>
        </p:sp>
      </p:grpSp>
      <p:grpSp>
        <p:nvGrpSpPr>
          <p:cNvPr id="9276"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horloge-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Sur les organisations</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Alternance entre postes de front et de back-office, autonomie accrue sur l'ordre de traitement ou l'organisation d'une tournée.</a:t>
              </a:r>
              <a:endParaRPr lang="en-US" sz="1250" dirty="0"/>
            </a:p>
          </p:txBody>
        </p:sp>
      </p:grpSp>
      <p:grpSp>
        <p:nvGrpSpPr>
          <p:cNvPr id="9277" name="Bloc 3"/>
          <p:cNvGrpSpPr/>
          <p:nvPr/>
        </p:nvGrpSpPr>
        <p:grpSpPr>
          <a:xfrm>
            <a:off x="8127797" y="1965960"/>
            <a:ext cx="3332378" cy="3197961"/>
            <a:chOff x="8127797" y="1965960"/>
            <a:chExt cx="3332378" cy="3197961"/>
          </a:xfrm>
        </p:grpSpPr>
        <p:sp>
          <p:nvSpPr>
            <p:cNvPr id="20" name="Shape 16"/>
            <p:cNvSpPr/>
            <p:nvPr/>
          </p:nvSpPr>
          <p:spPr>
            <a:xfrm>
              <a:off x="8127797" y="1965960"/>
              <a:ext cx="3332378" cy="3197961"/>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valide-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546201"/>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Sur la santé et la performance</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Baisse de la sinistralité, indicateurs du service de santé au travail, coûts d'absentéisme et de turnover, satisfaction client.</a:t>
              </a:r>
              <a:endParaRPr lang="en-US" sz="1250" dirty="0"/>
            </a:p>
          </p:txBody>
        </p:sp>
      </p:grpSp>
      <p:grpSp>
        <p:nvGrpSpPr>
          <p:cNvPr id="9278" name="Bloc 4"/>
          <p:cNvGrpSpPr/>
          <p:nvPr/>
        </p:nvGrpSpPr>
        <p:grpSpPr>
          <a:xfrm>
            <a:off x="731520" y="5257800"/>
            <a:ext cx="10728655" cy="841248"/>
            <a:chOff x="731520" y="5257800"/>
            <a:chExt cx="10728655" cy="841248"/>
          </a:xfrm>
        </p:grpSpPr>
        <p:sp>
          <p:nvSpPr>
            <p:cNvPr id="25" name="Shape 20"/>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26" name="Text 21"/>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Deux exemples concrets   </a:t>
              </a:r>
              <a:r>
                <a:rPr lang="en-US" sz="1300" dirty="0">
                  <a:solidFill>
                    <a:srgbClr val="075767"/>
                  </a:solidFill>
                  <a:latin typeface="Lato" pitchFamily="34" charset="0"/>
                  <a:ea typeface="Lato" pitchFamily="34" charset="-122"/>
                  <a:cs typeface="Lato" pitchFamily="34" charset="-120"/>
                </a:rPr>
                <a:t>réduire la standardisation des échanges avec les clients chez les téléopérateurs ; mettre en place un outil de suivi de la charge de travail.</a:t>
              </a:r>
              <a:endParaRPr lang="en-US" sz="1250" dirty="0"/>
            </a:p>
          </p:txBody>
        </p:sp>
      </p:grpSp>
      <p:pic>
        <p:nvPicPr>
          <p:cNvPr id="27"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8"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9" name="Shape 23"/>
          <p:cNvSpPr/>
          <p:nvPr/>
        </p:nvSpPr>
        <p:spPr>
          <a:xfrm>
            <a:off x="10591495" y="6181344"/>
            <a:ext cx="438912" cy="438912"/>
          </a:xfrm>
          <a:prstGeom prst="ellipse">
            <a:avLst/>
          </a:prstGeom>
          <a:solidFill>
            <a:srgbClr val="F06C23"/>
          </a:solidFill>
          <a:ln/>
        </p:spPr>
        <p:txBody>
          <a:bodyPr/>
          <a:lstStyle/>
          <a:p>
            <a:endParaRPr/>
          </a:p>
        </p:txBody>
      </p:sp>
      <p:sp>
        <p:nvSpPr>
          <p:cNvPr id="30"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31"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193</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75"/>
                                        </p:tgtEl>
                                        <p:attrNameLst>
                                          <p:attrName>style.visibility</p:attrName>
                                        </p:attrNameLst>
                                      </p:cBhvr>
                                      <p:to>
                                        <p:strVal val="visible"/>
                                      </p:to>
                                    </p:set>
                                    <p:animEffect transition="in" filter="fade">
                                      <p:cBhvr>
                                        <p:cTn id="7" dur="450"/>
                                        <p:tgtEl>
                                          <p:spTgt spid="92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76"/>
                                        </p:tgtEl>
                                        <p:attrNameLst>
                                          <p:attrName>style.visibility</p:attrName>
                                        </p:attrNameLst>
                                      </p:cBhvr>
                                      <p:to>
                                        <p:strVal val="visible"/>
                                      </p:to>
                                    </p:set>
                                    <p:animEffect transition="in" filter="fade">
                                      <p:cBhvr>
                                        <p:cTn id="12" dur="450"/>
                                        <p:tgtEl>
                                          <p:spTgt spid="927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77"/>
                                        </p:tgtEl>
                                        <p:attrNameLst>
                                          <p:attrName>style.visibility</p:attrName>
                                        </p:attrNameLst>
                                      </p:cBhvr>
                                      <p:to>
                                        <p:strVal val="visible"/>
                                      </p:to>
                                    </p:set>
                                    <p:animEffect transition="in" filter="fade">
                                      <p:cBhvr>
                                        <p:cTn id="17" dur="450"/>
                                        <p:tgtEl>
                                          <p:spTgt spid="927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78"/>
                                        </p:tgtEl>
                                        <p:attrNameLst>
                                          <p:attrName>style.visibility</p:attrName>
                                        </p:attrNameLst>
                                      </p:cBhvr>
                                      <p:to>
                                        <p:strVal val="visible"/>
                                      </p:to>
                                    </p:set>
                                    <p:animEffect transition="in" filter="fade">
                                      <p:cBhvr>
                                        <p:cTn id="22" dur="450"/>
                                        <p:tgtEl>
                                          <p:spTgt spid="9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Les trois niveaux de prévention</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grpSp>
        <p:nvGrpSpPr>
          <p:cNvPr id="9279" name="Bloc 1"/>
          <p:cNvGrpSpPr/>
          <p:nvPr/>
        </p:nvGrpSpPr>
        <p:grpSpPr>
          <a:xfrm>
            <a:off x="731520" y="1965960"/>
            <a:ext cx="3332378" cy="3108960"/>
            <a:chOff x="731520" y="1965960"/>
            <a:chExt cx="3332378" cy="3108960"/>
          </a:xfrm>
        </p:grpSpPr>
        <p:sp>
          <p:nvSpPr>
            <p:cNvPr id="10" name="Shape 8"/>
            <p:cNvSpPr/>
            <p:nvPr/>
          </p:nvSpPr>
          <p:spPr>
            <a:xfrm>
              <a:off x="731520" y="1965960"/>
              <a:ext cx="3332378" cy="3108960"/>
            </a:xfrm>
            <a:prstGeom prst="roundRect">
              <a:avLst>
                <a:gd name="adj" fmla="val 1471"/>
              </a:avLst>
            </a:prstGeom>
            <a:solidFill>
              <a:srgbClr val="F2F2F2"/>
            </a:solidFill>
            <a:ln/>
          </p:spPr>
          <p:txBody>
            <a:bodyPr/>
            <a:lstStyle/>
            <a:p>
              <a:endParaRPr/>
            </a:p>
          </p:txBody>
        </p:sp>
        <p:sp>
          <p:nvSpPr>
            <p:cNvPr id="11" name="Shape 9"/>
            <p:cNvSpPr/>
            <p:nvPr/>
          </p:nvSpPr>
          <p:spPr>
            <a:xfrm>
              <a:off x="1005840" y="2240280"/>
              <a:ext cx="731520" cy="731520"/>
            </a:xfrm>
            <a:prstGeom prst="ellipse">
              <a:avLst/>
            </a:prstGeom>
            <a:solidFill>
              <a:srgbClr val="075767"/>
            </a:solidFill>
            <a:ln/>
          </p:spPr>
          <p:txBody>
            <a:bodyPr/>
            <a:lstStyle/>
            <a:p>
              <a:endParaRPr/>
            </a:p>
          </p:txBody>
        </p:sp>
        <p:pic>
          <p:nvPicPr>
            <p:cNvPr id="12" name="Image 0" descr="/home/claude/tmo/build/ico/bouclier-blanc.png"/>
            <p:cNvPicPr>
              <a:picLocks noChangeAspect="1"/>
            </p:cNvPicPr>
            <p:nvPr/>
          </p:nvPicPr>
          <p:blipFill>
            <a:blip r:embed="rId3"/>
            <a:stretch>
              <a:fillRect/>
            </a:stretch>
          </p:blipFill>
          <p:spPr>
            <a:xfrm>
              <a:off x="1196035" y="2430475"/>
              <a:ext cx="351130" cy="351130"/>
            </a:xfrm>
            <a:prstGeom prst="rect">
              <a:avLst/>
            </a:prstGeom>
          </p:spPr>
        </p:pic>
        <p:sp>
          <p:nvSpPr>
            <p:cNvPr id="13" name="Text 10"/>
            <p:cNvSpPr txBox="1"/>
            <p:nvPr/>
          </p:nvSpPr>
          <p:spPr>
            <a:xfrm>
              <a:off x="1005840"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Primaire : prévenir</a:t>
              </a:r>
              <a:endParaRPr lang="en-US" sz="1550" dirty="0"/>
            </a:p>
          </p:txBody>
        </p:sp>
        <p:sp>
          <p:nvSpPr>
            <p:cNvPr id="14" name="Text 11"/>
            <p:cNvSpPr txBox="1"/>
            <p:nvPr/>
          </p:nvSpPr>
          <p:spPr>
            <a:xfrm>
              <a:off x="1005840"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Agir sur les causes identifiées dans le travail pour diminuer les facteurs de risques. Organisation du travail, dialogue, formation de l'encadrement.</a:t>
              </a:r>
              <a:endParaRPr lang="en-US" sz="1250" dirty="0"/>
            </a:p>
          </p:txBody>
        </p:sp>
      </p:grpSp>
      <p:grpSp>
        <p:nvGrpSpPr>
          <p:cNvPr id="9280" name="Bloc 2"/>
          <p:cNvGrpSpPr/>
          <p:nvPr/>
        </p:nvGrpSpPr>
        <p:grpSpPr>
          <a:xfrm>
            <a:off x="4429658" y="1965960"/>
            <a:ext cx="3332378" cy="3108960"/>
            <a:chOff x="4429658" y="1965960"/>
            <a:chExt cx="3332378" cy="3108960"/>
          </a:xfrm>
        </p:grpSpPr>
        <p:sp>
          <p:nvSpPr>
            <p:cNvPr id="15" name="Shape 12"/>
            <p:cNvSpPr/>
            <p:nvPr/>
          </p:nvSpPr>
          <p:spPr>
            <a:xfrm>
              <a:off x="4429658" y="1965960"/>
              <a:ext cx="3332378" cy="3108960"/>
            </a:xfrm>
            <a:prstGeom prst="roundRect">
              <a:avLst>
                <a:gd name="adj" fmla="val 1471"/>
              </a:avLst>
            </a:prstGeom>
            <a:solidFill>
              <a:srgbClr val="F2F2F2"/>
            </a:solidFill>
            <a:ln/>
          </p:spPr>
          <p:txBody>
            <a:bodyPr/>
            <a:lstStyle/>
            <a:p>
              <a:endParaRPr/>
            </a:p>
          </p:txBody>
        </p:sp>
        <p:sp>
          <p:nvSpPr>
            <p:cNvPr id="16" name="Shape 13"/>
            <p:cNvSpPr/>
            <p:nvPr/>
          </p:nvSpPr>
          <p:spPr>
            <a:xfrm>
              <a:off x="4703978" y="2240280"/>
              <a:ext cx="731520" cy="731520"/>
            </a:xfrm>
            <a:prstGeom prst="ellipse">
              <a:avLst/>
            </a:prstGeom>
            <a:solidFill>
              <a:srgbClr val="075767"/>
            </a:solidFill>
            <a:ln/>
          </p:spPr>
          <p:txBody>
            <a:bodyPr/>
            <a:lstStyle/>
            <a:p>
              <a:endParaRPr/>
            </a:p>
          </p:txBody>
        </p:sp>
        <p:pic>
          <p:nvPicPr>
            <p:cNvPr id="17" name="Image 1" descr="/home/claude/tmo/build/ico/alerte-blanc.png"/>
            <p:cNvPicPr>
              <a:picLocks noChangeAspect="1"/>
            </p:cNvPicPr>
            <p:nvPr/>
          </p:nvPicPr>
          <p:blipFill>
            <a:blip r:embed="rId4"/>
            <a:stretch>
              <a:fillRect/>
            </a:stretch>
          </p:blipFill>
          <p:spPr>
            <a:xfrm>
              <a:off x="4894174" y="2430475"/>
              <a:ext cx="351130" cy="351130"/>
            </a:xfrm>
            <a:prstGeom prst="rect">
              <a:avLst/>
            </a:prstGeom>
          </p:spPr>
        </p:pic>
        <p:sp>
          <p:nvSpPr>
            <p:cNvPr id="18" name="Text 14"/>
            <p:cNvSpPr txBox="1"/>
            <p:nvPr/>
          </p:nvSpPr>
          <p:spPr>
            <a:xfrm>
              <a:off x="4703978"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Secondaire : protéger</a:t>
              </a:r>
              <a:endParaRPr lang="en-US" sz="1550" dirty="0"/>
            </a:p>
          </p:txBody>
        </p:sp>
        <p:sp>
          <p:nvSpPr>
            <p:cNvPr id="19" name="Text 15"/>
            <p:cNvSpPr txBox="1"/>
            <p:nvPr/>
          </p:nvSpPr>
          <p:spPr>
            <a:xfrm>
              <a:off x="4703978"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Atténuer l'impact : formation et sensibilisation des salariés, messages clairs, tests d'évaluation.</a:t>
              </a:r>
              <a:endParaRPr lang="en-US" sz="1250" dirty="0"/>
            </a:p>
          </p:txBody>
        </p:sp>
      </p:grpSp>
      <p:grpSp>
        <p:nvGrpSpPr>
          <p:cNvPr id="9281" name="Bloc 3"/>
          <p:cNvGrpSpPr/>
          <p:nvPr/>
        </p:nvGrpSpPr>
        <p:grpSpPr>
          <a:xfrm>
            <a:off x="8127797" y="1965960"/>
            <a:ext cx="3332378" cy="3108960"/>
            <a:chOff x="8127797" y="1965960"/>
            <a:chExt cx="3332378" cy="3108960"/>
          </a:xfrm>
        </p:grpSpPr>
        <p:sp>
          <p:nvSpPr>
            <p:cNvPr id="20" name="Shape 16"/>
            <p:cNvSpPr/>
            <p:nvPr/>
          </p:nvSpPr>
          <p:spPr>
            <a:xfrm>
              <a:off x="8127797" y="1965960"/>
              <a:ext cx="3332378" cy="3108960"/>
            </a:xfrm>
            <a:prstGeom prst="roundRect">
              <a:avLst>
                <a:gd name="adj" fmla="val 1471"/>
              </a:avLst>
            </a:prstGeom>
            <a:solidFill>
              <a:srgbClr val="F2F2F2"/>
            </a:solidFill>
            <a:ln/>
          </p:spPr>
          <p:txBody>
            <a:bodyPr/>
            <a:lstStyle/>
            <a:p>
              <a:endParaRPr/>
            </a:p>
          </p:txBody>
        </p:sp>
        <p:sp>
          <p:nvSpPr>
            <p:cNvPr id="21" name="Shape 17"/>
            <p:cNvSpPr/>
            <p:nvPr/>
          </p:nvSpPr>
          <p:spPr>
            <a:xfrm>
              <a:off x="8402117" y="2240280"/>
              <a:ext cx="731520" cy="731520"/>
            </a:xfrm>
            <a:prstGeom prst="ellipse">
              <a:avLst/>
            </a:prstGeom>
            <a:solidFill>
              <a:srgbClr val="075767"/>
            </a:solidFill>
            <a:ln/>
          </p:spPr>
          <p:txBody>
            <a:bodyPr/>
            <a:lstStyle/>
            <a:p>
              <a:endParaRPr/>
            </a:p>
          </p:txBody>
        </p:sp>
        <p:pic>
          <p:nvPicPr>
            <p:cNvPr id="22" name="Image 2" descr="/home/claude/tmo/build/ico/dialogue-blanc.png"/>
            <p:cNvPicPr>
              <a:picLocks noChangeAspect="1"/>
            </p:cNvPicPr>
            <p:nvPr/>
          </p:nvPicPr>
          <p:blipFill>
            <a:blip r:embed="rId5"/>
            <a:stretch>
              <a:fillRect/>
            </a:stretch>
          </p:blipFill>
          <p:spPr>
            <a:xfrm>
              <a:off x="8592312" y="2430475"/>
              <a:ext cx="351130" cy="351130"/>
            </a:xfrm>
            <a:prstGeom prst="rect">
              <a:avLst/>
            </a:prstGeom>
          </p:spPr>
        </p:pic>
        <p:sp>
          <p:nvSpPr>
            <p:cNvPr id="23" name="Text 18"/>
            <p:cNvSpPr txBox="1"/>
            <p:nvPr/>
          </p:nvSpPr>
          <p:spPr>
            <a:xfrm>
              <a:off x="8402117" y="3108960"/>
              <a:ext cx="2783738" cy="45720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Tertiaire : réparer</a:t>
              </a:r>
              <a:endParaRPr lang="en-US" sz="1550" dirty="0"/>
            </a:p>
          </p:txBody>
        </p:sp>
        <p:sp>
          <p:nvSpPr>
            <p:cNvPr id="24" name="Text 19"/>
            <p:cNvSpPr txBox="1"/>
            <p:nvPr/>
          </p:nvSpPr>
          <p:spPr>
            <a:xfrm>
              <a:off x="8402117" y="3611880"/>
              <a:ext cx="2783738" cy="1325880"/>
            </a:xfrm>
            <a:prstGeom prst="rect">
              <a:avLst/>
            </a:prstGeom>
            <a:noFill/>
            <a:ln/>
          </p:spPr>
          <p:txBody>
            <a:bodyPr wrap="square" lIns="0" tIns="0" rIns="0" bIns="0" rtlCol="0" anchor="t"/>
            <a:lstStyle/>
            <a:p>
              <a:pPr marL="0" indent="0">
                <a:lnSpc>
                  <a:spcPct val="112000"/>
                </a:lnSpc>
                <a:buNone/>
              </a:pPr>
              <a:r>
                <a:rPr lang="en-US" sz="1250" dirty="0">
                  <a:solidFill>
                    <a:srgbClr val="595959"/>
                  </a:solidFill>
                  <a:latin typeface="Lato" pitchFamily="34" charset="0"/>
                  <a:ea typeface="Lato" pitchFamily="34" charset="-122"/>
                  <a:cs typeface="Lato" pitchFamily="34" charset="-120"/>
                </a:rPr>
                <a:t>Prendre en charge rapidement les victimes : cellule d'écoute, psychologue du travail, retour d'expérience.</a:t>
              </a:r>
              <a:endParaRPr lang="en-US" sz="1250" dirty="0"/>
            </a:p>
          </p:txBody>
        </p:sp>
      </p:grpSp>
      <p:grpSp>
        <p:nvGrpSpPr>
          <p:cNvPr id="9282" name="Bloc 4"/>
          <p:cNvGrpSpPr/>
          <p:nvPr/>
        </p:nvGrpSpPr>
        <p:grpSpPr>
          <a:xfrm>
            <a:off x="731520" y="5257800"/>
            <a:ext cx="10728655" cy="841248"/>
            <a:chOff x="731520" y="5257800"/>
            <a:chExt cx="10728655" cy="841248"/>
          </a:xfrm>
        </p:grpSpPr>
        <p:sp>
          <p:nvSpPr>
            <p:cNvPr id="25" name="Shape 20"/>
            <p:cNvSpPr/>
            <p:nvPr/>
          </p:nvSpPr>
          <p:spPr>
            <a:xfrm>
              <a:off x="731520" y="5257800"/>
              <a:ext cx="10728655" cy="841248"/>
            </a:xfrm>
            <a:prstGeom prst="roundRect">
              <a:avLst>
                <a:gd name="adj" fmla="val 6522"/>
              </a:avLst>
            </a:prstGeom>
            <a:solidFill>
              <a:srgbClr val="D7E8EB"/>
            </a:solidFill>
            <a:ln/>
          </p:spPr>
          <p:txBody>
            <a:bodyPr/>
            <a:lstStyle/>
            <a:p>
              <a:endParaRPr/>
            </a:p>
          </p:txBody>
        </p:sp>
        <p:sp>
          <p:nvSpPr>
            <p:cNvPr id="26" name="Text 21"/>
            <p:cNvSpPr txBox="1"/>
            <p:nvPr/>
          </p:nvSpPr>
          <p:spPr>
            <a:xfrm>
              <a:off x="1024128" y="5257800"/>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Le piège classique   </a:t>
              </a:r>
              <a:r>
                <a:rPr lang="en-US" sz="1300" dirty="0">
                  <a:solidFill>
                    <a:srgbClr val="075767"/>
                  </a:solidFill>
                  <a:latin typeface="Lato" pitchFamily="34" charset="0"/>
                  <a:ea typeface="Lato" pitchFamily="34" charset="-122"/>
                  <a:cs typeface="Lato" pitchFamily="34" charset="-120"/>
                </a:rPr>
                <a:t>installer une cellule d'écoute et s'arrêter là. C'est de la réparation présentée comme de la prévention, le niveau primaire reste intact.</a:t>
              </a:r>
              <a:endParaRPr lang="en-US" sz="1250" dirty="0"/>
            </a:p>
          </p:txBody>
        </p:sp>
      </p:grpSp>
      <p:pic>
        <p:nvPicPr>
          <p:cNvPr id="27" name="Image 3"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28" name="Text 2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9" name="Shape 23"/>
          <p:cNvSpPr/>
          <p:nvPr/>
        </p:nvSpPr>
        <p:spPr>
          <a:xfrm>
            <a:off x="10591495" y="6181344"/>
            <a:ext cx="438912" cy="438912"/>
          </a:xfrm>
          <a:prstGeom prst="ellipse">
            <a:avLst/>
          </a:prstGeom>
          <a:solidFill>
            <a:srgbClr val="F06C23"/>
          </a:solidFill>
          <a:ln/>
        </p:spPr>
        <p:txBody>
          <a:bodyPr/>
          <a:lstStyle/>
          <a:p>
            <a:endParaRPr/>
          </a:p>
        </p:txBody>
      </p:sp>
      <p:sp>
        <p:nvSpPr>
          <p:cNvPr id="30" name="Text 2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31" name="Text 2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194</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79"/>
                                        </p:tgtEl>
                                        <p:attrNameLst>
                                          <p:attrName>style.visibility</p:attrName>
                                        </p:attrNameLst>
                                      </p:cBhvr>
                                      <p:to>
                                        <p:strVal val="visible"/>
                                      </p:to>
                                    </p:set>
                                    <p:animEffect transition="in" filter="fade">
                                      <p:cBhvr>
                                        <p:cTn id="7" dur="450"/>
                                        <p:tgtEl>
                                          <p:spTgt spid="92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80"/>
                                        </p:tgtEl>
                                        <p:attrNameLst>
                                          <p:attrName>style.visibility</p:attrName>
                                        </p:attrNameLst>
                                      </p:cBhvr>
                                      <p:to>
                                        <p:strVal val="visible"/>
                                      </p:to>
                                    </p:set>
                                    <p:animEffect transition="in" filter="fade">
                                      <p:cBhvr>
                                        <p:cTn id="12" dur="450"/>
                                        <p:tgtEl>
                                          <p:spTgt spid="92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81"/>
                                        </p:tgtEl>
                                        <p:attrNameLst>
                                          <p:attrName>style.visibility</p:attrName>
                                        </p:attrNameLst>
                                      </p:cBhvr>
                                      <p:to>
                                        <p:strVal val="visible"/>
                                      </p:to>
                                    </p:set>
                                    <p:animEffect transition="in" filter="fade">
                                      <p:cBhvr>
                                        <p:cTn id="17" dur="450"/>
                                        <p:tgtEl>
                                          <p:spTgt spid="928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82"/>
                                        </p:tgtEl>
                                        <p:attrNameLst>
                                          <p:attrName>style.visibility</p:attrName>
                                        </p:attrNameLst>
                                      </p:cBhvr>
                                      <p:to>
                                        <p:strVal val="visible"/>
                                      </p:to>
                                    </p:set>
                                    <p:animEffect transition="in" filter="fade">
                                      <p:cBhvr>
                                        <p:cTn id="22" dur="450"/>
                                        <p:tgtEl>
                                          <p:spTgt spid="9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Le fondement réglementaire des RPS</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grpSp>
        <p:nvGrpSpPr>
          <p:cNvPr id="9283" name="Bloc 1"/>
          <p:cNvGrpSpPr/>
          <p:nvPr/>
        </p:nvGrpSpPr>
        <p:grpSpPr>
          <a:xfrm>
            <a:off x="731520" y="1920240"/>
            <a:ext cx="10728655" cy="1828800"/>
            <a:chOff x="731520" y="1920240"/>
            <a:chExt cx="10728655" cy="1828800"/>
          </a:xfrm>
        </p:grpSpPr>
        <p:sp>
          <p:nvSpPr>
            <p:cNvPr id="10" name="Shape 8"/>
            <p:cNvSpPr/>
            <p:nvPr/>
          </p:nvSpPr>
          <p:spPr>
            <a:xfrm>
              <a:off x="731520" y="1920240"/>
              <a:ext cx="10728655" cy="1828800"/>
            </a:xfrm>
            <a:prstGeom prst="roundRect">
              <a:avLst>
                <a:gd name="adj" fmla="val 2500"/>
              </a:avLst>
            </a:prstGeom>
            <a:solidFill>
              <a:srgbClr val="D7E8EB"/>
            </a:solidFill>
            <a:ln/>
          </p:spPr>
          <p:txBody>
            <a:bodyPr/>
            <a:lstStyle/>
            <a:p>
              <a:endParaRPr/>
            </a:p>
          </p:txBody>
        </p:sp>
        <p:sp>
          <p:nvSpPr>
            <p:cNvPr id="11" name="Shape 9"/>
            <p:cNvSpPr/>
            <p:nvPr/>
          </p:nvSpPr>
          <p:spPr>
            <a:xfrm>
              <a:off x="1051560" y="2231136"/>
              <a:ext cx="777240" cy="777240"/>
            </a:xfrm>
            <a:prstGeom prst="ellipse">
              <a:avLst/>
            </a:prstGeom>
            <a:solidFill>
              <a:srgbClr val="075767"/>
            </a:solidFill>
            <a:ln/>
          </p:spPr>
          <p:txBody>
            <a:bodyPr/>
            <a:lstStyle/>
            <a:p>
              <a:endParaRPr/>
            </a:p>
          </p:txBody>
        </p:sp>
        <p:pic>
          <p:nvPicPr>
            <p:cNvPr id="12" name="Image 0" descr="/home/claude/tmo/build/ico/justice-blanc.png"/>
            <p:cNvPicPr>
              <a:picLocks noChangeAspect="1"/>
            </p:cNvPicPr>
            <p:nvPr/>
          </p:nvPicPr>
          <p:blipFill>
            <a:blip r:embed="rId3"/>
            <a:stretch>
              <a:fillRect/>
            </a:stretch>
          </p:blipFill>
          <p:spPr>
            <a:xfrm>
              <a:off x="1253642" y="2433218"/>
              <a:ext cx="373075" cy="373075"/>
            </a:xfrm>
            <a:prstGeom prst="rect">
              <a:avLst/>
            </a:prstGeom>
          </p:spPr>
        </p:pic>
        <p:sp>
          <p:nvSpPr>
            <p:cNvPr id="13" name="Text 10"/>
            <p:cNvSpPr txBox="1"/>
            <p:nvPr/>
          </p:nvSpPr>
          <p:spPr>
            <a:xfrm>
              <a:off x="2057400" y="2139696"/>
              <a:ext cx="8991295" cy="365760"/>
            </a:xfrm>
            <a:prstGeom prst="rect">
              <a:avLst/>
            </a:prstGeom>
            <a:noFill/>
            <a:ln/>
          </p:spPr>
          <p:txBody>
            <a:bodyPr wrap="square" lIns="0" tIns="0" rIns="0" bIns="0" rtlCol="0" anchor="t"/>
            <a:lstStyle/>
            <a:p>
              <a:pPr marL="0" indent="0">
                <a:buNone/>
              </a:pPr>
              <a:r>
                <a:rPr lang="en-US" sz="1400" b="1" u="sng" dirty="0">
                  <a:solidFill>
                    <a:srgbClr val="C33F14"/>
                  </a:solidFill>
                  <a:latin typeface="Lato" pitchFamily="34" charset="0"/>
                  <a:ea typeface="Lato" pitchFamily="34" charset="-122"/>
                  <a:cs typeface="Lato" pitchFamily="34" charset="-120"/>
                  <a:hlinkClick r:id="rId4" tooltip="Ouvrir sur Légifrance">
                    <a:extLst>
                      <a:ext uri="{A12FA001-AC4F-418D-AE19-62706E023703}">
                        <ahyp:hlinkClr xmlns:ahyp="http://schemas.microsoft.com/office/drawing/2018/hyperlinkcolor" val="tx"/>
                      </a:ext>
                    </a:extLst>
                  </a:hlinkClick>
                </a:rPr>
                <a:t>Article L. 4121-1 (code du travail)</a:t>
              </a:r>
              <a:r>
                <a:rPr lang="en-US" sz="1400" b="1" u="sng" dirty="0">
                  <a:solidFill>
                    <a:srgbClr val="C33F14"/>
                  </a:solidFill>
                  <a:latin typeface="Lato" pitchFamily="34" charset="0"/>
                  <a:ea typeface="Lato" pitchFamily="34" charset="-122"/>
                  <a:cs typeface="Lato" pitchFamily="34" charset="-120"/>
                  <a:hlinkClick r:id="rId5" tooltip="Ouvrir sur Légifrance">
                    <a:extLst>
                      <a:ext uri="{A12FA001-AC4F-418D-AE19-62706E023703}">
                        <ahyp:hlinkClr xmlns:ahyp="http://schemas.microsoft.com/office/drawing/2018/hyperlinkcolor" val="tx"/>
                      </a:ext>
                    </a:extLst>
                  </a:hlinkClick>
                </a:rPr>
                <a:t>   ·   Article L. 4121-2 (code du travail)</a:t>
              </a:r>
              <a:endParaRPr lang="en-US" sz="1400" dirty="0"/>
            </a:p>
          </p:txBody>
        </p:sp>
        <p:sp>
          <p:nvSpPr>
            <p:cNvPr id="14" name="Text 11"/>
            <p:cNvSpPr txBox="1"/>
            <p:nvPr/>
          </p:nvSpPr>
          <p:spPr>
            <a:xfrm>
              <a:off x="2057400" y="2542032"/>
              <a:ext cx="8991295" cy="1051560"/>
            </a:xfrm>
            <a:prstGeom prst="rect">
              <a:avLst/>
            </a:prstGeom>
            <a:noFill/>
            <a:ln/>
          </p:spPr>
          <p:txBody>
            <a:bodyPr wrap="square" lIns="0" tIns="0" rIns="0" bIns="0" rtlCol="0" anchor="t"/>
            <a:lstStyle/>
            <a:p>
              <a:pPr marL="0" indent="0">
                <a:lnSpc>
                  <a:spcPct val="115000"/>
                </a:lnSpc>
                <a:buNone/>
              </a:pPr>
              <a:r>
                <a:rPr lang="en-US" sz="1250" i="1" dirty="0">
                  <a:solidFill>
                    <a:srgbClr val="075767"/>
                  </a:solidFill>
                  <a:latin typeface="Lato" pitchFamily="34" charset="0"/>
                  <a:ea typeface="Lato" pitchFamily="34" charset="-122"/>
                  <a:cs typeface="Lato" pitchFamily="34" charset="-120"/>
                </a:rPr>
                <a:t>Combattre les risques à la source et adapter le travail à l'homme : intervenir le plus en amont possible pour prévenir les risques psychosociaux, conception de postes adaptés, choix des méthodes de travail et de production en vue de limiter le travail monotone et cadencé, soutien technique aux opérateurs, adaptation des charges de travail.</a:t>
              </a:r>
              <a:endParaRPr lang="en-US" sz="1250" dirty="0"/>
            </a:p>
          </p:txBody>
        </p:sp>
      </p:grpSp>
      <p:sp>
        <p:nvSpPr>
          <p:cNvPr id="15" name="Text 12"/>
          <p:cNvSpPr txBox="1"/>
          <p:nvPr/>
        </p:nvSpPr>
        <p:spPr>
          <a:xfrm>
            <a:off x="731520" y="4005072"/>
            <a:ext cx="5486400" cy="365760"/>
          </a:xfrm>
          <a:prstGeom prst="rect">
            <a:avLst/>
          </a:prstGeom>
          <a:noFill/>
          <a:ln/>
        </p:spPr>
        <p:txBody>
          <a:bodyPr wrap="square" lIns="0" tIns="0" rIns="0" bIns="0" rtlCol="0" anchor="t"/>
          <a:lstStyle/>
          <a:p>
            <a:pPr marL="0" indent="0">
              <a:buNone/>
            </a:pPr>
            <a:r>
              <a:rPr lang="en-US" sz="1550" b="1" dirty="0">
                <a:solidFill>
                  <a:srgbClr val="075767"/>
                </a:solidFill>
                <a:latin typeface="Lato" pitchFamily="34" charset="0"/>
                <a:ea typeface="Lato" pitchFamily="34" charset="-122"/>
                <a:cs typeface="Lato" pitchFamily="34" charset="-120"/>
              </a:rPr>
              <a:t>Ce que ça implique concrètement</a:t>
            </a:r>
            <a:endParaRPr lang="en-US" sz="1550" dirty="0"/>
          </a:p>
        </p:txBody>
      </p:sp>
      <p:sp>
        <p:nvSpPr>
          <p:cNvPr id="16" name="Text 13"/>
          <p:cNvSpPr txBox="1"/>
          <p:nvPr/>
        </p:nvSpPr>
        <p:spPr>
          <a:xfrm>
            <a:off x="731520" y="4434840"/>
            <a:ext cx="10728655" cy="141732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 4121-1 protège expressément la santé mentale des travailleurs, au même titre que la santé physique</a:t>
            </a:r>
            <a:endParaRPr lang="en-US" sz="1350" dirty="0"/>
          </a:p>
          <a:p>
            <a:pPr marL="203200" indent="-203200">
              <a:lnSpc>
                <a:spcPct val="110000"/>
              </a:lnSpc>
              <a:spcAft>
                <a:spcPts val="700"/>
              </a:spcAft>
              <a:buSzPct val="100000"/>
              <a:buChar char="•"/>
            </a:pPr>
            <a:r>
              <a:rPr lang="en-US" sz="1350" b="1" dirty="0">
                <a:solidFill>
                  <a:srgbClr val="075767"/>
                </a:solidFill>
                <a:latin typeface="Lato" pitchFamily="34" charset="0"/>
                <a:ea typeface="Lato" pitchFamily="34" charset="-122"/>
                <a:cs typeface="Lato" pitchFamily="34" charset="-120"/>
              </a:rPr>
              <a:t>L. 4121-2 impose de planifier la prévention en intégrant dans un ensemble cohérent la technique, l'organisation du travail, les conditions de travail, les relations sociales et l'influence des facteurs ambiants</a:t>
            </a:r>
            <a:endParaRPr lang="en-US" sz="1350" dirty="0"/>
          </a:p>
          <a:p>
            <a:pPr marL="203200" indent="-203200">
              <a:lnSpc>
                <a:spcPct val="110000"/>
              </a:lnSpc>
              <a:spcAft>
                <a:spcPts val="700"/>
              </a:spcAft>
              <a:buSzPct val="100000"/>
              <a:buChar char="•"/>
            </a:pPr>
            <a:r>
              <a:rPr lang="en-US" sz="1350" dirty="0">
                <a:solidFill>
                  <a:srgbClr val="595959"/>
                </a:solidFill>
                <a:latin typeface="Lato" pitchFamily="34" charset="0"/>
                <a:ea typeface="Lato" pitchFamily="34" charset="-122"/>
                <a:cs typeface="Lato" pitchFamily="34" charset="-120"/>
              </a:rPr>
              <a:t>Y compris les risques liés au harcèlement moral, au harcèlement sexuel et aux agissements sexistes</a:t>
            </a:r>
            <a:endParaRPr lang="en-US" sz="1350" dirty="0"/>
          </a:p>
        </p:txBody>
      </p:sp>
      <p:pic>
        <p:nvPicPr>
          <p:cNvPr id="17" name="Image 1" descr="/home/claude/tmo/build/logo.png"/>
          <p:cNvPicPr>
            <a:picLocks noChangeAspect="1"/>
          </p:cNvPicPr>
          <p:nvPr/>
        </p:nvPicPr>
        <p:blipFill>
          <a:blip r:embed="rId6"/>
          <a:stretch>
            <a:fillRect/>
          </a:stretch>
        </p:blipFill>
        <p:spPr>
          <a:xfrm>
            <a:off x="731520" y="6199632"/>
            <a:ext cx="402336" cy="402336"/>
          </a:xfrm>
          <a:prstGeom prst="rect">
            <a:avLst/>
          </a:prstGeom>
        </p:spPr>
      </p:pic>
      <p:sp>
        <p:nvSpPr>
          <p:cNvPr id="18" name="Text 14"/>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9" name="Shape 15"/>
          <p:cNvSpPr/>
          <p:nvPr/>
        </p:nvSpPr>
        <p:spPr>
          <a:xfrm>
            <a:off x="10591495" y="6181344"/>
            <a:ext cx="438912" cy="438912"/>
          </a:xfrm>
          <a:prstGeom prst="ellipse">
            <a:avLst/>
          </a:prstGeom>
          <a:solidFill>
            <a:srgbClr val="F06C23"/>
          </a:solidFill>
          <a:ln/>
        </p:spPr>
        <p:txBody>
          <a:bodyPr/>
          <a:lstStyle/>
          <a:p>
            <a:endParaRPr/>
          </a:p>
        </p:txBody>
      </p:sp>
      <p:sp>
        <p:nvSpPr>
          <p:cNvPr id="20" name="Text 16"/>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1" name="Text 17"/>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195</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83"/>
                                        </p:tgtEl>
                                        <p:attrNameLst>
                                          <p:attrName>style.visibility</p:attrName>
                                        </p:attrNameLst>
                                      </p:cBhvr>
                                      <p:to>
                                        <p:strVal val="visible"/>
                                      </p:to>
                                    </p:set>
                                    <p:animEffect transition="in" filter="fade">
                                      <p:cBhvr>
                                        <p:cTn id="7" dur="450"/>
                                        <p:tgtEl>
                                          <p:spTgt spid="92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Intégrer les RPS au document unique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sp>
        <p:nvSpPr>
          <p:cNvPr id="10" name="Text 8"/>
          <p:cNvSpPr txBox="1"/>
          <p:nvPr/>
        </p:nvSpPr>
        <p:spPr>
          <a:xfrm>
            <a:off x="731520" y="1828800"/>
            <a:ext cx="6035040" cy="29718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La grille d'évaluation RPS-DU de l'INRS, brochure ED 6403</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Le tableau TP13 des Documents pour le médecin du travail, atteintes à la santé et RPS</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Créer les documents nécessaires : trames d'entretien, grilles de restitution, supports de communication vers les salariés</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Les RPS s'inscrivent dans le DUERP comme tout autre risque : famille de risque, unité de travail, cotation, mesures en place, actions à mettre en œuvre</a:t>
            </a:r>
            <a:endParaRPr lang="en-US" sz="1400" dirty="0"/>
          </a:p>
        </p:txBody>
      </p:sp>
      <p:grpSp>
        <p:nvGrpSpPr>
          <p:cNvPr id="9284" name="Bloc 2"/>
          <p:cNvGrpSpPr/>
          <p:nvPr/>
        </p:nvGrpSpPr>
        <p:grpSpPr>
          <a:xfrm>
            <a:off x="7223760" y="1828800"/>
            <a:ext cx="4334256" cy="3282696"/>
            <a:chOff x="7223760" y="1828800"/>
            <a:chExt cx="4334256" cy="3282696"/>
          </a:xfrm>
        </p:grpSpPr>
        <p:sp>
          <p:nvSpPr>
            <p:cNvPr id="20" name="Rounded Rectangle 19"/>
            <p:cNvSpPr/>
            <p:nvPr/>
          </p:nvSpPr>
          <p:spPr>
            <a:xfrm>
              <a:off x="7351776" y="1956816"/>
              <a:ext cx="4206240" cy="3154680"/>
            </a:xfrm>
            <a:prstGeom prst="roundRect">
              <a:avLst>
                <a:gd name="adj" fmla="val 25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mage 0" descr="/home/claude/tmo/build/photos/p47.jpg"/>
            <p:cNvPicPr>
              <a:picLocks noChangeAspect="1"/>
            </p:cNvPicPr>
            <p:nvPr/>
          </p:nvPicPr>
          <p:blipFill>
            <a:blip r:embed="rId3"/>
            <a:srcRect/>
            <a:stretch/>
          </p:blipFill>
          <p:spPr>
            <a:xfrm>
              <a:off x="7223760" y="1828800"/>
              <a:ext cx="4206240" cy="3154680"/>
            </a:xfrm>
            <a:prstGeom prst="roundRect">
              <a:avLst>
                <a:gd name="adj" fmla="val 2200"/>
              </a:avLst>
            </a:prstGeom>
            <a:effectLst>
              <a:outerShdw blurRad="190500" dist="38100" dir="5400000" rotWithShape="0">
                <a:srgbClr val="075767">
                  <a:alpha val="22000"/>
                </a:srgbClr>
              </a:outerShdw>
              <a:softEdge rad="32004"/>
            </a:effectLst>
          </p:spPr>
        </p:pic>
      </p:grpSp>
      <p:grpSp>
        <p:nvGrpSpPr>
          <p:cNvPr id="9285" name="Bloc 3"/>
          <p:cNvGrpSpPr/>
          <p:nvPr/>
        </p:nvGrpSpPr>
        <p:grpSpPr>
          <a:xfrm>
            <a:off x="731520" y="4956048"/>
            <a:ext cx="10728655" cy="841248"/>
            <a:chOff x="731520" y="4956048"/>
            <a:chExt cx="10728655" cy="841248"/>
          </a:xfrm>
        </p:grpSpPr>
        <p:sp>
          <p:nvSpPr>
            <p:cNvPr id="12" name="Text 9"/>
            <p:cNvSpPr txBox="1"/>
            <p:nvPr/>
          </p:nvSpPr>
          <p:spPr>
            <a:xfrm>
              <a:off x="7223760" y="5056632"/>
              <a:ext cx="4206240" cy="457200"/>
            </a:xfrm>
            <a:prstGeom prst="rect">
              <a:avLst/>
            </a:prstGeom>
            <a:noFill/>
            <a:ln/>
          </p:spPr>
          <p:txBody>
            <a:bodyPr wrap="square" lIns="0" tIns="0" rIns="0" bIns="0" rtlCol="0" anchor="t"/>
            <a:lstStyle/>
            <a:p>
              <a:pPr marL="0" indent="0">
                <a:buNone/>
              </a:pPr>
              <a:r>
                <a:rPr lang="en-US" sz="950" i="1" dirty="0">
                  <a:solidFill>
                    <a:srgbClr val="595959"/>
                  </a:solidFill>
                  <a:latin typeface="Lato" pitchFamily="34" charset="0"/>
                  <a:ea typeface="Lato" pitchFamily="34" charset="-122"/>
                  <a:cs typeface="Lato" pitchFamily="34" charset="-120"/>
                </a:rPr>
                <a:t>Un DUERP sans ligne RPS est un DUERP incomplet.</a:t>
              </a:r>
              <a:endParaRPr lang="en-US" sz="950" dirty="0"/>
            </a:p>
          </p:txBody>
        </p:sp>
        <p:sp>
          <p:nvSpPr>
            <p:cNvPr id="13" name="Shape 10"/>
            <p:cNvSpPr/>
            <p:nvPr/>
          </p:nvSpPr>
          <p:spPr>
            <a:xfrm>
              <a:off x="731520" y="4956048"/>
              <a:ext cx="10728655" cy="841248"/>
            </a:xfrm>
            <a:prstGeom prst="roundRect">
              <a:avLst>
                <a:gd name="adj" fmla="val 6522"/>
              </a:avLst>
            </a:prstGeom>
            <a:solidFill>
              <a:srgbClr val="D7E8EB"/>
            </a:solidFill>
            <a:ln/>
          </p:spPr>
          <p:txBody>
            <a:bodyPr/>
            <a:lstStyle/>
            <a:p>
              <a:endParaRPr/>
            </a:p>
          </p:txBody>
        </p:sp>
        <p:sp>
          <p:nvSpPr>
            <p:cNvPr id="14" name="Text 11"/>
            <p:cNvSpPr txBox="1"/>
            <p:nvPr/>
          </p:nvSpPr>
          <p:spPr>
            <a:xfrm>
              <a:off x="1024128" y="4956048"/>
              <a:ext cx="10143439" cy="841248"/>
            </a:xfrm>
            <a:prstGeom prst="rect">
              <a:avLst/>
            </a:prstGeom>
            <a:noFill/>
            <a:ln/>
          </p:spPr>
          <p:txBody>
            <a:bodyPr wrap="square" lIns="0" tIns="0" rIns="0" bIns="0" rtlCol="0" anchor="ctr"/>
            <a:lstStyle/>
            <a:p>
              <a:pPr marL="0" indent="0">
                <a:buNone/>
              </a:pPr>
              <a:r>
                <a:rPr lang="en-US" sz="1250" b="1" dirty="0">
                  <a:solidFill>
                    <a:srgbClr val="C33F14"/>
                  </a:solidFill>
                  <a:latin typeface="Lato" pitchFamily="34" charset="0"/>
                  <a:ea typeface="Lato" pitchFamily="34" charset="-122"/>
                  <a:cs typeface="Lato" pitchFamily="34" charset="-120"/>
                </a:rPr>
                <a:t>La question à poser   </a:t>
              </a:r>
              <a:r>
                <a:rPr lang="en-US" sz="1300" dirty="0">
                  <a:solidFill>
                    <a:srgbClr val="075767"/>
                  </a:solidFill>
                  <a:latin typeface="Lato" pitchFamily="34" charset="0"/>
                  <a:ea typeface="Lato" pitchFamily="34" charset="-122"/>
                  <a:cs typeface="Lato" pitchFamily="34" charset="-120"/>
                </a:rPr>
                <a:t>combien de lignes RPS le DUERP de votre entreprise comporte-t-il ? Zéro est une réponse fréquente, et c'est un manquement.</a:t>
              </a:r>
              <a:endParaRPr lang="en-US" sz="1250" dirty="0"/>
            </a:p>
          </p:txBody>
        </p:sp>
      </p:grpSp>
      <p:pic>
        <p:nvPicPr>
          <p:cNvPr id="15"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6" name="Text 12"/>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17" name="Shape 13"/>
          <p:cNvSpPr/>
          <p:nvPr/>
        </p:nvSpPr>
        <p:spPr>
          <a:xfrm>
            <a:off x="10591495" y="6181344"/>
            <a:ext cx="438912" cy="438912"/>
          </a:xfrm>
          <a:prstGeom prst="ellipse">
            <a:avLst/>
          </a:prstGeom>
          <a:solidFill>
            <a:srgbClr val="F06C23"/>
          </a:solidFill>
          <a:ln/>
        </p:spPr>
        <p:txBody>
          <a:bodyPr/>
          <a:lstStyle/>
          <a:p>
            <a:endParaRPr/>
          </a:p>
        </p:txBody>
      </p:sp>
      <p:sp>
        <p:nvSpPr>
          <p:cNvPr id="18" name="Text 14"/>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19" name="Text 15"/>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196</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84"/>
                                        </p:tgtEl>
                                        <p:attrNameLst>
                                          <p:attrName>style.visibility</p:attrName>
                                        </p:attrNameLst>
                                      </p:cBhvr>
                                      <p:to>
                                        <p:strVal val="visible"/>
                                      </p:to>
                                    </p:set>
                                    <p:animEffect transition="in" filter="fade">
                                      <p:cBhvr>
                                        <p:cTn id="12" dur="450"/>
                                        <p:tgtEl>
                                          <p:spTgt spid="92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85"/>
                                        </p:tgtEl>
                                        <p:attrNameLst>
                                          <p:attrName>style.visibility</p:attrName>
                                        </p:attrNameLst>
                                      </p:cBhvr>
                                      <p:to>
                                        <p:strVal val="visible"/>
                                      </p:to>
                                    </p:set>
                                    <p:animEffect transition="in" filter="fade">
                                      <p:cBhvr>
                                        <p:cTn id="17" dur="450"/>
                                        <p:tgtEl>
                                          <p:spTgt spid="9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Shape 0"/>
          <p:cNvSpPr/>
          <p:nvPr/>
        </p:nvSpPr>
        <p:spPr>
          <a:xfrm rot="-180000">
            <a:off x="-2377440" y="-2395728"/>
            <a:ext cx="16002000" cy="2834640"/>
          </a:xfrm>
          <a:prstGeom prst="ellipse">
            <a:avLst/>
          </a:prstGeom>
          <a:solidFill>
            <a:srgbClr val="D7E8EB"/>
          </a:solidFill>
          <a:ln/>
        </p:spPr>
        <p:txBody>
          <a:bodyPr/>
          <a:lstStyle/>
          <a:p>
            <a:endParaRPr/>
          </a:p>
        </p:txBody>
      </p:sp>
      <p:sp>
        <p:nvSpPr>
          <p:cNvPr id="3" name="Shape 1"/>
          <p:cNvSpPr/>
          <p:nvPr/>
        </p:nvSpPr>
        <p:spPr>
          <a:xfrm rot="-240000">
            <a:off x="-2011680" y="-2651760"/>
            <a:ext cx="16002000" cy="2834640"/>
          </a:xfrm>
          <a:prstGeom prst="ellipse">
            <a:avLst/>
          </a:prstGeom>
          <a:solidFill>
            <a:srgbClr val="075767"/>
          </a:solidFill>
          <a:ln/>
        </p:spPr>
        <p:txBody>
          <a:bodyPr/>
          <a:lstStyle/>
          <a:p>
            <a:endParaRPr/>
          </a:p>
        </p:txBody>
      </p:sp>
      <p:sp>
        <p:nvSpPr>
          <p:cNvPr id="4" name="Shape 2"/>
          <p:cNvSpPr/>
          <p:nvPr/>
        </p:nvSpPr>
        <p:spPr>
          <a:xfrm>
            <a:off x="9966960" y="566928"/>
            <a:ext cx="155448" cy="155448"/>
          </a:xfrm>
          <a:prstGeom prst="ellipse">
            <a:avLst/>
          </a:prstGeom>
          <a:solidFill>
            <a:srgbClr val="C1D5D9"/>
          </a:solidFill>
          <a:ln/>
        </p:spPr>
        <p:txBody>
          <a:bodyPr/>
          <a:lstStyle/>
          <a:p>
            <a:endParaRPr/>
          </a:p>
        </p:txBody>
      </p:sp>
      <p:sp>
        <p:nvSpPr>
          <p:cNvPr id="5" name="Shape 3"/>
          <p:cNvSpPr/>
          <p:nvPr/>
        </p:nvSpPr>
        <p:spPr>
          <a:xfrm>
            <a:off x="10378440" y="502920"/>
            <a:ext cx="109728" cy="109728"/>
          </a:xfrm>
          <a:prstGeom prst="ellipse">
            <a:avLst/>
          </a:prstGeom>
          <a:solidFill>
            <a:srgbClr val="C1D5D9"/>
          </a:solidFill>
          <a:ln/>
        </p:spPr>
        <p:txBody>
          <a:bodyPr/>
          <a:lstStyle/>
          <a:p>
            <a:endParaRPr/>
          </a:p>
        </p:txBody>
      </p:sp>
      <p:sp>
        <p:nvSpPr>
          <p:cNvPr id="6" name="Shape 4"/>
          <p:cNvSpPr/>
          <p:nvPr/>
        </p:nvSpPr>
        <p:spPr>
          <a:xfrm>
            <a:off x="11521440" y="868680"/>
            <a:ext cx="128016" cy="128016"/>
          </a:xfrm>
          <a:prstGeom prst="ellipse">
            <a:avLst/>
          </a:prstGeom>
          <a:solidFill>
            <a:srgbClr val="C1D5D9"/>
          </a:solidFill>
          <a:ln/>
        </p:spPr>
        <p:txBody>
          <a:bodyPr/>
          <a:lstStyle/>
          <a:p>
            <a:endParaRPr/>
          </a:p>
        </p:txBody>
      </p:sp>
      <p:sp>
        <p:nvSpPr>
          <p:cNvPr id="7" name="Shape 5"/>
          <p:cNvSpPr/>
          <p:nvPr/>
        </p:nvSpPr>
        <p:spPr>
          <a:xfrm>
            <a:off x="9326880" y="960120"/>
            <a:ext cx="91440" cy="91440"/>
          </a:xfrm>
          <a:prstGeom prst="ellipse">
            <a:avLst/>
          </a:prstGeom>
          <a:solidFill>
            <a:srgbClr val="F58B60"/>
          </a:solidFill>
          <a:ln/>
        </p:spPr>
        <p:txBody>
          <a:bodyPr/>
          <a:lstStyle/>
          <a:p>
            <a:endParaRPr/>
          </a:p>
        </p:txBody>
      </p:sp>
      <p:sp>
        <p:nvSpPr>
          <p:cNvPr id="8" name="Text 6"/>
          <p:cNvSpPr txBox="1"/>
          <p:nvPr/>
        </p:nvSpPr>
        <p:spPr>
          <a:xfrm>
            <a:off x="731520" y="694944"/>
            <a:ext cx="9357055" cy="713232"/>
          </a:xfrm>
          <a:prstGeom prst="rect">
            <a:avLst/>
          </a:prstGeom>
          <a:noFill/>
          <a:ln/>
        </p:spPr>
        <p:txBody>
          <a:bodyPr wrap="square" lIns="0" tIns="0" rIns="0" bIns="0" rtlCol="0" anchor="t"/>
          <a:lstStyle/>
          <a:p>
            <a:pPr marL="0" indent="0">
              <a:lnSpc>
                <a:spcPct val="100000"/>
              </a:lnSpc>
              <a:buNone/>
            </a:pPr>
            <a:r>
              <a:rPr lang="en-US" sz="3000" b="1" kern="0" spc="-150" dirty="0">
                <a:solidFill>
                  <a:srgbClr val="075767"/>
                </a:solidFill>
                <a:latin typeface="Lato" pitchFamily="34" charset="0"/>
                <a:ea typeface="Lato" pitchFamily="34" charset="-122"/>
                <a:cs typeface="Lato" pitchFamily="34" charset="-120"/>
              </a:rPr>
              <a:t>Exercice de synthèse</a:t>
            </a:r>
            <a:endParaRPr lang="en-US" sz="3000" dirty="0"/>
          </a:p>
        </p:txBody>
      </p:sp>
      <p:sp>
        <p:nvSpPr>
          <p:cNvPr id="9" name="Text 7"/>
          <p:cNvSpPr txBox="1"/>
          <p:nvPr/>
        </p:nvSpPr>
        <p:spPr>
          <a:xfrm>
            <a:off x="731520" y="1371600"/>
            <a:ext cx="9357055" cy="329184"/>
          </a:xfrm>
          <a:prstGeom prst="rect">
            <a:avLst/>
          </a:prstGeom>
          <a:noFill/>
          <a:ln/>
        </p:spPr>
        <p:txBody>
          <a:bodyPr wrap="square" lIns="0" tIns="0" rIns="0" bIns="0" rtlCol="0" anchor="t"/>
          <a:lstStyle/>
          <a:p>
            <a:pPr marL="0" indent="0">
              <a:buNone/>
            </a:pPr>
            <a:r>
              <a:rPr lang="en-US" sz="1400" dirty="0">
                <a:solidFill>
                  <a:srgbClr val="595959"/>
                </a:solidFill>
                <a:latin typeface="Lato" pitchFamily="34" charset="0"/>
                <a:ea typeface="Lato" pitchFamily="34" charset="-122"/>
                <a:cs typeface="Lato" pitchFamily="34" charset="-120"/>
              </a:rPr>
              <a:t>Les risques psychosociaux</a:t>
            </a:r>
            <a:endParaRPr lang="en-US" sz="1400" dirty="0"/>
          </a:p>
        </p:txBody>
      </p:sp>
      <p:grpSp>
        <p:nvGrpSpPr>
          <p:cNvPr id="9286" name="Bloc 1"/>
          <p:cNvGrpSpPr/>
          <p:nvPr/>
        </p:nvGrpSpPr>
        <p:grpSpPr>
          <a:xfrm>
            <a:off x="731520" y="1828800"/>
            <a:ext cx="10728655" cy="3977640"/>
            <a:chOff x="731520" y="1828800"/>
            <a:chExt cx="10728655" cy="3977640"/>
          </a:xfrm>
        </p:grpSpPr>
        <p:sp>
          <p:nvSpPr>
            <p:cNvPr id="10" name="Shape 8"/>
            <p:cNvSpPr/>
            <p:nvPr/>
          </p:nvSpPr>
          <p:spPr>
            <a:xfrm>
              <a:off x="731520" y="1828800"/>
              <a:ext cx="10728655" cy="3977640"/>
            </a:xfrm>
            <a:prstGeom prst="roundRect">
              <a:avLst>
                <a:gd name="adj" fmla="val 1379"/>
              </a:avLst>
            </a:prstGeom>
            <a:solidFill>
              <a:srgbClr val="F2F2F2"/>
            </a:solidFill>
            <a:ln/>
          </p:spPr>
          <p:txBody>
            <a:bodyPr/>
            <a:lstStyle/>
            <a:p>
              <a:endParaRPr/>
            </a:p>
          </p:txBody>
        </p:sp>
        <p:sp>
          <p:nvSpPr>
            <p:cNvPr id="11" name="Shape 9"/>
            <p:cNvSpPr/>
            <p:nvPr/>
          </p:nvSpPr>
          <p:spPr>
            <a:xfrm>
              <a:off x="1097280" y="2121408"/>
              <a:ext cx="777240" cy="777240"/>
            </a:xfrm>
            <a:prstGeom prst="ellipse">
              <a:avLst/>
            </a:prstGeom>
            <a:solidFill>
              <a:srgbClr val="F06C23"/>
            </a:solidFill>
            <a:ln/>
          </p:spPr>
          <p:txBody>
            <a:bodyPr/>
            <a:lstStyle/>
            <a:p>
              <a:endParaRPr/>
            </a:p>
          </p:txBody>
        </p:sp>
        <p:pic>
          <p:nvPicPr>
            <p:cNvPr id="12" name="Image 0" descr="/home/claude/tmo/build/ico/equipe-blanc.png"/>
            <p:cNvPicPr>
              <a:picLocks noChangeAspect="1"/>
            </p:cNvPicPr>
            <p:nvPr/>
          </p:nvPicPr>
          <p:blipFill>
            <a:blip r:embed="rId3"/>
            <a:stretch>
              <a:fillRect/>
            </a:stretch>
          </p:blipFill>
          <p:spPr>
            <a:xfrm>
              <a:off x="1299362" y="2323490"/>
              <a:ext cx="373075" cy="373075"/>
            </a:xfrm>
            <a:prstGeom prst="rect">
              <a:avLst/>
            </a:prstGeom>
          </p:spPr>
        </p:pic>
        <p:sp>
          <p:nvSpPr>
            <p:cNvPr id="13" name="Shape 10"/>
            <p:cNvSpPr/>
            <p:nvPr/>
          </p:nvSpPr>
          <p:spPr>
            <a:xfrm>
              <a:off x="8854135" y="2139696"/>
              <a:ext cx="2240280" cy="457200"/>
            </a:xfrm>
            <a:prstGeom prst="roundRect">
              <a:avLst>
                <a:gd name="adj" fmla="val 24000"/>
              </a:avLst>
            </a:prstGeom>
            <a:solidFill>
              <a:srgbClr val="075767"/>
            </a:solidFill>
            <a:ln/>
          </p:spPr>
          <p:txBody>
            <a:bodyPr/>
            <a:lstStyle/>
            <a:p>
              <a:endParaRPr/>
            </a:p>
          </p:txBody>
        </p:sp>
        <p:sp>
          <p:nvSpPr>
            <p:cNvPr id="14" name="Text 11"/>
            <p:cNvSpPr txBox="1"/>
            <p:nvPr/>
          </p:nvSpPr>
          <p:spPr>
            <a:xfrm>
              <a:off x="8854135" y="2139696"/>
              <a:ext cx="22402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Lato" pitchFamily="34" charset="0"/>
                  <a:ea typeface="Lato" pitchFamily="34" charset="-122"/>
                  <a:cs typeface="Lato" pitchFamily="34" charset="-120"/>
                </a:rPr>
                <a:t>45' + restitution</a:t>
              </a:r>
              <a:endParaRPr lang="en-US" sz="1250" dirty="0"/>
            </a:p>
          </p:txBody>
        </p:sp>
        <p:sp>
          <p:nvSpPr>
            <p:cNvPr id="15" name="Text 12"/>
            <p:cNvSpPr txBox="1"/>
            <p:nvPr/>
          </p:nvSpPr>
          <p:spPr>
            <a:xfrm>
              <a:off x="2103120" y="2084832"/>
              <a:ext cx="4572000" cy="274320"/>
            </a:xfrm>
            <a:prstGeom prst="rect">
              <a:avLst/>
            </a:prstGeom>
            <a:noFill/>
            <a:ln/>
          </p:spPr>
          <p:txBody>
            <a:bodyPr wrap="square" lIns="0" tIns="0" rIns="0" bIns="0" rtlCol="0" anchor="ctr"/>
            <a:lstStyle/>
            <a:p>
              <a:pPr marL="0" indent="0">
                <a:buNone/>
              </a:pPr>
              <a:r>
                <a:rPr lang="en-US" sz="1100" b="1" kern="0" spc="160" dirty="0">
                  <a:solidFill>
                    <a:srgbClr val="C33F14"/>
                  </a:solidFill>
                  <a:latin typeface="Lato" pitchFamily="34" charset="0"/>
                  <a:ea typeface="Lato" pitchFamily="34" charset="-122"/>
                  <a:cs typeface="Lato" pitchFamily="34" charset="-120"/>
                </a:rPr>
                <a:t>EXERCICE</a:t>
              </a:r>
              <a:endParaRPr lang="en-US" sz="1100" dirty="0"/>
            </a:p>
          </p:txBody>
        </p:sp>
        <p:sp>
          <p:nvSpPr>
            <p:cNvPr id="16" name="Text 13"/>
            <p:cNvSpPr txBox="1"/>
            <p:nvPr/>
          </p:nvSpPr>
          <p:spPr>
            <a:xfrm>
              <a:off x="2103120" y="2377440"/>
              <a:ext cx="6522415" cy="658368"/>
            </a:xfrm>
            <a:prstGeom prst="rect">
              <a:avLst/>
            </a:prstGeom>
            <a:noFill/>
            <a:ln/>
          </p:spPr>
          <p:txBody>
            <a:bodyPr wrap="square" lIns="0" tIns="0" rIns="0" bIns="0" rtlCol="0" anchor="t"/>
            <a:lstStyle/>
            <a:p>
              <a:pPr marL="0" indent="0">
                <a:lnSpc>
                  <a:spcPct val="110000"/>
                </a:lnSpc>
                <a:buNone/>
              </a:pPr>
              <a:r>
                <a:rPr lang="en-US" sz="1600" b="1" dirty="0">
                  <a:solidFill>
                    <a:srgbClr val="075767"/>
                  </a:solidFill>
                  <a:latin typeface="Lato" pitchFamily="34" charset="0"/>
                  <a:ea typeface="Lato" pitchFamily="34" charset="-122"/>
                  <a:cs typeface="Lato" pitchFamily="34" charset="-120"/>
                </a:rPr>
                <a:t>Vous êtes la commission SSCT. Construisez votre feuille de route pour les douze prochains mois.</a:t>
              </a:r>
              <a:endParaRPr lang="en-US" sz="1600" dirty="0"/>
            </a:p>
          </p:txBody>
        </p:sp>
        <p:sp>
          <p:nvSpPr>
            <p:cNvPr id="17" name="Text 14"/>
            <p:cNvSpPr txBox="1"/>
            <p:nvPr/>
          </p:nvSpPr>
          <p:spPr>
            <a:xfrm>
              <a:off x="2103120" y="3127248"/>
              <a:ext cx="8716975" cy="25146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Quels sont les trois sujets prioritaires dans votre entreprise, et pourquoi ?</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Pour chacun : quelle porte d'entrée, quels acteurs, quel calendrier ?</a:t>
              </a:r>
              <a:endParaRPr lang="en-US" sz="1400" dirty="0"/>
            </a:p>
            <a:p>
              <a:pPr marL="203200" indent="-203200">
                <a:lnSpc>
                  <a:spcPct val="110000"/>
                </a:lnSpc>
                <a:spcAft>
                  <a:spcPts val="700"/>
                </a:spcAft>
                <a:buSzPct val="100000"/>
                <a:buChar char="•"/>
              </a:pPr>
              <a:r>
                <a:rPr lang="en-US" sz="1400" dirty="0">
                  <a:solidFill>
                    <a:srgbClr val="595959"/>
                  </a:solidFill>
                  <a:latin typeface="Lato" pitchFamily="34" charset="0"/>
                  <a:ea typeface="Lato" pitchFamily="34" charset="-122"/>
                  <a:cs typeface="Lato" pitchFamily="34" charset="-120"/>
                </a:rPr>
                <a:t>Quelles inspections programmez-vous, sur quels thèmes, avec quelle grille ?</a:t>
              </a:r>
              <a:endParaRPr lang="en-US" sz="1400" dirty="0"/>
            </a:p>
            <a:p>
              <a:pPr marL="203200" indent="-203200">
                <a:lnSpc>
                  <a:spcPct val="110000"/>
                </a:lnSpc>
                <a:spcAft>
                  <a:spcPts val="700"/>
                </a:spcAft>
                <a:buSzPct val="100000"/>
                <a:buChar char="•"/>
              </a:pPr>
              <a:r>
                <a:rPr lang="en-US" sz="1400" b="1" dirty="0">
                  <a:solidFill>
                    <a:srgbClr val="075767"/>
                  </a:solidFill>
                  <a:latin typeface="Lato" pitchFamily="34" charset="0"/>
                  <a:ea typeface="Lato" pitchFamily="34" charset="-122"/>
                  <a:cs typeface="Lato" pitchFamily="34" charset="-120"/>
                </a:rPr>
                <a:t>Quels points ferez-vous inscrire à l'ordre du jour de la prochaine réunion, et sous quelle forme ?</a:t>
              </a:r>
              <a:endParaRPr lang="en-US" sz="1400" dirty="0"/>
            </a:p>
          </p:txBody>
        </p:sp>
      </p:grpSp>
      <p:pic>
        <p:nvPicPr>
          <p:cNvPr id="18" name="Image 1" descr="/home/claude/tmo/build/logo.png"/>
          <p:cNvPicPr>
            <a:picLocks noChangeAspect="1"/>
          </p:cNvPicPr>
          <p:nvPr/>
        </p:nvPicPr>
        <p:blipFill>
          <a:blip r:embed="rId4"/>
          <a:stretch>
            <a:fillRect/>
          </a:stretch>
        </p:blipFill>
        <p:spPr>
          <a:xfrm>
            <a:off x="731520" y="6199632"/>
            <a:ext cx="402336" cy="402336"/>
          </a:xfrm>
          <a:prstGeom prst="rect">
            <a:avLst/>
          </a:prstGeom>
        </p:spPr>
      </p:pic>
      <p:sp>
        <p:nvSpPr>
          <p:cNvPr id="19" name="Text 15"/>
          <p:cNvSpPr txBox="1"/>
          <p:nvPr/>
        </p:nvSpPr>
        <p:spPr>
          <a:xfrm>
            <a:off x="1261872" y="6272784"/>
            <a:ext cx="6949440" cy="256032"/>
          </a:xfrm>
          <a:prstGeom prst="rect">
            <a:avLst/>
          </a:prstGeom>
          <a:noFill/>
          <a:ln/>
        </p:spPr>
        <p:txBody>
          <a:bodyPr wrap="square" lIns="0" tIns="0" rIns="0" bIns="0" rtlCol="0" anchor="ctr"/>
          <a:lstStyle/>
          <a:p>
            <a:pPr marL="0" indent="0">
              <a:buNone/>
            </a:pPr>
            <a:r>
              <a:rPr lang="en-US" sz="900" dirty="0">
                <a:solidFill>
                  <a:srgbClr val="595959"/>
                </a:solidFill>
                <a:latin typeface="Lato" pitchFamily="34" charset="0"/>
                <a:ea typeface="Lato" pitchFamily="34" charset="-122"/>
                <a:cs typeface="Lato" pitchFamily="34" charset="-120"/>
              </a:rPr>
              <a:t>Destination Prévention  |  Santé, sécurité et conditions de travail</a:t>
            </a:r>
            <a:endParaRPr lang="en-US" sz="900" dirty="0"/>
          </a:p>
        </p:txBody>
      </p:sp>
      <p:sp>
        <p:nvSpPr>
          <p:cNvPr id="20" name="Shape 16"/>
          <p:cNvSpPr/>
          <p:nvPr/>
        </p:nvSpPr>
        <p:spPr>
          <a:xfrm>
            <a:off x="10591495" y="6181344"/>
            <a:ext cx="438912" cy="438912"/>
          </a:xfrm>
          <a:prstGeom prst="ellipse">
            <a:avLst/>
          </a:prstGeom>
          <a:solidFill>
            <a:srgbClr val="F06C23"/>
          </a:solidFill>
          <a:ln/>
        </p:spPr>
        <p:txBody>
          <a:bodyPr/>
          <a:lstStyle/>
          <a:p>
            <a:endParaRPr/>
          </a:p>
        </p:txBody>
      </p:sp>
      <p:sp>
        <p:nvSpPr>
          <p:cNvPr id="21" name="Text 17"/>
          <p:cNvSpPr txBox="1"/>
          <p:nvPr/>
        </p:nvSpPr>
        <p:spPr>
          <a:xfrm>
            <a:off x="10591495" y="618134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Lato" pitchFamily="34" charset="0"/>
                <a:ea typeface="Lato" pitchFamily="34" charset="-122"/>
                <a:cs typeface="Lato" pitchFamily="34" charset="-120"/>
              </a:rPr>
              <a:t>10</a:t>
            </a:r>
            <a:endParaRPr lang="en-US" sz="1100" dirty="0"/>
          </a:p>
        </p:txBody>
      </p:sp>
      <p:sp>
        <p:nvSpPr>
          <p:cNvPr id="22" name="Text 18"/>
          <p:cNvSpPr txBox="1"/>
          <p:nvPr/>
        </p:nvSpPr>
        <p:spPr>
          <a:xfrm>
            <a:off x="11094415" y="6272784"/>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Lato" pitchFamily="34" charset="0"/>
                <a:ea typeface="Lato" pitchFamily="34" charset="-122"/>
                <a:cs typeface="Lato" pitchFamily="34" charset="-120"/>
              </a:rPr>
              <a:t>197</a:t>
            </a:r>
            <a:endParaRPr lang="en-US" sz="10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86"/>
                                        </p:tgtEl>
                                        <p:attrNameLst>
                                          <p:attrName>style.visibility</p:attrName>
                                        </p:attrNameLst>
                                      </p:cBhvr>
                                      <p:to>
                                        <p:strVal val="visible"/>
                                      </p:to>
                                    </p:set>
                                    <p:animEffect transition="in" filter="fade">
                                      <p:cBhvr>
                                        <p:cTn id="7" dur="450"/>
                                        <p:tgtEl>
                                          <p:spTgt spid="9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name="Slide 177">
    <p:bg>
      <p:bgPr>
        <a:solidFill>
          <a:srgbClr val="075767"/>
        </a:solidFill>
        <a:effectLst/>
      </p:bgPr>
    </p:bg>
    <p:spTree>
      <p:nvGrpSpPr>
        <p:cNvPr id="1" name=""/>
        <p:cNvGrpSpPr/>
        <p:nvPr/>
      </p:nvGrpSpPr>
      <p:grpSpPr>
        <a:xfrm>
          <a:off x="0" y="0"/>
          <a:ext cx="0" cy="0"/>
          <a:chOff x="0" y="0"/>
          <a:chExt cx="0" cy="0"/>
        </a:xfrm>
      </p:grpSpPr>
      <p:sp>
        <p:nvSpPr>
          <p:cNvPr id="2" name="Shape 0"/>
          <p:cNvSpPr/>
          <p:nvPr/>
        </p:nvSpPr>
        <p:spPr>
          <a:xfrm rot="-360000">
            <a:off x="-3108960" y="3291840"/>
            <a:ext cx="8686800" cy="5852160"/>
          </a:xfrm>
          <a:prstGeom prst="ellipse">
            <a:avLst/>
          </a:prstGeom>
          <a:solidFill>
            <a:srgbClr val="0A6C78"/>
          </a:solidFill>
          <a:ln/>
        </p:spPr>
        <p:txBody>
          <a:bodyPr/>
          <a:lstStyle/>
          <a:p>
            <a:endParaRPr/>
          </a:p>
        </p:txBody>
      </p:sp>
      <p:sp>
        <p:nvSpPr>
          <p:cNvPr id="3" name="Shape 1"/>
          <p:cNvSpPr/>
          <p:nvPr/>
        </p:nvSpPr>
        <p:spPr>
          <a:xfrm>
            <a:off x="9966960" y="-1188720"/>
            <a:ext cx="3108960" cy="3108960"/>
          </a:xfrm>
          <a:prstGeom prst="ellipse">
            <a:avLst/>
          </a:prstGeom>
          <a:solidFill>
            <a:srgbClr val="F06C23"/>
          </a:solidFill>
          <a:ln/>
        </p:spPr>
        <p:txBody>
          <a:bodyPr/>
          <a:lstStyle/>
          <a:p>
            <a:endParaRPr/>
          </a:p>
        </p:txBody>
      </p:sp>
      <p:sp>
        <p:nvSpPr>
          <p:cNvPr id="4" name="Text 2"/>
          <p:cNvSpPr txBox="1"/>
          <p:nvPr/>
        </p:nvSpPr>
        <p:spPr>
          <a:xfrm>
            <a:off x="868680" y="1463040"/>
            <a:ext cx="5943600" cy="1188720"/>
          </a:xfrm>
          <a:prstGeom prst="rect">
            <a:avLst/>
          </a:prstGeom>
          <a:noFill/>
          <a:ln/>
        </p:spPr>
        <p:txBody>
          <a:bodyPr wrap="square" lIns="0" tIns="0" rIns="0" bIns="0" rtlCol="0" anchor="t"/>
          <a:lstStyle/>
          <a:p>
            <a:pPr marL="0" indent="0">
              <a:buNone/>
            </a:pPr>
            <a:r>
              <a:rPr lang="en-US" sz="6000" b="1" kern="0" spc="-200" dirty="0">
                <a:solidFill>
                  <a:srgbClr val="FFFFFF"/>
                </a:solidFill>
                <a:latin typeface="Lato" pitchFamily="34" charset="0"/>
                <a:ea typeface="Lato" pitchFamily="34" charset="-122"/>
                <a:cs typeface="Lato" pitchFamily="34" charset="-120"/>
              </a:rPr>
              <a:t>Merci</a:t>
            </a:r>
            <a:endParaRPr lang="en-US" sz="6000" dirty="0"/>
          </a:p>
        </p:txBody>
      </p:sp>
      <p:sp>
        <p:nvSpPr>
          <p:cNvPr id="5" name="Text 3"/>
          <p:cNvSpPr txBox="1"/>
          <p:nvPr/>
        </p:nvSpPr>
        <p:spPr>
          <a:xfrm>
            <a:off x="868680" y="2651760"/>
            <a:ext cx="5943600" cy="457200"/>
          </a:xfrm>
          <a:prstGeom prst="rect">
            <a:avLst/>
          </a:prstGeom>
          <a:noFill/>
          <a:ln/>
        </p:spPr>
        <p:txBody>
          <a:bodyPr wrap="square" lIns="0" tIns="0" rIns="0" bIns="0" rtlCol="0" anchor="t"/>
          <a:lstStyle/>
          <a:p>
            <a:pPr marL="0" indent="0">
              <a:buNone/>
            </a:pPr>
            <a:r>
              <a:rPr lang="en-US" sz="1600" dirty="0">
                <a:solidFill>
                  <a:srgbClr val="C1D5D9"/>
                </a:solidFill>
                <a:latin typeface="Lato" pitchFamily="34" charset="0"/>
                <a:ea typeface="Lato" pitchFamily="34" charset="-122"/>
                <a:cs typeface="Lato" pitchFamily="34" charset="-120"/>
              </a:rPr>
              <a:t>Des questions ? Elles font partie de la formation.</a:t>
            </a:r>
            <a:endParaRPr lang="en-US" sz="1600" dirty="0"/>
          </a:p>
        </p:txBody>
      </p:sp>
      <p:sp>
        <p:nvSpPr>
          <p:cNvPr id="6" name="Text 4"/>
          <p:cNvSpPr txBox="1"/>
          <p:nvPr/>
        </p:nvSpPr>
        <p:spPr>
          <a:xfrm>
            <a:off x="868680" y="3291840"/>
            <a:ext cx="5943600" cy="457200"/>
          </a:xfrm>
          <a:prstGeom prst="rect">
            <a:avLst/>
          </a:prstGeom>
          <a:noFill/>
          <a:ln/>
        </p:spPr>
        <p:txBody>
          <a:bodyPr wrap="square" lIns="0" tIns="0" rIns="0" bIns="0" rtlCol="0" anchor="t"/>
          <a:lstStyle/>
          <a:p>
            <a:pPr marL="0" indent="0">
              <a:buNone/>
            </a:pPr>
            <a:r>
              <a:rPr lang="en-US" sz="1500" b="1" u="sng" dirty="0">
                <a:solidFill>
                  <a:srgbClr val="F58B60"/>
                </a:solidFill>
                <a:latin typeface="Lato" pitchFamily="34" charset="0"/>
                <a:ea typeface="Lato" pitchFamily="34" charset="-122"/>
                <a:cs typeface="Lato" pitchFamily="34" charset="-120"/>
                <a:hlinkClick r:id="rId3" tooltip="Retrouver les ressources de la formation en ligne">
                  <a:extLst>
                    <a:ext uri="{A12FA001-AC4F-418D-AE19-62706E023703}">
                      <ahyp:hlinkClr xmlns:ahyp="http://schemas.microsoft.com/office/drawing/2018/hyperlinkcolor" val="tx"/>
                    </a:ext>
                  </a:extLst>
                </a:hlinkClick>
              </a:rPr>
              <a:t>Retrouver les ressources de la formation en ligne</a:t>
            </a:r>
            <a:endParaRPr lang="en-US" sz="1500" dirty="0"/>
          </a:p>
        </p:txBody>
      </p:sp>
      <p:sp>
        <p:nvSpPr>
          <p:cNvPr id="7" name="Shape 5"/>
          <p:cNvSpPr/>
          <p:nvPr/>
        </p:nvSpPr>
        <p:spPr>
          <a:xfrm>
            <a:off x="7818120" y="1874520"/>
            <a:ext cx="1371600" cy="1371600"/>
          </a:xfrm>
          <a:prstGeom prst="ellipse">
            <a:avLst/>
          </a:prstGeom>
          <a:solidFill>
            <a:srgbClr val="FFFFFF"/>
          </a:solidFill>
          <a:ln/>
        </p:spPr>
        <p:txBody>
          <a:bodyPr/>
          <a:lstStyle/>
          <a:p>
            <a:endParaRPr/>
          </a:p>
        </p:txBody>
      </p:sp>
      <p:pic>
        <p:nvPicPr>
          <p:cNvPr id="8" name="Image 0" descr="/home/claude/tmo/build/logo.png"/>
          <p:cNvPicPr>
            <a:picLocks noChangeAspect="1"/>
          </p:cNvPicPr>
          <p:nvPr/>
        </p:nvPicPr>
        <p:blipFill>
          <a:blip r:embed="rId4"/>
          <a:stretch>
            <a:fillRect/>
          </a:stretch>
        </p:blipFill>
        <p:spPr>
          <a:xfrm>
            <a:off x="7891272" y="1947672"/>
            <a:ext cx="1225296" cy="1225296"/>
          </a:xfrm>
          <a:prstGeom prst="roundRect">
            <a:avLst>
              <a:gd name="adj" fmla="val 2200"/>
            </a:avLst>
          </a:prstGeom>
          <a:effectLst>
            <a:outerShdw blurRad="190500" dist="38100" dir="5400000" rotWithShape="0">
              <a:srgbClr val="075767">
                <a:alpha val="22000"/>
              </a:srgbClr>
            </a:outerShdw>
            <a:softEdge rad="32004"/>
          </a:effectLst>
        </p:spPr>
      </p:pic>
      <p:sp>
        <p:nvSpPr>
          <p:cNvPr id="9" name="Text 6"/>
          <p:cNvSpPr txBox="1"/>
          <p:nvPr/>
        </p:nvSpPr>
        <p:spPr>
          <a:xfrm>
            <a:off x="7818120" y="3520440"/>
            <a:ext cx="3657600" cy="2108972"/>
          </a:xfrm>
          <a:prstGeom prst="rect">
            <a:avLst/>
          </a:prstGeom>
          <a:noFill/>
          <a:ln/>
        </p:spPr>
        <p:txBody>
          <a:bodyPr wrap="square" lIns="0" tIns="0" rIns="0" bIns="0" rtlCol="0" anchor="t"/>
          <a:lstStyle/>
          <a:p>
            <a:pPr marL="0" indent="0">
              <a:lnSpc>
                <a:spcPct val="135000"/>
              </a:lnSpc>
              <a:buNone/>
            </a:pPr>
            <a:r>
              <a:rPr lang="en-US" sz="1600" b="1" dirty="0">
                <a:solidFill>
                  <a:srgbClr val="FFFFFF"/>
                </a:solidFill>
                <a:latin typeface="Lato" pitchFamily="34" charset="0"/>
                <a:ea typeface="Lato" pitchFamily="34" charset="-122"/>
                <a:cs typeface="Lato" pitchFamily="34" charset="-120"/>
              </a:rPr>
              <a:t>DESTINATION PRÉVENTION
</a:t>
            </a:r>
            <a:r>
              <a:rPr lang="en-US" sz="1300" dirty="0">
                <a:solidFill>
                  <a:srgbClr val="C1D5D9"/>
                </a:solidFill>
                <a:latin typeface="Lato" pitchFamily="34" charset="0"/>
                <a:ea typeface="Lato" pitchFamily="34" charset="-122"/>
                <a:cs typeface="Lato" pitchFamily="34" charset="-120"/>
              </a:rPr>
              <a:t>324 route du Bois  ·  38630 Corbelin
06 68 03 63 28
mickael@destination-prevention.fr
www.destination-prevention.fr</a:t>
            </a:r>
            <a:endParaRPr lang="en-US" sz="1600" dirty="0"/>
          </a:p>
        </p:txBody>
      </p:sp>
      <p:sp>
        <p:nvSpPr>
          <p:cNvPr id="10" name="Text 7"/>
          <p:cNvSpPr txBox="1"/>
          <p:nvPr/>
        </p:nvSpPr>
        <p:spPr>
          <a:xfrm>
            <a:off x="868680" y="5760720"/>
            <a:ext cx="6583680" cy="640080"/>
          </a:xfrm>
          <a:prstGeom prst="rect">
            <a:avLst/>
          </a:prstGeom>
          <a:noFill/>
          <a:ln/>
        </p:spPr>
        <p:txBody>
          <a:bodyPr wrap="square" lIns="0" tIns="0" rIns="0" bIns="0" rtlCol="0" anchor="t"/>
          <a:lstStyle/>
          <a:p>
            <a:pPr marL="0" indent="0">
              <a:lnSpc>
                <a:spcPct val="115000"/>
              </a:lnSpc>
              <a:buNone/>
            </a:pPr>
            <a:r>
              <a:rPr lang="en-US" sz="900" dirty="0">
                <a:solidFill>
                  <a:srgbClr val="C1D5D9"/>
                </a:solidFill>
                <a:latin typeface="Lato" pitchFamily="34" charset="0"/>
                <a:ea typeface="Lato" pitchFamily="34" charset="-122"/>
                <a:cs typeface="Lato" pitchFamily="34" charset="-120"/>
              </a:rPr>
              <a:t>SIRET 913 586 921 00011  ·   déclaration d'activité n° 84 38 08320 38 auprès du préfet de région Auvergne-Rhône-Alpes.</a:t>
            </a:r>
            <a:endParaRPr lang="en-US" sz="900" dirty="0"/>
          </a:p>
          <a:p>
            <a:pPr marL="0" indent="0">
              <a:lnSpc>
                <a:spcPct val="115000"/>
              </a:lnSpc>
              <a:buNone/>
            </a:pPr>
            <a:r>
              <a:rPr lang="en-US" sz="900" dirty="0">
                <a:solidFill>
                  <a:srgbClr val="C1D5D9"/>
                </a:solidFill>
                <a:latin typeface="Lato" pitchFamily="34" charset="0"/>
                <a:ea typeface="Lato" pitchFamily="34" charset="-122"/>
                <a:cs typeface="Lato" pitchFamily="34" charset="-120"/>
              </a:rPr>
              <a:t>Cet enregistrement ne vaut pas agrément de l'État.</a:t>
            </a:r>
            <a:endParaRPr lang="en-US" sz="900" dirty="0"/>
          </a:p>
        </p:txBody>
      </p:sp>
    </p:spTree>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3975</TotalTime>
  <Words>32773</Words>
  <Application>Microsoft Macintosh PowerPoint</Application>
  <PresentationFormat>Grand écran</PresentationFormat>
  <Paragraphs>3084</Paragraphs>
  <Slides>199</Slides>
  <Notes>198</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199</vt:i4>
      </vt:variant>
    </vt:vector>
  </HeadingPairs>
  <TitlesOfParts>
    <vt:vector size="202" baseType="lpstr">
      <vt:lpstr>Arial</vt:lpstr>
      <vt:lpstr>Lato</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Destination Prévention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Santé, sécurité et conditions de travail</dc:title>
  <dc:subject>PptxGenJS Presentation</dc:subject>
  <dc:creator>Destination Prévention</dc:creator>
  <cp:lastModifiedBy>Mickaël Lopes</cp:lastModifiedBy>
  <cp:revision>8</cp:revision>
  <dcterms:created xsi:type="dcterms:W3CDTF">2026-08-27T20:54:18Z</dcterms:created>
  <dcterms:modified xsi:type="dcterms:W3CDTF">2026-09-17T07:16:18Z</dcterms:modified>
</cp:coreProperties>
</file>